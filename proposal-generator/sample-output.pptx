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0"/>
            <a:ext cx="4327855" cy="6858000"/>
          </a:xfrm>
          <a:prstGeom prst="rect">
            <a:avLst/>
          </a:prstGeom>
          <a:solidFill>
            <a:srgbClr val="14232B"/>
          </a:solidFill>
          <a:ln/>
        </p:spPr>
      </p:sp>
      <p:pic>
        <p:nvPicPr>
          <p:cNvPr id="3" name="Image 0" descr="preencoded.png">    </p:cNvPr>
          <p:cNvPicPr>
            <a:picLocks noChangeAspect="1"/>
          </p:cNvPicPr>
          <p:nvPr/>
        </p:nvPicPr>
        <p:blipFill>
          <a:blip r:embed="rId1"/>
          <a:stretch>
            <a:fillRect/>
          </a:stretch>
        </p:blipFill>
        <p:spPr>
          <a:xfrm>
            <a:off x="640080" y="594360"/>
            <a:ext cx="2011680" cy="383177"/>
          </a:xfrm>
          <a:prstGeom prst="rect">
            <a:avLst/>
          </a:prstGeom>
        </p:spPr>
      </p:pic>
      <p:sp>
        <p:nvSpPr>
          <p:cNvPr id="4" name="Shape 1"/>
          <p:cNvSpPr/>
          <p:nvPr/>
        </p:nvSpPr>
        <p:spPr>
          <a:xfrm>
            <a:off x="640080" y="1673352"/>
            <a:ext cx="109728" cy="109728"/>
          </a:xfrm>
          <a:prstGeom prst="ellipse">
            <a:avLst/>
          </a:prstGeom>
          <a:solidFill>
            <a:srgbClr val="E2607A"/>
          </a:solidFill>
          <a:ln/>
        </p:spPr>
      </p:sp>
      <p:sp>
        <p:nvSpPr>
          <p:cNvPr id="5" name="Text 2"/>
          <p:cNvSpPr txBox="1"/>
          <p:nvPr/>
        </p:nvSpPr>
        <p:spPr>
          <a:xfrm>
            <a:off x="841248" y="1627632"/>
            <a:ext cx="6400800" cy="190500"/>
          </a:xfrm>
          <a:prstGeom prst="rect">
            <a:avLst/>
          </a:prstGeom>
          <a:noFill/>
          <a:ln/>
        </p:spPr>
        <p:txBody>
          <a:bodyPr wrap="square" lIns="0" tIns="0" rIns="0" bIns="0" rtlCol="0" anchor="t"/>
          <a:lstStyle/>
          <a:p>
            <a:pPr algn="l" indent="0" marL="0">
              <a:lnSpc>
                <a:spcPts val="1500"/>
              </a:lnSpc>
              <a:buNone/>
            </a:pPr>
            <a:r>
              <a:rPr lang="en-US" sz="1200" b="1" dirty="0">
                <a:solidFill>
                  <a:srgbClr val="0E7C6B"/>
                </a:solidFill>
                <a:latin typeface="Arial" pitchFamily="34" charset="0"/>
                <a:ea typeface="Arial" pitchFamily="34" charset="-122"/>
                <a:cs typeface="Arial" pitchFamily="34" charset="-120"/>
              </a:rPr>
              <a:t>Patient journey automation proposal</a:t>
            </a:r>
            <a:endParaRPr lang="en-US" sz="1200" dirty="0"/>
          </a:p>
        </p:txBody>
      </p:sp>
      <p:sp>
        <p:nvSpPr>
          <p:cNvPr id="6" name="Text 3"/>
          <p:cNvSpPr txBox="1"/>
          <p:nvPr/>
        </p:nvSpPr>
        <p:spPr>
          <a:xfrm>
            <a:off x="640080" y="1965960"/>
            <a:ext cx="6858000" cy="1097280"/>
          </a:xfrm>
          <a:prstGeom prst="rect">
            <a:avLst/>
          </a:prstGeom>
          <a:noFill/>
          <a:ln/>
        </p:spPr>
        <p:txBody>
          <a:bodyPr wrap="square" lIns="0" tIns="0" rIns="0" bIns="0" rtlCol="0" anchor="t"/>
          <a:lstStyle/>
          <a:p>
            <a:pPr algn="l" indent="0" marL="0">
              <a:lnSpc>
                <a:spcPts val="4250"/>
              </a:lnSpc>
              <a:buNone/>
            </a:pPr>
            <a:r>
              <a:rPr lang="en-US" sz="3400" b="1" dirty="0">
                <a:solidFill>
                  <a:srgbClr val="14232B"/>
                </a:solidFill>
                <a:latin typeface="Arial" pitchFamily="34" charset="0"/>
                <a:ea typeface="Arial" pitchFamily="34" charset="-122"/>
                <a:cs typeface="Arial" pitchFamily="34" charset="-120"/>
              </a:rPr>
              <a:t>Sample Smile Dental Studio (fictional)</a:t>
            </a:r>
            <a:endParaRPr lang="en-US" sz="3400" dirty="0"/>
          </a:p>
        </p:txBody>
      </p:sp>
      <p:sp>
        <p:nvSpPr>
          <p:cNvPr id="7" name="Text 4"/>
          <p:cNvSpPr txBox="1"/>
          <p:nvPr/>
        </p:nvSpPr>
        <p:spPr>
          <a:xfrm>
            <a:off x="640080" y="3291840"/>
            <a:ext cx="3200400" cy="143510"/>
          </a:xfrm>
          <a:prstGeom prst="rect">
            <a:avLst/>
          </a:prstGeom>
          <a:noFill/>
          <a:ln/>
        </p:spPr>
        <p:txBody>
          <a:bodyPr wrap="square" lIns="0" tIns="0" rIns="0" bIns="0" rtlCol="0" anchor="t"/>
          <a:lstStyle/>
          <a:p>
            <a:pPr algn="l" indent="0" marL="0">
              <a:lnSpc>
                <a:spcPts val="1130"/>
              </a:lnSpc>
              <a:buNone/>
            </a:pPr>
            <a:r>
              <a:rPr lang="en-US" sz="900" b="1" dirty="0">
                <a:solidFill>
                  <a:srgbClr val="5B6B70"/>
                </a:solidFill>
                <a:latin typeface="Arial" pitchFamily="34" charset="0"/>
                <a:ea typeface="Arial" pitchFamily="34" charset="-122"/>
                <a:cs typeface="Arial" pitchFamily="34" charset="-120"/>
              </a:rPr>
              <a:t>Prepared for</a:t>
            </a:r>
            <a:endParaRPr lang="en-US" sz="900" dirty="0"/>
          </a:p>
        </p:txBody>
      </p:sp>
      <p:sp>
        <p:nvSpPr>
          <p:cNvPr id="8" name="Text 5"/>
          <p:cNvSpPr txBox="1"/>
          <p:nvPr/>
        </p:nvSpPr>
        <p:spPr>
          <a:xfrm>
            <a:off x="640080" y="3474720"/>
            <a:ext cx="3200400" cy="219456"/>
          </a:xfrm>
          <a:prstGeom prst="rect">
            <a:avLst/>
          </a:prstGeom>
          <a:noFill/>
          <a:ln/>
        </p:spPr>
        <p:txBody>
          <a:bodyPr wrap="square" lIns="0" tIns="0" rIns="0" bIns="0" rtlCol="0" anchor="t"/>
          <a:lstStyle/>
          <a:p>
            <a:pPr algn="l" indent="0" marL="0">
              <a:lnSpc>
                <a:spcPts val="1630"/>
              </a:lnSpc>
              <a:buNone/>
            </a:pPr>
            <a:r>
              <a:rPr lang="en-US" sz="1300" dirty="0">
                <a:solidFill>
                  <a:srgbClr val="14232B"/>
                </a:solidFill>
                <a:latin typeface="Arial" pitchFamily="34" charset="0"/>
                <a:ea typeface="Arial" pitchFamily="34" charset="-122"/>
                <a:cs typeface="Arial" pitchFamily="34" charset="-120"/>
              </a:rPr>
              <a:t>Dr. Sample Name</a:t>
            </a:r>
            <a:endParaRPr lang="en-US" sz="1300" dirty="0"/>
          </a:p>
        </p:txBody>
      </p:sp>
      <p:sp>
        <p:nvSpPr>
          <p:cNvPr id="9" name="Text 6"/>
          <p:cNvSpPr txBox="1"/>
          <p:nvPr/>
        </p:nvSpPr>
        <p:spPr>
          <a:xfrm>
            <a:off x="4069080" y="3291840"/>
            <a:ext cx="3200400" cy="143510"/>
          </a:xfrm>
          <a:prstGeom prst="rect">
            <a:avLst/>
          </a:prstGeom>
          <a:noFill/>
          <a:ln/>
        </p:spPr>
        <p:txBody>
          <a:bodyPr wrap="square" lIns="0" tIns="0" rIns="0" bIns="0" rtlCol="0" anchor="t"/>
          <a:lstStyle/>
          <a:p>
            <a:pPr algn="l" indent="0" marL="0">
              <a:lnSpc>
                <a:spcPts val="1130"/>
              </a:lnSpc>
              <a:buNone/>
            </a:pPr>
            <a:r>
              <a:rPr lang="en-US" sz="900" b="1" dirty="0">
                <a:solidFill>
                  <a:srgbClr val="5B6B70"/>
                </a:solidFill>
                <a:latin typeface="Arial" pitchFamily="34" charset="0"/>
                <a:ea typeface="Arial" pitchFamily="34" charset="-122"/>
                <a:cs typeface="Arial" pitchFamily="34" charset="-120"/>
              </a:rPr>
              <a:t>Prepared by</a:t>
            </a:r>
            <a:endParaRPr lang="en-US" sz="900" dirty="0"/>
          </a:p>
        </p:txBody>
      </p:sp>
      <p:sp>
        <p:nvSpPr>
          <p:cNvPr id="10" name="Text 7"/>
          <p:cNvSpPr txBox="1"/>
          <p:nvPr/>
        </p:nvSpPr>
        <p:spPr>
          <a:xfrm>
            <a:off x="4069080" y="3474720"/>
            <a:ext cx="3200400" cy="219456"/>
          </a:xfrm>
          <a:prstGeom prst="rect">
            <a:avLst/>
          </a:prstGeom>
          <a:noFill/>
          <a:ln/>
        </p:spPr>
        <p:txBody>
          <a:bodyPr wrap="square" lIns="0" tIns="0" rIns="0" bIns="0" rtlCol="0" anchor="t"/>
          <a:lstStyle/>
          <a:p>
            <a:pPr algn="l" indent="0" marL="0">
              <a:lnSpc>
                <a:spcPts val="1630"/>
              </a:lnSpc>
              <a:buNone/>
            </a:pPr>
            <a:r>
              <a:rPr lang="en-US" sz="1300" dirty="0">
                <a:solidFill>
                  <a:srgbClr val="14232B"/>
                </a:solidFill>
                <a:latin typeface="Arial" pitchFamily="34" charset="0"/>
                <a:ea typeface="Arial" pitchFamily="34" charset="-122"/>
                <a:cs typeface="Arial" pitchFamily="34" charset="-120"/>
              </a:rPr>
              <a:t>Patientcurve</a:t>
            </a:r>
            <a:endParaRPr lang="en-US" sz="1300" dirty="0"/>
          </a:p>
        </p:txBody>
      </p:sp>
      <p:sp>
        <p:nvSpPr>
          <p:cNvPr id="11" name="Text 8"/>
          <p:cNvSpPr txBox="1"/>
          <p:nvPr/>
        </p:nvSpPr>
        <p:spPr>
          <a:xfrm>
            <a:off x="640080" y="3913632"/>
            <a:ext cx="3200400" cy="143510"/>
          </a:xfrm>
          <a:prstGeom prst="rect">
            <a:avLst/>
          </a:prstGeom>
          <a:noFill/>
          <a:ln/>
        </p:spPr>
        <p:txBody>
          <a:bodyPr wrap="square" lIns="0" tIns="0" rIns="0" bIns="0" rtlCol="0" anchor="t"/>
          <a:lstStyle/>
          <a:p>
            <a:pPr algn="l" indent="0" marL="0">
              <a:lnSpc>
                <a:spcPts val="1130"/>
              </a:lnSpc>
              <a:buNone/>
            </a:pPr>
            <a:r>
              <a:rPr lang="en-US" sz="900" b="1" dirty="0">
                <a:solidFill>
                  <a:srgbClr val="5B6B70"/>
                </a:solidFill>
                <a:latin typeface="Arial" pitchFamily="34" charset="0"/>
                <a:ea typeface="Arial" pitchFamily="34" charset="-122"/>
                <a:cs typeface="Arial" pitchFamily="34" charset="-120"/>
              </a:rPr>
              <a:t>Date</a:t>
            </a:r>
            <a:endParaRPr lang="en-US" sz="900" dirty="0"/>
          </a:p>
        </p:txBody>
      </p:sp>
      <p:sp>
        <p:nvSpPr>
          <p:cNvPr id="12" name="Text 9"/>
          <p:cNvSpPr txBox="1"/>
          <p:nvPr/>
        </p:nvSpPr>
        <p:spPr>
          <a:xfrm>
            <a:off x="640080" y="4096512"/>
            <a:ext cx="3200400" cy="219456"/>
          </a:xfrm>
          <a:prstGeom prst="rect">
            <a:avLst/>
          </a:prstGeom>
          <a:noFill/>
          <a:ln/>
        </p:spPr>
        <p:txBody>
          <a:bodyPr wrap="square" lIns="0" tIns="0" rIns="0" bIns="0" rtlCol="0" anchor="t"/>
          <a:lstStyle/>
          <a:p>
            <a:pPr algn="l" indent="0" marL="0">
              <a:lnSpc>
                <a:spcPts val="1630"/>
              </a:lnSpc>
              <a:buNone/>
            </a:pPr>
            <a:r>
              <a:rPr lang="en-US" sz="1300" dirty="0">
                <a:solidFill>
                  <a:srgbClr val="14232B"/>
                </a:solidFill>
                <a:latin typeface="Arial" pitchFamily="34" charset="0"/>
                <a:ea typeface="Arial" pitchFamily="34" charset="-122"/>
                <a:cs typeface="Arial" pitchFamily="34" charset="-120"/>
              </a:rPr>
              <a:t>10 Oct 2026</a:t>
            </a:r>
            <a:endParaRPr lang="en-US" sz="1300" dirty="0"/>
          </a:p>
        </p:txBody>
      </p:sp>
      <p:sp>
        <p:nvSpPr>
          <p:cNvPr id="13" name="Text 10"/>
          <p:cNvSpPr txBox="1"/>
          <p:nvPr/>
        </p:nvSpPr>
        <p:spPr>
          <a:xfrm>
            <a:off x="4069080" y="3913632"/>
            <a:ext cx="3200400" cy="143510"/>
          </a:xfrm>
          <a:prstGeom prst="rect">
            <a:avLst/>
          </a:prstGeom>
          <a:noFill/>
          <a:ln/>
        </p:spPr>
        <p:txBody>
          <a:bodyPr wrap="square" lIns="0" tIns="0" rIns="0" bIns="0" rtlCol="0" anchor="t"/>
          <a:lstStyle/>
          <a:p>
            <a:pPr algn="l" indent="0" marL="0">
              <a:lnSpc>
                <a:spcPts val="1130"/>
              </a:lnSpc>
              <a:buNone/>
            </a:pPr>
            <a:r>
              <a:rPr lang="en-US" sz="900" b="1" dirty="0">
                <a:solidFill>
                  <a:srgbClr val="5B6B70"/>
                </a:solidFill>
                <a:latin typeface="Arial" pitchFamily="34" charset="0"/>
                <a:ea typeface="Arial" pitchFamily="34" charset="-122"/>
                <a:cs typeface="Arial" pitchFamily="34" charset="-120"/>
              </a:rPr>
              <a:t>Reference</a:t>
            </a:r>
            <a:endParaRPr lang="en-US" sz="900" dirty="0"/>
          </a:p>
        </p:txBody>
      </p:sp>
      <p:sp>
        <p:nvSpPr>
          <p:cNvPr id="14" name="Text 11"/>
          <p:cNvSpPr txBox="1"/>
          <p:nvPr/>
        </p:nvSpPr>
        <p:spPr>
          <a:xfrm>
            <a:off x="4069080" y="4096512"/>
            <a:ext cx="3200400" cy="219456"/>
          </a:xfrm>
          <a:prstGeom prst="rect">
            <a:avLst/>
          </a:prstGeom>
          <a:noFill/>
          <a:ln/>
        </p:spPr>
        <p:txBody>
          <a:bodyPr wrap="square" lIns="0" tIns="0" rIns="0" bIns="0" rtlCol="0" anchor="t"/>
          <a:lstStyle/>
          <a:p>
            <a:pPr algn="l" indent="0" marL="0">
              <a:lnSpc>
                <a:spcPts val="1630"/>
              </a:lnSpc>
              <a:buNone/>
            </a:pPr>
            <a:r>
              <a:rPr lang="en-US" sz="1300" dirty="0">
                <a:solidFill>
                  <a:srgbClr val="14232B"/>
                </a:solidFill>
                <a:latin typeface="Arial" pitchFamily="34" charset="0"/>
                <a:ea typeface="Arial" pitchFamily="34" charset="-122"/>
                <a:cs typeface="Arial" pitchFamily="34" charset="-120"/>
              </a:rPr>
              <a:t>SAMPLE-001</a:t>
            </a:r>
            <a:endParaRPr lang="en-US" sz="1300" dirty="0"/>
          </a:p>
        </p:txBody>
      </p:sp>
      <p:sp>
        <p:nvSpPr>
          <p:cNvPr id="15" name="Shape 12"/>
          <p:cNvSpPr/>
          <p:nvPr/>
        </p:nvSpPr>
        <p:spPr>
          <a:xfrm>
            <a:off x="640080" y="4645152"/>
            <a:ext cx="6675120" cy="0"/>
          </a:xfrm>
          <a:prstGeom prst="line">
            <a:avLst/>
          </a:prstGeom>
          <a:noFill/>
          <a:ln w="9525">
            <a:solidFill>
              <a:srgbClr val="D5DEDB"/>
            </a:solidFill>
            <a:prstDash val="solid"/>
          </a:ln>
        </p:spPr>
      </p:sp>
      <p:sp>
        <p:nvSpPr>
          <p:cNvPr id="16" name="Text 13"/>
          <p:cNvSpPr txBox="1"/>
          <p:nvPr/>
        </p:nvSpPr>
        <p:spPr>
          <a:xfrm>
            <a:off x="640080" y="4800600"/>
            <a:ext cx="6766560" cy="566928"/>
          </a:xfrm>
          <a:prstGeom prst="rect">
            <a:avLst/>
          </a:prstGeom>
          <a:noFill/>
          <a:ln/>
        </p:spPr>
        <p:txBody>
          <a:bodyPr wrap="square" lIns="0" tIns="0" rIns="0" bIns="0" rtlCol="0" anchor="t"/>
          <a:lstStyle/>
          <a:p>
            <a:pPr algn="l" indent="0" marL="0">
              <a:lnSpc>
                <a:spcPts val="2190"/>
              </a:lnSpc>
              <a:buNone/>
            </a:pPr>
            <a:r>
              <a:rPr lang="en-US" sz="1750" b="1" dirty="0">
                <a:solidFill>
                  <a:srgbClr val="14232B"/>
                </a:solidFill>
                <a:latin typeface="Arial" pitchFamily="34" charset="0"/>
                <a:ea typeface="Arial" pitchFamily="34" charset="-122"/>
                <a:cs typeface="Arial" pitchFamily="34" charset="-120"/>
              </a:rPr>
              <a:t>A more consistent way to manage patient enquiries and follow-ups.</a:t>
            </a:r>
            <a:endParaRPr lang="en-US" sz="1750" dirty="0"/>
          </a:p>
        </p:txBody>
      </p:sp>
      <p:sp>
        <p:nvSpPr>
          <p:cNvPr id="17" name="Text 14"/>
          <p:cNvSpPr txBox="1"/>
          <p:nvPr/>
        </p:nvSpPr>
        <p:spPr>
          <a:xfrm>
            <a:off x="640080" y="5440680"/>
            <a:ext cx="6766560" cy="658368"/>
          </a:xfrm>
          <a:prstGeom prst="rect">
            <a:avLst/>
          </a:prstGeom>
          <a:noFill/>
          <a:ln/>
        </p:spPr>
        <p:txBody>
          <a:bodyPr wrap="square" lIns="0" tIns="0" rIns="0" bIns="0" rtlCol="0" anchor="t"/>
          <a:lstStyle/>
          <a:p>
            <a:pPr algn="l" indent="0" marL="0">
              <a:lnSpc>
                <a:spcPts val="1500"/>
              </a:lnSpc>
              <a:buNone/>
            </a:pPr>
            <a:r>
              <a:rPr lang="en-US" sz="1200" dirty="0">
                <a:solidFill>
                  <a:srgbClr val="5B6B70"/>
                </a:solidFill>
                <a:latin typeface="Arial" pitchFamily="34" charset="0"/>
                <a:ea typeface="Arial" pitchFamily="34" charset="-122"/>
                <a:cs typeface="Arial" pitchFamily="34" charset="-120"/>
              </a:rPr>
              <a:t>Patientcurve helps dental clinics organise patient enquiries, automate appropriate follow-ups, and guide patients toward their next appointment through structured WhatsApp workflows.</a:t>
            </a:r>
            <a:endParaRPr lang="en-US" sz="1200" dirty="0"/>
          </a:p>
        </p:txBody>
      </p:sp>
      <p:sp>
        <p:nvSpPr>
          <p:cNvPr id="18" name="Text 15"/>
          <p:cNvSpPr txBox="1"/>
          <p:nvPr/>
        </p:nvSpPr>
        <p:spPr>
          <a:xfrm>
            <a:off x="640080" y="6355080"/>
            <a:ext cx="6949440" cy="182880"/>
          </a:xfrm>
          <a:prstGeom prst="rect">
            <a:avLst/>
          </a:prstGeom>
          <a:noFill/>
          <a:ln/>
        </p:spPr>
        <p:txBody>
          <a:bodyPr wrap="square" lIns="0" tIns="0" rIns="0" bIns="0" rtlCol="0" anchor="t"/>
          <a:lstStyle/>
          <a:p>
            <a:pPr algn="l" indent="0" marL="0">
              <a:lnSpc>
                <a:spcPts val="1190"/>
              </a:lnSpc>
              <a:buNone/>
            </a:pPr>
            <a:r>
              <a:rPr lang="en-US" sz="950" dirty="0">
                <a:solidFill>
                  <a:srgbClr val="5B6B70"/>
                </a:solidFill>
                <a:latin typeface="Arial" pitchFamily="34" charset="0"/>
                <a:ea typeface="Arial" pitchFamily="34" charset="-122"/>
                <a:cs typeface="Arial" pitchFamily="34" charset="-120"/>
              </a:rPr>
              <a:t>Sample Founder (fictional)  ·  hello@example.com  ·  +91 90000 00000  ·  patientcurve.com</a:t>
            </a:r>
            <a:endParaRPr lang="en-US" sz="950" dirty="0"/>
          </a:p>
        </p:txBody>
      </p:sp>
      <p:sp>
        <p:nvSpPr>
          <p:cNvPr id="19" name="Text 16"/>
          <p:cNvSpPr txBox="1"/>
          <p:nvPr/>
        </p:nvSpPr>
        <p:spPr>
          <a:xfrm>
            <a:off x="8366760" y="960120"/>
            <a:ext cx="3322015" cy="175260"/>
          </a:xfrm>
          <a:prstGeom prst="rect">
            <a:avLst/>
          </a:prstGeom>
          <a:noFill/>
          <a:ln/>
        </p:spPr>
        <p:txBody>
          <a:bodyPr wrap="square" lIns="0" tIns="0" rIns="0" bIns="0" rtlCol="0" anchor="t"/>
          <a:lstStyle/>
          <a:p>
            <a:pPr algn="l" indent="0" marL="0">
              <a:lnSpc>
                <a:spcPts val="1380"/>
              </a:lnSpc>
              <a:buNone/>
            </a:pPr>
            <a:r>
              <a:rPr lang="en-US" sz="1100" b="1" dirty="0">
                <a:solidFill>
                  <a:srgbClr val="3FC0A6"/>
                </a:solidFill>
                <a:latin typeface="Arial" pitchFamily="34" charset="0"/>
                <a:ea typeface="Arial" pitchFamily="34" charset="-122"/>
                <a:cs typeface="Arial" pitchFamily="34" charset="-120"/>
              </a:rPr>
              <a:t>The 3-step patient recovery system</a:t>
            </a:r>
            <a:endParaRPr lang="en-US" sz="1100" dirty="0"/>
          </a:p>
        </p:txBody>
      </p:sp>
      <p:sp>
        <p:nvSpPr>
          <p:cNvPr id="20" name="Shape 17"/>
          <p:cNvSpPr/>
          <p:nvPr/>
        </p:nvSpPr>
        <p:spPr>
          <a:xfrm>
            <a:off x="8366760" y="1463040"/>
            <a:ext cx="3322015" cy="1115568"/>
          </a:xfrm>
          <a:prstGeom prst="roundRect">
            <a:avLst>
              <a:gd name="adj" fmla="val 10246"/>
            </a:avLst>
          </a:prstGeom>
          <a:solidFill>
            <a:srgbClr val="1E3640"/>
          </a:solidFill>
          <a:ln w="9525">
            <a:solidFill>
              <a:srgbClr val="2E4A55"/>
            </a:solidFill>
            <a:prstDash val="solid"/>
          </a:ln>
        </p:spPr>
      </p:sp>
      <p:sp>
        <p:nvSpPr>
          <p:cNvPr id="21" name="Text 18"/>
          <p:cNvSpPr txBox="1"/>
          <p:nvPr/>
        </p:nvSpPr>
        <p:spPr>
          <a:xfrm>
            <a:off x="8622792" y="1645920"/>
            <a:ext cx="457200" cy="365760"/>
          </a:xfrm>
          <a:prstGeom prst="rect">
            <a:avLst/>
          </a:prstGeom>
          <a:noFill/>
          <a:ln/>
        </p:spPr>
        <p:txBody>
          <a:bodyPr wrap="square" lIns="0" tIns="0" rIns="0" bIns="0" rtlCol="0" anchor="t"/>
          <a:lstStyle/>
          <a:p>
            <a:pPr algn="l" indent="0" marL="0">
              <a:lnSpc>
                <a:spcPts val="2500"/>
              </a:lnSpc>
              <a:buNone/>
            </a:pPr>
            <a:r>
              <a:rPr lang="en-US" sz="2000" b="1" dirty="0">
                <a:solidFill>
                  <a:srgbClr val="3FC0A6"/>
                </a:solidFill>
                <a:latin typeface="Arial" pitchFamily="34" charset="0"/>
                <a:ea typeface="Arial" pitchFamily="34" charset="-122"/>
                <a:cs typeface="Arial" pitchFamily="34" charset="-120"/>
              </a:rPr>
              <a:t>1</a:t>
            </a:r>
            <a:endParaRPr lang="en-US" sz="2000" dirty="0"/>
          </a:p>
        </p:txBody>
      </p:sp>
      <p:sp>
        <p:nvSpPr>
          <p:cNvPr id="22" name="Text 19"/>
          <p:cNvSpPr txBox="1"/>
          <p:nvPr/>
        </p:nvSpPr>
        <p:spPr>
          <a:xfrm>
            <a:off x="9052560" y="1664208"/>
            <a:ext cx="2407615" cy="329184"/>
          </a:xfrm>
          <a:prstGeom prst="rect">
            <a:avLst/>
          </a:prstGeom>
          <a:noFill/>
          <a:ln/>
        </p:spPr>
        <p:txBody>
          <a:bodyPr wrap="square" lIns="0" tIns="0" rIns="0" bIns="0" rtlCol="0" anchor="t"/>
          <a:lstStyle/>
          <a:p>
            <a:pPr algn="l" indent="0" marL="0">
              <a:lnSpc>
                <a:spcPts val="2250"/>
              </a:lnSpc>
              <a:buNone/>
            </a:pPr>
            <a:r>
              <a:rPr lang="en-US" sz="1800" b="1" dirty="0">
                <a:solidFill>
                  <a:srgbClr val="FFFFFF"/>
                </a:solidFill>
                <a:latin typeface="Arial" pitchFamily="34" charset="0"/>
                <a:ea typeface="Arial" pitchFamily="34" charset="-122"/>
                <a:cs typeface="Arial" pitchFamily="34" charset="-120"/>
              </a:rPr>
              <a:t>Capture</a:t>
            </a:r>
            <a:endParaRPr lang="en-US" sz="1800" dirty="0"/>
          </a:p>
        </p:txBody>
      </p:sp>
      <p:sp>
        <p:nvSpPr>
          <p:cNvPr id="23" name="Text 20"/>
          <p:cNvSpPr txBox="1"/>
          <p:nvPr/>
        </p:nvSpPr>
        <p:spPr>
          <a:xfrm>
            <a:off x="9052560" y="2029968"/>
            <a:ext cx="2407615" cy="411480"/>
          </a:xfrm>
          <a:prstGeom prst="rect">
            <a:avLst/>
          </a:prstGeom>
          <a:noFill/>
          <a:ln/>
        </p:spPr>
        <p:txBody>
          <a:bodyPr wrap="square" lIns="0" tIns="0" rIns="0" bIns="0" rtlCol="0" anchor="t"/>
          <a:lstStyle/>
          <a:p>
            <a:pPr algn="l" indent="0" marL="0">
              <a:lnSpc>
                <a:spcPts val="1380"/>
              </a:lnSpc>
              <a:buNone/>
            </a:pPr>
            <a:r>
              <a:rPr lang="en-US" sz="1100" dirty="0">
                <a:solidFill>
                  <a:srgbClr val="C9D6D3"/>
                </a:solidFill>
                <a:latin typeface="Arial" pitchFamily="34" charset="0"/>
                <a:ea typeface="Arial" pitchFamily="34" charset="-122"/>
                <a:cs typeface="Arial" pitchFamily="34" charset="-120"/>
              </a:rPr>
              <a:t>Record every enquiry and what the patient needs.</a:t>
            </a:r>
            <a:endParaRPr lang="en-US" sz="1100" dirty="0"/>
          </a:p>
        </p:txBody>
      </p:sp>
      <p:sp>
        <p:nvSpPr>
          <p:cNvPr id="24" name="Shape 21"/>
          <p:cNvSpPr/>
          <p:nvPr/>
        </p:nvSpPr>
        <p:spPr>
          <a:xfrm>
            <a:off x="10027768" y="2624328"/>
            <a:ext cx="0" cy="365760"/>
          </a:xfrm>
          <a:prstGeom prst="line">
            <a:avLst/>
          </a:prstGeom>
          <a:noFill/>
          <a:ln w="19050">
            <a:solidFill>
              <a:srgbClr val="3FC0A6"/>
            </a:solidFill>
            <a:prstDash val="solid"/>
            <a:tailEnd type="triangle"/>
          </a:ln>
        </p:spPr>
      </p:sp>
      <p:sp>
        <p:nvSpPr>
          <p:cNvPr id="25" name="Shape 22"/>
          <p:cNvSpPr/>
          <p:nvPr/>
        </p:nvSpPr>
        <p:spPr>
          <a:xfrm>
            <a:off x="8366760" y="3035808"/>
            <a:ext cx="3322015" cy="1115568"/>
          </a:xfrm>
          <a:prstGeom prst="roundRect">
            <a:avLst>
              <a:gd name="adj" fmla="val 10246"/>
            </a:avLst>
          </a:prstGeom>
          <a:solidFill>
            <a:srgbClr val="1E3640"/>
          </a:solidFill>
          <a:ln w="9525">
            <a:solidFill>
              <a:srgbClr val="2E4A55"/>
            </a:solidFill>
            <a:prstDash val="solid"/>
          </a:ln>
        </p:spPr>
      </p:sp>
      <p:sp>
        <p:nvSpPr>
          <p:cNvPr id="26" name="Text 23"/>
          <p:cNvSpPr txBox="1"/>
          <p:nvPr/>
        </p:nvSpPr>
        <p:spPr>
          <a:xfrm>
            <a:off x="8622792" y="3218688"/>
            <a:ext cx="457200" cy="365760"/>
          </a:xfrm>
          <a:prstGeom prst="rect">
            <a:avLst/>
          </a:prstGeom>
          <a:noFill/>
          <a:ln/>
        </p:spPr>
        <p:txBody>
          <a:bodyPr wrap="square" lIns="0" tIns="0" rIns="0" bIns="0" rtlCol="0" anchor="t"/>
          <a:lstStyle/>
          <a:p>
            <a:pPr algn="l" indent="0" marL="0">
              <a:lnSpc>
                <a:spcPts val="2500"/>
              </a:lnSpc>
              <a:buNone/>
            </a:pPr>
            <a:r>
              <a:rPr lang="en-US" sz="2000" b="1" dirty="0">
                <a:solidFill>
                  <a:srgbClr val="3FC0A6"/>
                </a:solidFill>
                <a:latin typeface="Arial" pitchFamily="34" charset="0"/>
                <a:ea typeface="Arial" pitchFamily="34" charset="-122"/>
                <a:cs typeface="Arial" pitchFamily="34" charset="-120"/>
              </a:rPr>
              <a:t>2</a:t>
            </a:r>
            <a:endParaRPr lang="en-US" sz="2000" dirty="0"/>
          </a:p>
        </p:txBody>
      </p:sp>
      <p:sp>
        <p:nvSpPr>
          <p:cNvPr id="27" name="Text 24"/>
          <p:cNvSpPr txBox="1"/>
          <p:nvPr/>
        </p:nvSpPr>
        <p:spPr>
          <a:xfrm>
            <a:off x="9052560" y="3236976"/>
            <a:ext cx="2407615" cy="329184"/>
          </a:xfrm>
          <a:prstGeom prst="rect">
            <a:avLst/>
          </a:prstGeom>
          <a:noFill/>
          <a:ln/>
        </p:spPr>
        <p:txBody>
          <a:bodyPr wrap="square" lIns="0" tIns="0" rIns="0" bIns="0" rtlCol="0" anchor="t"/>
          <a:lstStyle/>
          <a:p>
            <a:pPr algn="l" indent="0" marL="0">
              <a:lnSpc>
                <a:spcPts val="2250"/>
              </a:lnSpc>
              <a:buNone/>
            </a:pPr>
            <a:r>
              <a:rPr lang="en-US" sz="1800" b="1" dirty="0">
                <a:solidFill>
                  <a:srgbClr val="FFFFFF"/>
                </a:solidFill>
                <a:latin typeface="Arial" pitchFamily="34" charset="0"/>
                <a:ea typeface="Arial" pitchFamily="34" charset="-122"/>
                <a:cs typeface="Arial" pitchFamily="34" charset="-120"/>
              </a:rPr>
              <a:t>Follow up</a:t>
            </a:r>
            <a:endParaRPr lang="en-US" sz="1800" dirty="0"/>
          </a:p>
        </p:txBody>
      </p:sp>
      <p:sp>
        <p:nvSpPr>
          <p:cNvPr id="28" name="Text 25"/>
          <p:cNvSpPr txBox="1"/>
          <p:nvPr/>
        </p:nvSpPr>
        <p:spPr>
          <a:xfrm>
            <a:off x="9052560" y="3602736"/>
            <a:ext cx="2407615" cy="411480"/>
          </a:xfrm>
          <a:prstGeom prst="rect">
            <a:avLst/>
          </a:prstGeom>
          <a:noFill/>
          <a:ln/>
        </p:spPr>
        <p:txBody>
          <a:bodyPr wrap="square" lIns="0" tIns="0" rIns="0" bIns="0" rtlCol="0" anchor="t"/>
          <a:lstStyle/>
          <a:p>
            <a:pPr algn="l" indent="0" marL="0">
              <a:lnSpc>
                <a:spcPts val="1380"/>
              </a:lnSpc>
              <a:buNone/>
            </a:pPr>
            <a:r>
              <a:rPr lang="en-US" sz="1100" dirty="0">
                <a:solidFill>
                  <a:srgbClr val="C9D6D3"/>
                </a:solidFill>
                <a:latin typeface="Arial" pitchFamily="34" charset="0"/>
                <a:ea typeface="Arial" pitchFamily="34" charset="-122"/>
                <a:cs typeface="Arial" pitchFamily="34" charset="-120"/>
              </a:rPr>
              <a:t>Configured WhatsApp follow-ups, based on agreed rules.</a:t>
            </a:r>
            <a:endParaRPr lang="en-US" sz="1100" dirty="0"/>
          </a:p>
        </p:txBody>
      </p:sp>
      <p:sp>
        <p:nvSpPr>
          <p:cNvPr id="29" name="Shape 26"/>
          <p:cNvSpPr/>
          <p:nvPr/>
        </p:nvSpPr>
        <p:spPr>
          <a:xfrm>
            <a:off x="10027768" y="4197096"/>
            <a:ext cx="0" cy="365760"/>
          </a:xfrm>
          <a:prstGeom prst="line">
            <a:avLst/>
          </a:prstGeom>
          <a:noFill/>
          <a:ln w="19050">
            <a:solidFill>
              <a:srgbClr val="3FC0A6"/>
            </a:solidFill>
            <a:prstDash val="solid"/>
            <a:tailEnd type="triangle"/>
          </a:ln>
        </p:spPr>
      </p:sp>
      <p:sp>
        <p:nvSpPr>
          <p:cNvPr id="30" name="Shape 27"/>
          <p:cNvSpPr/>
          <p:nvPr/>
        </p:nvSpPr>
        <p:spPr>
          <a:xfrm>
            <a:off x="8366760" y="4608576"/>
            <a:ext cx="3322015" cy="1115568"/>
          </a:xfrm>
          <a:prstGeom prst="roundRect">
            <a:avLst>
              <a:gd name="adj" fmla="val 10246"/>
            </a:avLst>
          </a:prstGeom>
          <a:solidFill>
            <a:srgbClr val="0E7C6B"/>
          </a:solidFill>
          <a:ln w="9525">
            <a:solidFill>
              <a:srgbClr val="0E7C6B"/>
            </a:solidFill>
            <a:prstDash val="solid"/>
          </a:ln>
        </p:spPr>
      </p:sp>
      <p:sp>
        <p:nvSpPr>
          <p:cNvPr id="31" name="Text 28"/>
          <p:cNvSpPr txBox="1"/>
          <p:nvPr/>
        </p:nvSpPr>
        <p:spPr>
          <a:xfrm>
            <a:off x="8622792" y="4791456"/>
            <a:ext cx="457200" cy="365760"/>
          </a:xfrm>
          <a:prstGeom prst="rect">
            <a:avLst/>
          </a:prstGeom>
          <a:noFill/>
          <a:ln/>
        </p:spPr>
        <p:txBody>
          <a:bodyPr wrap="square" lIns="0" tIns="0" rIns="0" bIns="0" rtlCol="0" anchor="t"/>
          <a:lstStyle/>
          <a:p>
            <a:pPr algn="l" indent="0" marL="0">
              <a:lnSpc>
                <a:spcPts val="2500"/>
              </a:lnSpc>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32" name="Text 29"/>
          <p:cNvSpPr txBox="1"/>
          <p:nvPr/>
        </p:nvSpPr>
        <p:spPr>
          <a:xfrm>
            <a:off x="9052560" y="4809744"/>
            <a:ext cx="2407615" cy="329184"/>
          </a:xfrm>
          <a:prstGeom prst="rect">
            <a:avLst/>
          </a:prstGeom>
          <a:noFill/>
          <a:ln/>
        </p:spPr>
        <p:txBody>
          <a:bodyPr wrap="square" lIns="0" tIns="0" rIns="0" bIns="0" rtlCol="0" anchor="t"/>
          <a:lstStyle/>
          <a:p>
            <a:pPr algn="l" indent="0" marL="0">
              <a:lnSpc>
                <a:spcPts val="2250"/>
              </a:lnSpc>
              <a:buNone/>
            </a:pPr>
            <a:r>
              <a:rPr lang="en-US" sz="1800" b="1" dirty="0">
                <a:solidFill>
                  <a:srgbClr val="FFFFFF"/>
                </a:solidFill>
                <a:latin typeface="Arial" pitchFamily="34" charset="0"/>
                <a:ea typeface="Arial" pitchFamily="34" charset="-122"/>
                <a:cs typeface="Arial" pitchFamily="34" charset="-120"/>
              </a:rPr>
              <a:t>Recover</a:t>
            </a:r>
            <a:endParaRPr lang="en-US" sz="1800" dirty="0"/>
          </a:p>
        </p:txBody>
      </p:sp>
      <p:sp>
        <p:nvSpPr>
          <p:cNvPr id="33" name="Text 30"/>
          <p:cNvSpPr txBox="1"/>
          <p:nvPr/>
        </p:nvSpPr>
        <p:spPr>
          <a:xfrm>
            <a:off x="9052560" y="5175504"/>
            <a:ext cx="2407615" cy="411480"/>
          </a:xfrm>
          <a:prstGeom prst="rect">
            <a:avLst/>
          </a:prstGeom>
          <a:noFill/>
          <a:ln/>
        </p:spPr>
        <p:txBody>
          <a:bodyPr wrap="square" lIns="0" tIns="0" rIns="0" bIns="0" rtlCol="0" anchor="t"/>
          <a:lstStyle/>
          <a:p>
            <a:pPr algn="l" indent="0" marL="0">
              <a:lnSpc>
                <a:spcPts val="1380"/>
              </a:lnSpc>
              <a:buNone/>
            </a:pPr>
            <a:r>
              <a:rPr lang="en-US" sz="1100" dirty="0">
                <a:solidFill>
                  <a:srgbClr val="E6F4F0"/>
                </a:solidFill>
                <a:latin typeface="Arial" pitchFamily="34" charset="0"/>
                <a:ea typeface="Arial" pitchFamily="34" charset="-122"/>
                <a:cs typeface="Arial" pitchFamily="34" charset="-120"/>
              </a:rPr>
              <a:t>Guide patients to booking, or hand over to staff.</a:t>
            </a:r>
            <a:endParaRPr lang="en-US" sz="1100" dirty="0"/>
          </a:p>
        </p:txBody>
      </p:sp>
      <p:sp>
        <p:nvSpPr>
          <p:cNvPr id="34" name="Shape 31"/>
          <p:cNvSpPr/>
          <p:nvPr/>
        </p:nvSpPr>
        <p:spPr>
          <a:xfrm>
            <a:off x="0" y="0"/>
            <a:ext cx="12191695" cy="237744"/>
          </a:xfrm>
          <a:prstGeom prst="rect">
            <a:avLst/>
          </a:prstGeom>
          <a:solidFill>
            <a:srgbClr val="8F5A0E"/>
          </a:solidFill>
          <a:ln/>
        </p:spPr>
      </p:sp>
      <p:sp>
        <p:nvSpPr>
          <p:cNvPr id="35" name="Text 32"/>
          <p:cNvSpPr txBox="1"/>
          <p:nvPr/>
        </p:nvSpPr>
        <p:spPr>
          <a:xfrm>
            <a:off x="0" y="50292"/>
            <a:ext cx="12191695" cy="146304"/>
          </a:xfrm>
          <a:prstGeom prst="rect">
            <a:avLst/>
          </a:prstGeom>
          <a:noFill/>
          <a:ln/>
        </p:spPr>
        <p:txBody>
          <a:bodyPr wrap="square" lIns="0" tIns="0" rIns="0" bIns="0" rtlCol="0" anchor="t"/>
          <a:lstStyle/>
          <a:p>
            <a:pPr algn="ctr" indent="0" marL="0">
              <a:lnSpc>
                <a:spcPts val="1060"/>
              </a:lnSpc>
              <a:buNone/>
            </a:pPr>
            <a:r>
              <a:rPr lang="en-US" sz="850" b="1" spc="100" kern="0" dirty="0">
                <a:solidFill>
                  <a:srgbClr val="FFFFFF"/>
                </a:solidFill>
                <a:latin typeface="Arial" pitchFamily="34" charset="0"/>
                <a:ea typeface="Arial" pitchFamily="34" charset="-122"/>
                <a:cs typeface="Arial" pitchFamily="34" charset="-120"/>
              </a:rPr>
              <a:t>SAMPLE PROPOSAL  ·  FICTIONAL CLINIC DATA  ·  DO NOT SEND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175260"/>
          </a:xfrm>
          <a:prstGeom prst="rect">
            <a:avLst/>
          </a:prstGeom>
          <a:noFill/>
          <a:ln/>
        </p:spPr>
        <p:txBody>
          <a:bodyPr wrap="square" lIns="0" tIns="0" rIns="0" bIns="0" rtlCol="0" anchor="t"/>
          <a:lstStyle/>
          <a:p>
            <a:pPr algn="l" indent="0" marL="0">
              <a:lnSpc>
                <a:spcPts val="1380"/>
              </a:lnSpc>
              <a:buNone/>
            </a:pPr>
            <a:r>
              <a:rPr lang="en-US" sz="1100" b="1" dirty="0">
                <a:solidFill>
                  <a:srgbClr val="0E7C6B"/>
                </a:solidFill>
                <a:latin typeface="Arial" pitchFamily="34" charset="0"/>
                <a:ea typeface="Arial" pitchFamily="34" charset="-122"/>
                <a:cs typeface="Arial" pitchFamily="34" charset="-120"/>
              </a:rPr>
              <a:t>Current situation</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t"/>
          <a:lstStyle/>
          <a:p>
            <a:pPr algn="l" indent="0" marL="0">
              <a:lnSpc>
                <a:spcPts val="3500"/>
              </a:lnSpc>
              <a:buNone/>
            </a:pPr>
            <a:r>
              <a:rPr lang="en-US" sz="2800" b="1" dirty="0">
                <a:solidFill>
                  <a:srgbClr val="14232B"/>
                </a:solidFill>
                <a:latin typeface="Arial" pitchFamily="34" charset="0"/>
                <a:ea typeface="Arial" pitchFamily="34" charset="-122"/>
                <a:cs typeface="Arial" pitchFamily="34" charset="-120"/>
              </a:rPr>
              <a:t>Understanding your clinic's needs</a:t>
            </a:r>
            <a:endParaRPr lang="en-US" sz="2800" dirty="0"/>
          </a:p>
        </p:txBody>
      </p:sp>
      <p:sp>
        <p:nvSpPr>
          <p:cNvPr id="4" name="Text 2"/>
          <p:cNvSpPr txBox="1"/>
          <p:nvPr/>
        </p:nvSpPr>
        <p:spPr>
          <a:xfrm>
            <a:off x="548640" y="1508760"/>
            <a:ext cx="6949440" cy="175260"/>
          </a:xfrm>
          <a:prstGeom prst="rect">
            <a:avLst/>
          </a:prstGeom>
          <a:noFill/>
          <a:ln/>
        </p:spPr>
        <p:txBody>
          <a:bodyPr wrap="square" lIns="0" tIns="0" rIns="0" bIns="0" rtlCol="0" anchor="t"/>
          <a:lstStyle/>
          <a:p>
            <a:pPr algn="l" indent="0" marL="0">
              <a:lnSpc>
                <a:spcPts val="1380"/>
              </a:lnSpc>
              <a:buNone/>
            </a:pPr>
            <a:r>
              <a:rPr lang="en-US" sz="1100" b="1" dirty="0">
                <a:solidFill>
                  <a:srgbClr val="0E7C6B"/>
                </a:solidFill>
                <a:latin typeface="Arial" pitchFamily="34" charset="0"/>
                <a:ea typeface="Arial" pitchFamily="34" charset="-122"/>
                <a:cs typeface="Arial" pitchFamily="34" charset="-120"/>
              </a:rPr>
              <a:t>What we heard</a:t>
            </a:r>
            <a:endParaRPr lang="en-US" sz="1100" dirty="0"/>
          </a:p>
        </p:txBody>
      </p:sp>
      <p:sp>
        <p:nvSpPr>
          <p:cNvPr id="5" name="Shape 3"/>
          <p:cNvSpPr/>
          <p:nvPr/>
        </p:nvSpPr>
        <p:spPr>
          <a:xfrm>
            <a:off x="548640" y="1874520"/>
            <a:ext cx="6949440" cy="0"/>
          </a:xfrm>
          <a:prstGeom prst="line">
            <a:avLst/>
          </a:prstGeom>
          <a:noFill/>
          <a:ln w="9525">
            <a:solidFill>
              <a:srgbClr val="D5DEDB"/>
            </a:solidFill>
            <a:prstDash val="solid"/>
          </a:ln>
        </p:spPr>
      </p:sp>
      <p:sp>
        <p:nvSpPr>
          <p:cNvPr id="6" name="Text 4"/>
          <p:cNvSpPr txBox="1"/>
          <p:nvPr/>
        </p:nvSpPr>
        <p:spPr>
          <a:xfrm>
            <a:off x="548640" y="2011680"/>
            <a:ext cx="1874520" cy="158750"/>
          </a:xfrm>
          <a:prstGeom prst="rect">
            <a:avLst/>
          </a:prstGeom>
          <a:noFill/>
          <a:ln/>
        </p:spPr>
        <p:txBody>
          <a:bodyPr wrap="square" lIns="0" tIns="0" rIns="0" bIns="0" rtlCol="0" anchor="t"/>
          <a:lstStyle/>
          <a:p>
            <a:pPr algn="l" indent="0" marL="0">
              <a:lnSpc>
                <a:spcPts val="1250"/>
              </a:lnSpc>
              <a:buNone/>
            </a:pPr>
            <a:r>
              <a:rPr lang="en-US" sz="1000" b="1" dirty="0">
                <a:solidFill>
                  <a:srgbClr val="5B6B70"/>
                </a:solidFill>
                <a:latin typeface="Arial" pitchFamily="34" charset="0"/>
                <a:ea typeface="Arial" pitchFamily="34" charset="-122"/>
                <a:cs typeface="Arial" pitchFamily="34" charset="-120"/>
              </a:rPr>
              <a:t>How enquiries arrive</a:t>
            </a:r>
            <a:endParaRPr lang="en-US" sz="1000" dirty="0"/>
          </a:p>
        </p:txBody>
      </p:sp>
      <p:sp>
        <p:nvSpPr>
          <p:cNvPr id="7" name="Text 5"/>
          <p:cNvSpPr txBox="1"/>
          <p:nvPr/>
        </p:nvSpPr>
        <p:spPr>
          <a:xfrm>
            <a:off x="2606040" y="1993392"/>
            <a:ext cx="4892040" cy="396240"/>
          </a:xfrm>
          <a:prstGeom prst="rect">
            <a:avLst/>
          </a:prstGeom>
          <a:noFill/>
          <a:ln/>
        </p:spPr>
        <p:txBody>
          <a:bodyPr wrap="square" lIns="0" tIns="0" rIns="0" bIns="0" rtlCol="0" anchor="t"/>
          <a:lstStyle/>
          <a:p>
            <a:pPr algn="l" indent="0" marL="0">
              <a:lnSpc>
                <a:spcPts val="1560"/>
              </a:lnSpc>
              <a:buNone/>
            </a:pPr>
            <a:r>
              <a:rPr lang="en-US" sz="1250" dirty="0">
                <a:solidFill>
                  <a:srgbClr val="14232B"/>
                </a:solidFill>
                <a:latin typeface="Arial" pitchFamily="34" charset="0"/>
                <a:ea typeface="Arial" pitchFamily="34" charset="-122"/>
                <a:cs typeface="Arial" pitchFamily="34" charset="-120"/>
              </a:rPr>
              <a:t>Mostly WhatsApp messages from social media ads, plus phone calls.</a:t>
            </a:r>
            <a:endParaRPr lang="en-US" sz="1250" dirty="0"/>
          </a:p>
        </p:txBody>
      </p:sp>
      <p:sp>
        <p:nvSpPr>
          <p:cNvPr id="8" name="Shape 6"/>
          <p:cNvSpPr/>
          <p:nvPr/>
        </p:nvSpPr>
        <p:spPr>
          <a:xfrm>
            <a:off x="548640" y="2508504"/>
            <a:ext cx="6949440" cy="0"/>
          </a:xfrm>
          <a:prstGeom prst="line">
            <a:avLst/>
          </a:prstGeom>
          <a:noFill/>
          <a:ln w="9525">
            <a:solidFill>
              <a:srgbClr val="D5DEDB"/>
            </a:solidFill>
            <a:prstDash val="solid"/>
          </a:ln>
        </p:spPr>
      </p:sp>
      <p:sp>
        <p:nvSpPr>
          <p:cNvPr id="9" name="Text 7"/>
          <p:cNvSpPr txBox="1"/>
          <p:nvPr/>
        </p:nvSpPr>
        <p:spPr>
          <a:xfrm>
            <a:off x="548640" y="2645664"/>
            <a:ext cx="1874520" cy="158750"/>
          </a:xfrm>
          <a:prstGeom prst="rect">
            <a:avLst/>
          </a:prstGeom>
          <a:noFill/>
          <a:ln/>
        </p:spPr>
        <p:txBody>
          <a:bodyPr wrap="square" lIns="0" tIns="0" rIns="0" bIns="0" rtlCol="0" anchor="t"/>
          <a:lstStyle/>
          <a:p>
            <a:pPr algn="l" indent="0" marL="0">
              <a:lnSpc>
                <a:spcPts val="1250"/>
              </a:lnSpc>
              <a:buNone/>
            </a:pPr>
            <a:r>
              <a:rPr lang="en-US" sz="1000" b="1" dirty="0">
                <a:solidFill>
                  <a:srgbClr val="5B6B70"/>
                </a:solidFill>
                <a:latin typeface="Arial" pitchFamily="34" charset="0"/>
                <a:ea typeface="Arial" pitchFamily="34" charset="-122"/>
                <a:cs typeface="Arial" pitchFamily="34" charset="-120"/>
              </a:rPr>
              <a:t>WhatsApp setup</a:t>
            </a:r>
            <a:endParaRPr lang="en-US" sz="1000" dirty="0"/>
          </a:p>
        </p:txBody>
      </p:sp>
      <p:sp>
        <p:nvSpPr>
          <p:cNvPr id="10" name="Text 8"/>
          <p:cNvSpPr txBox="1"/>
          <p:nvPr/>
        </p:nvSpPr>
        <p:spPr>
          <a:xfrm>
            <a:off x="2606040" y="2627376"/>
            <a:ext cx="4892040" cy="198120"/>
          </a:xfrm>
          <a:prstGeom prst="rect">
            <a:avLst/>
          </a:prstGeom>
          <a:noFill/>
          <a:ln/>
        </p:spPr>
        <p:txBody>
          <a:bodyPr wrap="square" lIns="0" tIns="0" rIns="0" bIns="0" rtlCol="0" anchor="t"/>
          <a:lstStyle/>
          <a:p>
            <a:pPr algn="l" indent="0" marL="0">
              <a:lnSpc>
                <a:spcPts val="1560"/>
              </a:lnSpc>
              <a:buNone/>
            </a:pPr>
            <a:r>
              <a:rPr lang="en-US" sz="1250" dirty="0">
                <a:solidFill>
                  <a:srgbClr val="14232B"/>
                </a:solidFill>
                <a:latin typeface="Arial" pitchFamily="34" charset="0"/>
                <a:ea typeface="Arial" pitchFamily="34" charset="-122"/>
                <a:cs typeface="Arial" pitchFamily="34" charset="-120"/>
              </a:rPr>
              <a:t>WhatsApp Business app on the front-desk phone.</a:t>
            </a:r>
            <a:endParaRPr lang="en-US" sz="1250" dirty="0"/>
          </a:p>
        </p:txBody>
      </p:sp>
      <p:sp>
        <p:nvSpPr>
          <p:cNvPr id="11" name="Shape 9"/>
          <p:cNvSpPr/>
          <p:nvPr/>
        </p:nvSpPr>
        <p:spPr>
          <a:xfrm>
            <a:off x="548640" y="2944368"/>
            <a:ext cx="6949440" cy="0"/>
          </a:xfrm>
          <a:prstGeom prst="line">
            <a:avLst/>
          </a:prstGeom>
          <a:noFill/>
          <a:ln w="9525">
            <a:solidFill>
              <a:srgbClr val="D5DEDB"/>
            </a:solidFill>
            <a:prstDash val="solid"/>
          </a:ln>
        </p:spPr>
      </p:sp>
      <p:sp>
        <p:nvSpPr>
          <p:cNvPr id="12" name="Text 10"/>
          <p:cNvSpPr txBox="1"/>
          <p:nvPr/>
        </p:nvSpPr>
        <p:spPr>
          <a:xfrm>
            <a:off x="548640" y="3081528"/>
            <a:ext cx="1874520" cy="158750"/>
          </a:xfrm>
          <a:prstGeom prst="rect">
            <a:avLst/>
          </a:prstGeom>
          <a:noFill/>
          <a:ln/>
        </p:spPr>
        <p:txBody>
          <a:bodyPr wrap="square" lIns="0" tIns="0" rIns="0" bIns="0" rtlCol="0" anchor="t"/>
          <a:lstStyle/>
          <a:p>
            <a:pPr algn="l" indent="0" marL="0">
              <a:lnSpc>
                <a:spcPts val="1250"/>
              </a:lnSpc>
              <a:buNone/>
            </a:pPr>
            <a:r>
              <a:rPr lang="en-US" sz="1000" b="1" dirty="0">
                <a:solidFill>
                  <a:srgbClr val="5B6B70"/>
                </a:solidFill>
                <a:latin typeface="Arial" pitchFamily="34" charset="0"/>
                <a:ea typeface="Arial" pitchFamily="34" charset="-122"/>
                <a:cs typeface="Arial" pitchFamily="34" charset="-120"/>
              </a:rPr>
              <a:t>Clinic software</a:t>
            </a:r>
            <a:endParaRPr lang="en-US" sz="1000" dirty="0"/>
          </a:p>
        </p:txBody>
      </p:sp>
      <p:sp>
        <p:nvSpPr>
          <p:cNvPr id="13" name="Text 11"/>
          <p:cNvSpPr txBox="1"/>
          <p:nvPr/>
        </p:nvSpPr>
        <p:spPr>
          <a:xfrm>
            <a:off x="2606040" y="3063240"/>
            <a:ext cx="4892040" cy="198120"/>
          </a:xfrm>
          <a:prstGeom prst="rect">
            <a:avLst/>
          </a:prstGeom>
          <a:noFill/>
          <a:ln/>
        </p:spPr>
        <p:txBody>
          <a:bodyPr wrap="square" lIns="0" tIns="0" rIns="0" bIns="0" rtlCol="0" anchor="t"/>
          <a:lstStyle/>
          <a:p>
            <a:pPr algn="l" indent="0" marL="0">
              <a:lnSpc>
                <a:spcPts val="1560"/>
              </a:lnSpc>
              <a:buNone/>
            </a:pPr>
            <a:r>
              <a:rPr lang="en-US" sz="1250" dirty="0">
                <a:solidFill>
                  <a:srgbClr val="14232B"/>
                </a:solidFill>
                <a:latin typeface="Arial" pitchFamily="34" charset="0"/>
                <a:ea typeface="Arial" pitchFamily="34" charset="-122"/>
                <a:cs typeface="Arial" pitchFamily="34" charset="-120"/>
              </a:rPr>
              <a:t>Appointments kept in a paper register and a shared spreadsheet.</a:t>
            </a:r>
            <a:endParaRPr lang="en-US" sz="1250" dirty="0"/>
          </a:p>
        </p:txBody>
      </p:sp>
      <p:sp>
        <p:nvSpPr>
          <p:cNvPr id="14" name="Shape 12"/>
          <p:cNvSpPr/>
          <p:nvPr/>
        </p:nvSpPr>
        <p:spPr>
          <a:xfrm>
            <a:off x="548640" y="3380232"/>
            <a:ext cx="6949440" cy="0"/>
          </a:xfrm>
          <a:prstGeom prst="line">
            <a:avLst/>
          </a:prstGeom>
          <a:noFill/>
          <a:ln w="9525">
            <a:solidFill>
              <a:srgbClr val="D5DEDB"/>
            </a:solidFill>
            <a:prstDash val="solid"/>
          </a:ln>
        </p:spPr>
      </p:sp>
      <p:sp>
        <p:nvSpPr>
          <p:cNvPr id="15" name="Text 13"/>
          <p:cNvSpPr txBox="1"/>
          <p:nvPr/>
        </p:nvSpPr>
        <p:spPr>
          <a:xfrm>
            <a:off x="548640" y="3517392"/>
            <a:ext cx="1874520" cy="158750"/>
          </a:xfrm>
          <a:prstGeom prst="rect">
            <a:avLst/>
          </a:prstGeom>
          <a:noFill/>
          <a:ln/>
        </p:spPr>
        <p:txBody>
          <a:bodyPr wrap="square" lIns="0" tIns="0" rIns="0" bIns="0" rtlCol="0" anchor="t"/>
          <a:lstStyle/>
          <a:p>
            <a:pPr algn="l" indent="0" marL="0">
              <a:lnSpc>
                <a:spcPts val="1250"/>
              </a:lnSpc>
              <a:buNone/>
            </a:pPr>
            <a:r>
              <a:rPr lang="en-US" sz="1000" b="1" dirty="0">
                <a:solidFill>
                  <a:srgbClr val="5B6B70"/>
                </a:solidFill>
                <a:latin typeface="Arial" pitchFamily="34" charset="0"/>
                <a:ea typeface="Arial" pitchFamily="34" charset="-122"/>
                <a:cs typeface="Arial" pitchFamily="34" charset="-120"/>
              </a:rPr>
              <a:t>Booking process</a:t>
            </a:r>
            <a:endParaRPr lang="en-US" sz="1000" dirty="0"/>
          </a:p>
        </p:txBody>
      </p:sp>
      <p:sp>
        <p:nvSpPr>
          <p:cNvPr id="16" name="Text 14"/>
          <p:cNvSpPr txBox="1"/>
          <p:nvPr/>
        </p:nvSpPr>
        <p:spPr>
          <a:xfrm>
            <a:off x="2606040" y="3499104"/>
            <a:ext cx="4892040" cy="396240"/>
          </a:xfrm>
          <a:prstGeom prst="rect">
            <a:avLst/>
          </a:prstGeom>
          <a:noFill/>
          <a:ln/>
        </p:spPr>
        <p:txBody>
          <a:bodyPr wrap="square" lIns="0" tIns="0" rIns="0" bIns="0" rtlCol="0" anchor="t"/>
          <a:lstStyle/>
          <a:p>
            <a:pPr algn="l" indent="0" marL="0">
              <a:lnSpc>
                <a:spcPts val="1560"/>
              </a:lnSpc>
              <a:buNone/>
            </a:pPr>
            <a:r>
              <a:rPr lang="en-US" sz="1250" dirty="0">
                <a:solidFill>
                  <a:srgbClr val="14232B"/>
                </a:solidFill>
                <a:latin typeface="Arial" pitchFamily="34" charset="0"/>
                <a:ea typeface="Arial" pitchFamily="34" charset="-122"/>
                <a:cs typeface="Arial" pitchFamily="34" charset="-120"/>
              </a:rPr>
              <a:t>The receptionist replies to each enquiry and books a slot by phone.</a:t>
            </a:r>
            <a:endParaRPr lang="en-US" sz="1250" dirty="0"/>
          </a:p>
        </p:txBody>
      </p:sp>
      <p:sp>
        <p:nvSpPr>
          <p:cNvPr id="17" name="Shape 15"/>
          <p:cNvSpPr/>
          <p:nvPr/>
        </p:nvSpPr>
        <p:spPr>
          <a:xfrm>
            <a:off x="548640" y="4014216"/>
            <a:ext cx="6949440" cy="0"/>
          </a:xfrm>
          <a:prstGeom prst="line">
            <a:avLst/>
          </a:prstGeom>
          <a:noFill/>
          <a:ln w="9525">
            <a:solidFill>
              <a:srgbClr val="D5DEDB"/>
            </a:solidFill>
            <a:prstDash val="solid"/>
          </a:ln>
        </p:spPr>
      </p:sp>
      <p:sp>
        <p:nvSpPr>
          <p:cNvPr id="18" name="Text 16"/>
          <p:cNvSpPr txBox="1"/>
          <p:nvPr/>
        </p:nvSpPr>
        <p:spPr>
          <a:xfrm>
            <a:off x="548640" y="4151376"/>
            <a:ext cx="1874520" cy="158750"/>
          </a:xfrm>
          <a:prstGeom prst="rect">
            <a:avLst/>
          </a:prstGeom>
          <a:noFill/>
          <a:ln/>
        </p:spPr>
        <p:txBody>
          <a:bodyPr wrap="square" lIns="0" tIns="0" rIns="0" bIns="0" rtlCol="0" anchor="t"/>
          <a:lstStyle/>
          <a:p>
            <a:pPr algn="l" indent="0" marL="0">
              <a:lnSpc>
                <a:spcPts val="1250"/>
              </a:lnSpc>
              <a:buNone/>
            </a:pPr>
            <a:r>
              <a:rPr lang="en-US" sz="1000" b="1" dirty="0">
                <a:solidFill>
                  <a:srgbClr val="5B6B70"/>
                </a:solidFill>
                <a:latin typeface="Arial" pitchFamily="34" charset="0"/>
                <a:ea typeface="Arial" pitchFamily="34" charset="-122"/>
                <a:cs typeface="Arial" pitchFamily="34" charset="-120"/>
              </a:rPr>
              <a:t>Main challenge</a:t>
            </a:r>
            <a:endParaRPr lang="en-US" sz="1000" dirty="0"/>
          </a:p>
        </p:txBody>
      </p:sp>
      <p:sp>
        <p:nvSpPr>
          <p:cNvPr id="19" name="Text 17"/>
          <p:cNvSpPr txBox="1"/>
          <p:nvPr/>
        </p:nvSpPr>
        <p:spPr>
          <a:xfrm>
            <a:off x="2606040" y="4133088"/>
            <a:ext cx="4892040" cy="198120"/>
          </a:xfrm>
          <a:prstGeom prst="rect">
            <a:avLst/>
          </a:prstGeom>
          <a:noFill/>
          <a:ln/>
        </p:spPr>
        <p:txBody>
          <a:bodyPr wrap="square" lIns="0" tIns="0" rIns="0" bIns="0" rtlCol="0" anchor="t"/>
          <a:lstStyle/>
          <a:p>
            <a:pPr algn="l" indent="0" marL="0">
              <a:lnSpc>
                <a:spcPts val="1560"/>
              </a:lnSpc>
              <a:buNone/>
            </a:pPr>
            <a:r>
              <a:rPr lang="en-US" sz="1250" dirty="0">
                <a:solidFill>
                  <a:srgbClr val="14232B"/>
                </a:solidFill>
                <a:latin typeface="Arial" pitchFamily="34" charset="0"/>
                <a:ea typeface="Arial" pitchFamily="34" charset="-122"/>
                <a:cs typeface="Arial" pitchFamily="34" charset="-120"/>
              </a:rPr>
              <a:t>Enquiries that do not book on the first reply are rarely followed up.</a:t>
            </a:r>
            <a:endParaRPr lang="en-US" sz="1250" dirty="0"/>
          </a:p>
        </p:txBody>
      </p:sp>
      <p:sp>
        <p:nvSpPr>
          <p:cNvPr id="20" name="Shape 18"/>
          <p:cNvSpPr/>
          <p:nvPr/>
        </p:nvSpPr>
        <p:spPr>
          <a:xfrm>
            <a:off x="548640" y="4450080"/>
            <a:ext cx="6949440" cy="0"/>
          </a:xfrm>
          <a:prstGeom prst="line">
            <a:avLst/>
          </a:prstGeom>
          <a:noFill/>
          <a:ln w="9525">
            <a:solidFill>
              <a:srgbClr val="D5DEDB"/>
            </a:solidFill>
            <a:prstDash val="solid"/>
          </a:ln>
        </p:spPr>
      </p:sp>
      <p:sp>
        <p:nvSpPr>
          <p:cNvPr id="21" name="Text 19"/>
          <p:cNvSpPr txBox="1"/>
          <p:nvPr/>
        </p:nvSpPr>
        <p:spPr>
          <a:xfrm>
            <a:off x="548640" y="4587240"/>
            <a:ext cx="1874520" cy="158750"/>
          </a:xfrm>
          <a:prstGeom prst="rect">
            <a:avLst/>
          </a:prstGeom>
          <a:noFill/>
          <a:ln/>
        </p:spPr>
        <p:txBody>
          <a:bodyPr wrap="square" lIns="0" tIns="0" rIns="0" bIns="0" rtlCol="0" anchor="t"/>
          <a:lstStyle/>
          <a:p>
            <a:pPr algn="l" indent="0" marL="0">
              <a:lnSpc>
                <a:spcPts val="1250"/>
              </a:lnSpc>
              <a:buNone/>
            </a:pPr>
            <a:r>
              <a:rPr lang="en-US" sz="1000" b="1" dirty="0">
                <a:solidFill>
                  <a:srgbClr val="5B6B70"/>
                </a:solidFill>
                <a:latin typeface="Arial" pitchFamily="34" charset="0"/>
                <a:ea typeface="Arial" pitchFamily="34" charset="-122"/>
                <a:cs typeface="Arial" pitchFamily="34" charset="-120"/>
              </a:rPr>
              <a:t>Discovery call notes</a:t>
            </a:r>
            <a:endParaRPr lang="en-US" sz="1000" dirty="0"/>
          </a:p>
        </p:txBody>
      </p:sp>
      <p:sp>
        <p:nvSpPr>
          <p:cNvPr id="22" name="Text 20"/>
          <p:cNvSpPr txBox="1"/>
          <p:nvPr/>
        </p:nvSpPr>
        <p:spPr>
          <a:xfrm>
            <a:off x="2606040" y="4568952"/>
            <a:ext cx="4892040" cy="198120"/>
          </a:xfrm>
          <a:prstGeom prst="rect">
            <a:avLst/>
          </a:prstGeom>
          <a:noFill/>
          <a:ln/>
        </p:spPr>
        <p:txBody>
          <a:bodyPr wrap="square" lIns="0" tIns="0" rIns="0" bIns="0" rtlCol="0" anchor="t"/>
          <a:lstStyle/>
          <a:p>
            <a:pPr algn="l" indent="0" marL="0">
              <a:lnSpc>
                <a:spcPts val="1560"/>
              </a:lnSpc>
              <a:buNone/>
            </a:pPr>
            <a:r>
              <a:rPr lang="en-US" sz="1250" dirty="0">
                <a:solidFill>
                  <a:srgbClr val="14232B"/>
                </a:solidFill>
                <a:latin typeface="Arial" pitchFamily="34" charset="0"/>
                <a:ea typeface="Arial" pitchFamily="34" charset="-122"/>
                <a:cs typeface="Arial" pitchFamily="34" charset="-120"/>
              </a:rPr>
              <a:t>Sample notes from a fictional discovery call.</a:t>
            </a:r>
            <a:endParaRPr lang="en-US" sz="1250" dirty="0"/>
          </a:p>
        </p:txBody>
      </p:sp>
      <p:sp>
        <p:nvSpPr>
          <p:cNvPr id="23" name="Shape 21"/>
          <p:cNvSpPr/>
          <p:nvPr/>
        </p:nvSpPr>
        <p:spPr>
          <a:xfrm>
            <a:off x="548640" y="4885944"/>
            <a:ext cx="6949440" cy="0"/>
          </a:xfrm>
          <a:prstGeom prst="line">
            <a:avLst/>
          </a:prstGeom>
          <a:noFill/>
          <a:ln w="9525">
            <a:solidFill>
              <a:srgbClr val="D5DEDB"/>
            </a:solidFill>
            <a:prstDash val="solid"/>
          </a:ln>
        </p:spPr>
      </p:sp>
      <p:sp>
        <p:nvSpPr>
          <p:cNvPr id="24" name="Text 22"/>
          <p:cNvSpPr txBox="1"/>
          <p:nvPr/>
        </p:nvSpPr>
        <p:spPr>
          <a:xfrm>
            <a:off x="7818120" y="1508760"/>
            <a:ext cx="3824935" cy="175260"/>
          </a:xfrm>
          <a:prstGeom prst="rect">
            <a:avLst/>
          </a:prstGeom>
          <a:noFill/>
          <a:ln/>
        </p:spPr>
        <p:txBody>
          <a:bodyPr wrap="square" lIns="0" tIns="0" rIns="0" bIns="0" rtlCol="0" anchor="t"/>
          <a:lstStyle/>
          <a:p>
            <a:pPr algn="l" indent="0" marL="0">
              <a:lnSpc>
                <a:spcPts val="1380"/>
              </a:lnSpc>
              <a:buNone/>
            </a:pPr>
            <a:r>
              <a:rPr lang="en-US" sz="1100" b="1" dirty="0">
                <a:solidFill>
                  <a:srgbClr val="0E7C6B"/>
                </a:solidFill>
                <a:latin typeface="Arial" pitchFamily="34" charset="0"/>
                <a:ea typeface="Arial" pitchFamily="34" charset="-122"/>
                <a:cs typeface="Arial" pitchFamily="34" charset="-120"/>
              </a:rPr>
              <a:t>Objectives for this engagement</a:t>
            </a:r>
            <a:endParaRPr lang="en-US" sz="1100" dirty="0"/>
          </a:p>
        </p:txBody>
      </p:sp>
      <p:sp>
        <p:nvSpPr>
          <p:cNvPr id="25" name="Shape 23"/>
          <p:cNvSpPr/>
          <p:nvPr/>
        </p:nvSpPr>
        <p:spPr>
          <a:xfrm>
            <a:off x="7818120" y="1874520"/>
            <a:ext cx="3824935" cy="822960"/>
          </a:xfrm>
          <a:prstGeom prst="roundRect">
            <a:avLst>
              <a:gd name="adj" fmla="val 13889"/>
            </a:avLst>
          </a:prstGeom>
          <a:solidFill>
            <a:srgbClr val="F6F8F7"/>
          </a:solidFill>
          <a:ln w="9525">
            <a:solidFill>
              <a:srgbClr val="D5DEDB"/>
            </a:solidFill>
            <a:prstDash val="solid"/>
          </a:ln>
        </p:spPr>
      </p:sp>
      <p:sp>
        <p:nvSpPr>
          <p:cNvPr id="26" name="Text 24"/>
          <p:cNvSpPr txBox="1"/>
          <p:nvPr/>
        </p:nvSpPr>
        <p:spPr>
          <a:xfrm>
            <a:off x="8001000" y="2121408"/>
            <a:ext cx="365760" cy="329184"/>
          </a:xfrm>
          <a:prstGeom prst="rect">
            <a:avLst/>
          </a:prstGeom>
          <a:noFill/>
          <a:ln/>
        </p:spPr>
        <p:txBody>
          <a:bodyPr wrap="square" lIns="0" tIns="0" rIns="0" bIns="0" rtlCol="0" anchor="t"/>
          <a:lstStyle/>
          <a:p>
            <a:pPr algn="l" indent="0" marL="0">
              <a:lnSpc>
                <a:spcPts val="1750"/>
              </a:lnSpc>
              <a:buNone/>
            </a:pPr>
            <a:r>
              <a:rPr lang="en-US" sz="1400" b="1" dirty="0">
                <a:solidFill>
                  <a:srgbClr val="0E7C6B"/>
                </a:solidFill>
                <a:latin typeface="Arial" pitchFamily="34" charset="0"/>
                <a:ea typeface="Arial" pitchFamily="34" charset="-122"/>
                <a:cs typeface="Arial" pitchFamily="34" charset="-120"/>
              </a:rPr>
              <a:t>01</a:t>
            </a:r>
            <a:endParaRPr lang="en-US" sz="1400" dirty="0"/>
          </a:p>
        </p:txBody>
      </p:sp>
      <p:sp>
        <p:nvSpPr>
          <p:cNvPr id="27" name="Text 25"/>
          <p:cNvSpPr txBox="1"/>
          <p:nvPr/>
        </p:nvSpPr>
        <p:spPr>
          <a:xfrm>
            <a:off x="8458200" y="1965960"/>
            <a:ext cx="3001975" cy="640080"/>
          </a:xfrm>
          <a:prstGeom prst="rect">
            <a:avLst/>
          </a:prstGeom>
          <a:noFill/>
          <a:ln/>
        </p:spPr>
        <p:txBody>
          <a:bodyPr wrap="square" lIns="0" tIns="0" rIns="0" bIns="0" rtlCol="0" anchor="ctr"/>
          <a:lstStyle/>
          <a:p>
            <a:pPr algn="l" indent="0" marL="0">
              <a:lnSpc>
                <a:spcPts val="1500"/>
              </a:lnSpc>
              <a:buNone/>
            </a:pPr>
            <a:r>
              <a:rPr lang="en-US" sz="1200" dirty="0">
                <a:solidFill>
                  <a:srgbClr val="14232B"/>
                </a:solidFill>
                <a:latin typeface="Arial" pitchFamily="34" charset="0"/>
                <a:ea typeface="Arial" pitchFamily="34" charset="-122"/>
                <a:cs typeface="Arial" pitchFamily="34" charset="-120"/>
              </a:rPr>
              <a:t>Improve consistency of enquiry follow-up.</a:t>
            </a:r>
            <a:endParaRPr lang="en-US" sz="1200" dirty="0"/>
          </a:p>
        </p:txBody>
      </p:sp>
      <p:sp>
        <p:nvSpPr>
          <p:cNvPr id="28" name="Shape 26"/>
          <p:cNvSpPr/>
          <p:nvPr/>
        </p:nvSpPr>
        <p:spPr>
          <a:xfrm>
            <a:off x="7818120" y="2816352"/>
            <a:ext cx="3824935" cy="822960"/>
          </a:xfrm>
          <a:prstGeom prst="roundRect">
            <a:avLst>
              <a:gd name="adj" fmla="val 13889"/>
            </a:avLst>
          </a:prstGeom>
          <a:solidFill>
            <a:srgbClr val="F6F8F7"/>
          </a:solidFill>
          <a:ln w="9525">
            <a:solidFill>
              <a:srgbClr val="D5DEDB"/>
            </a:solidFill>
            <a:prstDash val="solid"/>
          </a:ln>
        </p:spPr>
      </p:sp>
      <p:sp>
        <p:nvSpPr>
          <p:cNvPr id="29" name="Text 27"/>
          <p:cNvSpPr txBox="1"/>
          <p:nvPr/>
        </p:nvSpPr>
        <p:spPr>
          <a:xfrm>
            <a:off x="8001000" y="3063240"/>
            <a:ext cx="365760" cy="329184"/>
          </a:xfrm>
          <a:prstGeom prst="rect">
            <a:avLst/>
          </a:prstGeom>
          <a:noFill/>
          <a:ln/>
        </p:spPr>
        <p:txBody>
          <a:bodyPr wrap="square" lIns="0" tIns="0" rIns="0" bIns="0" rtlCol="0" anchor="t"/>
          <a:lstStyle/>
          <a:p>
            <a:pPr algn="l" indent="0" marL="0">
              <a:lnSpc>
                <a:spcPts val="1750"/>
              </a:lnSpc>
              <a:buNone/>
            </a:pPr>
            <a:r>
              <a:rPr lang="en-US" sz="1400" b="1" dirty="0">
                <a:solidFill>
                  <a:srgbClr val="0E7C6B"/>
                </a:solidFill>
                <a:latin typeface="Arial" pitchFamily="34" charset="0"/>
                <a:ea typeface="Arial" pitchFamily="34" charset="-122"/>
                <a:cs typeface="Arial" pitchFamily="34" charset="-120"/>
              </a:rPr>
              <a:t>02</a:t>
            </a:r>
            <a:endParaRPr lang="en-US" sz="1400" dirty="0"/>
          </a:p>
        </p:txBody>
      </p:sp>
      <p:sp>
        <p:nvSpPr>
          <p:cNvPr id="30" name="Text 28"/>
          <p:cNvSpPr txBox="1"/>
          <p:nvPr/>
        </p:nvSpPr>
        <p:spPr>
          <a:xfrm>
            <a:off x="8458200" y="2907792"/>
            <a:ext cx="3001975" cy="640080"/>
          </a:xfrm>
          <a:prstGeom prst="rect">
            <a:avLst/>
          </a:prstGeom>
          <a:noFill/>
          <a:ln/>
        </p:spPr>
        <p:txBody>
          <a:bodyPr wrap="square" lIns="0" tIns="0" rIns="0" bIns="0" rtlCol="0" anchor="ctr"/>
          <a:lstStyle/>
          <a:p>
            <a:pPr algn="l" indent="0" marL="0">
              <a:lnSpc>
                <a:spcPts val="1500"/>
              </a:lnSpc>
              <a:buNone/>
            </a:pPr>
            <a:r>
              <a:rPr lang="en-US" sz="1200" dirty="0">
                <a:solidFill>
                  <a:srgbClr val="14232B"/>
                </a:solidFill>
                <a:latin typeface="Arial" pitchFamily="34" charset="0"/>
                <a:ea typeface="Arial" pitchFamily="34" charset="-122"/>
                <a:cs typeface="Arial" pitchFamily="34" charset="-120"/>
              </a:rPr>
              <a:t>Reduce manual follow-up work.</a:t>
            </a:r>
            <a:endParaRPr lang="en-US" sz="1200" dirty="0"/>
          </a:p>
        </p:txBody>
      </p:sp>
      <p:sp>
        <p:nvSpPr>
          <p:cNvPr id="31" name="Shape 29"/>
          <p:cNvSpPr/>
          <p:nvPr/>
        </p:nvSpPr>
        <p:spPr>
          <a:xfrm>
            <a:off x="7818120" y="3758184"/>
            <a:ext cx="3824935" cy="822960"/>
          </a:xfrm>
          <a:prstGeom prst="roundRect">
            <a:avLst>
              <a:gd name="adj" fmla="val 13889"/>
            </a:avLst>
          </a:prstGeom>
          <a:solidFill>
            <a:srgbClr val="F6F8F7"/>
          </a:solidFill>
          <a:ln w="9525">
            <a:solidFill>
              <a:srgbClr val="D5DEDB"/>
            </a:solidFill>
            <a:prstDash val="solid"/>
          </a:ln>
        </p:spPr>
      </p:sp>
      <p:sp>
        <p:nvSpPr>
          <p:cNvPr id="32" name="Text 30"/>
          <p:cNvSpPr txBox="1"/>
          <p:nvPr/>
        </p:nvSpPr>
        <p:spPr>
          <a:xfrm>
            <a:off x="8001000" y="4005072"/>
            <a:ext cx="365760" cy="329184"/>
          </a:xfrm>
          <a:prstGeom prst="rect">
            <a:avLst/>
          </a:prstGeom>
          <a:noFill/>
          <a:ln/>
        </p:spPr>
        <p:txBody>
          <a:bodyPr wrap="square" lIns="0" tIns="0" rIns="0" bIns="0" rtlCol="0" anchor="t"/>
          <a:lstStyle/>
          <a:p>
            <a:pPr algn="l" indent="0" marL="0">
              <a:lnSpc>
                <a:spcPts val="1750"/>
              </a:lnSpc>
              <a:buNone/>
            </a:pPr>
            <a:r>
              <a:rPr lang="en-US" sz="1400" b="1" dirty="0">
                <a:solidFill>
                  <a:srgbClr val="0E7C6B"/>
                </a:solidFill>
                <a:latin typeface="Arial" pitchFamily="34" charset="0"/>
                <a:ea typeface="Arial" pitchFamily="34" charset="-122"/>
                <a:cs typeface="Arial" pitchFamily="34" charset="-120"/>
              </a:rPr>
              <a:t>03</a:t>
            </a:r>
            <a:endParaRPr lang="en-US" sz="1400" dirty="0"/>
          </a:p>
        </p:txBody>
      </p:sp>
      <p:sp>
        <p:nvSpPr>
          <p:cNvPr id="33" name="Text 31"/>
          <p:cNvSpPr txBox="1"/>
          <p:nvPr/>
        </p:nvSpPr>
        <p:spPr>
          <a:xfrm>
            <a:off x="8458200" y="3849624"/>
            <a:ext cx="3001975" cy="640080"/>
          </a:xfrm>
          <a:prstGeom prst="rect">
            <a:avLst/>
          </a:prstGeom>
          <a:noFill/>
          <a:ln/>
        </p:spPr>
        <p:txBody>
          <a:bodyPr wrap="square" lIns="0" tIns="0" rIns="0" bIns="0" rtlCol="0" anchor="ctr"/>
          <a:lstStyle/>
          <a:p>
            <a:pPr algn="l" indent="0" marL="0">
              <a:lnSpc>
                <a:spcPts val="1500"/>
              </a:lnSpc>
              <a:buNone/>
            </a:pPr>
            <a:r>
              <a:rPr lang="en-US" sz="1200" dirty="0">
                <a:solidFill>
                  <a:srgbClr val="14232B"/>
                </a:solidFill>
                <a:latin typeface="Arial" pitchFamily="34" charset="0"/>
                <a:ea typeface="Arial" pitchFamily="34" charset="-122"/>
                <a:cs typeface="Arial" pitchFamily="34" charset="-120"/>
              </a:rPr>
              <a:t>Make appointment reminders more systematic.</a:t>
            </a:r>
            <a:endParaRPr lang="en-US" sz="1200" dirty="0"/>
          </a:p>
        </p:txBody>
      </p:sp>
      <p:sp>
        <p:nvSpPr>
          <p:cNvPr id="34" name="Shape 32"/>
          <p:cNvSpPr/>
          <p:nvPr/>
        </p:nvSpPr>
        <p:spPr>
          <a:xfrm>
            <a:off x="7818120" y="4700016"/>
            <a:ext cx="3824935" cy="822960"/>
          </a:xfrm>
          <a:prstGeom prst="roundRect">
            <a:avLst>
              <a:gd name="adj" fmla="val 13889"/>
            </a:avLst>
          </a:prstGeom>
          <a:solidFill>
            <a:srgbClr val="F6F8F7"/>
          </a:solidFill>
          <a:ln w="9525">
            <a:solidFill>
              <a:srgbClr val="D5DEDB"/>
            </a:solidFill>
            <a:prstDash val="solid"/>
          </a:ln>
        </p:spPr>
      </p:sp>
      <p:sp>
        <p:nvSpPr>
          <p:cNvPr id="35" name="Text 33"/>
          <p:cNvSpPr txBox="1"/>
          <p:nvPr/>
        </p:nvSpPr>
        <p:spPr>
          <a:xfrm>
            <a:off x="8001000" y="4946904"/>
            <a:ext cx="365760" cy="329184"/>
          </a:xfrm>
          <a:prstGeom prst="rect">
            <a:avLst/>
          </a:prstGeom>
          <a:noFill/>
          <a:ln/>
        </p:spPr>
        <p:txBody>
          <a:bodyPr wrap="square" lIns="0" tIns="0" rIns="0" bIns="0" rtlCol="0" anchor="t"/>
          <a:lstStyle/>
          <a:p>
            <a:pPr algn="l" indent="0" marL="0">
              <a:lnSpc>
                <a:spcPts val="1750"/>
              </a:lnSpc>
              <a:buNone/>
            </a:pPr>
            <a:r>
              <a:rPr lang="en-US" sz="1400" b="1" dirty="0">
                <a:solidFill>
                  <a:srgbClr val="0E7C6B"/>
                </a:solidFill>
                <a:latin typeface="Arial" pitchFamily="34" charset="0"/>
                <a:ea typeface="Arial" pitchFamily="34" charset="-122"/>
                <a:cs typeface="Arial" pitchFamily="34" charset="-120"/>
              </a:rPr>
              <a:t>04</a:t>
            </a:r>
            <a:endParaRPr lang="en-US" sz="1400" dirty="0"/>
          </a:p>
        </p:txBody>
      </p:sp>
      <p:sp>
        <p:nvSpPr>
          <p:cNvPr id="36" name="Text 34"/>
          <p:cNvSpPr txBox="1"/>
          <p:nvPr/>
        </p:nvSpPr>
        <p:spPr>
          <a:xfrm>
            <a:off x="8458200" y="4791456"/>
            <a:ext cx="3001975" cy="640080"/>
          </a:xfrm>
          <a:prstGeom prst="rect">
            <a:avLst/>
          </a:prstGeom>
          <a:noFill/>
          <a:ln/>
        </p:spPr>
        <p:txBody>
          <a:bodyPr wrap="square" lIns="0" tIns="0" rIns="0" bIns="0" rtlCol="0" anchor="ctr"/>
          <a:lstStyle/>
          <a:p>
            <a:pPr algn="l" indent="0" marL="0">
              <a:lnSpc>
                <a:spcPts val="1500"/>
              </a:lnSpc>
              <a:buNone/>
            </a:pPr>
            <a:r>
              <a:rPr lang="en-US" sz="1200" dirty="0">
                <a:solidFill>
                  <a:srgbClr val="14232B"/>
                </a:solidFill>
                <a:latin typeface="Arial" pitchFamily="34" charset="0"/>
                <a:ea typeface="Arial" pitchFamily="34" charset="-122"/>
                <a:cs typeface="Arial" pitchFamily="34" charset="-120"/>
              </a:rPr>
              <a:t>Improve visibility into follow-up and booking status.</a:t>
            </a:r>
            <a:endParaRPr lang="en-US" sz="1200" dirty="0"/>
          </a:p>
        </p:txBody>
      </p:sp>
      <p:sp>
        <p:nvSpPr>
          <p:cNvPr id="37" name="Text 35"/>
          <p:cNvSpPr txBox="1"/>
          <p:nvPr/>
        </p:nvSpPr>
        <p:spPr>
          <a:xfrm>
            <a:off x="7818120" y="5660136"/>
            <a:ext cx="3824935" cy="384048"/>
          </a:xfrm>
          <a:prstGeom prst="rect">
            <a:avLst/>
          </a:prstGeom>
          <a:noFill/>
          <a:ln/>
        </p:spPr>
        <p:txBody>
          <a:bodyPr wrap="square" lIns="0" tIns="0" rIns="0" bIns="0" rtlCol="0" anchor="t"/>
          <a:lstStyle/>
          <a:p>
            <a:pPr algn="l" indent="0" marL="0">
              <a:lnSpc>
                <a:spcPts val="1190"/>
              </a:lnSpc>
              <a:buNone/>
            </a:pPr>
            <a:r>
              <a:rPr lang="en-US" sz="950" dirty="0">
                <a:solidFill>
                  <a:srgbClr val="5B6B70"/>
                </a:solidFill>
                <a:latin typeface="Arial" pitchFamily="34" charset="0"/>
                <a:ea typeface="Arial" pitchFamily="34" charset="-122"/>
                <a:cs typeface="Arial" pitchFamily="34" charset="-120"/>
              </a:rPr>
              <a:t>These are objectives for the engagement, not guaranteed outcomes.</a:t>
            </a:r>
            <a:endParaRPr lang="en-US" sz="950" dirty="0"/>
          </a:p>
        </p:txBody>
      </p:sp>
      <p:sp>
        <p:nvSpPr>
          <p:cNvPr id="38" name="Shape 36"/>
          <p:cNvSpPr/>
          <p:nvPr/>
        </p:nvSpPr>
        <p:spPr>
          <a:xfrm>
            <a:off x="548640" y="6355080"/>
            <a:ext cx="11094415" cy="0"/>
          </a:xfrm>
          <a:prstGeom prst="line">
            <a:avLst/>
          </a:prstGeom>
          <a:noFill/>
          <a:ln w="9525">
            <a:solidFill>
              <a:srgbClr val="D5DEDB"/>
            </a:solidFill>
            <a:prstDash val="solid"/>
          </a:ln>
        </p:spPr>
      </p:sp>
      <p:sp>
        <p:nvSpPr>
          <p:cNvPr id="39" name="Text 37"/>
          <p:cNvSpPr txBox="1"/>
          <p:nvPr/>
        </p:nvSpPr>
        <p:spPr>
          <a:xfrm>
            <a:off x="548640" y="6437376"/>
            <a:ext cx="9144000" cy="182880"/>
          </a:xfrm>
          <a:prstGeom prst="rect">
            <a:avLst/>
          </a:prstGeom>
          <a:noFill/>
          <a:ln/>
        </p:spPr>
        <p:txBody>
          <a:bodyPr wrap="square" lIns="0" tIns="0" rIns="0" bIns="0" rtlCol="0" anchor="t"/>
          <a:lstStyle/>
          <a:p>
            <a:pPr algn="l" indent="0" marL="0">
              <a:lnSpc>
                <a:spcPts val="1130"/>
              </a:lnSpc>
              <a:buNone/>
            </a:pPr>
            <a:r>
              <a:rPr lang="en-US" sz="900" dirty="0">
                <a:solidFill>
                  <a:srgbClr val="5B6B70"/>
                </a:solidFill>
                <a:latin typeface="Arial" pitchFamily="34" charset="0"/>
                <a:ea typeface="Arial" pitchFamily="34" charset="-122"/>
                <a:cs typeface="Arial" pitchFamily="34" charset="-120"/>
              </a:rPr>
              <a:t>Patientcurve  ·  Proposal for Sample Smile Dental Studio (fictional)  ·  Ref SAMPLE-001</a:t>
            </a:r>
            <a:endParaRPr lang="en-US" sz="900" dirty="0"/>
          </a:p>
        </p:txBody>
      </p:sp>
      <p:sp>
        <p:nvSpPr>
          <p:cNvPr id="40" name="Text 38"/>
          <p:cNvSpPr txBox="1"/>
          <p:nvPr/>
        </p:nvSpPr>
        <p:spPr>
          <a:xfrm>
            <a:off x="10271455" y="6437376"/>
            <a:ext cx="1371600" cy="182880"/>
          </a:xfrm>
          <a:prstGeom prst="rect">
            <a:avLst/>
          </a:prstGeom>
          <a:noFill/>
          <a:ln/>
        </p:spPr>
        <p:txBody>
          <a:bodyPr wrap="square" lIns="0" tIns="0" rIns="0" bIns="0" rtlCol="0" anchor="t"/>
          <a:lstStyle/>
          <a:p>
            <a:pPr algn="r" indent="0" marL="0">
              <a:lnSpc>
                <a:spcPts val="1130"/>
              </a:lnSpc>
              <a:buNone/>
            </a:pPr>
            <a:r>
              <a:rPr lang="en-US" sz="900" dirty="0">
                <a:solidFill>
                  <a:srgbClr val="5B6B70"/>
                </a:solidFill>
                <a:latin typeface="Arial" pitchFamily="34" charset="0"/>
                <a:ea typeface="Arial" pitchFamily="34" charset="-122"/>
                <a:cs typeface="Arial" pitchFamily="34" charset="-120"/>
              </a:rPr>
              <a:t>2 / 10</a:t>
            </a:r>
            <a:endParaRPr lang="en-US" sz="900" dirty="0"/>
          </a:p>
        </p:txBody>
      </p:sp>
      <p:sp>
        <p:nvSpPr>
          <p:cNvPr id="41" name="Shape 39"/>
          <p:cNvSpPr/>
          <p:nvPr/>
        </p:nvSpPr>
        <p:spPr>
          <a:xfrm>
            <a:off x="0" y="0"/>
            <a:ext cx="12191695" cy="237744"/>
          </a:xfrm>
          <a:prstGeom prst="rect">
            <a:avLst/>
          </a:prstGeom>
          <a:solidFill>
            <a:srgbClr val="8F5A0E"/>
          </a:solidFill>
          <a:ln/>
        </p:spPr>
      </p:sp>
      <p:sp>
        <p:nvSpPr>
          <p:cNvPr id="42" name="Text 40"/>
          <p:cNvSpPr txBox="1"/>
          <p:nvPr/>
        </p:nvSpPr>
        <p:spPr>
          <a:xfrm>
            <a:off x="0" y="50292"/>
            <a:ext cx="12191695" cy="146304"/>
          </a:xfrm>
          <a:prstGeom prst="rect">
            <a:avLst/>
          </a:prstGeom>
          <a:noFill/>
          <a:ln/>
        </p:spPr>
        <p:txBody>
          <a:bodyPr wrap="square" lIns="0" tIns="0" rIns="0" bIns="0" rtlCol="0" anchor="t"/>
          <a:lstStyle/>
          <a:p>
            <a:pPr algn="ctr" indent="0" marL="0">
              <a:lnSpc>
                <a:spcPts val="1060"/>
              </a:lnSpc>
              <a:buNone/>
            </a:pPr>
            <a:r>
              <a:rPr lang="en-US" sz="850" b="1" spc="100" kern="0" dirty="0">
                <a:solidFill>
                  <a:srgbClr val="FFFFFF"/>
                </a:solidFill>
                <a:latin typeface="Arial" pitchFamily="34" charset="0"/>
                <a:ea typeface="Arial" pitchFamily="34" charset="-122"/>
                <a:cs typeface="Arial" pitchFamily="34" charset="-120"/>
              </a:rPr>
              <a:t>SAMPLE PROPOSAL  ·  FICTIONAL CLINIC DATA  ·  DO NOT SEND</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175260"/>
          </a:xfrm>
          <a:prstGeom prst="rect">
            <a:avLst/>
          </a:prstGeom>
          <a:noFill/>
          <a:ln/>
        </p:spPr>
        <p:txBody>
          <a:bodyPr wrap="square" lIns="0" tIns="0" rIns="0" bIns="0" rtlCol="0" anchor="t"/>
          <a:lstStyle/>
          <a:p>
            <a:pPr algn="l" indent="0" marL="0">
              <a:lnSpc>
                <a:spcPts val="1380"/>
              </a:lnSpc>
              <a:buNone/>
            </a:pPr>
            <a:r>
              <a:rPr lang="en-US" sz="1100" b="1" dirty="0">
                <a:solidFill>
                  <a:srgbClr val="0E7C6B"/>
                </a:solidFill>
                <a:latin typeface="Arial" pitchFamily="34" charset="0"/>
                <a:ea typeface="Arial" pitchFamily="34" charset="-122"/>
                <a:cs typeface="Arial" pitchFamily="34" charset="-120"/>
              </a:rPr>
              <a:t>Proposed solution</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t"/>
          <a:lstStyle/>
          <a:p>
            <a:pPr algn="l" indent="0" marL="0">
              <a:lnSpc>
                <a:spcPts val="3500"/>
              </a:lnSpc>
              <a:buNone/>
            </a:pPr>
            <a:r>
              <a:rPr lang="en-US" sz="2800" b="1" dirty="0">
                <a:solidFill>
                  <a:srgbClr val="14232B"/>
                </a:solidFill>
                <a:latin typeface="Arial" pitchFamily="34" charset="0"/>
                <a:ea typeface="Arial" pitchFamily="34" charset="-122"/>
                <a:cs typeface="Arial" pitchFamily="34" charset="-120"/>
              </a:rPr>
              <a:t>The Patientcurve approach</a:t>
            </a:r>
            <a:endParaRPr lang="en-US" sz="2800" dirty="0"/>
          </a:p>
        </p:txBody>
      </p:sp>
      <p:sp>
        <p:nvSpPr>
          <p:cNvPr id="4" name="Text 2"/>
          <p:cNvSpPr txBox="1"/>
          <p:nvPr/>
        </p:nvSpPr>
        <p:spPr>
          <a:xfrm>
            <a:off x="548640" y="1417320"/>
            <a:ext cx="11094415" cy="274320"/>
          </a:xfrm>
          <a:prstGeom prst="rect">
            <a:avLst/>
          </a:prstGeom>
          <a:noFill/>
          <a:ln/>
        </p:spPr>
        <p:txBody>
          <a:bodyPr wrap="square" lIns="0" tIns="0" rIns="0" bIns="0" rtlCol="0" anchor="t"/>
          <a:lstStyle/>
          <a:p>
            <a:pPr algn="l" indent="0" marL="0">
              <a:lnSpc>
                <a:spcPts val="1630"/>
              </a:lnSpc>
              <a:buNone/>
            </a:pPr>
            <a:r>
              <a:rPr lang="en-US" sz="1300" dirty="0">
                <a:solidFill>
                  <a:srgbClr val="5B6B70"/>
                </a:solidFill>
                <a:latin typeface="Arial" pitchFamily="34" charset="0"/>
                <a:ea typeface="Arial" pitchFamily="34" charset="-122"/>
                <a:cs typeface="Arial" pitchFamily="34" charset="-120"/>
              </a:rPr>
              <a:t>A three-step mechanism that keeps each enquiry moving, with clinic staff stepping in where a person is needed.</a:t>
            </a:r>
            <a:endParaRPr lang="en-US" sz="1300" dirty="0"/>
          </a:p>
        </p:txBody>
      </p:sp>
      <p:sp>
        <p:nvSpPr>
          <p:cNvPr id="5" name="Shape 3"/>
          <p:cNvSpPr/>
          <p:nvPr/>
        </p:nvSpPr>
        <p:spPr>
          <a:xfrm>
            <a:off x="548640" y="1920240"/>
            <a:ext cx="3545738" cy="1783080"/>
          </a:xfrm>
          <a:prstGeom prst="roundRect">
            <a:avLst>
              <a:gd name="adj" fmla="val 6410"/>
            </a:avLst>
          </a:prstGeom>
          <a:solidFill>
            <a:srgbClr val="FFFFFF"/>
          </a:solidFill>
          <a:ln w="9525">
            <a:solidFill>
              <a:srgbClr val="D5DEDB"/>
            </a:solidFill>
            <a:prstDash val="solid"/>
          </a:ln>
        </p:spPr>
      </p:sp>
      <p:sp>
        <p:nvSpPr>
          <p:cNvPr id="6" name="Shape 4"/>
          <p:cNvSpPr/>
          <p:nvPr/>
        </p:nvSpPr>
        <p:spPr>
          <a:xfrm>
            <a:off x="548640" y="1920240"/>
            <a:ext cx="73152" cy="1783080"/>
          </a:xfrm>
          <a:prstGeom prst="rect">
            <a:avLst/>
          </a:prstGeom>
          <a:solidFill>
            <a:srgbClr val="0E7C6B"/>
          </a:solidFill>
          <a:ln/>
        </p:spPr>
      </p:sp>
      <p:sp>
        <p:nvSpPr>
          <p:cNvPr id="7" name="Text 5"/>
          <p:cNvSpPr txBox="1"/>
          <p:nvPr/>
        </p:nvSpPr>
        <p:spPr>
          <a:xfrm>
            <a:off x="822960" y="2148840"/>
            <a:ext cx="3088538"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Step 1</a:t>
            </a:r>
            <a:endParaRPr lang="en-US" sz="1000" dirty="0"/>
          </a:p>
        </p:txBody>
      </p:sp>
      <p:sp>
        <p:nvSpPr>
          <p:cNvPr id="8" name="Text 6"/>
          <p:cNvSpPr txBox="1"/>
          <p:nvPr/>
        </p:nvSpPr>
        <p:spPr>
          <a:xfrm>
            <a:off x="822960" y="2377440"/>
            <a:ext cx="3088538" cy="347472"/>
          </a:xfrm>
          <a:prstGeom prst="rect">
            <a:avLst/>
          </a:prstGeom>
          <a:noFill/>
          <a:ln/>
        </p:spPr>
        <p:txBody>
          <a:bodyPr wrap="square" lIns="0" tIns="0" rIns="0" bIns="0" rtlCol="0" anchor="t"/>
          <a:lstStyle/>
          <a:p>
            <a:pPr algn="l" indent="0" marL="0">
              <a:lnSpc>
                <a:spcPts val="2380"/>
              </a:lnSpc>
              <a:buNone/>
            </a:pPr>
            <a:r>
              <a:rPr lang="en-US" sz="1900" b="1" dirty="0">
                <a:solidFill>
                  <a:srgbClr val="14232B"/>
                </a:solidFill>
                <a:latin typeface="Arial" pitchFamily="34" charset="0"/>
                <a:ea typeface="Arial" pitchFamily="34" charset="-122"/>
                <a:cs typeface="Arial" pitchFamily="34" charset="-120"/>
              </a:rPr>
              <a:t>Capture</a:t>
            </a:r>
            <a:endParaRPr lang="en-US" sz="1900" dirty="0"/>
          </a:p>
        </p:txBody>
      </p:sp>
      <p:sp>
        <p:nvSpPr>
          <p:cNvPr id="9" name="Text 7"/>
          <p:cNvSpPr txBox="1"/>
          <p:nvPr/>
        </p:nvSpPr>
        <p:spPr>
          <a:xfrm>
            <a:off x="822960" y="2816352"/>
            <a:ext cx="3042818" cy="731520"/>
          </a:xfrm>
          <a:prstGeom prst="rect">
            <a:avLst/>
          </a:prstGeom>
          <a:noFill/>
          <a:ln/>
        </p:spPr>
        <p:txBody>
          <a:bodyPr wrap="square" lIns="0" tIns="0" rIns="0" bIns="0" rtlCol="0" anchor="t"/>
          <a:lstStyle/>
          <a:p>
            <a:pPr algn="l" indent="0" marL="0">
              <a:lnSpc>
                <a:spcPts val="1500"/>
              </a:lnSpc>
              <a:buNone/>
            </a:pPr>
            <a:r>
              <a:rPr lang="en-US" sz="1200" dirty="0">
                <a:solidFill>
                  <a:srgbClr val="5B6B70"/>
                </a:solidFill>
                <a:latin typeface="Arial" pitchFamily="34" charset="0"/>
                <a:ea typeface="Arial" pitchFamily="34" charset="-122"/>
                <a:cs typeface="Arial" pitchFamily="34" charset="-120"/>
              </a:rPr>
              <a:t>Record eligible enquiries and organise the information required for the next step.</a:t>
            </a:r>
            <a:endParaRPr lang="en-US" sz="1200" dirty="0"/>
          </a:p>
        </p:txBody>
      </p:sp>
      <p:sp>
        <p:nvSpPr>
          <p:cNvPr id="10" name="Shape 8"/>
          <p:cNvSpPr/>
          <p:nvPr/>
        </p:nvSpPr>
        <p:spPr>
          <a:xfrm>
            <a:off x="4322978" y="1920240"/>
            <a:ext cx="3545738" cy="1783080"/>
          </a:xfrm>
          <a:prstGeom prst="roundRect">
            <a:avLst>
              <a:gd name="adj" fmla="val 6410"/>
            </a:avLst>
          </a:prstGeom>
          <a:solidFill>
            <a:srgbClr val="FFFFFF"/>
          </a:solidFill>
          <a:ln w="9525">
            <a:solidFill>
              <a:srgbClr val="D5DEDB"/>
            </a:solidFill>
            <a:prstDash val="solid"/>
          </a:ln>
        </p:spPr>
      </p:sp>
      <p:sp>
        <p:nvSpPr>
          <p:cNvPr id="11" name="Shape 9"/>
          <p:cNvSpPr/>
          <p:nvPr/>
        </p:nvSpPr>
        <p:spPr>
          <a:xfrm>
            <a:off x="4322978" y="1920240"/>
            <a:ext cx="73152" cy="1783080"/>
          </a:xfrm>
          <a:prstGeom prst="rect">
            <a:avLst/>
          </a:prstGeom>
          <a:solidFill>
            <a:srgbClr val="0E7C6B"/>
          </a:solidFill>
          <a:ln/>
        </p:spPr>
      </p:sp>
      <p:sp>
        <p:nvSpPr>
          <p:cNvPr id="12" name="Text 10"/>
          <p:cNvSpPr txBox="1"/>
          <p:nvPr/>
        </p:nvSpPr>
        <p:spPr>
          <a:xfrm>
            <a:off x="4597298" y="2148840"/>
            <a:ext cx="3088538"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Step 2</a:t>
            </a:r>
            <a:endParaRPr lang="en-US" sz="1000" dirty="0"/>
          </a:p>
        </p:txBody>
      </p:sp>
      <p:sp>
        <p:nvSpPr>
          <p:cNvPr id="13" name="Text 11"/>
          <p:cNvSpPr txBox="1"/>
          <p:nvPr/>
        </p:nvSpPr>
        <p:spPr>
          <a:xfrm>
            <a:off x="4597298" y="2377440"/>
            <a:ext cx="3088538" cy="347472"/>
          </a:xfrm>
          <a:prstGeom prst="rect">
            <a:avLst/>
          </a:prstGeom>
          <a:noFill/>
          <a:ln/>
        </p:spPr>
        <p:txBody>
          <a:bodyPr wrap="square" lIns="0" tIns="0" rIns="0" bIns="0" rtlCol="0" anchor="t"/>
          <a:lstStyle/>
          <a:p>
            <a:pPr algn="l" indent="0" marL="0">
              <a:lnSpc>
                <a:spcPts val="2380"/>
              </a:lnSpc>
              <a:buNone/>
            </a:pPr>
            <a:r>
              <a:rPr lang="en-US" sz="1900" b="1" dirty="0">
                <a:solidFill>
                  <a:srgbClr val="14232B"/>
                </a:solidFill>
                <a:latin typeface="Arial" pitchFamily="34" charset="0"/>
                <a:ea typeface="Arial" pitchFamily="34" charset="-122"/>
                <a:cs typeface="Arial" pitchFamily="34" charset="-120"/>
              </a:rPr>
              <a:t>Follow up</a:t>
            </a:r>
            <a:endParaRPr lang="en-US" sz="1900" dirty="0"/>
          </a:p>
        </p:txBody>
      </p:sp>
      <p:sp>
        <p:nvSpPr>
          <p:cNvPr id="14" name="Text 12"/>
          <p:cNvSpPr txBox="1"/>
          <p:nvPr/>
        </p:nvSpPr>
        <p:spPr>
          <a:xfrm>
            <a:off x="4597298" y="2816352"/>
            <a:ext cx="3042818" cy="731520"/>
          </a:xfrm>
          <a:prstGeom prst="rect">
            <a:avLst/>
          </a:prstGeom>
          <a:noFill/>
          <a:ln/>
        </p:spPr>
        <p:txBody>
          <a:bodyPr wrap="square" lIns="0" tIns="0" rIns="0" bIns="0" rtlCol="0" anchor="t"/>
          <a:lstStyle/>
          <a:p>
            <a:pPr algn="l" indent="0" marL="0">
              <a:lnSpc>
                <a:spcPts val="1500"/>
              </a:lnSpc>
              <a:buNone/>
            </a:pPr>
            <a:r>
              <a:rPr lang="en-US" sz="1200" dirty="0">
                <a:solidFill>
                  <a:srgbClr val="5B6B70"/>
                </a:solidFill>
                <a:latin typeface="Arial" pitchFamily="34" charset="0"/>
                <a:ea typeface="Arial" pitchFamily="34" charset="-122"/>
                <a:cs typeface="Arial" pitchFamily="34" charset="-120"/>
              </a:rPr>
              <a:t>Trigger configured WhatsApp follow-ups based on agreed rules and available data.</a:t>
            </a:r>
            <a:endParaRPr lang="en-US" sz="1200" dirty="0"/>
          </a:p>
        </p:txBody>
      </p:sp>
      <p:sp>
        <p:nvSpPr>
          <p:cNvPr id="15" name="Shape 13"/>
          <p:cNvSpPr/>
          <p:nvPr/>
        </p:nvSpPr>
        <p:spPr>
          <a:xfrm>
            <a:off x="8097317" y="1920240"/>
            <a:ext cx="3545738" cy="1783080"/>
          </a:xfrm>
          <a:prstGeom prst="roundRect">
            <a:avLst>
              <a:gd name="adj" fmla="val 6410"/>
            </a:avLst>
          </a:prstGeom>
          <a:solidFill>
            <a:srgbClr val="FFFFFF"/>
          </a:solidFill>
          <a:ln w="9525">
            <a:solidFill>
              <a:srgbClr val="D5DEDB"/>
            </a:solidFill>
            <a:prstDash val="solid"/>
          </a:ln>
        </p:spPr>
      </p:sp>
      <p:sp>
        <p:nvSpPr>
          <p:cNvPr id="16" name="Shape 14"/>
          <p:cNvSpPr/>
          <p:nvPr/>
        </p:nvSpPr>
        <p:spPr>
          <a:xfrm>
            <a:off x="8097317" y="1920240"/>
            <a:ext cx="73152" cy="1783080"/>
          </a:xfrm>
          <a:prstGeom prst="rect">
            <a:avLst/>
          </a:prstGeom>
          <a:solidFill>
            <a:srgbClr val="0E7C6B"/>
          </a:solidFill>
          <a:ln/>
        </p:spPr>
      </p:sp>
      <p:sp>
        <p:nvSpPr>
          <p:cNvPr id="17" name="Text 15"/>
          <p:cNvSpPr txBox="1"/>
          <p:nvPr/>
        </p:nvSpPr>
        <p:spPr>
          <a:xfrm>
            <a:off x="8371637" y="2148840"/>
            <a:ext cx="3088538"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Step 3</a:t>
            </a:r>
            <a:endParaRPr lang="en-US" sz="1000" dirty="0"/>
          </a:p>
        </p:txBody>
      </p:sp>
      <p:sp>
        <p:nvSpPr>
          <p:cNvPr id="18" name="Text 16"/>
          <p:cNvSpPr txBox="1"/>
          <p:nvPr/>
        </p:nvSpPr>
        <p:spPr>
          <a:xfrm>
            <a:off x="8371637" y="2377440"/>
            <a:ext cx="3088538" cy="347472"/>
          </a:xfrm>
          <a:prstGeom prst="rect">
            <a:avLst/>
          </a:prstGeom>
          <a:noFill/>
          <a:ln/>
        </p:spPr>
        <p:txBody>
          <a:bodyPr wrap="square" lIns="0" tIns="0" rIns="0" bIns="0" rtlCol="0" anchor="t"/>
          <a:lstStyle/>
          <a:p>
            <a:pPr algn="l" indent="0" marL="0">
              <a:lnSpc>
                <a:spcPts val="2380"/>
              </a:lnSpc>
              <a:buNone/>
            </a:pPr>
            <a:r>
              <a:rPr lang="en-US" sz="1900" b="1" dirty="0">
                <a:solidFill>
                  <a:srgbClr val="14232B"/>
                </a:solidFill>
                <a:latin typeface="Arial" pitchFamily="34" charset="0"/>
                <a:ea typeface="Arial" pitchFamily="34" charset="-122"/>
                <a:cs typeface="Arial" pitchFamily="34" charset="-120"/>
              </a:rPr>
              <a:t>Recover</a:t>
            </a:r>
            <a:endParaRPr lang="en-US" sz="1900" dirty="0"/>
          </a:p>
        </p:txBody>
      </p:sp>
      <p:sp>
        <p:nvSpPr>
          <p:cNvPr id="19" name="Text 17"/>
          <p:cNvSpPr txBox="1"/>
          <p:nvPr/>
        </p:nvSpPr>
        <p:spPr>
          <a:xfrm>
            <a:off x="8371637" y="2816352"/>
            <a:ext cx="3042818" cy="731520"/>
          </a:xfrm>
          <a:prstGeom prst="rect">
            <a:avLst/>
          </a:prstGeom>
          <a:noFill/>
          <a:ln/>
        </p:spPr>
        <p:txBody>
          <a:bodyPr wrap="square" lIns="0" tIns="0" rIns="0" bIns="0" rtlCol="0" anchor="t"/>
          <a:lstStyle/>
          <a:p>
            <a:pPr algn="l" indent="0" marL="0">
              <a:lnSpc>
                <a:spcPts val="1500"/>
              </a:lnSpc>
              <a:buNone/>
            </a:pPr>
            <a:r>
              <a:rPr lang="en-US" sz="1200" dirty="0">
                <a:solidFill>
                  <a:srgbClr val="5B6B70"/>
                </a:solidFill>
                <a:latin typeface="Arial" pitchFamily="34" charset="0"/>
                <a:ea typeface="Arial" pitchFamily="34" charset="-122"/>
                <a:cs typeface="Arial" pitchFamily="34" charset="-120"/>
              </a:rPr>
              <a:t>Guide interested patients toward booking or notify clinic staff when human intervention is required.</a:t>
            </a:r>
            <a:endParaRPr lang="en-US" sz="1200" dirty="0"/>
          </a:p>
        </p:txBody>
      </p:sp>
      <p:sp>
        <p:nvSpPr>
          <p:cNvPr id="20" name="Text 18"/>
          <p:cNvSpPr txBox="1"/>
          <p:nvPr/>
        </p:nvSpPr>
        <p:spPr>
          <a:xfrm>
            <a:off x="548640" y="4005072"/>
            <a:ext cx="11094415" cy="175260"/>
          </a:xfrm>
          <a:prstGeom prst="rect">
            <a:avLst/>
          </a:prstGeom>
          <a:noFill/>
          <a:ln/>
        </p:spPr>
        <p:txBody>
          <a:bodyPr wrap="square" lIns="0" tIns="0" rIns="0" bIns="0" rtlCol="0" anchor="t"/>
          <a:lstStyle/>
          <a:p>
            <a:pPr algn="l" indent="0" marL="0">
              <a:lnSpc>
                <a:spcPts val="1380"/>
              </a:lnSpc>
              <a:buNone/>
            </a:pPr>
            <a:r>
              <a:rPr lang="en-US" sz="1100" b="1" dirty="0">
                <a:solidFill>
                  <a:srgbClr val="0E7C6B"/>
                </a:solidFill>
                <a:latin typeface="Arial" pitchFamily="34" charset="0"/>
                <a:ea typeface="Arial" pitchFamily="34" charset="-122"/>
                <a:cs typeface="Arial" pitchFamily="34" charset="-120"/>
              </a:rPr>
              <a:t>How a patient moves through the workflow</a:t>
            </a:r>
            <a:endParaRPr lang="en-US" sz="1100" dirty="0"/>
          </a:p>
        </p:txBody>
      </p:sp>
      <p:sp>
        <p:nvSpPr>
          <p:cNvPr id="21" name="Shape 19"/>
          <p:cNvSpPr/>
          <p:nvPr/>
        </p:nvSpPr>
        <p:spPr>
          <a:xfrm>
            <a:off x="548640" y="4343400"/>
            <a:ext cx="1926275" cy="822960"/>
          </a:xfrm>
          <a:prstGeom prst="roundRect">
            <a:avLst>
              <a:gd name="adj" fmla="val 13889"/>
            </a:avLst>
          </a:prstGeom>
          <a:solidFill>
            <a:srgbClr val="F6F8F7"/>
          </a:solidFill>
          <a:ln w="9525">
            <a:solidFill>
              <a:srgbClr val="D5DEDB"/>
            </a:solidFill>
            <a:prstDash val="solid"/>
          </a:ln>
        </p:spPr>
      </p:sp>
      <p:sp>
        <p:nvSpPr>
          <p:cNvPr id="22" name="Text 20"/>
          <p:cNvSpPr txBox="1"/>
          <p:nvPr/>
        </p:nvSpPr>
        <p:spPr>
          <a:xfrm>
            <a:off x="658368" y="4389120"/>
            <a:ext cx="1706819" cy="731520"/>
          </a:xfrm>
          <a:prstGeom prst="rect">
            <a:avLst/>
          </a:prstGeom>
          <a:noFill/>
          <a:ln/>
        </p:spPr>
        <p:txBody>
          <a:bodyPr wrap="square" lIns="0" tIns="0" rIns="0" bIns="0" rtlCol="0" anchor="ctr"/>
          <a:lstStyle/>
          <a:p>
            <a:pPr algn="ctr" indent="0" marL="0">
              <a:lnSpc>
                <a:spcPts val="1500"/>
              </a:lnSpc>
              <a:buNone/>
            </a:pPr>
            <a:r>
              <a:rPr lang="en-US" sz="1200" b="1" dirty="0">
                <a:solidFill>
                  <a:srgbClr val="14232B"/>
                </a:solidFill>
                <a:latin typeface="Arial" pitchFamily="34" charset="0"/>
                <a:ea typeface="Arial" pitchFamily="34" charset="-122"/>
                <a:cs typeface="Arial" pitchFamily="34" charset="-120"/>
              </a:rPr>
              <a:t>Patient enquiry</a:t>
            </a:r>
            <a:endParaRPr lang="en-US" sz="1200" dirty="0"/>
          </a:p>
        </p:txBody>
      </p:sp>
      <p:sp>
        <p:nvSpPr>
          <p:cNvPr id="23" name="Shape 21"/>
          <p:cNvSpPr/>
          <p:nvPr/>
        </p:nvSpPr>
        <p:spPr>
          <a:xfrm>
            <a:off x="2529779" y="4754880"/>
            <a:ext cx="256032" cy="0"/>
          </a:xfrm>
          <a:prstGeom prst="line">
            <a:avLst/>
          </a:prstGeom>
          <a:noFill/>
          <a:ln w="19050">
            <a:solidFill>
              <a:srgbClr val="0E7C6B"/>
            </a:solidFill>
            <a:prstDash val="solid"/>
            <a:tailEnd type="triangle"/>
          </a:ln>
        </p:spPr>
      </p:sp>
      <p:sp>
        <p:nvSpPr>
          <p:cNvPr id="24" name="Shape 22"/>
          <p:cNvSpPr/>
          <p:nvPr/>
        </p:nvSpPr>
        <p:spPr>
          <a:xfrm>
            <a:off x="2840675" y="4343400"/>
            <a:ext cx="1926275" cy="822960"/>
          </a:xfrm>
          <a:prstGeom prst="roundRect">
            <a:avLst>
              <a:gd name="adj" fmla="val 13889"/>
            </a:avLst>
          </a:prstGeom>
          <a:solidFill>
            <a:srgbClr val="F6F8F7"/>
          </a:solidFill>
          <a:ln w="9525">
            <a:solidFill>
              <a:srgbClr val="D5DEDB"/>
            </a:solidFill>
            <a:prstDash val="solid"/>
          </a:ln>
        </p:spPr>
      </p:sp>
      <p:sp>
        <p:nvSpPr>
          <p:cNvPr id="25" name="Text 23"/>
          <p:cNvSpPr txBox="1"/>
          <p:nvPr/>
        </p:nvSpPr>
        <p:spPr>
          <a:xfrm>
            <a:off x="2950403" y="4389120"/>
            <a:ext cx="1706819" cy="731520"/>
          </a:xfrm>
          <a:prstGeom prst="rect">
            <a:avLst/>
          </a:prstGeom>
          <a:noFill/>
          <a:ln/>
        </p:spPr>
        <p:txBody>
          <a:bodyPr wrap="square" lIns="0" tIns="0" rIns="0" bIns="0" rtlCol="0" anchor="ctr"/>
          <a:lstStyle/>
          <a:p>
            <a:pPr algn="ctr" indent="0" marL="0">
              <a:lnSpc>
                <a:spcPts val="1500"/>
              </a:lnSpc>
              <a:buNone/>
            </a:pPr>
            <a:r>
              <a:rPr lang="en-US" sz="1200" b="1" dirty="0">
                <a:solidFill>
                  <a:srgbClr val="14232B"/>
                </a:solidFill>
                <a:latin typeface="Arial" pitchFamily="34" charset="0"/>
                <a:ea typeface="Arial" pitchFamily="34" charset="-122"/>
                <a:cs typeface="Arial" pitchFamily="34" charset="-120"/>
              </a:rPr>
              <a:t>WhatsApp workflow</a:t>
            </a:r>
            <a:endParaRPr lang="en-US" sz="1200" dirty="0"/>
          </a:p>
        </p:txBody>
      </p:sp>
      <p:sp>
        <p:nvSpPr>
          <p:cNvPr id="26" name="Shape 24"/>
          <p:cNvSpPr/>
          <p:nvPr/>
        </p:nvSpPr>
        <p:spPr>
          <a:xfrm>
            <a:off x="4821814" y="4754880"/>
            <a:ext cx="256032" cy="0"/>
          </a:xfrm>
          <a:prstGeom prst="line">
            <a:avLst/>
          </a:prstGeom>
          <a:noFill/>
          <a:ln w="19050">
            <a:solidFill>
              <a:srgbClr val="0E7C6B"/>
            </a:solidFill>
            <a:prstDash val="solid"/>
            <a:tailEnd type="triangle"/>
          </a:ln>
        </p:spPr>
      </p:sp>
      <p:sp>
        <p:nvSpPr>
          <p:cNvPr id="27" name="Shape 25"/>
          <p:cNvSpPr/>
          <p:nvPr/>
        </p:nvSpPr>
        <p:spPr>
          <a:xfrm>
            <a:off x="5132710" y="4343400"/>
            <a:ext cx="1926275" cy="822960"/>
          </a:xfrm>
          <a:prstGeom prst="roundRect">
            <a:avLst>
              <a:gd name="adj" fmla="val 13889"/>
            </a:avLst>
          </a:prstGeom>
          <a:solidFill>
            <a:srgbClr val="F6F8F7"/>
          </a:solidFill>
          <a:ln w="9525">
            <a:solidFill>
              <a:srgbClr val="D5DEDB"/>
            </a:solidFill>
            <a:prstDash val="solid"/>
          </a:ln>
        </p:spPr>
      </p:sp>
      <p:sp>
        <p:nvSpPr>
          <p:cNvPr id="28" name="Text 26"/>
          <p:cNvSpPr txBox="1"/>
          <p:nvPr/>
        </p:nvSpPr>
        <p:spPr>
          <a:xfrm>
            <a:off x="5242438" y="4389120"/>
            <a:ext cx="1706819" cy="731520"/>
          </a:xfrm>
          <a:prstGeom prst="rect">
            <a:avLst/>
          </a:prstGeom>
          <a:noFill/>
          <a:ln/>
        </p:spPr>
        <p:txBody>
          <a:bodyPr wrap="square" lIns="0" tIns="0" rIns="0" bIns="0" rtlCol="0" anchor="ctr"/>
          <a:lstStyle/>
          <a:p>
            <a:pPr algn="ctr" indent="0" marL="0">
              <a:lnSpc>
                <a:spcPts val="1500"/>
              </a:lnSpc>
              <a:buNone/>
            </a:pPr>
            <a:r>
              <a:rPr lang="en-US" sz="1200" b="1" dirty="0">
                <a:solidFill>
                  <a:srgbClr val="14232B"/>
                </a:solidFill>
                <a:latin typeface="Arial" pitchFamily="34" charset="0"/>
                <a:ea typeface="Arial" pitchFamily="34" charset="-122"/>
                <a:cs typeface="Arial" pitchFamily="34" charset="-120"/>
              </a:rPr>
              <a:t>Follow-up logic</a:t>
            </a:r>
            <a:endParaRPr lang="en-US" sz="1200" dirty="0"/>
          </a:p>
        </p:txBody>
      </p:sp>
      <p:sp>
        <p:nvSpPr>
          <p:cNvPr id="29" name="Shape 27"/>
          <p:cNvSpPr/>
          <p:nvPr/>
        </p:nvSpPr>
        <p:spPr>
          <a:xfrm>
            <a:off x="7113849" y="4754880"/>
            <a:ext cx="256032" cy="0"/>
          </a:xfrm>
          <a:prstGeom prst="line">
            <a:avLst/>
          </a:prstGeom>
          <a:noFill/>
          <a:ln w="19050">
            <a:solidFill>
              <a:srgbClr val="0E7C6B"/>
            </a:solidFill>
            <a:prstDash val="solid"/>
            <a:tailEnd type="triangle"/>
          </a:ln>
        </p:spPr>
      </p:sp>
      <p:sp>
        <p:nvSpPr>
          <p:cNvPr id="30" name="Shape 28"/>
          <p:cNvSpPr/>
          <p:nvPr/>
        </p:nvSpPr>
        <p:spPr>
          <a:xfrm>
            <a:off x="7424745" y="4343400"/>
            <a:ext cx="1926275" cy="822960"/>
          </a:xfrm>
          <a:prstGeom prst="roundRect">
            <a:avLst>
              <a:gd name="adj" fmla="val 13889"/>
            </a:avLst>
          </a:prstGeom>
          <a:solidFill>
            <a:srgbClr val="F6F8F7"/>
          </a:solidFill>
          <a:ln w="9525">
            <a:solidFill>
              <a:srgbClr val="D5DEDB"/>
            </a:solidFill>
            <a:prstDash val="solid"/>
          </a:ln>
        </p:spPr>
      </p:sp>
      <p:sp>
        <p:nvSpPr>
          <p:cNvPr id="31" name="Text 29"/>
          <p:cNvSpPr txBox="1"/>
          <p:nvPr/>
        </p:nvSpPr>
        <p:spPr>
          <a:xfrm>
            <a:off x="7534473" y="4389120"/>
            <a:ext cx="1706819" cy="731520"/>
          </a:xfrm>
          <a:prstGeom prst="rect">
            <a:avLst/>
          </a:prstGeom>
          <a:noFill/>
          <a:ln/>
        </p:spPr>
        <p:txBody>
          <a:bodyPr wrap="square" lIns="0" tIns="0" rIns="0" bIns="0" rtlCol="0" anchor="ctr"/>
          <a:lstStyle/>
          <a:p>
            <a:pPr algn="ctr" indent="0" marL="0">
              <a:lnSpc>
                <a:spcPts val="1500"/>
              </a:lnSpc>
              <a:buNone/>
            </a:pPr>
            <a:r>
              <a:rPr lang="en-US" sz="1200" b="1" dirty="0">
                <a:solidFill>
                  <a:srgbClr val="14232B"/>
                </a:solidFill>
                <a:latin typeface="Arial" pitchFamily="34" charset="0"/>
                <a:ea typeface="Arial" pitchFamily="34" charset="-122"/>
                <a:cs typeface="Arial" pitchFamily="34" charset="-120"/>
              </a:rPr>
              <a:t>Booking link or staff handoff</a:t>
            </a:r>
            <a:endParaRPr lang="en-US" sz="1200" dirty="0"/>
          </a:p>
        </p:txBody>
      </p:sp>
      <p:sp>
        <p:nvSpPr>
          <p:cNvPr id="32" name="Shape 30"/>
          <p:cNvSpPr/>
          <p:nvPr/>
        </p:nvSpPr>
        <p:spPr>
          <a:xfrm>
            <a:off x="9405884" y="4754880"/>
            <a:ext cx="256032" cy="0"/>
          </a:xfrm>
          <a:prstGeom prst="line">
            <a:avLst/>
          </a:prstGeom>
          <a:noFill/>
          <a:ln w="19050">
            <a:solidFill>
              <a:srgbClr val="0E7C6B"/>
            </a:solidFill>
            <a:prstDash val="solid"/>
            <a:tailEnd type="triangle"/>
          </a:ln>
        </p:spPr>
      </p:sp>
      <p:sp>
        <p:nvSpPr>
          <p:cNvPr id="33" name="Shape 31"/>
          <p:cNvSpPr/>
          <p:nvPr/>
        </p:nvSpPr>
        <p:spPr>
          <a:xfrm>
            <a:off x="9716780" y="4343400"/>
            <a:ext cx="1926275" cy="822960"/>
          </a:xfrm>
          <a:prstGeom prst="roundRect">
            <a:avLst>
              <a:gd name="adj" fmla="val 13889"/>
            </a:avLst>
          </a:prstGeom>
          <a:solidFill>
            <a:srgbClr val="DCEFEA"/>
          </a:solidFill>
          <a:ln w="12700">
            <a:solidFill>
              <a:srgbClr val="0E7C6B"/>
            </a:solidFill>
            <a:prstDash val="solid"/>
          </a:ln>
        </p:spPr>
      </p:sp>
      <p:sp>
        <p:nvSpPr>
          <p:cNvPr id="34" name="Text 32"/>
          <p:cNvSpPr txBox="1"/>
          <p:nvPr/>
        </p:nvSpPr>
        <p:spPr>
          <a:xfrm>
            <a:off x="9826508" y="4389120"/>
            <a:ext cx="1706819" cy="731520"/>
          </a:xfrm>
          <a:prstGeom prst="rect">
            <a:avLst/>
          </a:prstGeom>
          <a:noFill/>
          <a:ln/>
        </p:spPr>
        <p:txBody>
          <a:bodyPr wrap="square" lIns="0" tIns="0" rIns="0" bIns="0" rtlCol="0" anchor="ctr"/>
          <a:lstStyle/>
          <a:p>
            <a:pPr algn="ctr" indent="0" marL="0">
              <a:lnSpc>
                <a:spcPts val="1500"/>
              </a:lnSpc>
              <a:buNone/>
            </a:pPr>
            <a:r>
              <a:rPr lang="en-US" sz="1200" b="1" dirty="0">
                <a:solidFill>
                  <a:srgbClr val="14232B"/>
                </a:solidFill>
                <a:latin typeface="Arial" pitchFamily="34" charset="0"/>
                <a:ea typeface="Arial" pitchFamily="34" charset="-122"/>
                <a:cs typeface="Arial" pitchFamily="34" charset="-120"/>
              </a:rPr>
              <a:t>Status tracking</a:t>
            </a:r>
            <a:endParaRPr lang="en-US" sz="1200" dirty="0"/>
          </a:p>
        </p:txBody>
      </p:sp>
      <p:sp>
        <p:nvSpPr>
          <p:cNvPr id="35" name="Shape 33"/>
          <p:cNvSpPr/>
          <p:nvPr/>
        </p:nvSpPr>
        <p:spPr>
          <a:xfrm>
            <a:off x="548640" y="5440680"/>
            <a:ext cx="11094415" cy="713232"/>
          </a:xfrm>
          <a:prstGeom prst="roundRect">
            <a:avLst>
              <a:gd name="adj" fmla="val 16026"/>
            </a:avLst>
          </a:prstGeom>
          <a:solidFill>
            <a:srgbClr val="F6F8F7"/>
          </a:solidFill>
          <a:ln/>
        </p:spPr>
      </p:sp>
      <p:sp>
        <p:nvSpPr>
          <p:cNvPr id="36" name="Text 34"/>
          <p:cNvSpPr txBox="1"/>
          <p:nvPr/>
        </p:nvSpPr>
        <p:spPr>
          <a:xfrm>
            <a:off x="822960" y="5513832"/>
            <a:ext cx="10545775" cy="566928"/>
          </a:xfrm>
          <a:prstGeom prst="rect">
            <a:avLst/>
          </a:prstGeom>
          <a:noFill/>
          <a:ln/>
        </p:spPr>
        <p:txBody>
          <a:bodyPr wrap="square" lIns="0" tIns="0" rIns="0" bIns="0" rtlCol="0" anchor="ctr"/>
          <a:lstStyle/>
          <a:p>
            <a:pPr algn="l" indent="0" marL="0">
              <a:lnSpc>
                <a:spcPts val="1440"/>
              </a:lnSpc>
              <a:buNone/>
            </a:pPr>
            <a:r>
              <a:rPr lang="en-US" sz="1150" dirty="0">
                <a:solidFill>
                  <a:srgbClr val="14232B"/>
                </a:solidFill>
                <a:latin typeface="Arial" pitchFamily="34" charset="0"/>
                <a:ea typeface="Arial" pitchFamily="34" charset="-122"/>
                <a:cs typeface="Arial" pitchFamily="34" charset="-120"/>
              </a:rPr>
              <a:t>Exact behaviour depends on the clinic's current tools and the approved implementation scope. Each workflow runs only once the required access, approved message content and any listed integrations are in place.</a:t>
            </a:r>
            <a:endParaRPr lang="en-US" sz="1150" dirty="0"/>
          </a:p>
        </p:txBody>
      </p:sp>
      <p:sp>
        <p:nvSpPr>
          <p:cNvPr id="37" name="Shape 35"/>
          <p:cNvSpPr/>
          <p:nvPr/>
        </p:nvSpPr>
        <p:spPr>
          <a:xfrm>
            <a:off x="548640" y="6355080"/>
            <a:ext cx="11094415" cy="0"/>
          </a:xfrm>
          <a:prstGeom prst="line">
            <a:avLst/>
          </a:prstGeom>
          <a:noFill/>
          <a:ln w="9525">
            <a:solidFill>
              <a:srgbClr val="D5DEDB"/>
            </a:solidFill>
            <a:prstDash val="solid"/>
          </a:ln>
        </p:spPr>
      </p:sp>
      <p:sp>
        <p:nvSpPr>
          <p:cNvPr id="38" name="Text 36"/>
          <p:cNvSpPr txBox="1"/>
          <p:nvPr/>
        </p:nvSpPr>
        <p:spPr>
          <a:xfrm>
            <a:off x="548640" y="6437376"/>
            <a:ext cx="9144000" cy="182880"/>
          </a:xfrm>
          <a:prstGeom prst="rect">
            <a:avLst/>
          </a:prstGeom>
          <a:noFill/>
          <a:ln/>
        </p:spPr>
        <p:txBody>
          <a:bodyPr wrap="square" lIns="0" tIns="0" rIns="0" bIns="0" rtlCol="0" anchor="t"/>
          <a:lstStyle/>
          <a:p>
            <a:pPr algn="l" indent="0" marL="0">
              <a:lnSpc>
                <a:spcPts val="1130"/>
              </a:lnSpc>
              <a:buNone/>
            </a:pPr>
            <a:r>
              <a:rPr lang="en-US" sz="900" dirty="0">
                <a:solidFill>
                  <a:srgbClr val="5B6B70"/>
                </a:solidFill>
                <a:latin typeface="Arial" pitchFamily="34" charset="0"/>
                <a:ea typeface="Arial" pitchFamily="34" charset="-122"/>
                <a:cs typeface="Arial" pitchFamily="34" charset="-120"/>
              </a:rPr>
              <a:t>Patientcurve  ·  Proposal for Sample Smile Dental Studio (fictional)  ·  Ref SAMPLE-001</a:t>
            </a:r>
            <a:endParaRPr lang="en-US" sz="900" dirty="0"/>
          </a:p>
        </p:txBody>
      </p:sp>
      <p:sp>
        <p:nvSpPr>
          <p:cNvPr id="39" name="Text 37"/>
          <p:cNvSpPr txBox="1"/>
          <p:nvPr/>
        </p:nvSpPr>
        <p:spPr>
          <a:xfrm>
            <a:off x="10271455" y="6437376"/>
            <a:ext cx="1371600" cy="182880"/>
          </a:xfrm>
          <a:prstGeom prst="rect">
            <a:avLst/>
          </a:prstGeom>
          <a:noFill/>
          <a:ln/>
        </p:spPr>
        <p:txBody>
          <a:bodyPr wrap="square" lIns="0" tIns="0" rIns="0" bIns="0" rtlCol="0" anchor="t"/>
          <a:lstStyle/>
          <a:p>
            <a:pPr algn="r" indent="0" marL="0">
              <a:lnSpc>
                <a:spcPts val="1130"/>
              </a:lnSpc>
              <a:buNone/>
            </a:pPr>
            <a:r>
              <a:rPr lang="en-US" sz="900" dirty="0">
                <a:solidFill>
                  <a:srgbClr val="5B6B70"/>
                </a:solidFill>
                <a:latin typeface="Arial" pitchFamily="34" charset="0"/>
                <a:ea typeface="Arial" pitchFamily="34" charset="-122"/>
                <a:cs typeface="Arial" pitchFamily="34" charset="-120"/>
              </a:rPr>
              <a:t>3 / 10</a:t>
            </a:r>
            <a:endParaRPr lang="en-US" sz="900" dirty="0"/>
          </a:p>
        </p:txBody>
      </p:sp>
      <p:sp>
        <p:nvSpPr>
          <p:cNvPr id="40" name="Shape 38"/>
          <p:cNvSpPr/>
          <p:nvPr/>
        </p:nvSpPr>
        <p:spPr>
          <a:xfrm>
            <a:off x="0" y="0"/>
            <a:ext cx="12191695" cy="237744"/>
          </a:xfrm>
          <a:prstGeom prst="rect">
            <a:avLst/>
          </a:prstGeom>
          <a:solidFill>
            <a:srgbClr val="8F5A0E"/>
          </a:solidFill>
          <a:ln/>
        </p:spPr>
      </p:sp>
      <p:sp>
        <p:nvSpPr>
          <p:cNvPr id="41" name="Text 39"/>
          <p:cNvSpPr txBox="1"/>
          <p:nvPr/>
        </p:nvSpPr>
        <p:spPr>
          <a:xfrm>
            <a:off x="0" y="50292"/>
            <a:ext cx="12191695" cy="146304"/>
          </a:xfrm>
          <a:prstGeom prst="rect">
            <a:avLst/>
          </a:prstGeom>
          <a:noFill/>
          <a:ln/>
        </p:spPr>
        <p:txBody>
          <a:bodyPr wrap="square" lIns="0" tIns="0" rIns="0" bIns="0" rtlCol="0" anchor="t"/>
          <a:lstStyle/>
          <a:p>
            <a:pPr algn="ctr" indent="0" marL="0">
              <a:lnSpc>
                <a:spcPts val="1060"/>
              </a:lnSpc>
              <a:buNone/>
            </a:pPr>
            <a:r>
              <a:rPr lang="en-US" sz="850" b="1" spc="100" kern="0" dirty="0">
                <a:solidFill>
                  <a:srgbClr val="FFFFFF"/>
                </a:solidFill>
                <a:latin typeface="Arial" pitchFamily="34" charset="0"/>
                <a:ea typeface="Arial" pitchFamily="34" charset="-122"/>
                <a:cs typeface="Arial" pitchFamily="34" charset="-120"/>
              </a:rPr>
              <a:t>SAMPLE PROPOSAL  ·  FICTIONAL CLINIC DATA  ·  DO NOT SEND</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175260"/>
          </a:xfrm>
          <a:prstGeom prst="rect">
            <a:avLst/>
          </a:prstGeom>
          <a:noFill/>
          <a:ln/>
        </p:spPr>
        <p:txBody>
          <a:bodyPr wrap="square" lIns="0" tIns="0" rIns="0" bIns="0" rtlCol="0" anchor="t"/>
          <a:lstStyle/>
          <a:p>
            <a:pPr algn="l" indent="0" marL="0">
              <a:lnSpc>
                <a:spcPts val="1380"/>
              </a:lnSpc>
              <a:buNone/>
            </a:pPr>
            <a:r>
              <a:rPr lang="en-US" sz="1100" b="1" dirty="0">
                <a:solidFill>
                  <a:srgbClr val="0E7C6B"/>
                </a:solidFill>
                <a:latin typeface="Arial" pitchFamily="34" charset="0"/>
                <a:ea typeface="Arial" pitchFamily="34" charset="-122"/>
                <a:cs typeface="Arial" pitchFamily="34" charset="-120"/>
              </a:rPr>
              <a:t>Scope and deliverables</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t"/>
          <a:lstStyle/>
          <a:p>
            <a:pPr algn="l" indent="0" marL="0">
              <a:lnSpc>
                <a:spcPts val="3500"/>
              </a:lnSpc>
              <a:buNone/>
            </a:pPr>
            <a:r>
              <a:rPr lang="en-US" sz="2800" b="1" dirty="0">
                <a:solidFill>
                  <a:srgbClr val="14232B"/>
                </a:solidFill>
                <a:latin typeface="Arial" pitchFamily="34" charset="0"/>
                <a:ea typeface="Arial" pitchFamily="34" charset="-122"/>
                <a:cs typeface="Arial" pitchFamily="34" charset="-120"/>
              </a:rPr>
              <a:t>What is included</a:t>
            </a:r>
            <a:endParaRPr lang="en-US" sz="2800" dirty="0"/>
          </a:p>
        </p:txBody>
      </p:sp>
      <p:sp>
        <p:nvSpPr>
          <p:cNvPr id="4" name="Text 2"/>
          <p:cNvSpPr txBox="1"/>
          <p:nvPr/>
        </p:nvSpPr>
        <p:spPr>
          <a:xfrm>
            <a:off x="548640" y="1417320"/>
            <a:ext cx="11094415" cy="274320"/>
          </a:xfrm>
          <a:prstGeom prst="rect">
            <a:avLst/>
          </a:prstGeom>
          <a:noFill/>
          <a:ln/>
        </p:spPr>
        <p:txBody>
          <a:bodyPr wrap="square" lIns="0" tIns="0" rIns="0" bIns="0" rtlCol="0" anchor="t"/>
          <a:lstStyle/>
          <a:p>
            <a:pPr algn="l" indent="0" marL="0">
              <a:lnSpc>
                <a:spcPts val="1630"/>
              </a:lnSpc>
              <a:buNone/>
            </a:pPr>
            <a:r>
              <a:rPr lang="en-US" sz="1300" dirty="0">
                <a:solidFill>
                  <a:srgbClr val="5B6B70"/>
                </a:solidFill>
                <a:latin typeface="Arial" pitchFamily="34" charset="0"/>
                <a:ea typeface="Arial" pitchFamily="34" charset="-122"/>
                <a:cs typeface="Arial" pitchFamily="34" charset="-120"/>
              </a:rPr>
              <a:t>Only the workflows and integrations listed in this proposal are included in the agreed scope.</a:t>
            </a:r>
            <a:endParaRPr lang="en-US" sz="1300" dirty="0"/>
          </a:p>
        </p:txBody>
      </p:sp>
      <p:sp>
        <p:nvSpPr>
          <p:cNvPr id="5" name="Shape 3"/>
          <p:cNvSpPr/>
          <p:nvPr/>
        </p:nvSpPr>
        <p:spPr>
          <a:xfrm>
            <a:off x="548640" y="1874520"/>
            <a:ext cx="4937760" cy="2148840"/>
          </a:xfrm>
          <a:prstGeom prst="roundRect">
            <a:avLst>
              <a:gd name="adj" fmla="val 5319"/>
            </a:avLst>
          </a:prstGeom>
          <a:solidFill>
            <a:srgbClr val="FFFFFF"/>
          </a:solidFill>
          <a:ln w="9525">
            <a:solidFill>
              <a:srgbClr val="D5DEDB"/>
            </a:solidFill>
            <a:prstDash val="solid"/>
          </a:ln>
        </p:spPr>
      </p:sp>
      <p:sp>
        <p:nvSpPr>
          <p:cNvPr id="6" name="Text 4"/>
          <p:cNvSpPr txBox="1"/>
          <p:nvPr/>
        </p:nvSpPr>
        <p:spPr>
          <a:xfrm>
            <a:off x="777240" y="2057400"/>
            <a:ext cx="365760" cy="274320"/>
          </a:xfrm>
          <a:prstGeom prst="rect">
            <a:avLst/>
          </a:prstGeom>
          <a:noFill/>
          <a:ln/>
        </p:spPr>
        <p:txBody>
          <a:bodyPr wrap="square" lIns="0" tIns="0" rIns="0" bIns="0" rtlCol="0" anchor="t"/>
          <a:lstStyle/>
          <a:p>
            <a:pPr algn="l" indent="0" marL="0">
              <a:lnSpc>
                <a:spcPts val="1750"/>
              </a:lnSpc>
              <a:buNone/>
            </a:pPr>
            <a:r>
              <a:rPr lang="en-US" sz="1400" b="1" dirty="0">
                <a:solidFill>
                  <a:srgbClr val="0E7C6B"/>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051560" y="2066544"/>
            <a:ext cx="4206240" cy="274320"/>
          </a:xfrm>
          <a:prstGeom prst="rect">
            <a:avLst/>
          </a:prstGeom>
          <a:noFill/>
          <a:ln/>
        </p:spPr>
        <p:txBody>
          <a:bodyPr wrap="square" lIns="0" tIns="0" rIns="0" bIns="0" rtlCol="0" anchor="t"/>
          <a:lstStyle/>
          <a:p>
            <a:pPr algn="l" indent="0" marL="0">
              <a:lnSpc>
                <a:spcPts val="1690"/>
              </a:lnSpc>
              <a:buNone/>
            </a:pPr>
            <a:r>
              <a:rPr lang="en-US" sz="1350" b="1" dirty="0">
                <a:solidFill>
                  <a:srgbClr val="14232B"/>
                </a:solidFill>
                <a:latin typeface="Arial" pitchFamily="34" charset="0"/>
                <a:ea typeface="Arial" pitchFamily="34" charset="-122"/>
                <a:cs typeface="Arial" pitchFamily="34" charset="-120"/>
              </a:rPr>
              <a:t>Setup and configuration</a:t>
            </a:r>
            <a:endParaRPr lang="en-US" sz="1350" dirty="0"/>
          </a:p>
        </p:txBody>
      </p:sp>
      <p:sp>
        <p:nvSpPr>
          <p:cNvPr id="8" name="Text 6"/>
          <p:cNvSpPr txBox="1"/>
          <p:nvPr/>
        </p:nvSpPr>
        <p:spPr>
          <a:xfrm>
            <a:off x="777240" y="2441448"/>
            <a:ext cx="4480560" cy="1463040"/>
          </a:xfrm>
          <a:prstGeom prst="rect">
            <a:avLst/>
          </a:prstGeom>
          <a:noFill/>
          <a:ln/>
        </p:spPr>
        <p:txBody>
          <a:bodyPr wrap="square" lIns="0" tIns="0" rIns="0" bIns="0" rtlCol="0" anchor="t"/>
          <a:lstStyle/>
          <a:p>
            <a:pPr algn="l" marL="165100" indent="-165100">
              <a:lnSpc>
                <a:spcPts val="1440"/>
              </a:lnSpc>
              <a:spcAft>
                <a:spcPts val="400"/>
              </a:spcAft>
              <a:buSzPct val="100000"/>
              <a:buChar char="•"/>
            </a:pPr>
            <a:r>
              <a:rPr lang="en-US" sz="1150" dirty="0">
                <a:solidFill>
                  <a:srgbClr val="14232B"/>
                </a:solidFill>
                <a:latin typeface="Arial" pitchFamily="34" charset="0"/>
                <a:ea typeface="Arial" pitchFamily="34" charset="-122"/>
                <a:cs typeface="Arial" pitchFamily="34" charset="-120"/>
              </a:rPr>
              <a:t>Onboarding call to confirm workflows, timings and message content</a:t>
            </a:r>
            <a:endParaRPr lang="en-US" sz="1150" dirty="0"/>
          </a:p>
          <a:p>
            <a:pPr algn="l" marL="165100" indent="-165100">
              <a:lnSpc>
                <a:spcPts val="1440"/>
              </a:lnSpc>
              <a:spcAft>
                <a:spcPts val="400"/>
              </a:spcAft>
              <a:buSzPct val="100000"/>
              <a:buChar char="•"/>
            </a:pPr>
            <a:r>
              <a:rPr lang="en-US" sz="1150" dirty="0">
                <a:solidFill>
                  <a:srgbClr val="14232B"/>
                </a:solidFill>
                <a:latin typeface="Arial" pitchFamily="34" charset="0"/>
                <a:ea typeface="Arial" pitchFamily="34" charset="-122"/>
                <a:cs typeface="Arial" pitchFamily="34" charset="-120"/>
              </a:rPr>
              <a:t>Configuration of the selected workflows</a:t>
            </a:r>
            <a:endParaRPr lang="en-US" sz="1150" dirty="0"/>
          </a:p>
          <a:p>
            <a:pPr algn="l" marL="165100" indent="-165100">
              <a:lnSpc>
                <a:spcPts val="1440"/>
              </a:lnSpc>
              <a:spcAft>
                <a:spcPts val="400"/>
              </a:spcAft>
              <a:buSzPct val="100000"/>
              <a:buChar char="•"/>
            </a:pPr>
            <a:r>
              <a:rPr lang="en-US" sz="1150" dirty="0">
                <a:solidFill>
                  <a:srgbClr val="14232B"/>
                </a:solidFill>
                <a:latin typeface="Arial" pitchFamily="34" charset="0"/>
                <a:ea typeface="Arial" pitchFamily="34" charset="-122"/>
                <a:cs typeface="Arial" pitchFamily="34" charset="-120"/>
              </a:rPr>
              <a:t>Preparation of WhatsApp message templates for the clinic to approve</a:t>
            </a:r>
            <a:endParaRPr lang="en-US" sz="1150" dirty="0"/>
          </a:p>
          <a:p>
            <a:pPr algn="l" marL="165100" indent="-165100">
              <a:lnSpc>
                <a:spcPts val="1440"/>
              </a:lnSpc>
              <a:buSzPct val="100000"/>
              <a:buChar char="•"/>
            </a:pPr>
            <a:r>
              <a:rPr lang="en-US" sz="1150" dirty="0">
                <a:solidFill>
                  <a:srgbClr val="14232B"/>
                </a:solidFill>
                <a:latin typeface="Arial" pitchFamily="34" charset="0"/>
                <a:ea typeface="Arial" pitchFamily="34" charset="-122"/>
                <a:cs typeface="Arial" pitchFamily="34" charset="-120"/>
              </a:rPr>
              <a:t>Walkthrough for the clinic team</a:t>
            </a:r>
            <a:endParaRPr lang="en-US" sz="1150" dirty="0"/>
          </a:p>
        </p:txBody>
      </p:sp>
      <p:sp>
        <p:nvSpPr>
          <p:cNvPr id="9" name="Shape 7"/>
          <p:cNvSpPr/>
          <p:nvPr/>
        </p:nvSpPr>
        <p:spPr>
          <a:xfrm>
            <a:off x="5715000" y="1874520"/>
            <a:ext cx="5928055" cy="2148840"/>
          </a:xfrm>
          <a:prstGeom prst="roundRect">
            <a:avLst>
              <a:gd name="adj" fmla="val 5319"/>
            </a:avLst>
          </a:prstGeom>
          <a:solidFill>
            <a:srgbClr val="FFFFFF"/>
          </a:solidFill>
          <a:ln w="9525">
            <a:solidFill>
              <a:srgbClr val="D5DEDB"/>
            </a:solidFill>
            <a:prstDash val="solid"/>
          </a:ln>
        </p:spPr>
      </p:sp>
      <p:sp>
        <p:nvSpPr>
          <p:cNvPr id="10" name="Text 8"/>
          <p:cNvSpPr txBox="1"/>
          <p:nvPr/>
        </p:nvSpPr>
        <p:spPr>
          <a:xfrm>
            <a:off x="5943600" y="2057400"/>
            <a:ext cx="365760" cy="274320"/>
          </a:xfrm>
          <a:prstGeom prst="rect">
            <a:avLst/>
          </a:prstGeom>
          <a:noFill/>
          <a:ln/>
        </p:spPr>
        <p:txBody>
          <a:bodyPr wrap="square" lIns="0" tIns="0" rIns="0" bIns="0" rtlCol="0" anchor="t"/>
          <a:lstStyle/>
          <a:p>
            <a:pPr algn="l" indent="0" marL="0">
              <a:lnSpc>
                <a:spcPts val="1750"/>
              </a:lnSpc>
              <a:buNone/>
            </a:pPr>
            <a:r>
              <a:rPr lang="en-US" sz="1400" b="1" dirty="0">
                <a:solidFill>
                  <a:srgbClr val="0E7C6B"/>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6217920" y="2066544"/>
            <a:ext cx="5196535" cy="274320"/>
          </a:xfrm>
          <a:prstGeom prst="rect">
            <a:avLst/>
          </a:prstGeom>
          <a:noFill/>
          <a:ln/>
        </p:spPr>
        <p:txBody>
          <a:bodyPr wrap="square" lIns="0" tIns="0" rIns="0" bIns="0" rtlCol="0" anchor="t"/>
          <a:lstStyle/>
          <a:p>
            <a:pPr algn="l" indent="0" marL="0">
              <a:lnSpc>
                <a:spcPts val="1690"/>
              </a:lnSpc>
              <a:buNone/>
            </a:pPr>
            <a:r>
              <a:rPr lang="en-US" sz="1350" b="1" dirty="0">
                <a:solidFill>
                  <a:srgbClr val="14232B"/>
                </a:solidFill>
                <a:latin typeface="Arial" pitchFamily="34" charset="0"/>
                <a:ea typeface="Arial" pitchFamily="34" charset="-122"/>
                <a:cs typeface="Arial" pitchFamily="34" charset="-120"/>
              </a:rPr>
              <a:t>Automation workflows (7)</a:t>
            </a:r>
            <a:endParaRPr lang="en-US" sz="1350" dirty="0"/>
          </a:p>
        </p:txBody>
      </p:sp>
      <p:sp>
        <p:nvSpPr>
          <p:cNvPr id="12" name="Text 10"/>
          <p:cNvSpPr txBox="1"/>
          <p:nvPr/>
        </p:nvSpPr>
        <p:spPr>
          <a:xfrm>
            <a:off x="5943600" y="2441448"/>
            <a:ext cx="2621128" cy="1463040"/>
          </a:xfrm>
          <a:prstGeom prst="rect">
            <a:avLst/>
          </a:prstGeom>
          <a:noFill/>
          <a:ln/>
        </p:spPr>
        <p:txBody>
          <a:bodyPr wrap="square" lIns="0" tIns="0" rIns="0" bIns="0" rtlCol="0" anchor="t"/>
          <a:lstStyle/>
          <a:p>
            <a:pPr algn="l" marL="165100" indent="-165100">
              <a:lnSpc>
                <a:spcPts val="1440"/>
              </a:lnSpc>
              <a:spcAft>
                <a:spcPts val="400"/>
              </a:spcAft>
              <a:buSzPct val="100000"/>
              <a:buChar char="•"/>
            </a:pPr>
            <a:r>
              <a:rPr lang="en-US" sz="1150" dirty="0">
                <a:solidFill>
                  <a:srgbClr val="14232B"/>
                </a:solidFill>
                <a:latin typeface="Arial" pitchFamily="34" charset="0"/>
                <a:ea typeface="Arial" pitchFamily="34" charset="-122"/>
                <a:cs typeface="Arial" pitchFamily="34" charset="-120"/>
              </a:rPr>
              <a:t>New enquiry capture</a:t>
            </a:r>
            <a:endParaRPr lang="en-US" sz="1150" dirty="0"/>
          </a:p>
          <a:p>
            <a:pPr algn="l" marL="165100" indent="-165100">
              <a:lnSpc>
                <a:spcPts val="1440"/>
              </a:lnSpc>
              <a:spcAft>
                <a:spcPts val="400"/>
              </a:spcAft>
              <a:buSzPct val="100000"/>
              <a:buChar char="•"/>
            </a:pPr>
            <a:r>
              <a:rPr lang="en-US" sz="1150" dirty="0">
                <a:solidFill>
                  <a:srgbClr val="14232B"/>
                </a:solidFill>
                <a:latin typeface="Arial" pitchFamily="34" charset="0"/>
                <a:ea typeface="Arial" pitchFamily="34" charset="-122"/>
                <a:cs typeface="Arial" pitchFamily="34" charset="-120"/>
              </a:rPr>
              <a:t>Automated FAQ responses</a:t>
            </a:r>
            <a:endParaRPr lang="en-US" sz="1150" dirty="0"/>
          </a:p>
          <a:p>
            <a:pPr algn="l" marL="165100" indent="-165100">
              <a:lnSpc>
                <a:spcPts val="1440"/>
              </a:lnSpc>
              <a:spcAft>
                <a:spcPts val="400"/>
              </a:spcAft>
              <a:buSzPct val="100000"/>
              <a:buChar char="•"/>
            </a:pPr>
            <a:r>
              <a:rPr lang="en-US" sz="1150" dirty="0">
                <a:solidFill>
                  <a:srgbClr val="14232B"/>
                </a:solidFill>
                <a:latin typeface="Arial" pitchFamily="34" charset="0"/>
                <a:ea typeface="Arial" pitchFamily="34" charset="-122"/>
                <a:cs typeface="Arial" pitchFamily="34" charset="-120"/>
              </a:rPr>
              <a:t>Follow-up for enquiries that haven't booked</a:t>
            </a:r>
            <a:endParaRPr lang="en-US" sz="1150" dirty="0"/>
          </a:p>
          <a:p>
            <a:pPr algn="l" marL="165100" indent="-165100">
              <a:lnSpc>
                <a:spcPts val="1440"/>
              </a:lnSpc>
              <a:buSzPct val="100000"/>
              <a:buChar char="•"/>
            </a:pPr>
            <a:r>
              <a:rPr lang="en-US" sz="1150" dirty="0">
                <a:solidFill>
                  <a:srgbClr val="14232B"/>
                </a:solidFill>
                <a:latin typeface="Arial" pitchFamily="34" charset="0"/>
                <a:ea typeface="Arial" pitchFamily="34" charset="-122"/>
                <a:cs typeface="Arial" pitchFamily="34" charset="-120"/>
              </a:rPr>
              <a:t>Appointment reminders</a:t>
            </a:r>
            <a:endParaRPr lang="en-US" sz="1150" dirty="0"/>
          </a:p>
        </p:txBody>
      </p:sp>
      <p:sp>
        <p:nvSpPr>
          <p:cNvPr id="13" name="Text 11"/>
          <p:cNvSpPr txBox="1"/>
          <p:nvPr/>
        </p:nvSpPr>
        <p:spPr>
          <a:xfrm>
            <a:off x="8793328" y="2441448"/>
            <a:ext cx="2621128" cy="1463040"/>
          </a:xfrm>
          <a:prstGeom prst="rect">
            <a:avLst/>
          </a:prstGeom>
          <a:noFill/>
          <a:ln/>
        </p:spPr>
        <p:txBody>
          <a:bodyPr wrap="square" lIns="0" tIns="0" rIns="0" bIns="0" rtlCol="0" anchor="t"/>
          <a:lstStyle/>
          <a:p>
            <a:pPr algn="l" marL="165100" indent="-165100">
              <a:lnSpc>
                <a:spcPts val="1440"/>
              </a:lnSpc>
              <a:spcAft>
                <a:spcPts val="400"/>
              </a:spcAft>
              <a:buSzPct val="100000"/>
              <a:buChar char="•"/>
            </a:pPr>
            <a:r>
              <a:rPr lang="en-US" sz="1150" dirty="0">
                <a:solidFill>
                  <a:srgbClr val="14232B"/>
                </a:solidFill>
                <a:latin typeface="Arial" pitchFamily="34" charset="0"/>
                <a:ea typeface="Arial" pitchFamily="34" charset="-122"/>
                <a:cs typeface="Arial" pitchFamily="34" charset="-120"/>
              </a:rPr>
              <a:t>Missed appointment follow-up</a:t>
            </a:r>
            <a:endParaRPr lang="en-US" sz="1150" dirty="0"/>
          </a:p>
          <a:p>
            <a:pPr algn="l" marL="165100" indent="-165100">
              <a:lnSpc>
                <a:spcPts val="1440"/>
              </a:lnSpc>
              <a:spcAft>
                <a:spcPts val="400"/>
              </a:spcAft>
              <a:buSzPct val="100000"/>
              <a:buChar char="•"/>
            </a:pPr>
            <a:r>
              <a:rPr lang="en-US" sz="1150" dirty="0">
                <a:solidFill>
                  <a:srgbClr val="14232B"/>
                </a:solidFill>
                <a:latin typeface="Arial" pitchFamily="34" charset="0"/>
                <a:ea typeface="Arial" pitchFamily="34" charset="-122"/>
                <a:cs typeface="Arial" pitchFamily="34" charset="-120"/>
              </a:rPr>
              <a:t>Review request automation</a:t>
            </a:r>
            <a:endParaRPr lang="en-US" sz="1150" dirty="0"/>
          </a:p>
          <a:p>
            <a:pPr algn="l" marL="165100" indent="-165100">
              <a:lnSpc>
                <a:spcPts val="1440"/>
              </a:lnSpc>
              <a:buSzPct val="100000"/>
              <a:buChar char="•"/>
            </a:pPr>
            <a:r>
              <a:rPr lang="en-US" sz="1150" dirty="0">
                <a:solidFill>
                  <a:srgbClr val="14232B"/>
                </a:solidFill>
                <a:latin typeface="Arial" pitchFamily="34" charset="0"/>
                <a:ea typeface="Arial" pitchFamily="34" charset="-122"/>
                <a:cs typeface="Arial" pitchFamily="34" charset="-120"/>
              </a:rPr>
              <a:t>Enquiry and follow-up reporting</a:t>
            </a:r>
            <a:endParaRPr lang="en-US" sz="1150" dirty="0"/>
          </a:p>
        </p:txBody>
      </p:sp>
      <p:sp>
        <p:nvSpPr>
          <p:cNvPr id="14" name="Shape 12"/>
          <p:cNvSpPr/>
          <p:nvPr/>
        </p:nvSpPr>
        <p:spPr>
          <a:xfrm>
            <a:off x="548640" y="4206240"/>
            <a:ext cx="3545738" cy="1965960"/>
          </a:xfrm>
          <a:prstGeom prst="roundRect">
            <a:avLst>
              <a:gd name="adj" fmla="val 5814"/>
            </a:avLst>
          </a:prstGeom>
          <a:solidFill>
            <a:srgbClr val="FFFFFF"/>
          </a:solidFill>
          <a:ln w="9525">
            <a:solidFill>
              <a:srgbClr val="D5DEDB"/>
            </a:solidFill>
            <a:prstDash val="solid"/>
          </a:ln>
        </p:spPr>
      </p:sp>
      <p:sp>
        <p:nvSpPr>
          <p:cNvPr id="15" name="Text 13"/>
          <p:cNvSpPr txBox="1"/>
          <p:nvPr/>
        </p:nvSpPr>
        <p:spPr>
          <a:xfrm>
            <a:off x="777240" y="4389120"/>
            <a:ext cx="365760" cy="274320"/>
          </a:xfrm>
          <a:prstGeom prst="rect">
            <a:avLst/>
          </a:prstGeom>
          <a:noFill/>
          <a:ln/>
        </p:spPr>
        <p:txBody>
          <a:bodyPr wrap="square" lIns="0" tIns="0" rIns="0" bIns="0" rtlCol="0" anchor="t"/>
          <a:lstStyle/>
          <a:p>
            <a:pPr algn="l" indent="0" marL="0">
              <a:lnSpc>
                <a:spcPts val="1750"/>
              </a:lnSpc>
              <a:buNone/>
            </a:pPr>
            <a:r>
              <a:rPr lang="en-US" sz="1400" b="1" dirty="0">
                <a:solidFill>
                  <a:srgbClr val="0E7C6B"/>
                </a:solidFill>
                <a:latin typeface="Arial" pitchFamily="34" charset="0"/>
                <a:ea typeface="Arial" pitchFamily="34" charset="-122"/>
                <a:cs typeface="Arial" pitchFamily="34" charset="-120"/>
              </a:rPr>
              <a:t>3</a:t>
            </a:r>
            <a:endParaRPr lang="en-US" sz="1400" dirty="0"/>
          </a:p>
        </p:txBody>
      </p:sp>
      <p:sp>
        <p:nvSpPr>
          <p:cNvPr id="16" name="Text 14"/>
          <p:cNvSpPr txBox="1"/>
          <p:nvPr/>
        </p:nvSpPr>
        <p:spPr>
          <a:xfrm>
            <a:off x="1051560" y="4398264"/>
            <a:ext cx="2814218" cy="274320"/>
          </a:xfrm>
          <a:prstGeom prst="rect">
            <a:avLst/>
          </a:prstGeom>
          <a:noFill/>
          <a:ln/>
        </p:spPr>
        <p:txBody>
          <a:bodyPr wrap="square" lIns="0" tIns="0" rIns="0" bIns="0" rtlCol="0" anchor="t"/>
          <a:lstStyle/>
          <a:p>
            <a:pPr algn="l" indent="0" marL="0">
              <a:lnSpc>
                <a:spcPts val="1690"/>
              </a:lnSpc>
              <a:buNone/>
            </a:pPr>
            <a:r>
              <a:rPr lang="en-US" sz="1350" b="1" dirty="0">
                <a:solidFill>
                  <a:srgbClr val="14232B"/>
                </a:solidFill>
                <a:latin typeface="Arial" pitchFamily="34" charset="0"/>
                <a:ea typeface="Arial" pitchFamily="34" charset="-122"/>
                <a:cs typeface="Arial" pitchFamily="34" charset="-120"/>
              </a:rPr>
              <a:t>Integrations</a:t>
            </a:r>
            <a:endParaRPr lang="en-US" sz="1350" dirty="0"/>
          </a:p>
        </p:txBody>
      </p:sp>
      <p:sp>
        <p:nvSpPr>
          <p:cNvPr id="17" name="Text 15"/>
          <p:cNvSpPr txBox="1"/>
          <p:nvPr/>
        </p:nvSpPr>
        <p:spPr>
          <a:xfrm>
            <a:off x="777240" y="4773168"/>
            <a:ext cx="3088538" cy="1280160"/>
          </a:xfrm>
          <a:prstGeom prst="rect">
            <a:avLst/>
          </a:prstGeom>
          <a:noFill/>
          <a:ln/>
        </p:spPr>
        <p:txBody>
          <a:bodyPr wrap="square" lIns="0" tIns="0" rIns="0" bIns="0" rtlCol="0" anchor="t"/>
          <a:lstStyle/>
          <a:p>
            <a:pPr algn="l" marL="165100" indent="-165100">
              <a:lnSpc>
                <a:spcPts val="1440"/>
              </a:lnSpc>
              <a:buSzPct val="100000"/>
              <a:buChar char="•"/>
            </a:pPr>
            <a:r>
              <a:rPr lang="en-US" sz="1150" dirty="0">
                <a:solidFill>
                  <a:srgbClr val="14232B"/>
                </a:solidFill>
                <a:latin typeface="Arial" pitchFamily="34" charset="0"/>
                <a:ea typeface="Arial" pitchFamily="34" charset="-122"/>
                <a:cs typeface="Arial" pitchFamily="34" charset="-120"/>
              </a:rPr>
              <a:t>Google Calendar booking for the clinic calendar</a:t>
            </a:r>
            <a:endParaRPr lang="en-US" sz="1150" dirty="0"/>
          </a:p>
        </p:txBody>
      </p:sp>
      <p:sp>
        <p:nvSpPr>
          <p:cNvPr id="18" name="Shape 16"/>
          <p:cNvSpPr/>
          <p:nvPr/>
        </p:nvSpPr>
        <p:spPr>
          <a:xfrm>
            <a:off x="4322978" y="4206240"/>
            <a:ext cx="3545738" cy="1965960"/>
          </a:xfrm>
          <a:prstGeom prst="roundRect">
            <a:avLst>
              <a:gd name="adj" fmla="val 5814"/>
            </a:avLst>
          </a:prstGeom>
          <a:solidFill>
            <a:srgbClr val="FFFFFF"/>
          </a:solidFill>
          <a:ln w="9525">
            <a:solidFill>
              <a:srgbClr val="D5DEDB"/>
            </a:solidFill>
            <a:prstDash val="solid"/>
          </a:ln>
        </p:spPr>
      </p:sp>
      <p:sp>
        <p:nvSpPr>
          <p:cNvPr id="19" name="Text 17"/>
          <p:cNvSpPr txBox="1"/>
          <p:nvPr/>
        </p:nvSpPr>
        <p:spPr>
          <a:xfrm>
            <a:off x="4551578" y="4389120"/>
            <a:ext cx="365760" cy="274320"/>
          </a:xfrm>
          <a:prstGeom prst="rect">
            <a:avLst/>
          </a:prstGeom>
          <a:noFill/>
          <a:ln/>
        </p:spPr>
        <p:txBody>
          <a:bodyPr wrap="square" lIns="0" tIns="0" rIns="0" bIns="0" rtlCol="0" anchor="t"/>
          <a:lstStyle/>
          <a:p>
            <a:pPr algn="l" indent="0" marL="0">
              <a:lnSpc>
                <a:spcPts val="1750"/>
              </a:lnSpc>
              <a:buNone/>
            </a:pPr>
            <a:r>
              <a:rPr lang="en-US" sz="1400" b="1" dirty="0">
                <a:solidFill>
                  <a:srgbClr val="0E7C6B"/>
                </a:solidFill>
                <a:latin typeface="Arial" pitchFamily="34" charset="0"/>
                <a:ea typeface="Arial" pitchFamily="34" charset="-122"/>
                <a:cs typeface="Arial" pitchFamily="34" charset="-120"/>
              </a:rPr>
              <a:t>4</a:t>
            </a:r>
            <a:endParaRPr lang="en-US" sz="1400" dirty="0"/>
          </a:p>
        </p:txBody>
      </p:sp>
      <p:sp>
        <p:nvSpPr>
          <p:cNvPr id="20" name="Text 18"/>
          <p:cNvSpPr txBox="1"/>
          <p:nvPr/>
        </p:nvSpPr>
        <p:spPr>
          <a:xfrm>
            <a:off x="4825898" y="4398264"/>
            <a:ext cx="2814218" cy="274320"/>
          </a:xfrm>
          <a:prstGeom prst="rect">
            <a:avLst/>
          </a:prstGeom>
          <a:noFill/>
          <a:ln/>
        </p:spPr>
        <p:txBody>
          <a:bodyPr wrap="square" lIns="0" tIns="0" rIns="0" bIns="0" rtlCol="0" anchor="t"/>
          <a:lstStyle/>
          <a:p>
            <a:pPr algn="l" indent="0" marL="0">
              <a:lnSpc>
                <a:spcPts val="1690"/>
              </a:lnSpc>
              <a:buNone/>
            </a:pPr>
            <a:r>
              <a:rPr lang="en-US" sz="1350" b="1" dirty="0">
                <a:solidFill>
                  <a:srgbClr val="14232B"/>
                </a:solidFill>
                <a:latin typeface="Arial" pitchFamily="34" charset="0"/>
                <a:ea typeface="Arial" pitchFamily="34" charset="-122"/>
                <a:cs typeface="Arial" pitchFamily="34" charset="-120"/>
              </a:rPr>
              <a:t>Testing and handover</a:t>
            </a:r>
            <a:endParaRPr lang="en-US" sz="1350" dirty="0"/>
          </a:p>
        </p:txBody>
      </p:sp>
      <p:sp>
        <p:nvSpPr>
          <p:cNvPr id="21" name="Text 19"/>
          <p:cNvSpPr txBox="1"/>
          <p:nvPr/>
        </p:nvSpPr>
        <p:spPr>
          <a:xfrm>
            <a:off x="4551578" y="4773168"/>
            <a:ext cx="3088538" cy="1280160"/>
          </a:xfrm>
          <a:prstGeom prst="rect">
            <a:avLst/>
          </a:prstGeom>
          <a:noFill/>
          <a:ln/>
        </p:spPr>
        <p:txBody>
          <a:bodyPr wrap="square" lIns="0" tIns="0" rIns="0" bIns="0" rtlCol="0" anchor="t"/>
          <a:lstStyle/>
          <a:p>
            <a:pPr algn="l" marL="165100" indent="-165100">
              <a:lnSpc>
                <a:spcPts val="1440"/>
              </a:lnSpc>
              <a:spcAft>
                <a:spcPts val="400"/>
              </a:spcAft>
              <a:buSzPct val="100000"/>
              <a:buChar char="•"/>
            </a:pPr>
            <a:r>
              <a:rPr lang="en-US" sz="1150" dirty="0">
                <a:solidFill>
                  <a:srgbClr val="14232B"/>
                </a:solidFill>
                <a:latin typeface="Arial" pitchFamily="34" charset="0"/>
                <a:ea typeface="Arial" pitchFamily="34" charset="-122"/>
                <a:cs typeface="Arial" pitchFamily="34" charset="-120"/>
              </a:rPr>
              <a:t>End-to-end testing of each selected workflow with the clinic team</a:t>
            </a:r>
            <a:endParaRPr lang="en-US" sz="1150" dirty="0"/>
          </a:p>
          <a:p>
            <a:pPr algn="l" marL="165100" indent="-165100">
              <a:lnSpc>
                <a:spcPts val="1440"/>
              </a:lnSpc>
              <a:spcAft>
                <a:spcPts val="400"/>
              </a:spcAft>
              <a:buSzPct val="100000"/>
              <a:buChar char="•"/>
            </a:pPr>
            <a:r>
              <a:rPr lang="en-US" sz="1150" dirty="0">
                <a:solidFill>
                  <a:srgbClr val="14232B"/>
                </a:solidFill>
                <a:latin typeface="Arial" pitchFamily="34" charset="0"/>
                <a:ea typeface="Arial" pitchFamily="34" charset="-122"/>
                <a:cs typeface="Arial" pitchFamily="34" charset="-120"/>
              </a:rPr>
              <a:t>Corrections identified during testing</a:t>
            </a:r>
            <a:endParaRPr lang="en-US" sz="1150" dirty="0"/>
          </a:p>
          <a:p>
            <a:pPr algn="l" marL="165100" indent="-165100">
              <a:lnSpc>
                <a:spcPts val="1440"/>
              </a:lnSpc>
              <a:buSzPct val="100000"/>
              <a:buChar char="•"/>
            </a:pPr>
            <a:r>
              <a:rPr lang="en-US" sz="1150" dirty="0">
                <a:solidFill>
                  <a:srgbClr val="14232B"/>
                </a:solidFill>
                <a:latin typeface="Arial" pitchFamily="34" charset="0"/>
                <a:ea typeface="Arial" pitchFamily="34" charset="-122"/>
                <a:cs typeface="Arial" pitchFamily="34" charset="-120"/>
              </a:rPr>
              <a:t>Handover walkthrough and a written summary of the configured workflows</a:t>
            </a:r>
            <a:endParaRPr lang="en-US" sz="1150" dirty="0"/>
          </a:p>
        </p:txBody>
      </p:sp>
      <p:sp>
        <p:nvSpPr>
          <p:cNvPr id="22" name="Shape 20"/>
          <p:cNvSpPr/>
          <p:nvPr/>
        </p:nvSpPr>
        <p:spPr>
          <a:xfrm>
            <a:off x="8097317" y="4206240"/>
            <a:ext cx="3545738" cy="1965960"/>
          </a:xfrm>
          <a:prstGeom prst="roundRect">
            <a:avLst>
              <a:gd name="adj" fmla="val 5814"/>
            </a:avLst>
          </a:prstGeom>
          <a:solidFill>
            <a:srgbClr val="FFFFFF"/>
          </a:solidFill>
          <a:ln w="9525">
            <a:solidFill>
              <a:srgbClr val="D5DEDB"/>
            </a:solidFill>
            <a:prstDash val="solid"/>
          </a:ln>
        </p:spPr>
      </p:sp>
      <p:sp>
        <p:nvSpPr>
          <p:cNvPr id="23" name="Text 21"/>
          <p:cNvSpPr txBox="1"/>
          <p:nvPr/>
        </p:nvSpPr>
        <p:spPr>
          <a:xfrm>
            <a:off x="8325917" y="4389120"/>
            <a:ext cx="365760" cy="274320"/>
          </a:xfrm>
          <a:prstGeom prst="rect">
            <a:avLst/>
          </a:prstGeom>
          <a:noFill/>
          <a:ln/>
        </p:spPr>
        <p:txBody>
          <a:bodyPr wrap="square" lIns="0" tIns="0" rIns="0" bIns="0" rtlCol="0" anchor="t"/>
          <a:lstStyle/>
          <a:p>
            <a:pPr algn="l" indent="0" marL="0">
              <a:lnSpc>
                <a:spcPts val="1750"/>
              </a:lnSpc>
              <a:buNone/>
            </a:pPr>
            <a:r>
              <a:rPr lang="en-US" sz="1400" b="1" dirty="0">
                <a:solidFill>
                  <a:srgbClr val="0E7C6B"/>
                </a:solidFill>
                <a:latin typeface="Arial" pitchFamily="34" charset="0"/>
                <a:ea typeface="Arial" pitchFamily="34" charset="-122"/>
                <a:cs typeface="Arial" pitchFamily="34" charset="-120"/>
              </a:rPr>
              <a:t>5</a:t>
            </a:r>
            <a:endParaRPr lang="en-US" sz="1400" dirty="0"/>
          </a:p>
        </p:txBody>
      </p:sp>
      <p:sp>
        <p:nvSpPr>
          <p:cNvPr id="24" name="Text 22"/>
          <p:cNvSpPr txBox="1"/>
          <p:nvPr/>
        </p:nvSpPr>
        <p:spPr>
          <a:xfrm>
            <a:off x="8600237" y="4398264"/>
            <a:ext cx="2814218" cy="274320"/>
          </a:xfrm>
          <a:prstGeom prst="rect">
            <a:avLst/>
          </a:prstGeom>
          <a:noFill/>
          <a:ln/>
        </p:spPr>
        <p:txBody>
          <a:bodyPr wrap="square" lIns="0" tIns="0" rIns="0" bIns="0" rtlCol="0" anchor="t"/>
          <a:lstStyle/>
          <a:p>
            <a:pPr algn="l" indent="0" marL="0">
              <a:lnSpc>
                <a:spcPts val="1560"/>
              </a:lnSpc>
              <a:buNone/>
            </a:pPr>
            <a:r>
              <a:rPr lang="en-US" sz="1250" b="1" dirty="0">
                <a:solidFill>
                  <a:srgbClr val="14232B"/>
                </a:solidFill>
                <a:latin typeface="Arial" pitchFamily="34" charset="0"/>
                <a:ea typeface="Arial" pitchFamily="34" charset="-122"/>
                <a:cs typeface="Arial" pitchFamily="34" charset="-120"/>
              </a:rPr>
              <a:t>Ongoing support and maintenance</a:t>
            </a:r>
            <a:endParaRPr lang="en-US" sz="1250" dirty="0"/>
          </a:p>
        </p:txBody>
      </p:sp>
      <p:sp>
        <p:nvSpPr>
          <p:cNvPr id="25" name="Text 23"/>
          <p:cNvSpPr txBox="1"/>
          <p:nvPr/>
        </p:nvSpPr>
        <p:spPr>
          <a:xfrm>
            <a:off x="8325917" y="4773168"/>
            <a:ext cx="3088538" cy="1280160"/>
          </a:xfrm>
          <a:prstGeom prst="rect">
            <a:avLst/>
          </a:prstGeom>
          <a:noFill/>
          <a:ln/>
        </p:spPr>
        <p:txBody>
          <a:bodyPr wrap="square" lIns="0" tIns="0" rIns="0" bIns="0" rtlCol="0" anchor="t"/>
          <a:lstStyle/>
          <a:p>
            <a:pPr algn="l" marL="165100" indent="-165100">
              <a:lnSpc>
                <a:spcPts val="1440"/>
              </a:lnSpc>
              <a:spcAft>
                <a:spcPts val="400"/>
              </a:spcAft>
              <a:buSzPct val="100000"/>
              <a:buChar char="•"/>
            </a:pPr>
            <a:r>
              <a:rPr lang="en-US" sz="1150" dirty="0">
                <a:solidFill>
                  <a:srgbClr val="14232B"/>
                </a:solidFill>
                <a:latin typeface="Arial" pitchFamily="34" charset="0"/>
                <a:ea typeface="Arial" pitchFamily="34" charset="-122"/>
                <a:cs typeface="Arial" pitchFamily="34" charset="-120"/>
              </a:rPr>
              <a:t>Support on WhatsApp and email during business hours</a:t>
            </a:r>
            <a:endParaRPr lang="en-US" sz="1150" dirty="0"/>
          </a:p>
          <a:p>
            <a:pPr algn="l" marL="165100" indent="-165100">
              <a:lnSpc>
                <a:spcPts val="1440"/>
              </a:lnSpc>
              <a:spcAft>
                <a:spcPts val="400"/>
              </a:spcAft>
              <a:buSzPct val="100000"/>
              <a:buChar char="•"/>
            </a:pPr>
            <a:r>
              <a:rPr lang="en-US" sz="1150" dirty="0">
                <a:solidFill>
                  <a:srgbClr val="14232B"/>
                </a:solidFill>
                <a:latin typeface="Arial" pitchFamily="34" charset="0"/>
                <a:ea typeface="Arial" pitchFamily="34" charset="-122"/>
                <a:cs typeface="Arial" pitchFamily="34" charset="-120"/>
              </a:rPr>
              <a:t>Adjustments to configured workflows within the agreed scope</a:t>
            </a:r>
            <a:endParaRPr lang="en-US" sz="1150" dirty="0"/>
          </a:p>
          <a:p>
            <a:pPr algn="l" marL="165100" indent="-165100">
              <a:lnSpc>
                <a:spcPts val="1440"/>
              </a:lnSpc>
              <a:buSzPct val="100000"/>
              <a:buChar char="•"/>
            </a:pPr>
            <a:r>
              <a:rPr lang="en-US" sz="1150" dirty="0">
                <a:solidFill>
                  <a:srgbClr val="14232B"/>
                </a:solidFill>
                <a:latin typeface="Arial" pitchFamily="34" charset="0"/>
                <a:ea typeface="Arial" pitchFamily="34" charset="-122"/>
                <a:cs typeface="Arial" pitchFamily="34" charset="-120"/>
              </a:rPr>
              <a:t>Monitoring of the configured workflows</a:t>
            </a:r>
            <a:endParaRPr lang="en-US" sz="1150" dirty="0"/>
          </a:p>
        </p:txBody>
      </p:sp>
      <p:sp>
        <p:nvSpPr>
          <p:cNvPr id="26" name="Shape 24"/>
          <p:cNvSpPr/>
          <p:nvPr/>
        </p:nvSpPr>
        <p:spPr>
          <a:xfrm>
            <a:off x="548640" y="6355080"/>
            <a:ext cx="11094415" cy="0"/>
          </a:xfrm>
          <a:prstGeom prst="line">
            <a:avLst/>
          </a:prstGeom>
          <a:noFill/>
          <a:ln w="9525">
            <a:solidFill>
              <a:srgbClr val="D5DEDB"/>
            </a:solidFill>
            <a:prstDash val="solid"/>
          </a:ln>
        </p:spPr>
      </p:sp>
      <p:sp>
        <p:nvSpPr>
          <p:cNvPr id="27" name="Text 25"/>
          <p:cNvSpPr txBox="1"/>
          <p:nvPr/>
        </p:nvSpPr>
        <p:spPr>
          <a:xfrm>
            <a:off x="548640" y="6437376"/>
            <a:ext cx="9144000" cy="182880"/>
          </a:xfrm>
          <a:prstGeom prst="rect">
            <a:avLst/>
          </a:prstGeom>
          <a:noFill/>
          <a:ln/>
        </p:spPr>
        <p:txBody>
          <a:bodyPr wrap="square" lIns="0" tIns="0" rIns="0" bIns="0" rtlCol="0" anchor="t"/>
          <a:lstStyle/>
          <a:p>
            <a:pPr algn="l" indent="0" marL="0">
              <a:lnSpc>
                <a:spcPts val="1130"/>
              </a:lnSpc>
              <a:buNone/>
            </a:pPr>
            <a:r>
              <a:rPr lang="en-US" sz="900" dirty="0">
                <a:solidFill>
                  <a:srgbClr val="5B6B70"/>
                </a:solidFill>
                <a:latin typeface="Arial" pitchFamily="34" charset="0"/>
                <a:ea typeface="Arial" pitchFamily="34" charset="-122"/>
                <a:cs typeface="Arial" pitchFamily="34" charset="-120"/>
              </a:rPr>
              <a:t>Patientcurve  ·  Proposal for Sample Smile Dental Studio (fictional)  ·  Ref SAMPLE-001</a:t>
            </a:r>
            <a:endParaRPr lang="en-US" sz="900" dirty="0"/>
          </a:p>
        </p:txBody>
      </p:sp>
      <p:sp>
        <p:nvSpPr>
          <p:cNvPr id="28" name="Text 26"/>
          <p:cNvSpPr txBox="1"/>
          <p:nvPr/>
        </p:nvSpPr>
        <p:spPr>
          <a:xfrm>
            <a:off x="10271455" y="6437376"/>
            <a:ext cx="1371600" cy="182880"/>
          </a:xfrm>
          <a:prstGeom prst="rect">
            <a:avLst/>
          </a:prstGeom>
          <a:noFill/>
          <a:ln/>
        </p:spPr>
        <p:txBody>
          <a:bodyPr wrap="square" lIns="0" tIns="0" rIns="0" bIns="0" rtlCol="0" anchor="t"/>
          <a:lstStyle/>
          <a:p>
            <a:pPr algn="r" indent="0" marL="0">
              <a:lnSpc>
                <a:spcPts val="1130"/>
              </a:lnSpc>
              <a:buNone/>
            </a:pPr>
            <a:r>
              <a:rPr lang="en-US" sz="900" dirty="0">
                <a:solidFill>
                  <a:srgbClr val="5B6B70"/>
                </a:solidFill>
                <a:latin typeface="Arial" pitchFamily="34" charset="0"/>
                <a:ea typeface="Arial" pitchFamily="34" charset="-122"/>
                <a:cs typeface="Arial" pitchFamily="34" charset="-120"/>
              </a:rPr>
              <a:t>4 / 10</a:t>
            </a:r>
            <a:endParaRPr lang="en-US" sz="900" dirty="0"/>
          </a:p>
        </p:txBody>
      </p:sp>
      <p:sp>
        <p:nvSpPr>
          <p:cNvPr id="29" name="Shape 27"/>
          <p:cNvSpPr/>
          <p:nvPr/>
        </p:nvSpPr>
        <p:spPr>
          <a:xfrm>
            <a:off x="0" y="0"/>
            <a:ext cx="12191695" cy="237744"/>
          </a:xfrm>
          <a:prstGeom prst="rect">
            <a:avLst/>
          </a:prstGeom>
          <a:solidFill>
            <a:srgbClr val="8F5A0E"/>
          </a:solidFill>
          <a:ln/>
        </p:spPr>
      </p:sp>
      <p:sp>
        <p:nvSpPr>
          <p:cNvPr id="30" name="Text 28"/>
          <p:cNvSpPr txBox="1"/>
          <p:nvPr/>
        </p:nvSpPr>
        <p:spPr>
          <a:xfrm>
            <a:off x="0" y="50292"/>
            <a:ext cx="12191695" cy="146304"/>
          </a:xfrm>
          <a:prstGeom prst="rect">
            <a:avLst/>
          </a:prstGeom>
          <a:noFill/>
          <a:ln/>
        </p:spPr>
        <p:txBody>
          <a:bodyPr wrap="square" lIns="0" tIns="0" rIns="0" bIns="0" rtlCol="0" anchor="t"/>
          <a:lstStyle/>
          <a:p>
            <a:pPr algn="ctr" indent="0" marL="0">
              <a:lnSpc>
                <a:spcPts val="1060"/>
              </a:lnSpc>
              <a:buNone/>
            </a:pPr>
            <a:r>
              <a:rPr lang="en-US" sz="850" b="1" spc="100" kern="0" dirty="0">
                <a:solidFill>
                  <a:srgbClr val="FFFFFF"/>
                </a:solidFill>
                <a:latin typeface="Arial" pitchFamily="34" charset="0"/>
                <a:ea typeface="Arial" pitchFamily="34" charset="-122"/>
                <a:cs typeface="Arial" pitchFamily="34" charset="-120"/>
              </a:rPr>
              <a:t>SAMPLE PROPOSAL  ·  FICTIONAL CLINIC DATA  ·  DO NOT SEND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175260"/>
          </a:xfrm>
          <a:prstGeom prst="rect">
            <a:avLst/>
          </a:prstGeom>
          <a:noFill/>
          <a:ln/>
        </p:spPr>
        <p:txBody>
          <a:bodyPr wrap="square" lIns="0" tIns="0" rIns="0" bIns="0" rtlCol="0" anchor="t"/>
          <a:lstStyle/>
          <a:p>
            <a:pPr algn="l" indent="0" marL="0">
              <a:lnSpc>
                <a:spcPts val="1380"/>
              </a:lnSpc>
              <a:buNone/>
            </a:pPr>
            <a:r>
              <a:rPr lang="en-US" sz="1100" b="1" dirty="0">
                <a:solidFill>
                  <a:srgbClr val="0E7C6B"/>
                </a:solidFill>
                <a:latin typeface="Arial" pitchFamily="34" charset="0"/>
                <a:ea typeface="Arial" pitchFamily="34" charset="-122"/>
                <a:cs typeface="Arial" pitchFamily="34" charset="-120"/>
              </a:rPr>
              <a:t>Scope and deliverables</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t"/>
          <a:lstStyle/>
          <a:p>
            <a:pPr algn="l" indent="0" marL="0">
              <a:lnSpc>
                <a:spcPts val="3500"/>
              </a:lnSpc>
              <a:buNone/>
            </a:pPr>
            <a:r>
              <a:rPr lang="en-US" sz="2800" b="1" dirty="0">
                <a:solidFill>
                  <a:srgbClr val="14232B"/>
                </a:solidFill>
                <a:latin typeface="Arial" pitchFamily="34" charset="0"/>
                <a:ea typeface="Arial" pitchFamily="34" charset="-122"/>
                <a:cs typeface="Arial" pitchFamily="34" charset="-120"/>
              </a:rPr>
              <a:t>Automation workflows</a:t>
            </a:r>
            <a:endParaRPr lang="en-US" sz="2800" dirty="0"/>
          </a:p>
        </p:txBody>
      </p:sp>
      <p:sp>
        <p:nvSpPr>
          <p:cNvPr id="4" name="Text 2"/>
          <p:cNvSpPr txBox="1"/>
          <p:nvPr/>
        </p:nvSpPr>
        <p:spPr>
          <a:xfrm>
            <a:off x="548640" y="1463040"/>
            <a:ext cx="3429000" cy="158750"/>
          </a:xfrm>
          <a:prstGeom prst="rect">
            <a:avLst/>
          </a:prstGeom>
          <a:noFill/>
          <a:ln/>
        </p:spPr>
        <p:txBody>
          <a:bodyPr wrap="square" lIns="0" tIns="0" rIns="0" bIns="0" rtlCol="0" anchor="t"/>
          <a:lstStyle/>
          <a:p>
            <a:pPr algn="l" indent="0" marL="0">
              <a:lnSpc>
                <a:spcPts val="1250"/>
              </a:lnSpc>
              <a:buNone/>
            </a:pPr>
            <a:r>
              <a:rPr lang="en-US" sz="1000" b="1" dirty="0">
                <a:solidFill>
                  <a:srgbClr val="5B6B70"/>
                </a:solidFill>
                <a:latin typeface="Arial" pitchFamily="34" charset="0"/>
                <a:ea typeface="Arial" pitchFamily="34" charset="-122"/>
                <a:cs typeface="Arial" pitchFamily="34" charset="-120"/>
              </a:rPr>
              <a:t>Workflow and what it does</a:t>
            </a:r>
            <a:endParaRPr lang="en-US" sz="1000" dirty="0"/>
          </a:p>
        </p:txBody>
      </p:sp>
      <p:sp>
        <p:nvSpPr>
          <p:cNvPr id="5" name="Text 3"/>
          <p:cNvSpPr txBox="1"/>
          <p:nvPr/>
        </p:nvSpPr>
        <p:spPr>
          <a:xfrm>
            <a:off x="4206240" y="1463040"/>
            <a:ext cx="2423160" cy="158750"/>
          </a:xfrm>
          <a:prstGeom prst="rect">
            <a:avLst/>
          </a:prstGeom>
          <a:noFill/>
          <a:ln/>
        </p:spPr>
        <p:txBody>
          <a:bodyPr wrap="square" lIns="0" tIns="0" rIns="0" bIns="0" rtlCol="0" anchor="t"/>
          <a:lstStyle/>
          <a:p>
            <a:pPr algn="l" indent="0" marL="0">
              <a:lnSpc>
                <a:spcPts val="1250"/>
              </a:lnSpc>
              <a:buNone/>
            </a:pPr>
            <a:r>
              <a:rPr lang="en-US" sz="1000" b="1" dirty="0">
                <a:solidFill>
                  <a:srgbClr val="5B6B70"/>
                </a:solidFill>
                <a:latin typeface="Arial" pitchFamily="34" charset="0"/>
                <a:ea typeface="Arial" pitchFamily="34" charset="-122"/>
                <a:cs typeface="Arial" pitchFamily="34" charset="-120"/>
              </a:rPr>
              <a:t>Triggered when</a:t>
            </a:r>
            <a:endParaRPr lang="en-US" sz="1000" dirty="0"/>
          </a:p>
        </p:txBody>
      </p:sp>
      <p:sp>
        <p:nvSpPr>
          <p:cNvPr id="6" name="Text 4"/>
          <p:cNvSpPr txBox="1"/>
          <p:nvPr/>
        </p:nvSpPr>
        <p:spPr>
          <a:xfrm>
            <a:off x="6858000" y="1463040"/>
            <a:ext cx="2423160" cy="158750"/>
          </a:xfrm>
          <a:prstGeom prst="rect">
            <a:avLst/>
          </a:prstGeom>
          <a:noFill/>
          <a:ln/>
        </p:spPr>
        <p:txBody>
          <a:bodyPr wrap="square" lIns="0" tIns="0" rIns="0" bIns="0" rtlCol="0" anchor="t"/>
          <a:lstStyle/>
          <a:p>
            <a:pPr algn="l" indent="0" marL="0">
              <a:lnSpc>
                <a:spcPts val="1250"/>
              </a:lnSpc>
              <a:buNone/>
            </a:pPr>
            <a:r>
              <a:rPr lang="en-US" sz="1000" b="1" dirty="0">
                <a:solidFill>
                  <a:srgbClr val="5B6B70"/>
                </a:solidFill>
                <a:latin typeface="Arial" pitchFamily="34" charset="0"/>
                <a:ea typeface="Arial" pitchFamily="34" charset="-122"/>
                <a:cs typeface="Arial" pitchFamily="34" charset="-120"/>
              </a:rPr>
              <a:t>Expected action</a:t>
            </a:r>
            <a:endParaRPr lang="en-US" sz="1000" dirty="0"/>
          </a:p>
        </p:txBody>
      </p:sp>
      <p:sp>
        <p:nvSpPr>
          <p:cNvPr id="7" name="Text 5"/>
          <p:cNvSpPr txBox="1"/>
          <p:nvPr/>
        </p:nvSpPr>
        <p:spPr>
          <a:xfrm>
            <a:off x="9509760" y="1463040"/>
            <a:ext cx="2133295" cy="158750"/>
          </a:xfrm>
          <a:prstGeom prst="rect">
            <a:avLst/>
          </a:prstGeom>
          <a:noFill/>
          <a:ln/>
        </p:spPr>
        <p:txBody>
          <a:bodyPr wrap="square" lIns="0" tIns="0" rIns="0" bIns="0" rtlCol="0" anchor="t"/>
          <a:lstStyle/>
          <a:p>
            <a:pPr algn="l" indent="0" marL="0">
              <a:lnSpc>
                <a:spcPts val="1250"/>
              </a:lnSpc>
              <a:buNone/>
            </a:pPr>
            <a:r>
              <a:rPr lang="en-US" sz="1000" b="1" dirty="0">
                <a:solidFill>
                  <a:srgbClr val="5B6B70"/>
                </a:solidFill>
                <a:latin typeface="Arial" pitchFamily="34" charset="0"/>
                <a:ea typeface="Arial" pitchFamily="34" charset="-122"/>
                <a:cs typeface="Arial" pitchFamily="34" charset="-120"/>
              </a:rPr>
              <a:t>Depends on</a:t>
            </a:r>
            <a:endParaRPr lang="en-US" sz="1000" dirty="0"/>
          </a:p>
        </p:txBody>
      </p:sp>
      <p:sp>
        <p:nvSpPr>
          <p:cNvPr id="8" name="Shape 6"/>
          <p:cNvSpPr/>
          <p:nvPr/>
        </p:nvSpPr>
        <p:spPr>
          <a:xfrm>
            <a:off x="548640" y="1737360"/>
            <a:ext cx="11094415" cy="0"/>
          </a:xfrm>
          <a:prstGeom prst="line">
            <a:avLst/>
          </a:prstGeom>
          <a:noFill/>
          <a:ln w="12700">
            <a:solidFill>
              <a:srgbClr val="14232B"/>
            </a:solidFill>
            <a:prstDash val="solid"/>
          </a:ln>
        </p:spPr>
      </p:sp>
      <p:sp>
        <p:nvSpPr>
          <p:cNvPr id="9" name="Text 7"/>
          <p:cNvSpPr txBox="1"/>
          <p:nvPr/>
        </p:nvSpPr>
        <p:spPr>
          <a:xfrm>
            <a:off x="548640" y="1892808"/>
            <a:ext cx="3429000" cy="896112"/>
          </a:xfrm>
          <a:prstGeom prst="rect">
            <a:avLst/>
          </a:prstGeom>
          <a:noFill/>
          <a:ln/>
        </p:spPr>
        <p:txBody>
          <a:bodyPr wrap="square" lIns="0" tIns="0" rIns="0" bIns="0" rtlCol="0" anchor="t"/>
          <a:lstStyle/>
          <a:p>
            <a:pPr algn="l" indent="0" marL="0">
              <a:lnSpc>
                <a:spcPts val="1380"/>
              </a:lnSpc>
              <a:spcAft>
                <a:spcPts val="400"/>
              </a:spcAft>
              <a:buNone/>
            </a:pPr>
            <a:r>
              <a:rPr lang="en-US" sz="1100" b="1" dirty="0">
                <a:solidFill>
                  <a:srgbClr val="14232B"/>
                </a:solidFill>
                <a:latin typeface="Arial" pitchFamily="34" charset="0"/>
                <a:ea typeface="Arial" pitchFamily="34" charset="-122"/>
                <a:cs typeface="Arial" pitchFamily="34" charset="-120"/>
              </a:rPr>
              <a:t>New enquiry capture</a:t>
            </a:r>
            <a:endParaRPr lang="en-US" sz="1100" dirty="0"/>
          </a:p>
          <a:p>
            <a:pPr algn="l" indent="0" marL="0">
              <a:lnSpc>
                <a:spcPts val="1380"/>
              </a:lnSpc>
              <a:buNone/>
            </a:pPr>
            <a:r>
              <a:rPr lang="en-US" sz="1100" dirty="0">
                <a:solidFill>
                  <a:srgbClr val="5B6B70"/>
                </a:solidFill>
                <a:latin typeface="Arial" pitchFamily="34" charset="0"/>
                <a:ea typeface="Arial" pitchFamily="34" charset="-122"/>
                <a:cs typeface="Arial" pitchFamily="34" charset="-120"/>
              </a:rPr>
              <a:t>Records each new WhatsApp enquiry with the patient's name, number and stated need.</a:t>
            </a:r>
            <a:endParaRPr lang="en-US" sz="1100" dirty="0"/>
          </a:p>
        </p:txBody>
      </p:sp>
      <p:sp>
        <p:nvSpPr>
          <p:cNvPr id="10" name="Text 8"/>
          <p:cNvSpPr txBox="1"/>
          <p:nvPr/>
        </p:nvSpPr>
        <p:spPr>
          <a:xfrm>
            <a:off x="4206240" y="1892808"/>
            <a:ext cx="2423160"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A new patient messages the clinic's WhatsApp number.</a:t>
            </a:r>
            <a:endParaRPr lang="en-US" sz="1100" dirty="0"/>
          </a:p>
        </p:txBody>
      </p:sp>
      <p:sp>
        <p:nvSpPr>
          <p:cNvPr id="11" name="Text 9"/>
          <p:cNvSpPr txBox="1"/>
          <p:nvPr/>
        </p:nvSpPr>
        <p:spPr>
          <a:xfrm>
            <a:off x="6858000" y="1892808"/>
            <a:ext cx="2423160"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The enquiry is logged and moved to the next configured step.</a:t>
            </a:r>
            <a:endParaRPr lang="en-US" sz="1100" dirty="0"/>
          </a:p>
        </p:txBody>
      </p:sp>
      <p:sp>
        <p:nvSpPr>
          <p:cNvPr id="12" name="Text 10"/>
          <p:cNvSpPr txBox="1"/>
          <p:nvPr/>
        </p:nvSpPr>
        <p:spPr>
          <a:xfrm>
            <a:off x="9509760" y="1892808"/>
            <a:ext cx="2133295"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Clinic's WhatsApp Business number connected to the platform.</a:t>
            </a:r>
            <a:endParaRPr lang="en-US" sz="1100" dirty="0"/>
          </a:p>
        </p:txBody>
      </p:sp>
      <p:sp>
        <p:nvSpPr>
          <p:cNvPr id="13" name="Shape 11"/>
          <p:cNvSpPr/>
          <p:nvPr/>
        </p:nvSpPr>
        <p:spPr>
          <a:xfrm>
            <a:off x="548640" y="2880360"/>
            <a:ext cx="11094415" cy="0"/>
          </a:xfrm>
          <a:prstGeom prst="line">
            <a:avLst/>
          </a:prstGeom>
          <a:noFill/>
          <a:ln w="9525">
            <a:solidFill>
              <a:srgbClr val="D5DEDB"/>
            </a:solidFill>
            <a:prstDash val="solid"/>
          </a:ln>
        </p:spPr>
      </p:sp>
      <p:sp>
        <p:nvSpPr>
          <p:cNvPr id="14" name="Text 12"/>
          <p:cNvSpPr txBox="1"/>
          <p:nvPr/>
        </p:nvSpPr>
        <p:spPr>
          <a:xfrm>
            <a:off x="548640" y="2990088"/>
            <a:ext cx="3429000" cy="896112"/>
          </a:xfrm>
          <a:prstGeom prst="rect">
            <a:avLst/>
          </a:prstGeom>
          <a:noFill/>
          <a:ln/>
        </p:spPr>
        <p:txBody>
          <a:bodyPr wrap="square" lIns="0" tIns="0" rIns="0" bIns="0" rtlCol="0" anchor="t"/>
          <a:lstStyle/>
          <a:p>
            <a:pPr algn="l" indent="0" marL="0">
              <a:lnSpc>
                <a:spcPts val="1380"/>
              </a:lnSpc>
              <a:spcAft>
                <a:spcPts val="400"/>
              </a:spcAft>
              <a:buNone/>
            </a:pPr>
            <a:r>
              <a:rPr lang="en-US" sz="1100" b="1" dirty="0">
                <a:solidFill>
                  <a:srgbClr val="14232B"/>
                </a:solidFill>
                <a:latin typeface="Arial" pitchFamily="34" charset="0"/>
                <a:ea typeface="Arial" pitchFamily="34" charset="-122"/>
                <a:cs typeface="Arial" pitchFamily="34" charset="-120"/>
              </a:rPr>
              <a:t>Automated FAQ responses</a:t>
            </a:r>
            <a:endParaRPr lang="en-US" sz="1100" dirty="0"/>
          </a:p>
          <a:p>
            <a:pPr algn="l" indent="0" marL="0">
              <a:lnSpc>
                <a:spcPts val="1380"/>
              </a:lnSpc>
              <a:buNone/>
            </a:pPr>
            <a:r>
              <a:rPr lang="en-US" sz="1100" dirty="0">
                <a:solidFill>
                  <a:srgbClr val="5B6B70"/>
                </a:solidFill>
                <a:latin typeface="Arial" pitchFamily="34" charset="0"/>
                <a:ea typeface="Arial" pitchFamily="34" charset="-122"/>
                <a:cs typeface="Arial" pitchFamily="34" charset="-120"/>
              </a:rPr>
              <a:t>Answers common questions, such as timings, location and the consultation process, using clinic-approved content.</a:t>
            </a:r>
            <a:endParaRPr lang="en-US" sz="1100" dirty="0"/>
          </a:p>
        </p:txBody>
      </p:sp>
      <p:sp>
        <p:nvSpPr>
          <p:cNvPr id="15" name="Text 13"/>
          <p:cNvSpPr txBox="1"/>
          <p:nvPr/>
        </p:nvSpPr>
        <p:spPr>
          <a:xfrm>
            <a:off x="4206240" y="2990088"/>
            <a:ext cx="2423160"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A patient asks a question covered by the approved answers.</a:t>
            </a:r>
            <a:endParaRPr lang="en-US" sz="1100" dirty="0"/>
          </a:p>
        </p:txBody>
      </p:sp>
      <p:sp>
        <p:nvSpPr>
          <p:cNvPr id="16" name="Text 14"/>
          <p:cNvSpPr txBox="1"/>
          <p:nvPr/>
        </p:nvSpPr>
        <p:spPr>
          <a:xfrm>
            <a:off x="6858000" y="2990088"/>
            <a:ext cx="2423160"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The patient receives an approved answer; other questions are passed to staff.</a:t>
            </a:r>
            <a:endParaRPr lang="en-US" sz="1100" dirty="0"/>
          </a:p>
        </p:txBody>
      </p:sp>
      <p:sp>
        <p:nvSpPr>
          <p:cNvPr id="17" name="Text 15"/>
          <p:cNvSpPr txBox="1"/>
          <p:nvPr/>
        </p:nvSpPr>
        <p:spPr>
          <a:xfrm>
            <a:off x="9509760" y="2990088"/>
            <a:ext cx="2133295"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Clinic approves the answer content before go-live.</a:t>
            </a:r>
            <a:endParaRPr lang="en-US" sz="1100" dirty="0"/>
          </a:p>
        </p:txBody>
      </p:sp>
      <p:sp>
        <p:nvSpPr>
          <p:cNvPr id="18" name="Shape 16"/>
          <p:cNvSpPr/>
          <p:nvPr/>
        </p:nvSpPr>
        <p:spPr>
          <a:xfrm>
            <a:off x="548640" y="3977640"/>
            <a:ext cx="11094415" cy="0"/>
          </a:xfrm>
          <a:prstGeom prst="line">
            <a:avLst/>
          </a:prstGeom>
          <a:noFill/>
          <a:ln w="9525">
            <a:solidFill>
              <a:srgbClr val="D5DEDB"/>
            </a:solidFill>
            <a:prstDash val="solid"/>
          </a:ln>
        </p:spPr>
      </p:sp>
      <p:sp>
        <p:nvSpPr>
          <p:cNvPr id="19" name="Text 17"/>
          <p:cNvSpPr txBox="1"/>
          <p:nvPr/>
        </p:nvSpPr>
        <p:spPr>
          <a:xfrm>
            <a:off x="548640" y="4087368"/>
            <a:ext cx="3429000" cy="896112"/>
          </a:xfrm>
          <a:prstGeom prst="rect">
            <a:avLst/>
          </a:prstGeom>
          <a:noFill/>
          <a:ln/>
        </p:spPr>
        <p:txBody>
          <a:bodyPr wrap="square" lIns="0" tIns="0" rIns="0" bIns="0" rtlCol="0" anchor="t"/>
          <a:lstStyle/>
          <a:p>
            <a:pPr algn="l" indent="0" marL="0">
              <a:lnSpc>
                <a:spcPts val="1380"/>
              </a:lnSpc>
              <a:spcAft>
                <a:spcPts val="400"/>
              </a:spcAft>
              <a:buNone/>
            </a:pPr>
            <a:r>
              <a:rPr lang="en-US" sz="1100" b="1" dirty="0">
                <a:solidFill>
                  <a:srgbClr val="14232B"/>
                </a:solidFill>
                <a:latin typeface="Arial" pitchFamily="34" charset="0"/>
                <a:ea typeface="Arial" pitchFamily="34" charset="-122"/>
                <a:cs typeface="Arial" pitchFamily="34" charset="-120"/>
              </a:rPr>
              <a:t>Follow-up for enquiries that haven't booked</a:t>
            </a:r>
            <a:endParaRPr lang="en-US" sz="1100" dirty="0"/>
          </a:p>
          <a:p>
            <a:pPr algn="l" indent="0" marL="0">
              <a:lnSpc>
                <a:spcPts val="1380"/>
              </a:lnSpc>
              <a:buNone/>
            </a:pPr>
            <a:r>
              <a:rPr lang="en-US" sz="1100" dirty="0">
                <a:solidFill>
                  <a:srgbClr val="5B6B70"/>
                </a:solidFill>
                <a:latin typeface="Arial" pitchFamily="34" charset="0"/>
                <a:ea typeface="Arial" pitchFamily="34" charset="-122"/>
                <a:cs typeface="Arial" pitchFamily="34" charset="-120"/>
              </a:rPr>
              <a:t>Sends scheduled WhatsApp follow-ups to enquiries that have not booked.</a:t>
            </a:r>
            <a:endParaRPr lang="en-US" sz="1100" dirty="0"/>
          </a:p>
        </p:txBody>
      </p:sp>
      <p:sp>
        <p:nvSpPr>
          <p:cNvPr id="20" name="Text 18"/>
          <p:cNvSpPr txBox="1"/>
          <p:nvPr/>
        </p:nvSpPr>
        <p:spPr>
          <a:xfrm>
            <a:off x="4206240" y="4087368"/>
            <a:ext cx="2423160"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No booking within the agreed time after an enquiry.</a:t>
            </a:r>
            <a:endParaRPr lang="en-US" sz="1100" dirty="0"/>
          </a:p>
        </p:txBody>
      </p:sp>
      <p:sp>
        <p:nvSpPr>
          <p:cNvPr id="21" name="Text 19"/>
          <p:cNvSpPr txBox="1"/>
          <p:nvPr/>
        </p:nvSpPr>
        <p:spPr>
          <a:xfrm>
            <a:off x="6858000" y="4087368"/>
            <a:ext cx="2423160"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The patient is invited to book, or flagged to staff for a call.</a:t>
            </a:r>
            <a:endParaRPr lang="en-US" sz="1100" dirty="0"/>
          </a:p>
        </p:txBody>
      </p:sp>
      <p:sp>
        <p:nvSpPr>
          <p:cNvPr id="22" name="Text 20"/>
          <p:cNvSpPr txBox="1"/>
          <p:nvPr/>
        </p:nvSpPr>
        <p:spPr>
          <a:xfrm>
            <a:off x="9509760" y="4087368"/>
            <a:ext cx="2133295"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Approved WhatsApp message templates.</a:t>
            </a:r>
            <a:endParaRPr lang="en-US" sz="1100" dirty="0"/>
          </a:p>
        </p:txBody>
      </p:sp>
      <p:sp>
        <p:nvSpPr>
          <p:cNvPr id="23" name="Shape 21"/>
          <p:cNvSpPr/>
          <p:nvPr/>
        </p:nvSpPr>
        <p:spPr>
          <a:xfrm>
            <a:off x="548640" y="5074920"/>
            <a:ext cx="11094415" cy="0"/>
          </a:xfrm>
          <a:prstGeom prst="line">
            <a:avLst/>
          </a:prstGeom>
          <a:noFill/>
          <a:ln w="9525">
            <a:solidFill>
              <a:srgbClr val="D5DEDB"/>
            </a:solidFill>
            <a:prstDash val="solid"/>
          </a:ln>
        </p:spPr>
      </p:sp>
      <p:sp>
        <p:nvSpPr>
          <p:cNvPr id="24" name="Text 22"/>
          <p:cNvSpPr txBox="1"/>
          <p:nvPr/>
        </p:nvSpPr>
        <p:spPr>
          <a:xfrm>
            <a:off x="548640" y="5184648"/>
            <a:ext cx="3429000" cy="896112"/>
          </a:xfrm>
          <a:prstGeom prst="rect">
            <a:avLst/>
          </a:prstGeom>
          <a:noFill/>
          <a:ln/>
        </p:spPr>
        <p:txBody>
          <a:bodyPr wrap="square" lIns="0" tIns="0" rIns="0" bIns="0" rtlCol="0" anchor="t"/>
          <a:lstStyle/>
          <a:p>
            <a:pPr algn="l" indent="0" marL="0">
              <a:lnSpc>
                <a:spcPts val="1380"/>
              </a:lnSpc>
              <a:spcAft>
                <a:spcPts val="400"/>
              </a:spcAft>
              <a:buNone/>
            </a:pPr>
            <a:r>
              <a:rPr lang="en-US" sz="1100" b="1" dirty="0">
                <a:solidFill>
                  <a:srgbClr val="14232B"/>
                </a:solidFill>
                <a:latin typeface="Arial" pitchFamily="34" charset="0"/>
                <a:ea typeface="Arial" pitchFamily="34" charset="-122"/>
                <a:cs typeface="Arial" pitchFamily="34" charset="-120"/>
              </a:rPr>
              <a:t>Appointment reminders</a:t>
            </a:r>
            <a:endParaRPr lang="en-US" sz="1100" dirty="0"/>
          </a:p>
          <a:p>
            <a:pPr algn="l" indent="0" marL="0">
              <a:lnSpc>
                <a:spcPts val="1380"/>
              </a:lnSpc>
              <a:buNone/>
            </a:pPr>
            <a:r>
              <a:rPr lang="en-US" sz="1100" dirty="0">
                <a:solidFill>
                  <a:srgbClr val="5B6B70"/>
                </a:solidFill>
                <a:latin typeface="Arial" pitchFamily="34" charset="0"/>
                <a:ea typeface="Arial" pitchFamily="34" charset="-122"/>
                <a:cs typeface="Arial" pitchFamily="34" charset="-120"/>
              </a:rPr>
              <a:t>Reminds patients before their appointment and lets them confirm or ask to reschedule.</a:t>
            </a:r>
            <a:endParaRPr lang="en-US" sz="1100" dirty="0"/>
          </a:p>
        </p:txBody>
      </p:sp>
      <p:sp>
        <p:nvSpPr>
          <p:cNvPr id="25" name="Text 23"/>
          <p:cNvSpPr txBox="1"/>
          <p:nvPr/>
        </p:nvSpPr>
        <p:spPr>
          <a:xfrm>
            <a:off x="4206240" y="5184648"/>
            <a:ext cx="2423160"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An appointment is booked.</a:t>
            </a:r>
            <a:endParaRPr lang="en-US" sz="1100" dirty="0"/>
          </a:p>
        </p:txBody>
      </p:sp>
      <p:sp>
        <p:nvSpPr>
          <p:cNvPr id="26" name="Text 24"/>
          <p:cNvSpPr txBox="1"/>
          <p:nvPr/>
        </p:nvSpPr>
        <p:spPr>
          <a:xfrm>
            <a:off x="6858000" y="5184648"/>
            <a:ext cx="2423160"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The patient confirms, or asks to reschedule and staff are informed.</a:t>
            </a:r>
            <a:endParaRPr lang="en-US" sz="1100" dirty="0"/>
          </a:p>
        </p:txBody>
      </p:sp>
      <p:sp>
        <p:nvSpPr>
          <p:cNvPr id="27" name="Text 25"/>
          <p:cNvSpPr txBox="1"/>
          <p:nvPr/>
        </p:nvSpPr>
        <p:spPr>
          <a:xfrm>
            <a:off x="9509760" y="5184648"/>
            <a:ext cx="2133295"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Appointment details from the booking calendar or clinic software.</a:t>
            </a:r>
            <a:endParaRPr lang="en-US" sz="1100" dirty="0"/>
          </a:p>
        </p:txBody>
      </p:sp>
      <p:sp>
        <p:nvSpPr>
          <p:cNvPr id="28" name="Shape 26"/>
          <p:cNvSpPr/>
          <p:nvPr/>
        </p:nvSpPr>
        <p:spPr>
          <a:xfrm>
            <a:off x="548640" y="6172200"/>
            <a:ext cx="11094415" cy="0"/>
          </a:xfrm>
          <a:prstGeom prst="line">
            <a:avLst/>
          </a:prstGeom>
          <a:noFill/>
          <a:ln w="9525">
            <a:solidFill>
              <a:srgbClr val="D5DEDB"/>
            </a:solidFill>
            <a:prstDash val="solid"/>
          </a:ln>
        </p:spPr>
      </p:sp>
      <p:sp>
        <p:nvSpPr>
          <p:cNvPr id="29" name="Shape 27"/>
          <p:cNvSpPr/>
          <p:nvPr/>
        </p:nvSpPr>
        <p:spPr>
          <a:xfrm>
            <a:off x="548640" y="6355080"/>
            <a:ext cx="11094415" cy="0"/>
          </a:xfrm>
          <a:prstGeom prst="line">
            <a:avLst/>
          </a:prstGeom>
          <a:noFill/>
          <a:ln w="9525">
            <a:solidFill>
              <a:srgbClr val="D5DEDB"/>
            </a:solidFill>
            <a:prstDash val="solid"/>
          </a:ln>
        </p:spPr>
      </p:sp>
      <p:sp>
        <p:nvSpPr>
          <p:cNvPr id="30" name="Text 28"/>
          <p:cNvSpPr txBox="1"/>
          <p:nvPr/>
        </p:nvSpPr>
        <p:spPr>
          <a:xfrm>
            <a:off x="548640" y="6437376"/>
            <a:ext cx="9144000" cy="182880"/>
          </a:xfrm>
          <a:prstGeom prst="rect">
            <a:avLst/>
          </a:prstGeom>
          <a:noFill/>
          <a:ln/>
        </p:spPr>
        <p:txBody>
          <a:bodyPr wrap="square" lIns="0" tIns="0" rIns="0" bIns="0" rtlCol="0" anchor="t"/>
          <a:lstStyle/>
          <a:p>
            <a:pPr algn="l" indent="0" marL="0">
              <a:lnSpc>
                <a:spcPts val="1130"/>
              </a:lnSpc>
              <a:buNone/>
            </a:pPr>
            <a:r>
              <a:rPr lang="en-US" sz="900" dirty="0">
                <a:solidFill>
                  <a:srgbClr val="5B6B70"/>
                </a:solidFill>
                <a:latin typeface="Arial" pitchFamily="34" charset="0"/>
                <a:ea typeface="Arial" pitchFamily="34" charset="-122"/>
                <a:cs typeface="Arial" pitchFamily="34" charset="-120"/>
              </a:rPr>
              <a:t>Patientcurve  ·  Proposal for Sample Smile Dental Studio (fictional)  ·  Ref SAMPLE-001</a:t>
            </a:r>
            <a:endParaRPr lang="en-US" sz="900" dirty="0"/>
          </a:p>
        </p:txBody>
      </p:sp>
      <p:sp>
        <p:nvSpPr>
          <p:cNvPr id="31" name="Text 29"/>
          <p:cNvSpPr txBox="1"/>
          <p:nvPr/>
        </p:nvSpPr>
        <p:spPr>
          <a:xfrm>
            <a:off x="10271455" y="6437376"/>
            <a:ext cx="1371600" cy="182880"/>
          </a:xfrm>
          <a:prstGeom prst="rect">
            <a:avLst/>
          </a:prstGeom>
          <a:noFill/>
          <a:ln/>
        </p:spPr>
        <p:txBody>
          <a:bodyPr wrap="square" lIns="0" tIns="0" rIns="0" bIns="0" rtlCol="0" anchor="t"/>
          <a:lstStyle/>
          <a:p>
            <a:pPr algn="r" indent="0" marL="0">
              <a:lnSpc>
                <a:spcPts val="1130"/>
              </a:lnSpc>
              <a:buNone/>
            </a:pPr>
            <a:r>
              <a:rPr lang="en-US" sz="900" dirty="0">
                <a:solidFill>
                  <a:srgbClr val="5B6B70"/>
                </a:solidFill>
                <a:latin typeface="Arial" pitchFamily="34" charset="0"/>
                <a:ea typeface="Arial" pitchFamily="34" charset="-122"/>
                <a:cs typeface="Arial" pitchFamily="34" charset="-120"/>
              </a:rPr>
              <a:t>5 / 10</a:t>
            </a:r>
            <a:endParaRPr lang="en-US" sz="900" dirty="0"/>
          </a:p>
        </p:txBody>
      </p:sp>
      <p:sp>
        <p:nvSpPr>
          <p:cNvPr id="32" name="Shape 30"/>
          <p:cNvSpPr/>
          <p:nvPr/>
        </p:nvSpPr>
        <p:spPr>
          <a:xfrm>
            <a:off x="0" y="0"/>
            <a:ext cx="12191695" cy="237744"/>
          </a:xfrm>
          <a:prstGeom prst="rect">
            <a:avLst/>
          </a:prstGeom>
          <a:solidFill>
            <a:srgbClr val="8F5A0E"/>
          </a:solidFill>
          <a:ln/>
        </p:spPr>
      </p:sp>
      <p:sp>
        <p:nvSpPr>
          <p:cNvPr id="33" name="Text 31"/>
          <p:cNvSpPr txBox="1"/>
          <p:nvPr/>
        </p:nvSpPr>
        <p:spPr>
          <a:xfrm>
            <a:off x="0" y="50292"/>
            <a:ext cx="12191695" cy="146304"/>
          </a:xfrm>
          <a:prstGeom prst="rect">
            <a:avLst/>
          </a:prstGeom>
          <a:noFill/>
          <a:ln/>
        </p:spPr>
        <p:txBody>
          <a:bodyPr wrap="square" lIns="0" tIns="0" rIns="0" bIns="0" rtlCol="0" anchor="t"/>
          <a:lstStyle/>
          <a:p>
            <a:pPr algn="ctr" indent="0" marL="0">
              <a:lnSpc>
                <a:spcPts val="1060"/>
              </a:lnSpc>
              <a:buNone/>
            </a:pPr>
            <a:r>
              <a:rPr lang="en-US" sz="850" b="1" spc="100" kern="0" dirty="0">
                <a:solidFill>
                  <a:srgbClr val="FFFFFF"/>
                </a:solidFill>
                <a:latin typeface="Arial" pitchFamily="34" charset="0"/>
                <a:ea typeface="Arial" pitchFamily="34" charset="-122"/>
                <a:cs typeface="Arial" pitchFamily="34" charset="-120"/>
              </a:rPr>
              <a:t>SAMPLE PROPOSAL  ·  FICTIONAL CLINIC DATA  ·  DO NOT SEND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175260"/>
          </a:xfrm>
          <a:prstGeom prst="rect">
            <a:avLst/>
          </a:prstGeom>
          <a:noFill/>
          <a:ln/>
        </p:spPr>
        <p:txBody>
          <a:bodyPr wrap="square" lIns="0" tIns="0" rIns="0" bIns="0" rtlCol="0" anchor="t"/>
          <a:lstStyle/>
          <a:p>
            <a:pPr algn="l" indent="0" marL="0">
              <a:lnSpc>
                <a:spcPts val="1380"/>
              </a:lnSpc>
              <a:buNone/>
            </a:pPr>
            <a:r>
              <a:rPr lang="en-US" sz="1100" b="1" dirty="0">
                <a:solidFill>
                  <a:srgbClr val="0E7C6B"/>
                </a:solidFill>
                <a:latin typeface="Arial" pitchFamily="34" charset="0"/>
                <a:ea typeface="Arial" pitchFamily="34" charset="-122"/>
                <a:cs typeface="Arial" pitchFamily="34" charset="-120"/>
              </a:rPr>
              <a:t>Scope and deliverables</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t"/>
          <a:lstStyle/>
          <a:p>
            <a:pPr algn="l" indent="0" marL="0">
              <a:lnSpc>
                <a:spcPts val="3500"/>
              </a:lnSpc>
              <a:buNone/>
            </a:pPr>
            <a:r>
              <a:rPr lang="en-US" sz="2800" b="1" dirty="0">
                <a:solidFill>
                  <a:srgbClr val="14232B"/>
                </a:solidFill>
                <a:latin typeface="Arial" pitchFamily="34" charset="0"/>
                <a:ea typeface="Arial" pitchFamily="34" charset="-122"/>
                <a:cs typeface="Arial" pitchFamily="34" charset="-120"/>
              </a:rPr>
              <a:t>Automation workflows (continued)</a:t>
            </a:r>
            <a:endParaRPr lang="en-US" sz="2800" dirty="0"/>
          </a:p>
        </p:txBody>
      </p:sp>
      <p:sp>
        <p:nvSpPr>
          <p:cNvPr id="4" name="Text 2"/>
          <p:cNvSpPr txBox="1"/>
          <p:nvPr/>
        </p:nvSpPr>
        <p:spPr>
          <a:xfrm>
            <a:off x="548640" y="1463040"/>
            <a:ext cx="3429000" cy="158750"/>
          </a:xfrm>
          <a:prstGeom prst="rect">
            <a:avLst/>
          </a:prstGeom>
          <a:noFill/>
          <a:ln/>
        </p:spPr>
        <p:txBody>
          <a:bodyPr wrap="square" lIns="0" tIns="0" rIns="0" bIns="0" rtlCol="0" anchor="t"/>
          <a:lstStyle/>
          <a:p>
            <a:pPr algn="l" indent="0" marL="0">
              <a:lnSpc>
                <a:spcPts val="1250"/>
              </a:lnSpc>
              <a:buNone/>
            </a:pPr>
            <a:r>
              <a:rPr lang="en-US" sz="1000" b="1" dirty="0">
                <a:solidFill>
                  <a:srgbClr val="5B6B70"/>
                </a:solidFill>
                <a:latin typeface="Arial" pitchFamily="34" charset="0"/>
                <a:ea typeface="Arial" pitchFamily="34" charset="-122"/>
                <a:cs typeface="Arial" pitchFamily="34" charset="-120"/>
              </a:rPr>
              <a:t>Workflow and what it does</a:t>
            </a:r>
            <a:endParaRPr lang="en-US" sz="1000" dirty="0"/>
          </a:p>
        </p:txBody>
      </p:sp>
      <p:sp>
        <p:nvSpPr>
          <p:cNvPr id="5" name="Text 3"/>
          <p:cNvSpPr txBox="1"/>
          <p:nvPr/>
        </p:nvSpPr>
        <p:spPr>
          <a:xfrm>
            <a:off x="4206240" y="1463040"/>
            <a:ext cx="2423160" cy="158750"/>
          </a:xfrm>
          <a:prstGeom prst="rect">
            <a:avLst/>
          </a:prstGeom>
          <a:noFill/>
          <a:ln/>
        </p:spPr>
        <p:txBody>
          <a:bodyPr wrap="square" lIns="0" tIns="0" rIns="0" bIns="0" rtlCol="0" anchor="t"/>
          <a:lstStyle/>
          <a:p>
            <a:pPr algn="l" indent="0" marL="0">
              <a:lnSpc>
                <a:spcPts val="1250"/>
              </a:lnSpc>
              <a:buNone/>
            </a:pPr>
            <a:r>
              <a:rPr lang="en-US" sz="1000" b="1" dirty="0">
                <a:solidFill>
                  <a:srgbClr val="5B6B70"/>
                </a:solidFill>
                <a:latin typeface="Arial" pitchFamily="34" charset="0"/>
                <a:ea typeface="Arial" pitchFamily="34" charset="-122"/>
                <a:cs typeface="Arial" pitchFamily="34" charset="-120"/>
              </a:rPr>
              <a:t>Triggered when</a:t>
            </a:r>
            <a:endParaRPr lang="en-US" sz="1000" dirty="0"/>
          </a:p>
        </p:txBody>
      </p:sp>
      <p:sp>
        <p:nvSpPr>
          <p:cNvPr id="6" name="Text 4"/>
          <p:cNvSpPr txBox="1"/>
          <p:nvPr/>
        </p:nvSpPr>
        <p:spPr>
          <a:xfrm>
            <a:off x="6858000" y="1463040"/>
            <a:ext cx="2423160" cy="158750"/>
          </a:xfrm>
          <a:prstGeom prst="rect">
            <a:avLst/>
          </a:prstGeom>
          <a:noFill/>
          <a:ln/>
        </p:spPr>
        <p:txBody>
          <a:bodyPr wrap="square" lIns="0" tIns="0" rIns="0" bIns="0" rtlCol="0" anchor="t"/>
          <a:lstStyle/>
          <a:p>
            <a:pPr algn="l" indent="0" marL="0">
              <a:lnSpc>
                <a:spcPts val="1250"/>
              </a:lnSpc>
              <a:buNone/>
            </a:pPr>
            <a:r>
              <a:rPr lang="en-US" sz="1000" b="1" dirty="0">
                <a:solidFill>
                  <a:srgbClr val="5B6B70"/>
                </a:solidFill>
                <a:latin typeface="Arial" pitchFamily="34" charset="0"/>
                <a:ea typeface="Arial" pitchFamily="34" charset="-122"/>
                <a:cs typeface="Arial" pitchFamily="34" charset="-120"/>
              </a:rPr>
              <a:t>Expected action</a:t>
            </a:r>
            <a:endParaRPr lang="en-US" sz="1000" dirty="0"/>
          </a:p>
        </p:txBody>
      </p:sp>
      <p:sp>
        <p:nvSpPr>
          <p:cNvPr id="7" name="Text 5"/>
          <p:cNvSpPr txBox="1"/>
          <p:nvPr/>
        </p:nvSpPr>
        <p:spPr>
          <a:xfrm>
            <a:off x="9509760" y="1463040"/>
            <a:ext cx="2133295" cy="158750"/>
          </a:xfrm>
          <a:prstGeom prst="rect">
            <a:avLst/>
          </a:prstGeom>
          <a:noFill/>
          <a:ln/>
        </p:spPr>
        <p:txBody>
          <a:bodyPr wrap="square" lIns="0" tIns="0" rIns="0" bIns="0" rtlCol="0" anchor="t"/>
          <a:lstStyle/>
          <a:p>
            <a:pPr algn="l" indent="0" marL="0">
              <a:lnSpc>
                <a:spcPts val="1250"/>
              </a:lnSpc>
              <a:buNone/>
            </a:pPr>
            <a:r>
              <a:rPr lang="en-US" sz="1000" b="1" dirty="0">
                <a:solidFill>
                  <a:srgbClr val="5B6B70"/>
                </a:solidFill>
                <a:latin typeface="Arial" pitchFamily="34" charset="0"/>
                <a:ea typeface="Arial" pitchFamily="34" charset="-122"/>
                <a:cs typeface="Arial" pitchFamily="34" charset="-120"/>
              </a:rPr>
              <a:t>Depends on</a:t>
            </a:r>
            <a:endParaRPr lang="en-US" sz="1000" dirty="0"/>
          </a:p>
        </p:txBody>
      </p:sp>
      <p:sp>
        <p:nvSpPr>
          <p:cNvPr id="8" name="Shape 6"/>
          <p:cNvSpPr/>
          <p:nvPr/>
        </p:nvSpPr>
        <p:spPr>
          <a:xfrm>
            <a:off x="548640" y="1737360"/>
            <a:ext cx="11094415" cy="0"/>
          </a:xfrm>
          <a:prstGeom prst="line">
            <a:avLst/>
          </a:prstGeom>
          <a:noFill/>
          <a:ln w="12700">
            <a:solidFill>
              <a:srgbClr val="14232B"/>
            </a:solidFill>
            <a:prstDash val="solid"/>
          </a:ln>
        </p:spPr>
      </p:sp>
      <p:sp>
        <p:nvSpPr>
          <p:cNvPr id="9" name="Text 7"/>
          <p:cNvSpPr txBox="1"/>
          <p:nvPr/>
        </p:nvSpPr>
        <p:spPr>
          <a:xfrm>
            <a:off x="548640" y="1892808"/>
            <a:ext cx="3429000" cy="896112"/>
          </a:xfrm>
          <a:prstGeom prst="rect">
            <a:avLst/>
          </a:prstGeom>
          <a:noFill/>
          <a:ln/>
        </p:spPr>
        <p:txBody>
          <a:bodyPr wrap="square" lIns="0" tIns="0" rIns="0" bIns="0" rtlCol="0" anchor="t"/>
          <a:lstStyle/>
          <a:p>
            <a:pPr algn="l" indent="0" marL="0">
              <a:lnSpc>
                <a:spcPts val="1380"/>
              </a:lnSpc>
              <a:spcAft>
                <a:spcPts val="400"/>
              </a:spcAft>
              <a:buNone/>
            </a:pPr>
            <a:r>
              <a:rPr lang="en-US" sz="1100" b="1" dirty="0">
                <a:solidFill>
                  <a:srgbClr val="14232B"/>
                </a:solidFill>
                <a:latin typeface="Arial" pitchFamily="34" charset="0"/>
                <a:ea typeface="Arial" pitchFamily="34" charset="-122"/>
                <a:cs typeface="Arial" pitchFamily="34" charset="-120"/>
              </a:rPr>
              <a:t>Missed appointment follow-up</a:t>
            </a:r>
            <a:endParaRPr lang="en-US" sz="1100" dirty="0"/>
          </a:p>
          <a:p>
            <a:pPr algn="l" indent="0" marL="0">
              <a:lnSpc>
                <a:spcPts val="1380"/>
              </a:lnSpc>
              <a:buNone/>
            </a:pPr>
            <a:r>
              <a:rPr lang="en-US" sz="1100" dirty="0">
                <a:solidFill>
                  <a:srgbClr val="5B6B70"/>
                </a:solidFill>
                <a:latin typeface="Arial" pitchFamily="34" charset="0"/>
                <a:ea typeface="Arial" pitchFamily="34" charset="-122"/>
                <a:cs typeface="Arial" pitchFamily="34" charset="-120"/>
              </a:rPr>
              <a:t>Contacts patients who missed an appointment and offers a new time.</a:t>
            </a:r>
            <a:endParaRPr lang="en-US" sz="1100" dirty="0"/>
          </a:p>
        </p:txBody>
      </p:sp>
      <p:sp>
        <p:nvSpPr>
          <p:cNvPr id="10" name="Text 8"/>
          <p:cNvSpPr txBox="1"/>
          <p:nvPr/>
        </p:nvSpPr>
        <p:spPr>
          <a:xfrm>
            <a:off x="4206240" y="1892808"/>
            <a:ext cx="2423160"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An appointment is marked as missed.</a:t>
            </a:r>
            <a:endParaRPr lang="en-US" sz="1100" dirty="0"/>
          </a:p>
        </p:txBody>
      </p:sp>
      <p:sp>
        <p:nvSpPr>
          <p:cNvPr id="11" name="Text 9"/>
          <p:cNvSpPr txBox="1"/>
          <p:nvPr/>
        </p:nvSpPr>
        <p:spPr>
          <a:xfrm>
            <a:off x="6858000" y="1892808"/>
            <a:ext cx="2423160"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The patient is invited to rebook and staff are notified.</a:t>
            </a:r>
            <a:endParaRPr lang="en-US" sz="1100" dirty="0"/>
          </a:p>
        </p:txBody>
      </p:sp>
      <p:sp>
        <p:nvSpPr>
          <p:cNvPr id="12" name="Text 10"/>
          <p:cNvSpPr txBox="1"/>
          <p:nvPr/>
        </p:nvSpPr>
        <p:spPr>
          <a:xfrm>
            <a:off x="9509760" y="1892808"/>
            <a:ext cx="2133295"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Staff mark missed appointments, or appointment data is synced.</a:t>
            </a:r>
            <a:endParaRPr lang="en-US" sz="1100" dirty="0"/>
          </a:p>
        </p:txBody>
      </p:sp>
      <p:sp>
        <p:nvSpPr>
          <p:cNvPr id="13" name="Shape 11"/>
          <p:cNvSpPr/>
          <p:nvPr/>
        </p:nvSpPr>
        <p:spPr>
          <a:xfrm>
            <a:off x="548640" y="2880360"/>
            <a:ext cx="11094415" cy="0"/>
          </a:xfrm>
          <a:prstGeom prst="line">
            <a:avLst/>
          </a:prstGeom>
          <a:noFill/>
          <a:ln w="9525">
            <a:solidFill>
              <a:srgbClr val="D5DEDB"/>
            </a:solidFill>
            <a:prstDash val="solid"/>
          </a:ln>
        </p:spPr>
      </p:sp>
      <p:sp>
        <p:nvSpPr>
          <p:cNvPr id="14" name="Text 12"/>
          <p:cNvSpPr txBox="1"/>
          <p:nvPr/>
        </p:nvSpPr>
        <p:spPr>
          <a:xfrm>
            <a:off x="548640" y="2990088"/>
            <a:ext cx="3429000" cy="896112"/>
          </a:xfrm>
          <a:prstGeom prst="rect">
            <a:avLst/>
          </a:prstGeom>
          <a:noFill/>
          <a:ln/>
        </p:spPr>
        <p:txBody>
          <a:bodyPr wrap="square" lIns="0" tIns="0" rIns="0" bIns="0" rtlCol="0" anchor="t"/>
          <a:lstStyle/>
          <a:p>
            <a:pPr algn="l" indent="0" marL="0">
              <a:lnSpc>
                <a:spcPts val="1380"/>
              </a:lnSpc>
              <a:spcAft>
                <a:spcPts val="400"/>
              </a:spcAft>
              <a:buNone/>
            </a:pPr>
            <a:r>
              <a:rPr lang="en-US" sz="1100" b="1" dirty="0">
                <a:solidFill>
                  <a:srgbClr val="14232B"/>
                </a:solidFill>
                <a:latin typeface="Arial" pitchFamily="34" charset="0"/>
                <a:ea typeface="Arial" pitchFamily="34" charset="-122"/>
                <a:cs typeface="Arial" pitchFamily="34" charset="-120"/>
              </a:rPr>
              <a:t>Review request automation</a:t>
            </a:r>
            <a:endParaRPr lang="en-US" sz="1100" dirty="0"/>
          </a:p>
          <a:p>
            <a:pPr algn="l" indent="0" marL="0">
              <a:lnSpc>
                <a:spcPts val="1380"/>
              </a:lnSpc>
              <a:buNone/>
            </a:pPr>
            <a:r>
              <a:rPr lang="en-US" sz="1100" dirty="0">
                <a:solidFill>
                  <a:srgbClr val="5B6B70"/>
                </a:solidFill>
                <a:latin typeface="Arial" pitchFamily="34" charset="0"/>
                <a:ea typeface="Arial" pitchFamily="34" charset="-122"/>
                <a:cs typeface="Arial" pitchFamily="34" charset="-120"/>
              </a:rPr>
              <a:t>Asks patients to rate their visit; patients who rate it highly receive the Google review link.</a:t>
            </a:r>
            <a:endParaRPr lang="en-US" sz="1100" dirty="0"/>
          </a:p>
        </p:txBody>
      </p:sp>
      <p:sp>
        <p:nvSpPr>
          <p:cNvPr id="15" name="Text 13"/>
          <p:cNvSpPr txBox="1"/>
          <p:nvPr/>
        </p:nvSpPr>
        <p:spPr>
          <a:xfrm>
            <a:off x="4206240" y="2990088"/>
            <a:ext cx="2423160"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A visit is marked complete.</a:t>
            </a:r>
            <a:endParaRPr lang="en-US" sz="1100" dirty="0"/>
          </a:p>
        </p:txBody>
      </p:sp>
      <p:sp>
        <p:nvSpPr>
          <p:cNvPr id="16" name="Text 14"/>
          <p:cNvSpPr txBox="1"/>
          <p:nvPr/>
        </p:nvSpPr>
        <p:spPr>
          <a:xfrm>
            <a:off x="6858000" y="2990088"/>
            <a:ext cx="2423160"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High ratings receive the review link; low ratings are shared privately with the clinic.</a:t>
            </a:r>
            <a:endParaRPr lang="en-US" sz="1100" dirty="0"/>
          </a:p>
        </p:txBody>
      </p:sp>
      <p:sp>
        <p:nvSpPr>
          <p:cNvPr id="17" name="Text 15"/>
          <p:cNvSpPr txBox="1"/>
          <p:nvPr/>
        </p:nvSpPr>
        <p:spPr>
          <a:xfrm>
            <a:off x="9509760" y="2990088"/>
            <a:ext cx="2133295"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The clinic's Google review link.</a:t>
            </a:r>
            <a:endParaRPr lang="en-US" sz="1100" dirty="0"/>
          </a:p>
        </p:txBody>
      </p:sp>
      <p:sp>
        <p:nvSpPr>
          <p:cNvPr id="18" name="Shape 16"/>
          <p:cNvSpPr/>
          <p:nvPr/>
        </p:nvSpPr>
        <p:spPr>
          <a:xfrm>
            <a:off x="548640" y="3977640"/>
            <a:ext cx="11094415" cy="0"/>
          </a:xfrm>
          <a:prstGeom prst="line">
            <a:avLst/>
          </a:prstGeom>
          <a:noFill/>
          <a:ln w="9525">
            <a:solidFill>
              <a:srgbClr val="D5DEDB"/>
            </a:solidFill>
            <a:prstDash val="solid"/>
          </a:ln>
        </p:spPr>
      </p:sp>
      <p:sp>
        <p:nvSpPr>
          <p:cNvPr id="19" name="Text 17"/>
          <p:cNvSpPr txBox="1"/>
          <p:nvPr/>
        </p:nvSpPr>
        <p:spPr>
          <a:xfrm>
            <a:off x="548640" y="4087368"/>
            <a:ext cx="3429000" cy="896112"/>
          </a:xfrm>
          <a:prstGeom prst="rect">
            <a:avLst/>
          </a:prstGeom>
          <a:noFill/>
          <a:ln/>
        </p:spPr>
        <p:txBody>
          <a:bodyPr wrap="square" lIns="0" tIns="0" rIns="0" bIns="0" rtlCol="0" anchor="t"/>
          <a:lstStyle/>
          <a:p>
            <a:pPr algn="l" indent="0" marL="0">
              <a:lnSpc>
                <a:spcPts val="1380"/>
              </a:lnSpc>
              <a:spcAft>
                <a:spcPts val="400"/>
              </a:spcAft>
              <a:buNone/>
            </a:pPr>
            <a:r>
              <a:rPr lang="en-US" sz="1100" b="1" dirty="0">
                <a:solidFill>
                  <a:srgbClr val="14232B"/>
                </a:solidFill>
                <a:latin typeface="Arial" pitchFamily="34" charset="0"/>
                <a:ea typeface="Arial" pitchFamily="34" charset="-122"/>
                <a:cs typeface="Arial" pitchFamily="34" charset="-120"/>
              </a:rPr>
              <a:t>Enquiry and follow-up reporting</a:t>
            </a:r>
            <a:endParaRPr lang="en-US" sz="1100" dirty="0"/>
          </a:p>
          <a:p>
            <a:pPr algn="l" indent="0" marL="0">
              <a:lnSpc>
                <a:spcPts val="1380"/>
              </a:lnSpc>
              <a:buNone/>
            </a:pPr>
            <a:r>
              <a:rPr lang="en-US" sz="1100" dirty="0">
                <a:solidFill>
                  <a:srgbClr val="5B6B70"/>
                </a:solidFill>
                <a:latin typeface="Arial" pitchFamily="34" charset="0"/>
                <a:ea typeface="Arial" pitchFamily="34" charset="-122"/>
                <a:cs typeface="Arial" pitchFamily="34" charset="-120"/>
              </a:rPr>
              <a:t>Summarises enquiries, follow-ups and booking status.</a:t>
            </a:r>
            <a:endParaRPr lang="en-US" sz="1100" dirty="0"/>
          </a:p>
        </p:txBody>
      </p:sp>
      <p:sp>
        <p:nvSpPr>
          <p:cNvPr id="20" name="Text 18"/>
          <p:cNvSpPr txBox="1"/>
          <p:nvPr/>
        </p:nvSpPr>
        <p:spPr>
          <a:xfrm>
            <a:off x="4206240" y="4087368"/>
            <a:ext cx="2423160"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Monthly, or at an agreed interval.</a:t>
            </a:r>
            <a:endParaRPr lang="en-US" sz="1100" dirty="0"/>
          </a:p>
        </p:txBody>
      </p:sp>
      <p:sp>
        <p:nvSpPr>
          <p:cNvPr id="21" name="Text 19"/>
          <p:cNvSpPr txBox="1"/>
          <p:nvPr/>
        </p:nvSpPr>
        <p:spPr>
          <a:xfrm>
            <a:off x="6858000" y="4087368"/>
            <a:ext cx="2423160"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The clinic sees enquiry, follow-up and booking status for the period.</a:t>
            </a:r>
            <a:endParaRPr lang="en-US" sz="1100" dirty="0"/>
          </a:p>
        </p:txBody>
      </p:sp>
      <p:sp>
        <p:nvSpPr>
          <p:cNvPr id="22" name="Text 20"/>
          <p:cNvSpPr txBox="1"/>
          <p:nvPr/>
        </p:nvSpPr>
        <p:spPr>
          <a:xfrm>
            <a:off x="9509760" y="4087368"/>
            <a:ext cx="2133295" cy="896112"/>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Data captured through the configured workflows.</a:t>
            </a:r>
            <a:endParaRPr lang="en-US" sz="1100" dirty="0"/>
          </a:p>
        </p:txBody>
      </p:sp>
      <p:sp>
        <p:nvSpPr>
          <p:cNvPr id="23" name="Shape 21"/>
          <p:cNvSpPr/>
          <p:nvPr/>
        </p:nvSpPr>
        <p:spPr>
          <a:xfrm>
            <a:off x="548640" y="5074920"/>
            <a:ext cx="11094415" cy="0"/>
          </a:xfrm>
          <a:prstGeom prst="line">
            <a:avLst/>
          </a:prstGeom>
          <a:noFill/>
          <a:ln w="9525">
            <a:solidFill>
              <a:srgbClr val="D5DEDB"/>
            </a:solidFill>
            <a:prstDash val="solid"/>
          </a:ln>
        </p:spPr>
      </p:sp>
      <p:sp>
        <p:nvSpPr>
          <p:cNvPr id="24" name="Shape 22"/>
          <p:cNvSpPr/>
          <p:nvPr/>
        </p:nvSpPr>
        <p:spPr>
          <a:xfrm>
            <a:off x="548640" y="6355080"/>
            <a:ext cx="11094415" cy="0"/>
          </a:xfrm>
          <a:prstGeom prst="line">
            <a:avLst/>
          </a:prstGeom>
          <a:noFill/>
          <a:ln w="9525">
            <a:solidFill>
              <a:srgbClr val="D5DEDB"/>
            </a:solidFill>
            <a:prstDash val="solid"/>
          </a:ln>
        </p:spPr>
      </p:sp>
      <p:sp>
        <p:nvSpPr>
          <p:cNvPr id="25" name="Text 23"/>
          <p:cNvSpPr txBox="1"/>
          <p:nvPr/>
        </p:nvSpPr>
        <p:spPr>
          <a:xfrm>
            <a:off x="548640" y="6437376"/>
            <a:ext cx="9144000" cy="182880"/>
          </a:xfrm>
          <a:prstGeom prst="rect">
            <a:avLst/>
          </a:prstGeom>
          <a:noFill/>
          <a:ln/>
        </p:spPr>
        <p:txBody>
          <a:bodyPr wrap="square" lIns="0" tIns="0" rIns="0" bIns="0" rtlCol="0" anchor="t"/>
          <a:lstStyle/>
          <a:p>
            <a:pPr algn="l" indent="0" marL="0">
              <a:lnSpc>
                <a:spcPts val="1130"/>
              </a:lnSpc>
              <a:buNone/>
            </a:pPr>
            <a:r>
              <a:rPr lang="en-US" sz="900" dirty="0">
                <a:solidFill>
                  <a:srgbClr val="5B6B70"/>
                </a:solidFill>
                <a:latin typeface="Arial" pitchFamily="34" charset="0"/>
                <a:ea typeface="Arial" pitchFamily="34" charset="-122"/>
                <a:cs typeface="Arial" pitchFamily="34" charset="-120"/>
              </a:rPr>
              <a:t>Patientcurve  ·  Proposal for Sample Smile Dental Studio (fictional)  ·  Ref SAMPLE-001</a:t>
            </a:r>
            <a:endParaRPr lang="en-US" sz="900" dirty="0"/>
          </a:p>
        </p:txBody>
      </p:sp>
      <p:sp>
        <p:nvSpPr>
          <p:cNvPr id="26" name="Text 24"/>
          <p:cNvSpPr txBox="1"/>
          <p:nvPr/>
        </p:nvSpPr>
        <p:spPr>
          <a:xfrm>
            <a:off x="10271455" y="6437376"/>
            <a:ext cx="1371600" cy="182880"/>
          </a:xfrm>
          <a:prstGeom prst="rect">
            <a:avLst/>
          </a:prstGeom>
          <a:noFill/>
          <a:ln/>
        </p:spPr>
        <p:txBody>
          <a:bodyPr wrap="square" lIns="0" tIns="0" rIns="0" bIns="0" rtlCol="0" anchor="t"/>
          <a:lstStyle/>
          <a:p>
            <a:pPr algn="r" indent="0" marL="0">
              <a:lnSpc>
                <a:spcPts val="1130"/>
              </a:lnSpc>
              <a:buNone/>
            </a:pPr>
            <a:r>
              <a:rPr lang="en-US" sz="900" dirty="0">
                <a:solidFill>
                  <a:srgbClr val="5B6B70"/>
                </a:solidFill>
                <a:latin typeface="Arial" pitchFamily="34" charset="0"/>
                <a:ea typeface="Arial" pitchFamily="34" charset="-122"/>
                <a:cs typeface="Arial" pitchFamily="34" charset="-120"/>
              </a:rPr>
              <a:t>6 / 10</a:t>
            </a:r>
            <a:endParaRPr lang="en-US" sz="900" dirty="0"/>
          </a:p>
        </p:txBody>
      </p:sp>
      <p:sp>
        <p:nvSpPr>
          <p:cNvPr id="27" name="Shape 25"/>
          <p:cNvSpPr/>
          <p:nvPr/>
        </p:nvSpPr>
        <p:spPr>
          <a:xfrm>
            <a:off x="0" y="0"/>
            <a:ext cx="12191695" cy="237744"/>
          </a:xfrm>
          <a:prstGeom prst="rect">
            <a:avLst/>
          </a:prstGeom>
          <a:solidFill>
            <a:srgbClr val="8F5A0E"/>
          </a:solidFill>
          <a:ln/>
        </p:spPr>
      </p:sp>
      <p:sp>
        <p:nvSpPr>
          <p:cNvPr id="28" name="Text 26"/>
          <p:cNvSpPr txBox="1"/>
          <p:nvPr/>
        </p:nvSpPr>
        <p:spPr>
          <a:xfrm>
            <a:off x="0" y="50292"/>
            <a:ext cx="12191695" cy="146304"/>
          </a:xfrm>
          <a:prstGeom prst="rect">
            <a:avLst/>
          </a:prstGeom>
          <a:noFill/>
          <a:ln/>
        </p:spPr>
        <p:txBody>
          <a:bodyPr wrap="square" lIns="0" tIns="0" rIns="0" bIns="0" rtlCol="0" anchor="t"/>
          <a:lstStyle/>
          <a:p>
            <a:pPr algn="ctr" indent="0" marL="0">
              <a:lnSpc>
                <a:spcPts val="1060"/>
              </a:lnSpc>
              <a:buNone/>
            </a:pPr>
            <a:r>
              <a:rPr lang="en-US" sz="850" b="1" spc="100" kern="0" dirty="0">
                <a:solidFill>
                  <a:srgbClr val="FFFFFF"/>
                </a:solidFill>
                <a:latin typeface="Arial" pitchFamily="34" charset="0"/>
                <a:ea typeface="Arial" pitchFamily="34" charset="-122"/>
                <a:cs typeface="Arial" pitchFamily="34" charset="-120"/>
              </a:rPr>
              <a:t>SAMPLE PROPOSAL  ·  FICTIONAL CLINIC DATA  ·  DO NOT SEND</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175260"/>
          </a:xfrm>
          <a:prstGeom prst="rect">
            <a:avLst/>
          </a:prstGeom>
          <a:noFill/>
          <a:ln/>
        </p:spPr>
        <p:txBody>
          <a:bodyPr wrap="square" lIns="0" tIns="0" rIns="0" bIns="0" rtlCol="0" anchor="t"/>
          <a:lstStyle/>
          <a:p>
            <a:pPr algn="l" indent="0" marL="0">
              <a:lnSpc>
                <a:spcPts val="1380"/>
              </a:lnSpc>
              <a:buNone/>
            </a:pPr>
            <a:r>
              <a:rPr lang="en-US" sz="1100" b="1" dirty="0">
                <a:solidFill>
                  <a:srgbClr val="0E7C6B"/>
                </a:solidFill>
                <a:latin typeface="Arial" pitchFamily="34" charset="0"/>
                <a:ea typeface="Arial" pitchFamily="34" charset="-122"/>
                <a:cs typeface="Arial" pitchFamily="34" charset="-120"/>
              </a:rPr>
              <a:t>Investment and commercial terms</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t"/>
          <a:lstStyle/>
          <a:p>
            <a:pPr algn="l" indent="0" marL="0">
              <a:lnSpc>
                <a:spcPts val="3500"/>
              </a:lnSpc>
              <a:buNone/>
            </a:pPr>
            <a:r>
              <a:rPr lang="en-US" sz="2800" b="1" dirty="0">
                <a:solidFill>
                  <a:srgbClr val="14232B"/>
                </a:solidFill>
                <a:latin typeface="Arial" pitchFamily="34" charset="0"/>
                <a:ea typeface="Arial" pitchFamily="34" charset="-122"/>
                <a:cs typeface="Arial" pitchFamily="34" charset="-120"/>
              </a:rPr>
              <a:t>Investment</a:t>
            </a:r>
            <a:endParaRPr lang="en-US" sz="2800" dirty="0"/>
          </a:p>
        </p:txBody>
      </p:sp>
      <p:sp>
        <p:nvSpPr>
          <p:cNvPr id="4" name="Shape 2"/>
          <p:cNvSpPr/>
          <p:nvPr/>
        </p:nvSpPr>
        <p:spPr>
          <a:xfrm>
            <a:off x="548640" y="1463040"/>
            <a:ext cx="7178040" cy="365760"/>
          </a:xfrm>
          <a:prstGeom prst="rect">
            <a:avLst/>
          </a:prstGeom>
          <a:solidFill>
            <a:srgbClr val="14232B"/>
          </a:solidFill>
          <a:ln/>
        </p:spPr>
      </p:sp>
      <p:sp>
        <p:nvSpPr>
          <p:cNvPr id="5" name="Text 3"/>
          <p:cNvSpPr txBox="1"/>
          <p:nvPr/>
        </p:nvSpPr>
        <p:spPr>
          <a:xfrm>
            <a:off x="658368" y="1563624"/>
            <a:ext cx="1792224" cy="182880"/>
          </a:xfrm>
          <a:prstGeom prst="rect">
            <a:avLst/>
          </a:prstGeom>
          <a:noFill/>
          <a:ln/>
        </p:spPr>
        <p:txBody>
          <a:bodyPr wrap="square" lIns="0" tIns="0" rIns="0" bIns="0" rtlCol="0" anchor="t"/>
          <a:lstStyle/>
          <a:p>
            <a:pPr algn="l" indent="0" marL="0">
              <a:lnSpc>
                <a:spcPts val="1250"/>
              </a:lnSpc>
              <a:buNone/>
            </a:pPr>
            <a:r>
              <a:rPr lang="en-US" sz="1000" b="1" dirty="0">
                <a:solidFill>
                  <a:srgbClr val="FFFFFF"/>
                </a:solidFill>
                <a:latin typeface="Arial" pitchFamily="34" charset="0"/>
                <a:ea typeface="Arial" pitchFamily="34" charset="-122"/>
                <a:cs typeface="Arial" pitchFamily="34" charset="-120"/>
              </a:rPr>
              <a:t>Item</a:t>
            </a:r>
            <a:endParaRPr lang="en-US" sz="1000" dirty="0"/>
          </a:p>
        </p:txBody>
      </p:sp>
      <p:sp>
        <p:nvSpPr>
          <p:cNvPr id="6" name="Text 4"/>
          <p:cNvSpPr txBox="1"/>
          <p:nvPr/>
        </p:nvSpPr>
        <p:spPr>
          <a:xfrm>
            <a:off x="2670048" y="1563624"/>
            <a:ext cx="2295144" cy="182880"/>
          </a:xfrm>
          <a:prstGeom prst="rect">
            <a:avLst/>
          </a:prstGeom>
          <a:noFill/>
          <a:ln/>
        </p:spPr>
        <p:txBody>
          <a:bodyPr wrap="square" lIns="0" tIns="0" rIns="0" bIns="0" rtlCol="0" anchor="t"/>
          <a:lstStyle/>
          <a:p>
            <a:pPr algn="l" indent="0" marL="0">
              <a:lnSpc>
                <a:spcPts val="1250"/>
              </a:lnSpc>
              <a:buNone/>
            </a:pPr>
            <a:r>
              <a:rPr lang="en-US" sz="1000" b="1" dirty="0">
                <a:solidFill>
                  <a:srgbClr val="FFFFFF"/>
                </a:solidFill>
                <a:latin typeface="Arial" pitchFamily="34" charset="0"/>
                <a:ea typeface="Arial" pitchFamily="34" charset="-122"/>
                <a:cs typeface="Arial" pitchFamily="34" charset="-120"/>
              </a:rPr>
              <a:t>Description</a:t>
            </a:r>
            <a:endParaRPr lang="en-US" sz="1000" dirty="0"/>
          </a:p>
        </p:txBody>
      </p:sp>
      <p:sp>
        <p:nvSpPr>
          <p:cNvPr id="7" name="Text 5"/>
          <p:cNvSpPr txBox="1"/>
          <p:nvPr/>
        </p:nvSpPr>
        <p:spPr>
          <a:xfrm>
            <a:off x="5184648" y="1563624"/>
            <a:ext cx="1106424" cy="182880"/>
          </a:xfrm>
          <a:prstGeom prst="rect">
            <a:avLst/>
          </a:prstGeom>
          <a:noFill/>
          <a:ln/>
        </p:spPr>
        <p:txBody>
          <a:bodyPr wrap="square" lIns="0" tIns="0" rIns="0" bIns="0" rtlCol="0" anchor="t"/>
          <a:lstStyle/>
          <a:p>
            <a:pPr algn="r" indent="0" marL="0">
              <a:lnSpc>
                <a:spcPts val="1250"/>
              </a:lnSpc>
              <a:buNone/>
            </a:pPr>
            <a:r>
              <a:rPr lang="en-US" sz="1000" b="1" dirty="0">
                <a:solidFill>
                  <a:srgbClr val="FFFFFF"/>
                </a:solidFill>
                <a:latin typeface="Arial" pitchFamily="34" charset="0"/>
                <a:ea typeface="Arial" pitchFamily="34" charset="-122"/>
                <a:cs typeface="Arial" pitchFamily="34" charset="-120"/>
              </a:rPr>
              <a:t>One-time</a:t>
            </a:r>
            <a:endParaRPr lang="en-US" sz="1000" dirty="0"/>
          </a:p>
        </p:txBody>
      </p:sp>
      <p:sp>
        <p:nvSpPr>
          <p:cNvPr id="8" name="Text 6"/>
          <p:cNvSpPr txBox="1"/>
          <p:nvPr/>
        </p:nvSpPr>
        <p:spPr>
          <a:xfrm>
            <a:off x="6510528" y="1563624"/>
            <a:ext cx="1106424" cy="182880"/>
          </a:xfrm>
          <a:prstGeom prst="rect">
            <a:avLst/>
          </a:prstGeom>
          <a:noFill/>
          <a:ln/>
        </p:spPr>
        <p:txBody>
          <a:bodyPr wrap="square" lIns="0" tIns="0" rIns="0" bIns="0" rtlCol="0" anchor="t"/>
          <a:lstStyle/>
          <a:p>
            <a:pPr algn="r" indent="0" marL="0">
              <a:lnSpc>
                <a:spcPts val="1250"/>
              </a:lnSpc>
              <a:buNone/>
            </a:pPr>
            <a:r>
              <a:rPr lang="en-US" sz="1000" b="1" dirty="0">
                <a:solidFill>
                  <a:srgbClr val="FFFFFF"/>
                </a:solidFill>
                <a:latin typeface="Arial" pitchFamily="34" charset="0"/>
                <a:ea typeface="Arial" pitchFamily="34" charset="-122"/>
                <a:cs typeface="Arial" pitchFamily="34" charset="-120"/>
              </a:rPr>
              <a:t>Monthly</a:t>
            </a:r>
            <a:endParaRPr lang="en-US" sz="1000" dirty="0"/>
          </a:p>
        </p:txBody>
      </p:sp>
      <p:sp>
        <p:nvSpPr>
          <p:cNvPr id="9" name="Text 7"/>
          <p:cNvSpPr txBox="1"/>
          <p:nvPr/>
        </p:nvSpPr>
        <p:spPr>
          <a:xfrm>
            <a:off x="658368" y="1938528"/>
            <a:ext cx="1792224" cy="365760"/>
          </a:xfrm>
          <a:prstGeom prst="rect">
            <a:avLst/>
          </a:prstGeom>
          <a:noFill/>
          <a:ln/>
        </p:spPr>
        <p:txBody>
          <a:bodyPr wrap="square" lIns="0" tIns="0" rIns="0" bIns="0" rtlCol="0" anchor="t"/>
          <a:lstStyle/>
          <a:p>
            <a:pPr algn="l" indent="0" marL="0">
              <a:lnSpc>
                <a:spcPts val="1440"/>
              </a:lnSpc>
              <a:buNone/>
            </a:pPr>
            <a:r>
              <a:rPr lang="en-US" sz="1150" b="1" dirty="0">
                <a:solidFill>
                  <a:srgbClr val="14232B"/>
                </a:solidFill>
                <a:latin typeface="Arial" pitchFamily="34" charset="0"/>
                <a:ea typeface="Arial" pitchFamily="34" charset="-122"/>
                <a:cs typeface="Arial" pitchFamily="34" charset="-120"/>
              </a:rPr>
              <a:t>Setup and configuration</a:t>
            </a:r>
            <a:endParaRPr lang="en-US" sz="1150" dirty="0"/>
          </a:p>
        </p:txBody>
      </p:sp>
      <p:sp>
        <p:nvSpPr>
          <p:cNvPr id="10" name="Text 8"/>
          <p:cNvSpPr txBox="1"/>
          <p:nvPr/>
        </p:nvSpPr>
        <p:spPr>
          <a:xfrm>
            <a:off x="2670048" y="1938528"/>
            <a:ext cx="2295144" cy="365760"/>
          </a:xfrm>
          <a:prstGeom prst="rect">
            <a:avLst/>
          </a:prstGeom>
          <a:noFill/>
          <a:ln/>
        </p:spPr>
        <p:txBody>
          <a:bodyPr wrap="square" lIns="0" tIns="0" rIns="0" bIns="0" rtlCol="0" anchor="t"/>
          <a:lstStyle/>
          <a:p>
            <a:pPr algn="l" indent="0" marL="0">
              <a:lnSpc>
                <a:spcPts val="1440"/>
              </a:lnSpc>
              <a:buNone/>
            </a:pPr>
            <a:r>
              <a:rPr lang="en-US" sz="1150" dirty="0">
                <a:solidFill>
                  <a:srgbClr val="5B6B70"/>
                </a:solidFill>
                <a:latin typeface="Arial" pitchFamily="34" charset="0"/>
                <a:ea typeface="Arial" pitchFamily="34" charset="-122"/>
                <a:cs typeface="Arial" pitchFamily="34" charset="-120"/>
              </a:rPr>
              <a:t>One-time setup of the agreed scope</a:t>
            </a:r>
            <a:endParaRPr lang="en-US" sz="1150" dirty="0"/>
          </a:p>
        </p:txBody>
      </p:sp>
      <p:sp>
        <p:nvSpPr>
          <p:cNvPr id="11" name="Text 9"/>
          <p:cNvSpPr txBox="1"/>
          <p:nvPr/>
        </p:nvSpPr>
        <p:spPr>
          <a:xfrm>
            <a:off x="5184648" y="1938528"/>
            <a:ext cx="1106424" cy="365760"/>
          </a:xfrm>
          <a:prstGeom prst="rect">
            <a:avLst/>
          </a:prstGeom>
          <a:noFill/>
          <a:ln/>
        </p:spPr>
        <p:txBody>
          <a:bodyPr wrap="square" lIns="0" tIns="0" rIns="0" bIns="0" rtlCol="0" anchor="t"/>
          <a:lstStyle/>
          <a:p>
            <a:pPr algn="r" indent="0" marL="0">
              <a:lnSpc>
                <a:spcPts val="1440"/>
              </a:lnSpc>
              <a:buNone/>
            </a:pPr>
            <a:r>
              <a:rPr lang="en-US" sz="1150" dirty="0">
                <a:solidFill>
                  <a:srgbClr val="14232B"/>
                </a:solidFill>
                <a:latin typeface="Arial" pitchFamily="34" charset="0"/>
                <a:ea typeface="Arial" pitchFamily="34" charset="-122"/>
                <a:cs typeface="Arial" pitchFamily="34" charset="-120"/>
              </a:rPr>
              <a:t>₹7,500</a:t>
            </a:r>
            <a:endParaRPr lang="en-US" sz="1150" dirty="0"/>
          </a:p>
        </p:txBody>
      </p:sp>
      <p:sp>
        <p:nvSpPr>
          <p:cNvPr id="12" name="Text 10"/>
          <p:cNvSpPr txBox="1"/>
          <p:nvPr/>
        </p:nvSpPr>
        <p:spPr>
          <a:xfrm>
            <a:off x="6510528" y="1938528"/>
            <a:ext cx="1106424" cy="365760"/>
          </a:xfrm>
          <a:prstGeom prst="rect">
            <a:avLst/>
          </a:prstGeom>
          <a:noFill/>
          <a:ln/>
        </p:spPr>
        <p:txBody>
          <a:bodyPr wrap="square" lIns="0" tIns="0" rIns="0" bIns="0" rtlCol="0" anchor="t"/>
          <a:lstStyle/>
          <a:p>
            <a:pPr algn="r" indent="0" marL="0">
              <a:lnSpc>
                <a:spcPts val="1440"/>
              </a:lnSpc>
              <a:buNone/>
            </a:pPr>
            <a:r>
              <a:rPr lang="en-US" sz="1150" dirty="0">
                <a:solidFill>
                  <a:srgbClr val="14232B"/>
                </a:solidFill>
                <a:latin typeface="Arial" pitchFamily="34" charset="0"/>
                <a:ea typeface="Arial" pitchFamily="34" charset="-122"/>
                <a:cs typeface="Arial" pitchFamily="34" charset="-120"/>
              </a:rPr>
              <a:t>—</a:t>
            </a:r>
            <a:endParaRPr lang="en-US" sz="1150" dirty="0"/>
          </a:p>
        </p:txBody>
      </p:sp>
      <p:sp>
        <p:nvSpPr>
          <p:cNvPr id="13" name="Shape 11"/>
          <p:cNvSpPr/>
          <p:nvPr/>
        </p:nvSpPr>
        <p:spPr>
          <a:xfrm>
            <a:off x="548640" y="2414016"/>
            <a:ext cx="7178040" cy="0"/>
          </a:xfrm>
          <a:prstGeom prst="line">
            <a:avLst/>
          </a:prstGeom>
          <a:noFill/>
          <a:ln w="9525">
            <a:solidFill>
              <a:srgbClr val="D5DEDB"/>
            </a:solidFill>
            <a:prstDash val="solid"/>
          </a:ln>
        </p:spPr>
      </p:sp>
      <p:sp>
        <p:nvSpPr>
          <p:cNvPr id="14" name="Text 12"/>
          <p:cNvSpPr txBox="1"/>
          <p:nvPr/>
        </p:nvSpPr>
        <p:spPr>
          <a:xfrm>
            <a:off x="658368" y="2523744"/>
            <a:ext cx="1792224" cy="365760"/>
          </a:xfrm>
          <a:prstGeom prst="rect">
            <a:avLst/>
          </a:prstGeom>
          <a:noFill/>
          <a:ln/>
        </p:spPr>
        <p:txBody>
          <a:bodyPr wrap="square" lIns="0" tIns="0" rIns="0" bIns="0" rtlCol="0" anchor="t"/>
          <a:lstStyle/>
          <a:p>
            <a:pPr algn="l" indent="0" marL="0">
              <a:lnSpc>
                <a:spcPts val="1440"/>
              </a:lnSpc>
              <a:buNone/>
            </a:pPr>
            <a:r>
              <a:rPr lang="en-US" sz="1150" b="1" dirty="0">
                <a:solidFill>
                  <a:srgbClr val="14232B"/>
                </a:solidFill>
                <a:latin typeface="Arial" pitchFamily="34" charset="0"/>
                <a:ea typeface="Arial" pitchFamily="34" charset="-122"/>
                <a:cs typeface="Arial" pitchFamily="34" charset="-120"/>
              </a:rPr>
              <a:t>Monthly service</a:t>
            </a:r>
            <a:endParaRPr lang="en-US" sz="1150" dirty="0"/>
          </a:p>
        </p:txBody>
      </p:sp>
      <p:sp>
        <p:nvSpPr>
          <p:cNvPr id="15" name="Text 13"/>
          <p:cNvSpPr txBox="1"/>
          <p:nvPr/>
        </p:nvSpPr>
        <p:spPr>
          <a:xfrm>
            <a:off x="2670048" y="2523744"/>
            <a:ext cx="2295144" cy="365760"/>
          </a:xfrm>
          <a:prstGeom prst="rect">
            <a:avLst/>
          </a:prstGeom>
          <a:noFill/>
          <a:ln/>
        </p:spPr>
        <p:txBody>
          <a:bodyPr wrap="square" lIns="0" tIns="0" rIns="0" bIns="0" rtlCol="0" anchor="t"/>
          <a:lstStyle/>
          <a:p>
            <a:pPr algn="l" indent="0" marL="0">
              <a:lnSpc>
                <a:spcPts val="1440"/>
              </a:lnSpc>
              <a:buNone/>
            </a:pPr>
            <a:r>
              <a:rPr lang="en-US" sz="1150" dirty="0">
                <a:solidFill>
                  <a:srgbClr val="5B6B70"/>
                </a:solidFill>
                <a:latin typeface="Arial" pitchFamily="34" charset="0"/>
                <a:ea typeface="Arial" pitchFamily="34" charset="-122"/>
                <a:cs typeface="Arial" pitchFamily="34" charset="-120"/>
              </a:rPr>
              <a:t>Running, monitoring and support of the configured workflows</a:t>
            </a:r>
            <a:endParaRPr lang="en-US" sz="1150" dirty="0"/>
          </a:p>
        </p:txBody>
      </p:sp>
      <p:sp>
        <p:nvSpPr>
          <p:cNvPr id="16" name="Text 14"/>
          <p:cNvSpPr txBox="1"/>
          <p:nvPr/>
        </p:nvSpPr>
        <p:spPr>
          <a:xfrm>
            <a:off x="5184648" y="2523744"/>
            <a:ext cx="1106424" cy="365760"/>
          </a:xfrm>
          <a:prstGeom prst="rect">
            <a:avLst/>
          </a:prstGeom>
          <a:noFill/>
          <a:ln/>
        </p:spPr>
        <p:txBody>
          <a:bodyPr wrap="square" lIns="0" tIns="0" rIns="0" bIns="0" rtlCol="0" anchor="t"/>
          <a:lstStyle/>
          <a:p>
            <a:pPr algn="r" indent="0" marL="0">
              <a:lnSpc>
                <a:spcPts val="1440"/>
              </a:lnSpc>
              <a:buNone/>
            </a:pPr>
            <a:r>
              <a:rPr lang="en-US" sz="1150" dirty="0">
                <a:solidFill>
                  <a:srgbClr val="14232B"/>
                </a:solidFill>
                <a:latin typeface="Arial" pitchFamily="34" charset="0"/>
                <a:ea typeface="Arial" pitchFamily="34" charset="-122"/>
                <a:cs typeface="Arial" pitchFamily="34" charset="-120"/>
              </a:rPr>
              <a:t>—</a:t>
            </a:r>
            <a:endParaRPr lang="en-US" sz="1150" dirty="0"/>
          </a:p>
        </p:txBody>
      </p:sp>
      <p:sp>
        <p:nvSpPr>
          <p:cNvPr id="17" name="Text 15"/>
          <p:cNvSpPr txBox="1"/>
          <p:nvPr/>
        </p:nvSpPr>
        <p:spPr>
          <a:xfrm>
            <a:off x="6510528" y="2523744"/>
            <a:ext cx="1106424" cy="365760"/>
          </a:xfrm>
          <a:prstGeom prst="rect">
            <a:avLst/>
          </a:prstGeom>
          <a:noFill/>
          <a:ln/>
        </p:spPr>
        <p:txBody>
          <a:bodyPr wrap="square" lIns="0" tIns="0" rIns="0" bIns="0" rtlCol="0" anchor="t"/>
          <a:lstStyle/>
          <a:p>
            <a:pPr algn="r" indent="0" marL="0">
              <a:lnSpc>
                <a:spcPts val="1440"/>
              </a:lnSpc>
              <a:buNone/>
            </a:pPr>
            <a:r>
              <a:rPr lang="en-US" sz="1150" dirty="0">
                <a:solidFill>
                  <a:srgbClr val="14232B"/>
                </a:solidFill>
                <a:latin typeface="Arial" pitchFamily="34" charset="0"/>
                <a:ea typeface="Arial" pitchFamily="34" charset="-122"/>
                <a:cs typeface="Arial" pitchFamily="34" charset="-120"/>
              </a:rPr>
              <a:t>₹4,999</a:t>
            </a:r>
            <a:endParaRPr lang="en-US" sz="1150" dirty="0"/>
          </a:p>
        </p:txBody>
      </p:sp>
      <p:sp>
        <p:nvSpPr>
          <p:cNvPr id="18" name="Shape 16"/>
          <p:cNvSpPr/>
          <p:nvPr/>
        </p:nvSpPr>
        <p:spPr>
          <a:xfrm>
            <a:off x="548640" y="2999232"/>
            <a:ext cx="7178040" cy="0"/>
          </a:xfrm>
          <a:prstGeom prst="line">
            <a:avLst/>
          </a:prstGeom>
          <a:noFill/>
          <a:ln w="9525">
            <a:solidFill>
              <a:srgbClr val="D5DEDB"/>
            </a:solidFill>
            <a:prstDash val="solid"/>
          </a:ln>
        </p:spPr>
      </p:sp>
      <p:sp>
        <p:nvSpPr>
          <p:cNvPr id="19" name="Text 17"/>
          <p:cNvSpPr txBox="1"/>
          <p:nvPr/>
        </p:nvSpPr>
        <p:spPr>
          <a:xfrm>
            <a:off x="658368" y="3108960"/>
            <a:ext cx="1792224" cy="365760"/>
          </a:xfrm>
          <a:prstGeom prst="rect">
            <a:avLst/>
          </a:prstGeom>
          <a:noFill/>
          <a:ln/>
        </p:spPr>
        <p:txBody>
          <a:bodyPr wrap="square" lIns="0" tIns="0" rIns="0" bIns="0" rtlCol="0" anchor="t"/>
          <a:lstStyle/>
          <a:p>
            <a:pPr algn="l" indent="0" marL="0">
              <a:lnSpc>
                <a:spcPts val="1440"/>
              </a:lnSpc>
              <a:buNone/>
            </a:pPr>
            <a:r>
              <a:rPr lang="en-US" sz="1150" b="1" dirty="0">
                <a:solidFill>
                  <a:srgbClr val="14232B"/>
                </a:solidFill>
                <a:latin typeface="Arial" pitchFamily="34" charset="0"/>
                <a:ea typeface="Arial" pitchFamily="34" charset="-122"/>
                <a:cs typeface="Arial" pitchFamily="34" charset="-120"/>
              </a:rPr>
              <a:t>Google Calendar integration</a:t>
            </a:r>
            <a:endParaRPr lang="en-US" sz="1150" dirty="0"/>
          </a:p>
        </p:txBody>
      </p:sp>
      <p:sp>
        <p:nvSpPr>
          <p:cNvPr id="20" name="Text 18"/>
          <p:cNvSpPr txBox="1"/>
          <p:nvPr/>
        </p:nvSpPr>
        <p:spPr>
          <a:xfrm>
            <a:off x="2670048" y="3108960"/>
            <a:ext cx="2295144" cy="365760"/>
          </a:xfrm>
          <a:prstGeom prst="rect">
            <a:avLst/>
          </a:prstGeom>
          <a:noFill/>
          <a:ln/>
        </p:spPr>
        <p:txBody>
          <a:bodyPr wrap="square" lIns="0" tIns="0" rIns="0" bIns="0" rtlCol="0" anchor="t"/>
          <a:lstStyle/>
          <a:p>
            <a:pPr algn="l" indent="0" marL="0">
              <a:lnSpc>
                <a:spcPts val="1440"/>
              </a:lnSpc>
              <a:buNone/>
            </a:pPr>
            <a:r>
              <a:rPr lang="en-US" sz="1150" dirty="0">
                <a:solidFill>
                  <a:srgbClr val="5B6B70"/>
                </a:solidFill>
                <a:latin typeface="Arial" pitchFamily="34" charset="0"/>
                <a:ea typeface="Arial" pitchFamily="34" charset="-122"/>
                <a:cs typeface="Arial" pitchFamily="34" charset="-120"/>
              </a:rPr>
              <a:t>One-time connection and testing</a:t>
            </a:r>
            <a:endParaRPr lang="en-US" sz="1150" dirty="0"/>
          </a:p>
        </p:txBody>
      </p:sp>
      <p:sp>
        <p:nvSpPr>
          <p:cNvPr id="21" name="Text 19"/>
          <p:cNvSpPr txBox="1"/>
          <p:nvPr/>
        </p:nvSpPr>
        <p:spPr>
          <a:xfrm>
            <a:off x="5184648" y="3108960"/>
            <a:ext cx="1106424" cy="365760"/>
          </a:xfrm>
          <a:prstGeom prst="rect">
            <a:avLst/>
          </a:prstGeom>
          <a:noFill/>
          <a:ln/>
        </p:spPr>
        <p:txBody>
          <a:bodyPr wrap="square" lIns="0" tIns="0" rIns="0" bIns="0" rtlCol="0" anchor="t"/>
          <a:lstStyle/>
          <a:p>
            <a:pPr algn="r" indent="0" marL="0">
              <a:lnSpc>
                <a:spcPts val="1440"/>
              </a:lnSpc>
              <a:buNone/>
            </a:pPr>
            <a:r>
              <a:rPr lang="en-US" sz="1150" dirty="0">
                <a:solidFill>
                  <a:srgbClr val="14232B"/>
                </a:solidFill>
                <a:latin typeface="Arial" pitchFamily="34" charset="0"/>
                <a:ea typeface="Arial" pitchFamily="34" charset="-122"/>
                <a:cs typeface="Arial" pitchFamily="34" charset="-120"/>
              </a:rPr>
              <a:t>₹2,000</a:t>
            </a:r>
            <a:endParaRPr lang="en-US" sz="1150" dirty="0"/>
          </a:p>
        </p:txBody>
      </p:sp>
      <p:sp>
        <p:nvSpPr>
          <p:cNvPr id="22" name="Text 20"/>
          <p:cNvSpPr txBox="1"/>
          <p:nvPr/>
        </p:nvSpPr>
        <p:spPr>
          <a:xfrm>
            <a:off x="6510528" y="3108960"/>
            <a:ext cx="1106424" cy="365760"/>
          </a:xfrm>
          <a:prstGeom prst="rect">
            <a:avLst/>
          </a:prstGeom>
          <a:noFill/>
          <a:ln/>
        </p:spPr>
        <p:txBody>
          <a:bodyPr wrap="square" lIns="0" tIns="0" rIns="0" bIns="0" rtlCol="0" anchor="t"/>
          <a:lstStyle/>
          <a:p>
            <a:pPr algn="r" indent="0" marL="0">
              <a:lnSpc>
                <a:spcPts val="1440"/>
              </a:lnSpc>
              <a:buNone/>
            </a:pPr>
            <a:r>
              <a:rPr lang="en-US" sz="1150" dirty="0">
                <a:solidFill>
                  <a:srgbClr val="14232B"/>
                </a:solidFill>
                <a:latin typeface="Arial" pitchFamily="34" charset="0"/>
                <a:ea typeface="Arial" pitchFamily="34" charset="-122"/>
                <a:cs typeface="Arial" pitchFamily="34" charset="-120"/>
              </a:rPr>
              <a:t>—</a:t>
            </a:r>
            <a:endParaRPr lang="en-US" sz="1150" dirty="0"/>
          </a:p>
        </p:txBody>
      </p:sp>
      <p:sp>
        <p:nvSpPr>
          <p:cNvPr id="23" name="Shape 21"/>
          <p:cNvSpPr/>
          <p:nvPr/>
        </p:nvSpPr>
        <p:spPr>
          <a:xfrm>
            <a:off x="548640" y="3584448"/>
            <a:ext cx="7178040" cy="0"/>
          </a:xfrm>
          <a:prstGeom prst="line">
            <a:avLst/>
          </a:prstGeom>
          <a:noFill/>
          <a:ln w="9525">
            <a:solidFill>
              <a:srgbClr val="D5DEDB"/>
            </a:solidFill>
            <a:prstDash val="solid"/>
          </a:ln>
        </p:spPr>
      </p:sp>
      <p:sp>
        <p:nvSpPr>
          <p:cNvPr id="24" name="Shape 22"/>
          <p:cNvSpPr/>
          <p:nvPr/>
        </p:nvSpPr>
        <p:spPr>
          <a:xfrm>
            <a:off x="548640" y="3584448"/>
            <a:ext cx="7178040" cy="402336"/>
          </a:xfrm>
          <a:prstGeom prst="rect">
            <a:avLst/>
          </a:prstGeom>
          <a:solidFill>
            <a:srgbClr val="F6F8F7"/>
          </a:solidFill>
          <a:ln/>
        </p:spPr>
      </p:sp>
      <p:sp>
        <p:nvSpPr>
          <p:cNvPr id="25" name="Text 23"/>
          <p:cNvSpPr txBox="1"/>
          <p:nvPr/>
        </p:nvSpPr>
        <p:spPr>
          <a:xfrm>
            <a:off x="658368" y="3694176"/>
            <a:ext cx="1792224" cy="182880"/>
          </a:xfrm>
          <a:prstGeom prst="rect">
            <a:avLst/>
          </a:prstGeom>
          <a:noFill/>
          <a:ln/>
        </p:spPr>
        <p:txBody>
          <a:bodyPr wrap="square" lIns="0" tIns="0" rIns="0" bIns="0" rtlCol="0" anchor="t"/>
          <a:lstStyle/>
          <a:p>
            <a:pPr algn="l" indent="0" marL="0">
              <a:lnSpc>
                <a:spcPts val="1440"/>
              </a:lnSpc>
              <a:buNone/>
            </a:pPr>
            <a:r>
              <a:rPr lang="en-US" sz="1150" b="1" dirty="0">
                <a:solidFill>
                  <a:srgbClr val="14232B"/>
                </a:solidFill>
                <a:latin typeface="Arial" pitchFamily="34" charset="0"/>
                <a:ea typeface="Arial" pitchFamily="34" charset="-122"/>
                <a:cs typeface="Arial" pitchFamily="34" charset="-120"/>
              </a:rPr>
              <a:t>Subtotal</a:t>
            </a:r>
            <a:endParaRPr lang="en-US" sz="1150" dirty="0"/>
          </a:p>
        </p:txBody>
      </p:sp>
      <p:sp>
        <p:nvSpPr>
          <p:cNvPr id="26" name="Text 24"/>
          <p:cNvSpPr txBox="1"/>
          <p:nvPr/>
        </p:nvSpPr>
        <p:spPr>
          <a:xfrm>
            <a:off x="5184648" y="3694176"/>
            <a:ext cx="1106424" cy="182880"/>
          </a:xfrm>
          <a:prstGeom prst="rect">
            <a:avLst/>
          </a:prstGeom>
          <a:noFill/>
          <a:ln/>
        </p:spPr>
        <p:txBody>
          <a:bodyPr wrap="square" lIns="0" tIns="0" rIns="0" bIns="0" rtlCol="0" anchor="t"/>
          <a:lstStyle/>
          <a:p>
            <a:pPr algn="r" indent="0" marL="0">
              <a:lnSpc>
                <a:spcPts val="1440"/>
              </a:lnSpc>
              <a:buNone/>
            </a:pPr>
            <a:r>
              <a:rPr lang="en-US" sz="1150" b="1" dirty="0">
                <a:solidFill>
                  <a:srgbClr val="14232B"/>
                </a:solidFill>
                <a:latin typeface="Arial" pitchFamily="34" charset="0"/>
                <a:ea typeface="Arial" pitchFamily="34" charset="-122"/>
                <a:cs typeface="Arial" pitchFamily="34" charset="-120"/>
              </a:rPr>
              <a:t>₹9,500</a:t>
            </a:r>
            <a:endParaRPr lang="en-US" sz="1150" dirty="0"/>
          </a:p>
        </p:txBody>
      </p:sp>
      <p:sp>
        <p:nvSpPr>
          <p:cNvPr id="27" name="Text 25"/>
          <p:cNvSpPr txBox="1"/>
          <p:nvPr/>
        </p:nvSpPr>
        <p:spPr>
          <a:xfrm>
            <a:off x="6510528" y="3694176"/>
            <a:ext cx="1106424" cy="182880"/>
          </a:xfrm>
          <a:prstGeom prst="rect">
            <a:avLst/>
          </a:prstGeom>
          <a:noFill/>
          <a:ln/>
        </p:spPr>
        <p:txBody>
          <a:bodyPr wrap="square" lIns="0" tIns="0" rIns="0" bIns="0" rtlCol="0" anchor="t"/>
          <a:lstStyle/>
          <a:p>
            <a:pPr algn="r" indent="0" marL="0">
              <a:lnSpc>
                <a:spcPts val="1440"/>
              </a:lnSpc>
              <a:buNone/>
            </a:pPr>
            <a:r>
              <a:rPr lang="en-US" sz="1150" b="1" dirty="0">
                <a:solidFill>
                  <a:srgbClr val="14232B"/>
                </a:solidFill>
                <a:latin typeface="Arial" pitchFamily="34" charset="0"/>
                <a:ea typeface="Arial" pitchFamily="34" charset="-122"/>
                <a:cs typeface="Arial" pitchFamily="34" charset="-120"/>
              </a:rPr>
              <a:t>₹4,999</a:t>
            </a:r>
            <a:endParaRPr lang="en-US" sz="1150" dirty="0"/>
          </a:p>
        </p:txBody>
      </p:sp>
      <p:sp>
        <p:nvSpPr>
          <p:cNvPr id="28" name="Shape 26"/>
          <p:cNvSpPr/>
          <p:nvPr/>
        </p:nvSpPr>
        <p:spPr>
          <a:xfrm>
            <a:off x="548640" y="3986784"/>
            <a:ext cx="7178040" cy="0"/>
          </a:xfrm>
          <a:prstGeom prst="line">
            <a:avLst/>
          </a:prstGeom>
          <a:noFill/>
          <a:ln w="9525">
            <a:solidFill>
              <a:srgbClr val="D5DEDB"/>
            </a:solidFill>
            <a:prstDash val="solid"/>
          </a:ln>
        </p:spPr>
      </p:sp>
      <p:sp>
        <p:nvSpPr>
          <p:cNvPr id="29" name="Text 27"/>
          <p:cNvSpPr txBox="1"/>
          <p:nvPr/>
        </p:nvSpPr>
        <p:spPr>
          <a:xfrm>
            <a:off x="658368" y="4096512"/>
            <a:ext cx="1792224" cy="182880"/>
          </a:xfrm>
          <a:prstGeom prst="rect">
            <a:avLst/>
          </a:prstGeom>
          <a:noFill/>
          <a:ln/>
        </p:spPr>
        <p:txBody>
          <a:bodyPr wrap="square" lIns="0" tIns="0" rIns="0" bIns="0" rtlCol="0" anchor="t"/>
          <a:lstStyle/>
          <a:p>
            <a:pPr algn="l" indent="0" marL="0">
              <a:lnSpc>
                <a:spcPts val="1440"/>
              </a:lnSpc>
              <a:buNone/>
            </a:pPr>
            <a:r>
              <a:rPr lang="en-US" sz="1150" b="1" dirty="0">
                <a:solidFill>
                  <a:srgbClr val="14232B"/>
                </a:solidFill>
                <a:latin typeface="Arial" pitchFamily="34" charset="0"/>
                <a:ea typeface="Arial" pitchFamily="34" charset="-122"/>
                <a:cs typeface="Arial" pitchFamily="34" charset="-120"/>
              </a:rPr>
              <a:t>GST @ 18%</a:t>
            </a:r>
            <a:endParaRPr lang="en-US" sz="1150" dirty="0"/>
          </a:p>
        </p:txBody>
      </p:sp>
      <p:sp>
        <p:nvSpPr>
          <p:cNvPr id="30" name="Text 28"/>
          <p:cNvSpPr txBox="1"/>
          <p:nvPr/>
        </p:nvSpPr>
        <p:spPr>
          <a:xfrm>
            <a:off x="5184648" y="4096512"/>
            <a:ext cx="1106424" cy="182880"/>
          </a:xfrm>
          <a:prstGeom prst="rect">
            <a:avLst/>
          </a:prstGeom>
          <a:noFill/>
          <a:ln/>
        </p:spPr>
        <p:txBody>
          <a:bodyPr wrap="square" lIns="0" tIns="0" rIns="0" bIns="0" rtlCol="0" anchor="t"/>
          <a:lstStyle/>
          <a:p>
            <a:pPr algn="r" indent="0" marL="0">
              <a:lnSpc>
                <a:spcPts val="1440"/>
              </a:lnSpc>
              <a:buNone/>
            </a:pPr>
            <a:r>
              <a:rPr lang="en-US" sz="1150" b="1" dirty="0">
                <a:solidFill>
                  <a:srgbClr val="14232B"/>
                </a:solidFill>
                <a:latin typeface="Arial" pitchFamily="34" charset="0"/>
                <a:ea typeface="Arial" pitchFamily="34" charset="-122"/>
                <a:cs typeface="Arial" pitchFamily="34" charset="-120"/>
              </a:rPr>
              <a:t>₹1,710</a:t>
            </a:r>
            <a:endParaRPr lang="en-US" sz="1150" dirty="0"/>
          </a:p>
        </p:txBody>
      </p:sp>
      <p:sp>
        <p:nvSpPr>
          <p:cNvPr id="31" name="Text 29"/>
          <p:cNvSpPr txBox="1"/>
          <p:nvPr/>
        </p:nvSpPr>
        <p:spPr>
          <a:xfrm>
            <a:off x="6510528" y="4096512"/>
            <a:ext cx="1106424" cy="182880"/>
          </a:xfrm>
          <a:prstGeom prst="rect">
            <a:avLst/>
          </a:prstGeom>
          <a:noFill/>
          <a:ln/>
        </p:spPr>
        <p:txBody>
          <a:bodyPr wrap="square" lIns="0" tIns="0" rIns="0" bIns="0" rtlCol="0" anchor="t"/>
          <a:lstStyle/>
          <a:p>
            <a:pPr algn="r" indent="0" marL="0">
              <a:lnSpc>
                <a:spcPts val="1440"/>
              </a:lnSpc>
              <a:buNone/>
            </a:pPr>
            <a:r>
              <a:rPr lang="en-US" sz="1150" b="1" dirty="0">
                <a:solidFill>
                  <a:srgbClr val="14232B"/>
                </a:solidFill>
                <a:latin typeface="Arial" pitchFamily="34" charset="0"/>
                <a:ea typeface="Arial" pitchFamily="34" charset="-122"/>
                <a:cs typeface="Arial" pitchFamily="34" charset="-120"/>
              </a:rPr>
              <a:t>₹899.82</a:t>
            </a:r>
            <a:endParaRPr lang="en-US" sz="1150" dirty="0"/>
          </a:p>
        </p:txBody>
      </p:sp>
      <p:sp>
        <p:nvSpPr>
          <p:cNvPr id="32" name="Shape 30"/>
          <p:cNvSpPr/>
          <p:nvPr/>
        </p:nvSpPr>
        <p:spPr>
          <a:xfrm>
            <a:off x="548640" y="4389120"/>
            <a:ext cx="7178040" cy="0"/>
          </a:xfrm>
          <a:prstGeom prst="line">
            <a:avLst/>
          </a:prstGeom>
          <a:noFill/>
          <a:ln w="9525">
            <a:solidFill>
              <a:srgbClr val="D5DEDB"/>
            </a:solidFill>
            <a:prstDash val="solid"/>
          </a:ln>
        </p:spPr>
      </p:sp>
      <p:sp>
        <p:nvSpPr>
          <p:cNvPr id="33" name="Shape 31"/>
          <p:cNvSpPr/>
          <p:nvPr/>
        </p:nvSpPr>
        <p:spPr>
          <a:xfrm>
            <a:off x="548640" y="4389120"/>
            <a:ext cx="7178040" cy="402336"/>
          </a:xfrm>
          <a:prstGeom prst="rect">
            <a:avLst/>
          </a:prstGeom>
          <a:solidFill>
            <a:srgbClr val="DCEFEA"/>
          </a:solidFill>
          <a:ln/>
        </p:spPr>
      </p:sp>
      <p:sp>
        <p:nvSpPr>
          <p:cNvPr id="34" name="Text 32"/>
          <p:cNvSpPr txBox="1"/>
          <p:nvPr/>
        </p:nvSpPr>
        <p:spPr>
          <a:xfrm>
            <a:off x="658368" y="4498848"/>
            <a:ext cx="1792224" cy="182880"/>
          </a:xfrm>
          <a:prstGeom prst="rect">
            <a:avLst/>
          </a:prstGeom>
          <a:noFill/>
          <a:ln/>
        </p:spPr>
        <p:txBody>
          <a:bodyPr wrap="square" lIns="0" tIns="0" rIns="0" bIns="0" rtlCol="0" anchor="t"/>
          <a:lstStyle/>
          <a:p>
            <a:pPr algn="l" indent="0" marL="0">
              <a:lnSpc>
                <a:spcPts val="1440"/>
              </a:lnSpc>
              <a:buNone/>
            </a:pPr>
            <a:r>
              <a:rPr lang="en-US" sz="1150" b="1" dirty="0">
                <a:solidFill>
                  <a:srgbClr val="14232B"/>
                </a:solidFill>
                <a:latin typeface="Arial" pitchFamily="34" charset="0"/>
                <a:ea typeface="Arial" pitchFamily="34" charset="-122"/>
                <a:cs typeface="Arial" pitchFamily="34" charset="-120"/>
              </a:rPr>
              <a:t>Total</a:t>
            </a:r>
            <a:endParaRPr lang="en-US" sz="1150" dirty="0"/>
          </a:p>
        </p:txBody>
      </p:sp>
      <p:sp>
        <p:nvSpPr>
          <p:cNvPr id="35" name="Text 33"/>
          <p:cNvSpPr txBox="1"/>
          <p:nvPr/>
        </p:nvSpPr>
        <p:spPr>
          <a:xfrm>
            <a:off x="2670048" y="4498848"/>
            <a:ext cx="2295144" cy="182880"/>
          </a:xfrm>
          <a:prstGeom prst="rect">
            <a:avLst/>
          </a:prstGeom>
          <a:noFill/>
          <a:ln/>
        </p:spPr>
        <p:txBody>
          <a:bodyPr wrap="square" lIns="0" tIns="0" rIns="0" bIns="0" rtlCol="0" anchor="t"/>
          <a:lstStyle/>
          <a:p>
            <a:pPr algn="l" indent="0" marL="0">
              <a:lnSpc>
                <a:spcPts val="1440"/>
              </a:lnSpc>
              <a:buNone/>
            </a:pPr>
            <a:r>
              <a:rPr lang="en-US" sz="1150" b="1" dirty="0">
                <a:solidFill>
                  <a:srgbClr val="14232B"/>
                </a:solidFill>
                <a:latin typeface="Arial" pitchFamily="34" charset="0"/>
                <a:ea typeface="Arial" pitchFamily="34" charset="-122"/>
                <a:cs typeface="Arial" pitchFamily="34" charset="-120"/>
              </a:rPr>
              <a:t>Including tax</a:t>
            </a:r>
            <a:endParaRPr lang="en-US" sz="1150" dirty="0"/>
          </a:p>
        </p:txBody>
      </p:sp>
      <p:sp>
        <p:nvSpPr>
          <p:cNvPr id="36" name="Text 34"/>
          <p:cNvSpPr txBox="1"/>
          <p:nvPr/>
        </p:nvSpPr>
        <p:spPr>
          <a:xfrm>
            <a:off x="5184648" y="4498848"/>
            <a:ext cx="1106424" cy="182880"/>
          </a:xfrm>
          <a:prstGeom prst="rect">
            <a:avLst/>
          </a:prstGeom>
          <a:noFill/>
          <a:ln/>
        </p:spPr>
        <p:txBody>
          <a:bodyPr wrap="square" lIns="0" tIns="0" rIns="0" bIns="0" rtlCol="0" anchor="t"/>
          <a:lstStyle/>
          <a:p>
            <a:pPr algn="r" indent="0" marL="0">
              <a:lnSpc>
                <a:spcPts val="1440"/>
              </a:lnSpc>
              <a:buNone/>
            </a:pPr>
            <a:r>
              <a:rPr lang="en-US" sz="1150" b="1" dirty="0">
                <a:solidFill>
                  <a:srgbClr val="14232B"/>
                </a:solidFill>
                <a:latin typeface="Arial" pitchFamily="34" charset="0"/>
                <a:ea typeface="Arial" pitchFamily="34" charset="-122"/>
                <a:cs typeface="Arial" pitchFamily="34" charset="-120"/>
              </a:rPr>
              <a:t>₹11,210</a:t>
            </a:r>
            <a:endParaRPr lang="en-US" sz="1150" dirty="0"/>
          </a:p>
        </p:txBody>
      </p:sp>
      <p:sp>
        <p:nvSpPr>
          <p:cNvPr id="37" name="Text 35"/>
          <p:cNvSpPr txBox="1"/>
          <p:nvPr/>
        </p:nvSpPr>
        <p:spPr>
          <a:xfrm>
            <a:off x="6510528" y="4498848"/>
            <a:ext cx="1106424" cy="182880"/>
          </a:xfrm>
          <a:prstGeom prst="rect">
            <a:avLst/>
          </a:prstGeom>
          <a:noFill/>
          <a:ln/>
        </p:spPr>
        <p:txBody>
          <a:bodyPr wrap="square" lIns="0" tIns="0" rIns="0" bIns="0" rtlCol="0" anchor="t"/>
          <a:lstStyle/>
          <a:p>
            <a:pPr algn="r" indent="0" marL="0">
              <a:lnSpc>
                <a:spcPts val="1440"/>
              </a:lnSpc>
              <a:buNone/>
            </a:pPr>
            <a:r>
              <a:rPr lang="en-US" sz="1150" b="1" dirty="0">
                <a:solidFill>
                  <a:srgbClr val="14232B"/>
                </a:solidFill>
                <a:latin typeface="Arial" pitchFamily="34" charset="0"/>
                <a:ea typeface="Arial" pitchFamily="34" charset="-122"/>
                <a:cs typeface="Arial" pitchFamily="34" charset="-120"/>
              </a:rPr>
              <a:t>₹5,898.82</a:t>
            </a:r>
            <a:endParaRPr lang="en-US" sz="1150" dirty="0"/>
          </a:p>
        </p:txBody>
      </p:sp>
      <p:sp>
        <p:nvSpPr>
          <p:cNvPr id="38" name="Shape 36"/>
          <p:cNvSpPr/>
          <p:nvPr/>
        </p:nvSpPr>
        <p:spPr>
          <a:xfrm>
            <a:off x="548640" y="4791456"/>
            <a:ext cx="7178040" cy="0"/>
          </a:xfrm>
          <a:prstGeom prst="line">
            <a:avLst/>
          </a:prstGeom>
          <a:noFill/>
          <a:ln w="12700">
            <a:solidFill>
              <a:srgbClr val="0E7C6B"/>
            </a:solidFill>
            <a:prstDash val="solid"/>
          </a:ln>
        </p:spPr>
      </p:sp>
      <p:sp>
        <p:nvSpPr>
          <p:cNvPr id="39" name="Text 37"/>
          <p:cNvSpPr txBox="1"/>
          <p:nvPr/>
        </p:nvSpPr>
        <p:spPr>
          <a:xfrm>
            <a:off x="548640" y="4928616"/>
            <a:ext cx="7178040" cy="1243584"/>
          </a:xfrm>
          <a:prstGeom prst="rect">
            <a:avLst/>
          </a:prstGeom>
          <a:noFill/>
          <a:ln/>
        </p:spPr>
        <p:txBody>
          <a:bodyPr wrap="square" lIns="0" tIns="0" rIns="0" bIns="0" rtlCol="0" anchor="t"/>
          <a:lstStyle/>
          <a:p>
            <a:pPr algn="l" indent="0" marL="0">
              <a:lnSpc>
                <a:spcPts val="1250"/>
              </a:lnSpc>
              <a:spcAft>
                <a:spcPts val="400"/>
              </a:spcAft>
              <a:buNone/>
            </a:pPr>
            <a:r>
              <a:rPr lang="en-US" sz="1000" dirty="0">
                <a:solidFill>
                  <a:srgbClr val="5B6B70"/>
                </a:solidFill>
                <a:latin typeface="Arial" pitchFamily="34" charset="0"/>
                <a:ea typeface="Arial" pitchFamily="34" charset="-122"/>
                <a:cs typeface="Arial" pitchFamily="34" charset="-120"/>
              </a:rPr>
              <a:t>Amounts above are exclusive of GST; GST at 18% is shown separately.</a:t>
            </a:r>
            <a:endParaRPr lang="en-US" sz="1000" dirty="0"/>
          </a:p>
          <a:p>
            <a:pPr algn="l" indent="0" marL="0">
              <a:lnSpc>
                <a:spcPts val="1250"/>
              </a:lnSpc>
              <a:buNone/>
            </a:pPr>
            <a:r>
              <a:rPr lang="en-US" sz="1000" dirty="0">
                <a:solidFill>
                  <a:srgbClr val="5B6B70"/>
                </a:solidFill>
                <a:latin typeface="Arial" pitchFamily="34" charset="0"/>
                <a:ea typeface="Arial" pitchFamily="34" charset="-122"/>
                <a:cs typeface="Arial" pitchFamily="34" charset="-120"/>
              </a:rPr>
              <a:t>Third-party platform, messaging, and integration charges are included only where explicitly stated in this proposal.</a:t>
            </a:r>
            <a:endParaRPr lang="en-US" sz="1000" dirty="0"/>
          </a:p>
        </p:txBody>
      </p:sp>
      <p:sp>
        <p:nvSpPr>
          <p:cNvPr id="40" name="Shape 38"/>
          <p:cNvSpPr/>
          <p:nvPr/>
        </p:nvSpPr>
        <p:spPr>
          <a:xfrm>
            <a:off x="8092440" y="1463040"/>
            <a:ext cx="3550615" cy="960120"/>
          </a:xfrm>
          <a:prstGeom prst="roundRect">
            <a:avLst>
              <a:gd name="adj" fmla="val 11905"/>
            </a:avLst>
          </a:prstGeom>
          <a:solidFill>
            <a:srgbClr val="FFFFFF"/>
          </a:solidFill>
          <a:ln w="9525">
            <a:solidFill>
              <a:srgbClr val="D5DEDB"/>
            </a:solidFill>
            <a:prstDash val="solid"/>
          </a:ln>
        </p:spPr>
      </p:sp>
      <p:sp>
        <p:nvSpPr>
          <p:cNvPr id="41" name="Text 39"/>
          <p:cNvSpPr txBox="1"/>
          <p:nvPr/>
        </p:nvSpPr>
        <p:spPr>
          <a:xfrm>
            <a:off x="8321040" y="1600200"/>
            <a:ext cx="3093415"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One-time total</a:t>
            </a:r>
            <a:endParaRPr lang="en-US" sz="1000" dirty="0"/>
          </a:p>
        </p:txBody>
      </p:sp>
      <p:sp>
        <p:nvSpPr>
          <p:cNvPr id="42" name="Text 40"/>
          <p:cNvSpPr txBox="1"/>
          <p:nvPr/>
        </p:nvSpPr>
        <p:spPr>
          <a:xfrm>
            <a:off x="8321040" y="1801368"/>
            <a:ext cx="3093415" cy="365760"/>
          </a:xfrm>
          <a:prstGeom prst="rect">
            <a:avLst/>
          </a:prstGeom>
          <a:noFill/>
          <a:ln/>
        </p:spPr>
        <p:txBody>
          <a:bodyPr wrap="square" lIns="0" tIns="0" rIns="0" bIns="0" rtlCol="0" anchor="t"/>
          <a:lstStyle/>
          <a:p>
            <a:pPr algn="l" indent="0" marL="0">
              <a:lnSpc>
                <a:spcPts val="2750"/>
              </a:lnSpc>
              <a:buNone/>
            </a:pPr>
            <a:r>
              <a:rPr lang="en-US" sz="2200" b="1" dirty="0">
                <a:solidFill>
                  <a:srgbClr val="14232B"/>
                </a:solidFill>
                <a:latin typeface="Arial" pitchFamily="34" charset="0"/>
                <a:ea typeface="Arial" pitchFamily="34" charset="-122"/>
                <a:cs typeface="Arial" pitchFamily="34" charset="-120"/>
              </a:rPr>
              <a:t>₹11,210</a:t>
            </a:r>
            <a:endParaRPr lang="en-US" sz="2200" dirty="0"/>
          </a:p>
        </p:txBody>
      </p:sp>
      <p:sp>
        <p:nvSpPr>
          <p:cNvPr id="43" name="Text 41"/>
          <p:cNvSpPr txBox="1"/>
          <p:nvPr/>
        </p:nvSpPr>
        <p:spPr>
          <a:xfrm>
            <a:off x="8321040" y="2176272"/>
            <a:ext cx="3093415" cy="164592"/>
          </a:xfrm>
          <a:prstGeom prst="rect">
            <a:avLst/>
          </a:prstGeom>
          <a:noFill/>
          <a:ln/>
        </p:spPr>
        <p:txBody>
          <a:bodyPr wrap="square" lIns="0" tIns="0" rIns="0" bIns="0" rtlCol="0" anchor="t"/>
          <a:lstStyle/>
          <a:p>
            <a:pPr algn="l" indent="0" marL="0">
              <a:lnSpc>
                <a:spcPts val="1130"/>
              </a:lnSpc>
              <a:buNone/>
            </a:pPr>
            <a:r>
              <a:rPr lang="en-US" sz="900" dirty="0">
                <a:solidFill>
                  <a:srgbClr val="5B6B70"/>
                </a:solidFill>
                <a:latin typeface="Arial" pitchFamily="34" charset="0"/>
                <a:ea typeface="Arial" pitchFamily="34" charset="-122"/>
                <a:cs typeface="Arial" pitchFamily="34" charset="-120"/>
              </a:rPr>
              <a:t>Including GST @ 18%</a:t>
            </a:r>
            <a:endParaRPr lang="en-US" sz="900" dirty="0"/>
          </a:p>
        </p:txBody>
      </p:sp>
      <p:sp>
        <p:nvSpPr>
          <p:cNvPr id="44" name="Shape 42"/>
          <p:cNvSpPr/>
          <p:nvPr/>
        </p:nvSpPr>
        <p:spPr>
          <a:xfrm>
            <a:off x="8092440" y="2560320"/>
            <a:ext cx="3550615" cy="960120"/>
          </a:xfrm>
          <a:prstGeom prst="roundRect">
            <a:avLst>
              <a:gd name="adj" fmla="val 11905"/>
            </a:avLst>
          </a:prstGeom>
          <a:solidFill>
            <a:srgbClr val="14232B"/>
          </a:solidFill>
          <a:ln w="9525">
            <a:solidFill>
              <a:srgbClr val="14232B"/>
            </a:solidFill>
            <a:prstDash val="solid"/>
          </a:ln>
        </p:spPr>
      </p:sp>
      <p:sp>
        <p:nvSpPr>
          <p:cNvPr id="45" name="Text 43"/>
          <p:cNvSpPr txBox="1"/>
          <p:nvPr/>
        </p:nvSpPr>
        <p:spPr>
          <a:xfrm>
            <a:off x="8321040" y="2697480"/>
            <a:ext cx="3093415" cy="158750"/>
          </a:xfrm>
          <a:prstGeom prst="rect">
            <a:avLst/>
          </a:prstGeom>
          <a:noFill/>
          <a:ln/>
        </p:spPr>
        <p:txBody>
          <a:bodyPr wrap="square" lIns="0" tIns="0" rIns="0" bIns="0" rtlCol="0" anchor="t"/>
          <a:lstStyle/>
          <a:p>
            <a:pPr algn="l" indent="0" marL="0">
              <a:lnSpc>
                <a:spcPts val="1250"/>
              </a:lnSpc>
              <a:buNone/>
            </a:pPr>
            <a:r>
              <a:rPr lang="en-US" sz="1000" b="1" dirty="0">
                <a:solidFill>
                  <a:srgbClr val="3FC0A6"/>
                </a:solidFill>
                <a:latin typeface="Arial" pitchFamily="34" charset="0"/>
                <a:ea typeface="Arial" pitchFamily="34" charset="-122"/>
                <a:cs typeface="Arial" pitchFamily="34" charset="-120"/>
              </a:rPr>
              <a:t>Monthly total</a:t>
            </a:r>
            <a:endParaRPr lang="en-US" sz="1000" dirty="0"/>
          </a:p>
        </p:txBody>
      </p:sp>
      <p:sp>
        <p:nvSpPr>
          <p:cNvPr id="46" name="Text 44"/>
          <p:cNvSpPr txBox="1"/>
          <p:nvPr/>
        </p:nvSpPr>
        <p:spPr>
          <a:xfrm>
            <a:off x="8321040" y="2898648"/>
            <a:ext cx="3093415" cy="365760"/>
          </a:xfrm>
          <a:prstGeom prst="rect">
            <a:avLst/>
          </a:prstGeom>
          <a:noFill/>
          <a:ln/>
        </p:spPr>
        <p:txBody>
          <a:bodyPr wrap="square" lIns="0" tIns="0" rIns="0" bIns="0" rtlCol="0" anchor="t"/>
          <a:lstStyle/>
          <a:p>
            <a:pPr algn="l" indent="0" marL="0">
              <a:lnSpc>
                <a:spcPts val="2750"/>
              </a:lnSpc>
              <a:buNone/>
            </a:pPr>
            <a:r>
              <a:rPr lang="en-US" sz="2200" b="1" dirty="0">
                <a:solidFill>
                  <a:srgbClr val="FFFFFF"/>
                </a:solidFill>
                <a:latin typeface="Arial" pitchFamily="34" charset="0"/>
                <a:ea typeface="Arial" pitchFamily="34" charset="-122"/>
                <a:cs typeface="Arial" pitchFamily="34" charset="-120"/>
              </a:rPr>
              <a:t>₹5,898.82 / month</a:t>
            </a:r>
            <a:endParaRPr lang="en-US" sz="2200" dirty="0"/>
          </a:p>
        </p:txBody>
      </p:sp>
      <p:sp>
        <p:nvSpPr>
          <p:cNvPr id="47" name="Text 45"/>
          <p:cNvSpPr txBox="1"/>
          <p:nvPr/>
        </p:nvSpPr>
        <p:spPr>
          <a:xfrm>
            <a:off x="8321040" y="3273552"/>
            <a:ext cx="3093415" cy="164592"/>
          </a:xfrm>
          <a:prstGeom prst="rect">
            <a:avLst/>
          </a:prstGeom>
          <a:noFill/>
          <a:ln/>
        </p:spPr>
        <p:txBody>
          <a:bodyPr wrap="square" lIns="0" tIns="0" rIns="0" bIns="0" rtlCol="0" anchor="t"/>
          <a:lstStyle/>
          <a:p>
            <a:pPr algn="l" indent="0" marL="0">
              <a:lnSpc>
                <a:spcPts val="1130"/>
              </a:lnSpc>
              <a:buNone/>
            </a:pPr>
            <a:r>
              <a:rPr lang="en-US" sz="900" dirty="0">
                <a:solidFill>
                  <a:srgbClr val="C9D6D3"/>
                </a:solidFill>
                <a:latin typeface="Arial" pitchFamily="34" charset="0"/>
                <a:ea typeface="Arial" pitchFamily="34" charset="-122"/>
                <a:cs typeface="Arial" pitchFamily="34" charset="-120"/>
              </a:rPr>
              <a:t>Including GST @ 18%</a:t>
            </a:r>
            <a:endParaRPr lang="en-US" sz="900" dirty="0"/>
          </a:p>
        </p:txBody>
      </p:sp>
      <p:sp>
        <p:nvSpPr>
          <p:cNvPr id="48" name="Text 46"/>
          <p:cNvSpPr txBox="1"/>
          <p:nvPr/>
        </p:nvSpPr>
        <p:spPr>
          <a:xfrm>
            <a:off x="8092440" y="3749040"/>
            <a:ext cx="3550615"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Included usage</a:t>
            </a:r>
            <a:endParaRPr lang="en-US" sz="1000" dirty="0"/>
          </a:p>
        </p:txBody>
      </p:sp>
      <p:sp>
        <p:nvSpPr>
          <p:cNvPr id="49" name="Text 47"/>
          <p:cNvSpPr txBox="1"/>
          <p:nvPr/>
        </p:nvSpPr>
        <p:spPr>
          <a:xfrm>
            <a:off x="8092440" y="3962654"/>
            <a:ext cx="3550615" cy="182880"/>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Up to 1,000 automated follow-up messages a month.</a:t>
            </a:r>
            <a:endParaRPr lang="en-US" sz="1100" dirty="0"/>
          </a:p>
        </p:txBody>
      </p:sp>
      <p:sp>
        <p:nvSpPr>
          <p:cNvPr id="50" name="Text 48"/>
          <p:cNvSpPr txBox="1"/>
          <p:nvPr/>
        </p:nvSpPr>
        <p:spPr>
          <a:xfrm>
            <a:off x="8092440" y="4284218"/>
            <a:ext cx="3550615"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Third-party charges</a:t>
            </a:r>
            <a:endParaRPr lang="en-US" sz="1000" dirty="0"/>
          </a:p>
        </p:txBody>
      </p:sp>
      <p:sp>
        <p:nvSpPr>
          <p:cNvPr id="51" name="Text 49"/>
          <p:cNvSpPr txBox="1"/>
          <p:nvPr/>
        </p:nvSpPr>
        <p:spPr>
          <a:xfrm>
            <a:off x="8092440" y="4497832"/>
            <a:ext cx="3550615" cy="350520"/>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WhatsApp conversation charges set by Meta are billed separately, at actual cost.</a:t>
            </a:r>
            <a:endParaRPr lang="en-US" sz="1100" dirty="0"/>
          </a:p>
        </p:txBody>
      </p:sp>
      <p:sp>
        <p:nvSpPr>
          <p:cNvPr id="52" name="Text 50"/>
          <p:cNvSpPr txBox="1"/>
          <p:nvPr/>
        </p:nvSpPr>
        <p:spPr>
          <a:xfrm>
            <a:off x="8092440" y="4994656"/>
            <a:ext cx="3550615"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Payment terms</a:t>
            </a:r>
            <a:endParaRPr lang="en-US" sz="1000" dirty="0"/>
          </a:p>
        </p:txBody>
      </p:sp>
      <p:sp>
        <p:nvSpPr>
          <p:cNvPr id="53" name="Text 51"/>
          <p:cNvSpPr txBox="1"/>
          <p:nvPr/>
        </p:nvSpPr>
        <p:spPr>
          <a:xfrm>
            <a:off x="8092440" y="5208270"/>
            <a:ext cx="3550615" cy="350520"/>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Setup fee payable on approval. Monthly fee payable in advance at the start of each month.</a:t>
            </a:r>
            <a:endParaRPr lang="en-US" sz="1100" dirty="0"/>
          </a:p>
        </p:txBody>
      </p:sp>
      <p:sp>
        <p:nvSpPr>
          <p:cNvPr id="54" name="Text 52"/>
          <p:cNvSpPr txBox="1"/>
          <p:nvPr/>
        </p:nvSpPr>
        <p:spPr>
          <a:xfrm>
            <a:off x="8092440" y="5705094"/>
            <a:ext cx="3550615"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Proposal validity</a:t>
            </a:r>
            <a:endParaRPr lang="en-US" sz="1000" dirty="0"/>
          </a:p>
        </p:txBody>
      </p:sp>
      <p:sp>
        <p:nvSpPr>
          <p:cNvPr id="55" name="Text 53"/>
          <p:cNvSpPr txBox="1"/>
          <p:nvPr/>
        </p:nvSpPr>
        <p:spPr>
          <a:xfrm>
            <a:off x="8092440" y="5918708"/>
            <a:ext cx="3550615" cy="182880"/>
          </a:xfrm>
          <a:prstGeom prst="rect">
            <a:avLst/>
          </a:prstGeom>
          <a:noFill/>
          <a:ln/>
        </p:spPr>
        <p:txBody>
          <a:bodyPr wrap="square" lIns="0" tIns="0" rIns="0" bIns="0" rtlCol="0" anchor="t"/>
          <a:lstStyle/>
          <a:p>
            <a:pPr algn="l" indent="0" marL="0">
              <a:lnSpc>
                <a:spcPts val="1380"/>
              </a:lnSpc>
              <a:buNone/>
            </a:pPr>
            <a:r>
              <a:rPr lang="en-US" sz="1100" dirty="0">
                <a:solidFill>
                  <a:srgbClr val="14232B"/>
                </a:solidFill>
                <a:latin typeface="Arial" pitchFamily="34" charset="0"/>
                <a:ea typeface="Arial" pitchFamily="34" charset="-122"/>
                <a:cs typeface="Arial" pitchFamily="34" charset="-120"/>
              </a:rPr>
              <a:t>Valid for 30 days, until 9 Nov 2026.</a:t>
            </a:r>
            <a:endParaRPr lang="en-US" sz="1100" dirty="0"/>
          </a:p>
        </p:txBody>
      </p:sp>
      <p:sp>
        <p:nvSpPr>
          <p:cNvPr id="56" name="Shape 54"/>
          <p:cNvSpPr/>
          <p:nvPr/>
        </p:nvSpPr>
        <p:spPr>
          <a:xfrm>
            <a:off x="548640" y="6355080"/>
            <a:ext cx="11094415" cy="0"/>
          </a:xfrm>
          <a:prstGeom prst="line">
            <a:avLst/>
          </a:prstGeom>
          <a:noFill/>
          <a:ln w="9525">
            <a:solidFill>
              <a:srgbClr val="D5DEDB"/>
            </a:solidFill>
            <a:prstDash val="solid"/>
          </a:ln>
        </p:spPr>
      </p:sp>
      <p:sp>
        <p:nvSpPr>
          <p:cNvPr id="57" name="Text 55"/>
          <p:cNvSpPr txBox="1"/>
          <p:nvPr/>
        </p:nvSpPr>
        <p:spPr>
          <a:xfrm>
            <a:off x="548640" y="6437376"/>
            <a:ext cx="9144000" cy="182880"/>
          </a:xfrm>
          <a:prstGeom prst="rect">
            <a:avLst/>
          </a:prstGeom>
          <a:noFill/>
          <a:ln/>
        </p:spPr>
        <p:txBody>
          <a:bodyPr wrap="square" lIns="0" tIns="0" rIns="0" bIns="0" rtlCol="0" anchor="t"/>
          <a:lstStyle/>
          <a:p>
            <a:pPr algn="l" indent="0" marL="0">
              <a:lnSpc>
                <a:spcPts val="1130"/>
              </a:lnSpc>
              <a:buNone/>
            </a:pPr>
            <a:r>
              <a:rPr lang="en-US" sz="900" dirty="0">
                <a:solidFill>
                  <a:srgbClr val="5B6B70"/>
                </a:solidFill>
                <a:latin typeface="Arial" pitchFamily="34" charset="0"/>
                <a:ea typeface="Arial" pitchFamily="34" charset="-122"/>
                <a:cs typeface="Arial" pitchFamily="34" charset="-120"/>
              </a:rPr>
              <a:t>Patientcurve  ·  Proposal for Sample Smile Dental Studio (fictional)  ·  Ref SAMPLE-001</a:t>
            </a:r>
            <a:endParaRPr lang="en-US" sz="900" dirty="0"/>
          </a:p>
        </p:txBody>
      </p:sp>
      <p:sp>
        <p:nvSpPr>
          <p:cNvPr id="58" name="Text 56"/>
          <p:cNvSpPr txBox="1"/>
          <p:nvPr/>
        </p:nvSpPr>
        <p:spPr>
          <a:xfrm>
            <a:off x="10271455" y="6437376"/>
            <a:ext cx="1371600" cy="182880"/>
          </a:xfrm>
          <a:prstGeom prst="rect">
            <a:avLst/>
          </a:prstGeom>
          <a:noFill/>
          <a:ln/>
        </p:spPr>
        <p:txBody>
          <a:bodyPr wrap="square" lIns="0" tIns="0" rIns="0" bIns="0" rtlCol="0" anchor="t"/>
          <a:lstStyle/>
          <a:p>
            <a:pPr algn="r" indent="0" marL="0">
              <a:lnSpc>
                <a:spcPts val="1130"/>
              </a:lnSpc>
              <a:buNone/>
            </a:pPr>
            <a:r>
              <a:rPr lang="en-US" sz="900" dirty="0">
                <a:solidFill>
                  <a:srgbClr val="5B6B70"/>
                </a:solidFill>
                <a:latin typeface="Arial" pitchFamily="34" charset="0"/>
                <a:ea typeface="Arial" pitchFamily="34" charset="-122"/>
                <a:cs typeface="Arial" pitchFamily="34" charset="-120"/>
              </a:rPr>
              <a:t>7 / 10</a:t>
            </a:r>
            <a:endParaRPr lang="en-US" sz="900" dirty="0"/>
          </a:p>
        </p:txBody>
      </p:sp>
      <p:sp>
        <p:nvSpPr>
          <p:cNvPr id="59" name="Shape 57"/>
          <p:cNvSpPr/>
          <p:nvPr/>
        </p:nvSpPr>
        <p:spPr>
          <a:xfrm>
            <a:off x="0" y="0"/>
            <a:ext cx="12191695" cy="237744"/>
          </a:xfrm>
          <a:prstGeom prst="rect">
            <a:avLst/>
          </a:prstGeom>
          <a:solidFill>
            <a:srgbClr val="8F5A0E"/>
          </a:solidFill>
          <a:ln/>
        </p:spPr>
      </p:sp>
      <p:sp>
        <p:nvSpPr>
          <p:cNvPr id="60" name="Text 58"/>
          <p:cNvSpPr txBox="1"/>
          <p:nvPr/>
        </p:nvSpPr>
        <p:spPr>
          <a:xfrm>
            <a:off x="0" y="50292"/>
            <a:ext cx="12191695" cy="146304"/>
          </a:xfrm>
          <a:prstGeom prst="rect">
            <a:avLst/>
          </a:prstGeom>
          <a:noFill/>
          <a:ln/>
        </p:spPr>
        <p:txBody>
          <a:bodyPr wrap="square" lIns="0" tIns="0" rIns="0" bIns="0" rtlCol="0" anchor="t"/>
          <a:lstStyle/>
          <a:p>
            <a:pPr algn="ctr" indent="0" marL="0">
              <a:lnSpc>
                <a:spcPts val="1060"/>
              </a:lnSpc>
              <a:buNone/>
            </a:pPr>
            <a:r>
              <a:rPr lang="en-US" sz="850" b="1" spc="100" kern="0" dirty="0">
                <a:solidFill>
                  <a:srgbClr val="FFFFFF"/>
                </a:solidFill>
                <a:latin typeface="Arial" pitchFamily="34" charset="0"/>
                <a:ea typeface="Arial" pitchFamily="34" charset="-122"/>
                <a:cs typeface="Arial" pitchFamily="34" charset="-120"/>
              </a:rPr>
              <a:t>SAMPLE PROPOSAL  ·  FICTIONAL CLINIC DATA  ·  DO NOT SEND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175260"/>
          </a:xfrm>
          <a:prstGeom prst="rect">
            <a:avLst/>
          </a:prstGeom>
          <a:noFill/>
          <a:ln/>
        </p:spPr>
        <p:txBody>
          <a:bodyPr wrap="square" lIns="0" tIns="0" rIns="0" bIns="0" rtlCol="0" anchor="t"/>
          <a:lstStyle/>
          <a:p>
            <a:pPr algn="l" indent="0" marL="0">
              <a:lnSpc>
                <a:spcPts val="1380"/>
              </a:lnSpc>
              <a:buNone/>
            </a:pPr>
            <a:r>
              <a:rPr lang="en-US" sz="1100" b="1" dirty="0">
                <a:solidFill>
                  <a:srgbClr val="0E7C6B"/>
                </a:solidFill>
                <a:latin typeface="Arial" pitchFamily="34" charset="0"/>
                <a:ea typeface="Arial" pitchFamily="34" charset="-122"/>
                <a:cs typeface="Arial" pitchFamily="34" charset="-120"/>
              </a:rPr>
              <a:t>Implementation and next steps</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t"/>
          <a:lstStyle/>
          <a:p>
            <a:pPr algn="l" indent="0" marL="0">
              <a:lnSpc>
                <a:spcPts val="3500"/>
              </a:lnSpc>
              <a:buNone/>
            </a:pPr>
            <a:r>
              <a:rPr lang="en-US" sz="2800" b="1" dirty="0">
                <a:solidFill>
                  <a:srgbClr val="14232B"/>
                </a:solidFill>
                <a:latin typeface="Arial" pitchFamily="34" charset="0"/>
                <a:ea typeface="Arial" pitchFamily="34" charset="-122"/>
                <a:cs typeface="Arial" pitchFamily="34" charset="-120"/>
              </a:rPr>
              <a:t>How we get started</a:t>
            </a:r>
            <a:endParaRPr lang="en-US" sz="2800" dirty="0"/>
          </a:p>
        </p:txBody>
      </p:sp>
      <p:sp>
        <p:nvSpPr>
          <p:cNvPr id="4" name="Shape 2"/>
          <p:cNvSpPr/>
          <p:nvPr/>
        </p:nvSpPr>
        <p:spPr>
          <a:xfrm>
            <a:off x="731520" y="1645920"/>
            <a:ext cx="8320811" cy="0"/>
          </a:xfrm>
          <a:prstGeom prst="line">
            <a:avLst/>
          </a:prstGeom>
          <a:noFill/>
          <a:ln w="19050">
            <a:solidFill>
              <a:srgbClr val="D5DEDB"/>
            </a:solidFill>
            <a:prstDash val="solid"/>
          </a:ln>
        </p:spPr>
      </p:sp>
      <p:sp>
        <p:nvSpPr>
          <p:cNvPr id="5" name="Shape 3"/>
          <p:cNvSpPr/>
          <p:nvPr/>
        </p:nvSpPr>
        <p:spPr>
          <a:xfrm>
            <a:off x="548640" y="1463040"/>
            <a:ext cx="365760" cy="365760"/>
          </a:xfrm>
          <a:prstGeom prst="ellipse">
            <a:avLst/>
          </a:prstGeom>
          <a:solidFill>
            <a:srgbClr val="FFFFFF"/>
          </a:solidFill>
          <a:ln w="19050">
            <a:solidFill>
              <a:srgbClr val="0E7C6B"/>
            </a:solidFill>
            <a:prstDash val="solid"/>
          </a:ln>
        </p:spPr>
      </p:sp>
      <p:sp>
        <p:nvSpPr>
          <p:cNvPr id="6" name="Text 4"/>
          <p:cNvSpPr txBox="1"/>
          <p:nvPr/>
        </p:nvSpPr>
        <p:spPr>
          <a:xfrm>
            <a:off x="548640" y="1536192"/>
            <a:ext cx="365760" cy="219456"/>
          </a:xfrm>
          <a:prstGeom prst="rect">
            <a:avLst/>
          </a:prstGeom>
          <a:noFill/>
          <a:ln/>
        </p:spPr>
        <p:txBody>
          <a:bodyPr wrap="square" lIns="0" tIns="0" rIns="0" bIns="0" rtlCol="0" anchor="t"/>
          <a:lstStyle/>
          <a:p>
            <a:pPr algn="ctr" indent="0" marL="0">
              <a:lnSpc>
                <a:spcPts val="1500"/>
              </a:lnSpc>
              <a:buNone/>
            </a:pPr>
            <a:r>
              <a:rPr lang="en-US" sz="1200" b="1" dirty="0">
                <a:solidFill>
                  <a:srgbClr val="0E7C6B"/>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548640" y="1965960"/>
            <a:ext cx="2453564" cy="731520"/>
          </a:xfrm>
          <a:prstGeom prst="rect">
            <a:avLst/>
          </a:prstGeom>
          <a:noFill/>
          <a:ln/>
        </p:spPr>
        <p:txBody>
          <a:bodyPr wrap="square" lIns="0" tIns="0" rIns="0" bIns="0" rtlCol="0" anchor="t"/>
          <a:lstStyle/>
          <a:p>
            <a:pPr algn="l" indent="0" marL="0">
              <a:lnSpc>
                <a:spcPts val="1560"/>
              </a:lnSpc>
              <a:buNone/>
            </a:pPr>
            <a:r>
              <a:rPr lang="en-US" sz="1250" dirty="0">
                <a:solidFill>
                  <a:srgbClr val="14232B"/>
                </a:solidFill>
                <a:latin typeface="Arial" pitchFamily="34" charset="0"/>
                <a:ea typeface="Arial" pitchFamily="34" charset="-122"/>
                <a:cs typeface="Arial" pitchFamily="34" charset="-120"/>
              </a:rPr>
              <a:t>Confirm scope and commercial terms.</a:t>
            </a:r>
            <a:endParaRPr lang="en-US" sz="1250" dirty="0"/>
          </a:p>
        </p:txBody>
      </p:sp>
      <p:sp>
        <p:nvSpPr>
          <p:cNvPr id="8" name="Shape 6"/>
          <p:cNvSpPr/>
          <p:nvPr/>
        </p:nvSpPr>
        <p:spPr>
          <a:xfrm>
            <a:off x="3322244" y="1463040"/>
            <a:ext cx="365760" cy="365760"/>
          </a:xfrm>
          <a:prstGeom prst="ellipse">
            <a:avLst/>
          </a:prstGeom>
          <a:solidFill>
            <a:srgbClr val="FFFFFF"/>
          </a:solidFill>
          <a:ln w="19050">
            <a:solidFill>
              <a:srgbClr val="0E7C6B"/>
            </a:solidFill>
            <a:prstDash val="solid"/>
          </a:ln>
        </p:spPr>
      </p:sp>
      <p:sp>
        <p:nvSpPr>
          <p:cNvPr id="9" name="Text 7"/>
          <p:cNvSpPr txBox="1"/>
          <p:nvPr/>
        </p:nvSpPr>
        <p:spPr>
          <a:xfrm>
            <a:off x="3322244" y="1536192"/>
            <a:ext cx="365760" cy="219456"/>
          </a:xfrm>
          <a:prstGeom prst="rect">
            <a:avLst/>
          </a:prstGeom>
          <a:noFill/>
          <a:ln/>
        </p:spPr>
        <p:txBody>
          <a:bodyPr wrap="square" lIns="0" tIns="0" rIns="0" bIns="0" rtlCol="0" anchor="t"/>
          <a:lstStyle/>
          <a:p>
            <a:pPr algn="ctr" indent="0" marL="0">
              <a:lnSpc>
                <a:spcPts val="1500"/>
              </a:lnSpc>
              <a:buNone/>
            </a:pPr>
            <a:r>
              <a:rPr lang="en-US" sz="1200" b="1" dirty="0">
                <a:solidFill>
                  <a:srgbClr val="0E7C6B"/>
                </a:solidFill>
                <a:latin typeface="Arial" pitchFamily="34" charset="0"/>
                <a:ea typeface="Arial" pitchFamily="34" charset="-122"/>
                <a:cs typeface="Arial" pitchFamily="34" charset="-120"/>
              </a:rPr>
              <a:t>2</a:t>
            </a:r>
            <a:endParaRPr lang="en-US" sz="1200" dirty="0"/>
          </a:p>
        </p:txBody>
      </p:sp>
      <p:sp>
        <p:nvSpPr>
          <p:cNvPr id="10" name="Text 8"/>
          <p:cNvSpPr txBox="1"/>
          <p:nvPr/>
        </p:nvSpPr>
        <p:spPr>
          <a:xfrm>
            <a:off x="3322244" y="1965960"/>
            <a:ext cx="2453564" cy="731520"/>
          </a:xfrm>
          <a:prstGeom prst="rect">
            <a:avLst/>
          </a:prstGeom>
          <a:noFill/>
          <a:ln/>
        </p:spPr>
        <p:txBody>
          <a:bodyPr wrap="square" lIns="0" tIns="0" rIns="0" bIns="0" rtlCol="0" anchor="t"/>
          <a:lstStyle/>
          <a:p>
            <a:pPr algn="l" indent="0" marL="0">
              <a:lnSpc>
                <a:spcPts val="1560"/>
              </a:lnSpc>
              <a:buNone/>
            </a:pPr>
            <a:r>
              <a:rPr lang="en-US" sz="1250" dirty="0">
                <a:solidFill>
                  <a:srgbClr val="14232B"/>
                </a:solidFill>
                <a:latin typeface="Arial" pitchFamily="34" charset="0"/>
                <a:ea typeface="Arial" pitchFamily="34" charset="-122"/>
                <a:cs typeface="Arial" pitchFamily="34" charset="-120"/>
              </a:rPr>
              <a:t>Collect access, approved message templates, and required configuration details.</a:t>
            </a:r>
            <a:endParaRPr lang="en-US" sz="1250" dirty="0"/>
          </a:p>
        </p:txBody>
      </p:sp>
      <p:sp>
        <p:nvSpPr>
          <p:cNvPr id="11" name="Shape 9"/>
          <p:cNvSpPr/>
          <p:nvPr/>
        </p:nvSpPr>
        <p:spPr>
          <a:xfrm>
            <a:off x="6095848" y="1463040"/>
            <a:ext cx="365760" cy="365760"/>
          </a:xfrm>
          <a:prstGeom prst="ellipse">
            <a:avLst/>
          </a:prstGeom>
          <a:solidFill>
            <a:srgbClr val="FFFFFF"/>
          </a:solidFill>
          <a:ln w="19050">
            <a:solidFill>
              <a:srgbClr val="0E7C6B"/>
            </a:solidFill>
            <a:prstDash val="solid"/>
          </a:ln>
        </p:spPr>
      </p:sp>
      <p:sp>
        <p:nvSpPr>
          <p:cNvPr id="12" name="Text 10"/>
          <p:cNvSpPr txBox="1"/>
          <p:nvPr/>
        </p:nvSpPr>
        <p:spPr>
          <a:xfrm>
            <a:off x="6095848" y="1536192"/>
            <a:ext cx="365760" cy="219456"/>
          </a:xfrm>
          <a:prstGeom prst="rect">
            <a:avLst/>
          </a:prstGeom>
          <a:noFill/>
          <a:ln/>
        </p:spPr>
        <p:txBody>
          <a:bodyPr wrap="square" lIns="0" tIns="0" rIns="0" bIns="0" rtlCol="0" anchor="t"/>
          <a:lstStyle/>
          <a:p>
            <a:pPr algn="ctr" indent="0" marL="0">
              <a:lnSpc>
                <a:spcPts val="1500"/>
              </a:lnSpc>
              <a:buNone/>
            </a:pPr>
            <a:r>
              <a:rPr lang="en-US" sz="1200" b="1" dirty="0">
                <a:solidFill>
                  <a:srgbClr val="0E7C6B"/>
                </a:solidFill>
                <a:latin typeface="Arial" pitchFamily="34" charset="0"/>
                <a:ea typeface="Arial" pitchFamily="34" charset="-122"/>
                <a:cs typeface="Arial" pitchFamily="34" charset="-120"/>
              </a:rPr>
              <a:t>3</a:t>
            </a:r>
            <a:endParaRPr lang="en-US" sz="1200" dirty="0"/>
          </a:p>
        </p:txBody>
      </p:sp>
      <p:sp>
        <p:nvSpPr>
          <p:cNvPr id="13" name="Text 11"/>
          <p:cNvSpPr txBox="1"/>
          <p:nvPr/>
        </p:nvSpPr>
        <p:spPr>
          <a:xfrm>
            <a:off x="6095848" y="1965960"/>
            <a:ext cx="2453564" cy="731520"/>
          </a:xfrm>
          <a:prstGeom prst="rect">
            <a:avLst/>
          </a:prstGeom>
          <a:noFill/>
          <a:ln/>
        </p:spPr>
        <p:txBody>
          <a:bodyPr wrap="square" lIns="0" tIns="0" rIns="0" bIns="0" rtlCol="0" anchor="t"/>
          <a:lstStyle/>
          <a:p>
            <a:pPr algn="l" indent="0" marL="0">
              <a:lnSpc>
                <a:spcPts val="1560"/>
              </a:lnSpc>
              <a:buNone/>
            </a:pPr>
            <a:r>
              <a:rPr lang="en-US" sz="1250" dirty="0">
                <a:solidFill>
                  <a:srgbClr val="14232B"/>
                </a:solidFill>
                <a:latin typeface="Arial" pitchFamily="34" charset="0"/>
                <a:ea typeface="Arial" pitchFamily="34" charset="-122"/>
                <a:cs typeface="Arial" pitchFamily="34" charset="-120"/>
              </a:rPr>
              <a:t>Configure and test the agreed workflows.</a:t>
            </a:r>
            <a:endParaRPr lang="en-US" sz="1250" dirty="0"/>
          </a:p>
        </p:txBody>
      </p:sp>
      <p:sp>
        <p:nvSpPr>
          <p:cNvPr id="14" name="Shape 12"/>
          <p:cNvSpPr/>
          <p:nvPr/>
        </p:nvSpPr>
        <p:spPr>
          <a:xfrm>
            <a:off x="8869451" y="1463040"/>
            <a:ext cx="365760" cy="365760"/>
          </a:xfrm>
          <a:prstGeom prst="ellipse">
            <a:avLst/>
          </a:prstGeom>
          <a:solidFill>
            <a:srgbClr val="0E7C6B"/>
          </a:solidFill>
          <a:ln w="19050">
            <a:solidFill>
              <a:srgbClr val="0E7C6B"/>
            </a:solidFill>
            <a:prstDash val="solid"/>
          </a:ln>
        </p:spPr>
      </p:sp>
      <p:sp>
        <p:nvSpPr>
          <p:cNvPr id="15" name="Text 13"/>
          <p:cNvSpPr txBox="1"/>
          <p:nvPr/>
        </p:nvSpPr>
        <p:spPr>
          <a:xfrm>
            <a:off x="8869451" y="1536192"/>
            <a:ext cx="365760" cy="219456"/>
          </a:xfrm>
          <a:prstGeom prst="rect">
            <a:avLst/>
          </a:prstGeom>
          <a:noFill/>
          <a:ln/>
        </p:spPr>
        <p:txBody>
          <a:bodyPr wrap="square" lIns="0" tIns="0" rIns="0" bIns="0" rtlCol="0" anchor="t"/>
          <a:lstStyle/>
          <a:p>
            <a:pPr algn="ctr" indent="0" marL="0">
              <a:lnSpc>
                <a:spcPts val="1500"/>
              </a:lnSpc>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6" name="Text 14"/>
          <p:cNvSpPr txBox="1"/>
          <p:nvPr/>
        </p:nvSpPr>
        <p:spPr>
          <a:xfrm>
            <a:off x="8869451" y="1965960"/>
            <a:ext cx="2453564" cy="731520"/>
          </a:xfrm>
          <a:prstGeom prst="rect">
            <a:avLst/>
          </a:prstGeom>
          <a:noFill/>
          <a:ln/>
        </p:spPr>
        <p:txBody>
          <a:bodyPr wrap="square" lIns="0" tIns="0" rIns="0" bIns="0" rtlCol="0" anchor="t"/>
          <a:lstStyle/>
          <a:p>
            <a:pPr algn="l" indent="0" marL="0">
              <a:lnSpc>
                <a:spcPts val="1560"/>
              </a:lnSpc>
              <a:buNone/>
            </a:pPr>
            <a:r>
              <a:rPr lang="en-US" sz="1250" dirty="0">
                <a:solidFill>
                  <a:srgbClr val="14232B"/>
                </a:solidFill>
                <a:latin typeface="Arial" pitchFamily="34" charset="0"/>
                <a:ea typeface="Arial" pitchFamily="34" charset="-122"/>
                <a:cs typeface="Arial" pitchFamily="34" charset="-120"/>
              </a:rPr>
              <a:t>Review the implementation and hand over the system.</a:t>
            </a:r>
            <a:endParaRPr lang="en-US" sz="1250" dirty="0"/>
          </a:p>
        </p:txBody>
      </p:sp>
      <p:sp>
        <p:nvSpPr>
          <p:cNvPr id="17" name="Shape 15"/>
          <p:cNvSpPr/>
          <p:nvPr/>
        </p:nvSpPr>
        <p:spPr>
          <a:xfrm>
            <a:off x="548640" y="2834640"/>
            <a:ext cx="11094415" cy="384048"/>
          </a:xfrm>
          <a:prstGeom prst="roundRect">
            <a:avLst>
              <a:gd name="adj" fmla="val 29762"/>
            </a:avLst>
          </a:prstGeom>
          <a:solidFill>
            <a:srgbClr val="DCEFEA"/>
          </a:solidFill>
          <a:ln/>
        </p:spPr>
      </p:sp>
      <p:sp>
        <p:nvSpPr>
          <p:cNvPr id="18" name="Text 16"/>
          <p:cNvSpPr txBox="1"/>
          <p:nvPr/>
        </p:nvSpPr>
        <p:spPr>
          <a:xfrm>
            <a:off x="777240" y="2926080"/>
            <a:ext cx="10637215" cy="219456"/>
          </a:xfrm>
          <a:prstGeom prst="rect">
            <a:avLst/>
          </a:prstGeom>
          <a:noFill/>
          <a:ln/>
        </p:spPr>
        <p:txBody>
          <a:bodyPr wrap="square" lIns="0" tIns="0" rIns="0" bIns="0" rtlCol="0" anchor="t"/>
          <a:lstStyle/>
          <a:p>
            <a:pPr algn="l" indent="0" marL="0">
              <a:lnSpc>
                <a:spcPts val="1500"/>
              </a:lnSpc>
              <a:buNone/>
            </a:pPr>
            <a:r>
              <a:rPr lang="en-US" sz="1200" b="1" dirty="0">
                <a:solidFill>
                  <a:srgbClr val="14232B"/>
                </a:solidFill>
                <a:latin typeface="Arial" pitchFamily="34" charset="0"/>
                <a:ea typeface="Arial" pitchFamily="34" charset="-122"/>
                <a:cs typeface="Arial" pitchFamily="34" charset="-120"/>
              </a:rPr>
              <a:t>Estimated timeline: About 2 weeks from approval</a:t>
            </a:r>
            <a:endParaRPr lang="en-US" sz="1200" dirty="0"/>
          </a:p>
        </p:txBody>
      </p:sp>
      <p:sp>
        <p:nvSpPr>
          <p:cNvPr id="19" name="Shape 17"/>
          <p:cNvSpPr/>
          <p:nvPr/>
        </p:nvSpPr>
        <p:spPr>
          <a:xfrm>
            <a:off x="548640" y="3401568"/>
            <a:ext cx="5410048" cy="1775714"/>
          </a:xfrm>
          <a:prstGeom prst="roundRect">
            <a:avLst>
              <a:gd name="adj" fmla="val 6437"/>
            </a:avLst>
          </a:prstGeom>
          <a:solidFill>
            <a:srgbClr val="F6F8F7"/>
          </a:solidFill>
          <a:ln/>
        </p:spPr>
      </p:sp>
      <p:sp>
        <p:nvSpPr>
          <p:cNvPr id="20" name="Text 18"/>
          <p:cNvSpPr txBox="1"/>
          <p:nvPr/>
        </p:nvSpPr>
        <p:spPr>
          <a:xfrm>
            <a:off x="822960" y="3630168"/>
            <a:ext cx="4861408"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What we need to get started</a:t>
            </a:r>
            <a:endParaRPr lang="en-US" sz="1000" dirty="0"/>
          </a:p>
        </p:txBody>
      </p:sp>
      <p:sp>
        <p:nvSpPr>
          <p:cNvPr id="21" name="Text 19"/>
          <p:cNvSpPr txBox="1"/>
          <p:nvPr/>
        </p:nvSpPr>
        <p:spPr>
          <a:xfrm>
            <a:off x="822960" y="3843782"/>
            <a:ext cx="4861408" cy="863600"/>
          </a:xfrm>
          <a:prstGeom prst="rect">
            <a:avLst/>
          </a:prstGeom>
          <a:noFill/>
          <a:ln/>
        </p:spPr>
        <p:txBody>
          <a:bodyPr wrap="square" lIns="0" tIns="0" rIns="0" bIns="0" rtlCol="0" anchor="t"/>
          <a:lstStyle/>
          <a:p>
            <a:pPr algn="l" marL="165100" indent="-165100">
              <a:lnSpc>
                <a:spcPts val="1500"/>
              </a:lnSpc>
              <a:spcAft>
                <a:spcPts val="400"/>
              </a:spcAft>
              <a:buSzPct val="100000"/>
              <a:buChar char="•"/>
            </a:pPr>
            <a:r>
              <a:rPr lang="en-US" sz="1200" dirty="0">
                <a:solidFill>
                  <a:srgbClr val="14232B"/>
                </a:solidFill>
                <a:latin typeface="Arial" pitchFamily="34" charset="0"/>
                <a:ea typeface="Arial" pitchFamily="34" charset="-122"/>
                <a:cs typeface="Arial" pitchFamily="34" charset="-120"/>
              </a:rPr>
              <a:t>Access to the clinic's WhatsApp Business number</a:t>
            </a:r>
            <a:endParaRPr lang="en-US" sz="1200" dirty="0"/>
          </a:p>
          <a:p>
            <a:pPr algn="l" marL="165100" indent="-165100">
              <a:lnSpc>
                <a:spcPts val="1500"/>
              </a:lnSpc>
              <a:spcAft>
                <a:spcPts val="400"/>
              </a:spcAft>
              <a:buSzPct val="100000"/>
              <a:buChar char="•"/>
            </a:pPr>
            <a:r>
              <a:rPr lang="en-US" sz="1200" dirty="0">
                <a:solidFill>
                  <a:srgbClr val="14232B"/>
                </a:solidFill>
                <a:latin typeface="Arial" pitchFamily="34" charset="0"/>
                <a:ea typeface="Arial" pitchFamily="34" charset="-122"/>
                <a:cs typeface="Arial" pitchFamily="34" charset="-120"/>
              </a:rPr>
              <a:t>Clinic information for approved answers: timings, services, location</a:t>
            </a:r>
            <a:endParaRPr lang="en-US" sz="1200" dirty="0"/>
          </a:p>
          <a:p>
            <a:pPr algn="l" marL="165100" indent="-165100">
              <a:lnSpc>
                <a:spcPts val="1500"/>
              </a:lnSpc>
              <a:buSzPct val="100000"/>
              <a:buChar char="•"/>
            </a:pPr>
            <a:r>
              <a:rPr lang="en-US" sz="1200" dirty="0">
                <a:solidFill>
                  <a:srgbClr val="14232B"/>
                </a:solidFill>
                <a:latin typeface="Arial" pitchFamily="34" charset="0"/>
                <a:ea typeface="Arial" pitchFamily="34" charset="-122"/>
                <a:cs typeface="Arial" pitchFamily="34" charset="-120"/>
              </a:rPr>
              <a:t>Staff contact numbers for notifications</a:t>
            </a:r>
            <a:endParaRPr lang="en-US" sz="1200" dirty="0"/>
          </a:p>
        </p:txBody>
      </p:sp>
      <p:sp>
        <p:nvSpPr>
          <p:cNvPr id="22" name="Shape 20"/>
          <p:cNvSpPr/>
          <p:nvPr/>
        </p:nvSpPr>
        <p:spPr>
          <a:xfrm>
            <a:off x="6233008" y="3401568"/>
            <a:ext cx="5410048" cy="1775714"/>
          </a:xfrm>
          <a:prstGeom prst="roundRect">
            <a:avLst>
              <a:gd name="adj" fmla="val 6437"/>
            </a:avLst>
          </a:prstGeom>
          <a:solidFill>
            <a:srgbClr val="F6F8F7"/>
          </a:solidFill>
          <a:ln/>
        </p:spPr>
      </p:sp>
      <p:sp>
        <p:nvSpPr>
          <p:cNvPr id="23" name="Text 21"/>
          <p:cNvSpPr txBox="1"/>
          <p:nvPr/>
        </p:nvSpPr>
        <p:spPr>
          <a:xfrm>
            <a:off x="6507328" y="3630168"/>
            <a:ext cx="4861408"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Client responsibilities</a:t>
            </a:r>
            <a:endParaRPr lang="en-US" sz="1000" dirty="0"/>
          </a:p>
        </p:txBody>
      </p:sp>
      <p:sp>
        <p:nvSpPr>
          <p:cNvPr id="24" name="Text 22"/>
          <p:cNvSpPr txBox="1"/>
          <p:nvPr/>
        </p:nvSpPr>
        <p:spPr>
          <a:xfrm>
            <a:off x="6507328" y="3843782"/>
            <a:ext cx="4861408" cy="1104900"/>
          </a:xfrm>
          <a:prstGeom prst="rect">
            <a:avLst/>
          </a:prstGeom>
          <a:noFill/>
          <a:ln/>
        </p:spPr>
        <p:txBody>
          <a:bodyPr wrap="square" lIns="0" tIns="0" rIns="0" bIns="0" rtlCol="0" anchor="t"/>
          <a:lstStyle/>
          <a:p>
            <a:pPr algn="l" marL="165100" indent="-165100">
              <a:lnSpc>
                <a:spcPts val="1500"/>
              </a:lnSpc>
              <a:spcAft>
                <a:spcPts val="400"/>
              </a:spcAft>
              <a:buSzPct val="100000"/>
              <a:buChar char="•"/>
            </a:pPr>
            <a:r>
              <a:rPr lang="en-US" sz="1200" dirty="0">
                <a:solidFill>
                  <a:srgbClr val="14232B"/>
                </a:solidFill>
                <a:latin typeface="Arial" pitchFamily="34" charset="0"/>
                <a:ea typeface="Arial" pitchFamily="34" charset="-122"/>
                <a:cs typeface="Arial" pitchFamily="34" charset="-120"/>
              </a:rPr>
              <a:t>Provide accurate clinic information and keep it up to date</a:t>
            </a:r>
            <a:endParaRPr lang="en-US" sz="1200" dirty="0"/>
          </a:p>
          <a:p>
            <a:pPr algn="l" marL="165100" indent="-165100">
              <a:lnSpc>
                <a:spcPts val="1500"/>
              </a:lnSpc>
              <a:spcAft>
                <a:spcPts val="400"/>
              </a:spcAft>
              <a:buSzPct val="100000"/>
              <a:buChar char="•"/>
            </a:pPr>
            <a:r>
              <a:rPr lang="en-US" sz="1200" dirty="0">
                <a:solidFill>
                  <a:srgbClr val="14232B"/>
                </a:solidFill>
                <a:latin typeface="Arial" pitchFamily="34" charset="0"/>
                <a:ea typeface="Arial" pitchFamily="34" charset="-122"/>
                <a:cs typeface="Arial" pitchFamily="34" charset="-120"/>
              </a:rPr>
              <a:t>Review and approve message content before go-live</a:t>
            </a:r>
            <a:endParaRPr lang="en-US" sz="1200" dirty="0"/>
          </a:p>
          <a:p>
            <a:pPr algn="l" marL="165100" indent="-165100">
              <a:lnSpc>
                <a:spcPts val="1500"/>
              </a:lnSpc>
              <a:spcAft>
                <a:spcPts val="400"/>
              </a:spcAft>
              <a:buSzPct val="100000"/>
              <a:buChar char="•"/>
            </a:pPr>
            <a:r>
              <a:rPr lang="en-US" sz="1200" dirty="0">
                <a:solidFill>
                  <a:srgbClr val="14232B"/>
                </a:solidFill>
                <a:latin typeface="Arial" pitchFamily="34" charset="0"/>
                <a:ea typeface="Arial" pitchFamily="34" charset="-122"/>
                <a:cs typeface="Arial" pitchFamily="34" charset="-120"/>
              </a:rPr>
              <a:t>Keep appointment status updated where a workflow depends on it</a:t>
            </a:r>
            <a:endParaRPr lang="en-US" sz="1200" dirty="0"/>
          </a:p>
          <a:p>
            <a:pPr algn="l" marL="165100" indent="-165100">
              <a:lnSpc>
                <a:spcPts val="1500"/>
              </a:lnSpc>
              <a:buSzPct val="100000"/>
              <a:buChar char="•"/>
            </a:pPr>
            <a:r>
              <a:rPr lang="en-US" sz="1200" dirty="0">
                <a:solidFill>
                  <a:srgbClr val="14232B"/>
                </a:solidFill>
                <a:latin typeface="Arial" pitchFamily="34" charset="0"/>
                <a:ea typeface="Arial" pitchFamily="34" charset="-122"/>
                <a:cs typeface="Arial" pitchFamily="34" charset="-120"/>
              </a:rPr>
              <a:t>Ensure patients have agreed to receive WhatsApp messages from the clinic</a:t>
            </a:r>
            <a:endParaRPr lang="en-US" sz="1200" dirty="0"/>
          </a:p>
        </p:txBody>
      </p:sp>
      <p:sp>
        <p:nvSpPr>
          <p:cNvPr id="25" name="Shape 23"/>
          <p:cNvSpPr/>
          <p:nvPr/>
        </p:nvSpPr>
        <p:spPr>
          <a:xfrm>
            <a:off x="548640" y="6355080"/>
            <a:ext cx="11094415" cy="0"/>
          </a:xfrm>
          <a:prstGeom prst="line">
            <a:avLst/>
          </a:prstGeom>
          <a:noFill/>
          <a:ln w="9525">
            <a:solidFill>
              <a:srgbClr val="D5DEDB"/>
            </a:solidFill>
            <a:prstDash val="solid"/>
          </a:ln>
        </p:spPr>
      </p:sp>
      <p:sp>
        <p:nvSpPr>
          <p:cNvPr id="26" name="Text 24"/>
          <p:cNvSpPr txBox="1"/>
          <p:nvPr/>
        </p:nvSpPr>
        <p:spPr>
          <a:xfrm>
            <a:off x="548640" y="6437376"/>
            <a:ext cx="9144000" cy="182880"/>
          </a:xfrm>
          <a:prstGeom prst="rect">
            <a:avLst/>
          </a:prstGeom>
          <a:noFill/>
          <a:ln/>
        </p:spPr>
        <p:txBody>
          <a:bodyPr wrap="square" lIns="0" tIns="0" rIns="0" bIns="0" rtlCol="0" anchor="t"/>
          <a:lstStyle/>
          <a:p>
            <a:pPr algn="l" indent="0" marL="0">
              <a:lnSpc>
                <a:spcPts val="1130"/>
              </a:lnSpc>
              <a:buNone/>
            </a:pPr>
            <a:r>
              <a:rPr lang="en-US" sz="900" dirty="0">
                <a:solidFill>
                  <a:srgbClr val="5B6B70"/>
                </a:solidFill>
                <a:latin typeface="Arial" pitchFamily="34" charset="0"/>
                <a:ea typeface="Arial" pitchFamily="34" charset="-122"/>
                <a:cs typeface="Arial" pitchFamily="34" charset="-120"/>
              </a:rPr>
              <a:t>Patientcurve  ·  Proposal for Sample Smile Dental Studio (fictional)  ·  Ref SAMPLE-001</a:t>
            </a:r>
            <a:endParaRPr lang="en-US" sz="900" dirty="0"/>
          </a:p>
        </p:txBody>
      </p:sp>
      <p:sp>
        <p:nvSpPr>
          <p:cNvPr id="27" name="Text 25"/>
          <p:cNvSpPr txBox="1"/>
          <p:nvPr/>
        </p:nvSpPr>
        <p:spPr>
          <a:xfrm>
            <a:off x="10271455" y="6437376"/>
            <a:ext cx="1371600" cy="182880"/>
          </a:xfrm>
          <a:prstGeom prst="rect">
            <a:avLst/>
          </a:prstGeom>
          <a:noFill/>
          <a:ln/>
        </p:spPr>
        <p:txBody>
          <a:bodyPr wrap="square" lIns="0" tIns="0" rIns="0" bIns="0" rtlCol="0" anchor="t"/>
          <a:lstStyle/>
          <a:p>
            <a:pPr algn="r" indent="0" marL="0">
              <a:lnSpc>
                <a:spcPts val="1130"/>
              </a:lnSpc>
              <a:buNone/>
            </a:pPr>
            <a:r>
              <a:rPr lang="en-US" sz="900" dirty="0">
                <a:solidFill>
                  <a:srgbClr val="5B6B70"/>
                </a:solidFill>
                <a:latin typeface="Arial" pitchFamily="34" charset="0"/>
                <a:ea typeface="Arial" pitchFamily="34" charset="-122"/>
                <a:cs typeface="Arial" pitchFamily="34" charset="-120"/>
              </a:rPr>
              <a:t>8 / 10</a:t>
            </a:r>
            <a:endParaRPr lang="en-US" sz="900" dirty="0"/>
          </a:p>
        </p:txBody>
      </p:sp>
      <p:sp>
        <p:nvSpPr>
          <p:cNvPr id="28" name="Shape 26"/>
          <p:cNvSpPr/>
          <p:nvPr/>
        </p:nvSpPr>
        <p:spPr>
          <a:xfrm>
            <a:off x="0" y="0"/>
            <a:ext cx="12191695" cy="237744"/>
          </a:xfrm>
          <a:prstGeom prst="rect">
            <a:avLst/>
          </a:prstGeom>
          <a:solidFill>
            <a:srgbClr val="8F5A0E"/>
          </a:solidFill>
          <a:ln/>
        </p:spPr>
      </p:sp>
      <p:sp>
        <p:nvSpPr>
          <p:cNvPr id="29" name="Text 27"/>
          <p:cNvSpPr txBox="1"/>
          <p:nvPr/>
        </p:nvSpPr>
        <p:spPr>
          <a:xfrm>
            <a:off x="0" y="50292"/>
            <a:ext cx="12191695" cy="146304"/>
          </a:xfrm>
          <a:prstGeom prst="rect">
            <a:avLst/>
          </a:prstGeom>
          <a:noFill/>
          <a:ln/>
        </p:spPr>
        <p:txBody>
          <a:bodyPr wrap="square" lIns="0" tIns="0" rIns="0" bIns="0" rtlCol="0" anchor="t"/>
          <a:lstStyle/>
          <a:p>
            <a:pPr algn="ctr" indent="0" marL="0">
              <a:lnSpc>
                <a:spcPts val="1060"/>
              </a:lnSpc>
              <a:buNone/>
            </a:pPr>
            <a:r>
              <a:rPr lang="en-US" sz="850" b="1" spc="100" kern="0" dirty="0">
                <a:solidFill>
                  <a:srgbClr val="FFFFFF"/>
                </a:solidFill>
                <a:latin typeface="Arial" pitchFamily="34" charset="0"/>
                <a:ea typeface="Arial" pitchFamily="34" charset="-122"/>
                <a:cs typeface="Arial" pitchFamily="34" charset="-120"/>
              </a:rPr>
              <a:t>SAMPLE PROPOSAL  ·  FICTIONAL CLINIC DATA  ·  DO NOT SEND</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175260"/>
          </a:xfrm>
          <a:prstGeom prst="rect">
            <a:avLst/>
          </a:prstGeom>
          <a:noFill/>
          <a:ln/>
        </p:spPr>
        <p:txBody>
          <a:bodyPr wrap="square" lIns="0" tIns="0" rIns="0" bIns="0" rtlCol="0" anchor="t"/>
          <a:lstStyle/>
          <a:p>
            <a:pPr algn="l" indent="0" marL="0">
              <a:lnSpc>
                <a:spcPts val="1380"/>
              </a:lnSpc>
              <a:buNone/>
            </a:pPr>
            <a:r>
              <a:rPr lang="en-US" sz="1100" b="1" dirty="0">
                <a:solidFill>
                  <a:srgbClr val="0E7C6B"/>
                </a:solidFill>
                <a:latin typeface="Arial" pitchFamily="34" charset="0"/>
                <a:ea typeface="Arial" pitchFamily="34" charset="-122"/>
                <a:cs typeface="Arial" pitchFamily="34" charset="-120"/>
              </a:rPr>
              <a:t>Implementation and next steps</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t"/>
          <a:lstStyle/>
          <a:p>
            <a:pPr algn="l" indent="0" marL="0">
              <a:lnSpc>
                <a:spcPts val="3500"/>
              </a:lnSpc>
              <a:buNone/>
            </a:pPr>
            <a:r>
              <a:rPr lang="en-US" sz="2800" b="1" dirty="0">
                <a:solidFill>
                  <a:srgbClr val="14232B"/>
                </a:solidFill>
                <a:latin typeface="Arial" pitchFamily="34" charset="0"/>
                <a:ea typeface="Arial" pitchFamily="34" charset="-122"/>
                <a:cs typeface="Arial" pitchFamily="34" charset="-120"/>
              </a:rPr>
              <a:t>Support, assumptions and data</a:t>
            </a:r>
            <a:endParaRPr lang="en-US" sz="2800" dirty="0"/>
          </a:p>
        </p:txBody>
      </p:sp>
      <p:sp>
        <p:nvSpPr>
          <p:cNvPr id="4" name="Shape 2"/>
          <p:cNvSpPr/>
          <p:nvPr/>
        </p:nvSpPr>
        <p:spPr>
          <a:xfrm>
            <a:off x="548640" y="1463040"/>
            <a:ext cx="3545738" cy="2941574"/>
          </a:xfrm>
          <a:prstGeom prst="roundRect">
            <a:avLst>
              <a:gd name="adj" fmla="val 3886"/>
            </a:avLst>
          </a:prstGeom>
          <a:solidFill>
            <a:srgbClr val="FFFFFF"/>
          </a:solidFill>
          <a:ln w="9525">
            <a:solidFill>
              <a:srgbClr val="D5DEDB"/>
            </a:solidFill>
            <a:prstDash val="solid"/>
          </a:ln>
        </p:spPr>
      </p:sp>
      <p:sp>
        <p:nvSpPr>
          <p:cNvPr id="5" name="Shape 3"/>
          <p:cNvSpPr/>
          <p:nvPr/>
        </p:nvSpPr>
        <p:spPr>
          <a:xfrm>
            <a:off x="548640" y="1463040"/>
            <a:ext cx="3545738" cy="73152"/>
          </a:xfrm>
          <a:prstGeom prst="rect">
            <a:avLst/>
          </a:prstGeom>
          <a:solidFill>
            <a:srgbClr val="0E7C6B"/>
          </a:solidFill>
          <a:ln/>
        </p:spPr>
      </p:sp>
      <p:sp>
        <p:nvSpPr>
          <p:cNvPr id="6" name="Text 4"/>
          <p:cNvSpPr txBox="1"/>
          <p:nvPr/>
        </p:nvSpPr>
        <p:spPr>
          <a:xfrm>
            <a:off x="822960" y="1783080"/>
            <a:ext cx="2997098"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Support scope</a:t>
            </a:r>
            <a:endParaRPr lang="en-US" sz="1000" dirty="0"/>
          </a:p>
        </p:txBody>
      </p:sp>
      <p:sp>
        <p:nvSpPr>
          <p:cNvPr id="7" name="Text 5"/>
          <p:cNvSpPr txBox="1"/>
          <p:nvPr/>
        </p:nvSpPr>
        <p:spPr>
          <a:xfrm>
            <a:off x="822960" y="1996694"/>
            <a:ext cx="2997098" cy="1290320"/>
          </a:xfrm>
          <a:prstGeom prst="rect">
            <a:avLst/>
          </a:prstGeom>
          <a:noFill/>
          <a:ln/>
        </p:spPr>
        <p:txBody>
          <a:bodyPr wrap="square" lIns="0" tIns="0" rIns="0" bIns="0" rtlCol="0" anchor="t"/>
          <a:lstStyle/>
          <a:p>
            <a:pPr algn="l" marL="165100" indent="-165100">
              <a:lnSpc>
                <a:spcPts val="1560"/>
              </a:lnSpc>
              <a:spcAft>
                <a:spcPts val="400"/>
              </a:spcAft>
              <a:buSzPct val="100000"/>
              <a:buChar char="•"/>
            </a:pPr>
            <a:r>
              <a:rPr lang="en-US" sz="1250" dirty="0">
                <a:solidFill>
                  <a:srgbClr val="14232B"/>
                </a:solidFill>
                <a:latin typeface="Arial" pitchFamily="34" charset="0"/>
                <a:ea typeface="Arial" pitchFamily="34" charset="-122"/>
                <a:cs typeface="Arial" pitchFamily="34" charset="-120"/>
              </a:rPr>
              <a:t>Support on WhatsApp and email during business hours</a:t>
            </a:r>
            <a:endParaRPr lang="en-US" sz="1250" dirty="0"/>
          </a:p>
          <a:p>
            <a:pPr algn="l" marL="165100" indent="-165100">
              <a:lnSpc>
                <a:spcPts val="1560"/>
              </a:lnSpc>
              <a:spcAft>
                <a:spcPts val="400"/>
              </a:spcAft>
              <a:buSzPct val="100000"/>
              <a:buChar char="•"/>
            </a:pPr>
            <a:r>
              <a:rPr lang="en-US" sz="1250" dirty="0">
                <a:solidFill>
                  <a:srgbClr val="14232B"/>
                </a:solidFill>
                <a:latin typeface="Arial" pitchFamily="34" charset="0"/>
                <a:ea typeface="Arial" pitchFamily="34" charset="-122"/>
                <a:cs typeface="Arial" pitchFamily="34" charset="-120"/>
              </a:rPr>
              <a:t>Adjustments to configured workflows within the agreed scope</a:t>
            </a:r>
            <a:endParaRPr lang="en-US" sz="1250" dirty="0"/>
          </a:p>
          <a:p>
            <a:pPr algn="l" marL="165100" indent="-165100">
              <a:lnSpc>
                <a:spcPts val="1560"/>
              </a:lnSpc>
              <a:buSzPct val="100000"/>
              <a:buChar char="•"/>
            </a:pPr>
            <a:r>
              <a:rPr lang="en-US" sz="1250" dirty="0">
                <a:solidFill>
                  <a:srgbClr val="14232B"/>
                </a:solidFill>
                <a:latin typeface="Arial" pitchFamily="34" charset="0"/>
                <a:ea typeface="Arial" pitchFamily="34" charset="-122"/>
                <a:cs typeface="Arial" pitchFamily="34" charset="-120"/>
              </a:rPr>
              <a:t>Monitoring of the configured workflows</a:t>
            </a:r>
            <a:endParaRPr lang="en-US" sz="1250" dirty="0"/>
          </a:p>
        </p:txBody>
      </p:sp>
      <p:sp>
        <p:nvSpPr>
          <p:cNvPr id="8" name="Shape 6"/>
          <p:cNvSpPr/>
          <p:nvPr/>
        </p:nvSpPr>
        <p:spPr>
          <a:xfrm>
            <a:off x="4322978" y="1463040"/>
            <a:ext cx="3545738" cy="2941574"/>
          </a:xfrm>
          <a:prstGeom prst="roundRect">
            <a:avLst>
              <a:gd name="adj" fmla="val 3886"/>
            </a:avLst>
          </a:prstGeom>
          <a:solidFill>
            <a:srgbClr val="FFFFFF"/>
          </a:solidFill>
          <a:ln w="9525">
            <a:solidFill>
              <a:srgbClr val="D5DEDB"/>
            </a:solidFill>
            <a:prstDash val="solid"/>
          </a:ln>
        </p:spPr>
      </p:sp>
      <p:sp>
        <p:nvSpPr>
          <p:cNvPr id="9" name="Shape 7"/>
          <p:cNvSpPr/>
          <p:nvPr/>
        </p:nvSpPr>
        <p:spPr>
          <a:xfrm>
            <a:off x="4322978" y="1463040"/>
            <a:ext cx="3545738" cy="73152"/>
          </a:xfrm>
          <a:prstGeom prst="rect">
            <a:avLst/>
          </a:prstGeom>
          <a:solidFill>
            <a:srgbClr val="D5DEDB"/>
          </a:solidFill>
          <a:ln/>
        </p:spPr>
      </p:sp>
      <p:sp>
        <p:nvSpPr>
          <p:cNvPr id="10" name="Text 8"/>
          <p:cNvSpPr txBox="1"/>
          <p:nvPr/>
        </p:nvSpPr>
        <p:spPr>
          <a:xfrm>
            <a:off x="4597298" y="1783080"/>
            <a:ext cx="2997098"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Assumptions and exclusions</a:t>
            </a:r>
            <a:endParaRPr lang="en-US" sz="1000" dirty="0"/>
          </a:p>
        </p:txBody>
      </p:sp>
      <p:sp>
        <p:nvSpPr>
          <p:cNvPr id="11" name="Text 9"/>
          <p:cNvSpPr txBox="1"/>
          <p:nvPr/>
        </p:nvSpPr>
        <p:spPr>
          <a:xfrm>
            <a:off x="4597298" y="1996694"/>
            <a:ext cx="2997098" cy="2133600"/>
          </a:xfrm>
          <a:prstGeom prst="rect">
            <a:avLst/>
          </a:prstGeom>
          <a:noFill/>
          <a:ln/>
        </p:spPr>
        <p:txBody>
          <a:bodyPr wrap="square" lIns="0" tIns="0" rIns="0" bIns="0" rtlCol="0" anchor="t"/>
          <a:lstStyle/>
          <a:p>
            <a:pPr algn="l" marL="165100" indent="-165100">
              <a:lnSpc>
                <a:spcPts val="1560"/>
              </a:lnSpc>
              <a:spcAft>
                <a:spcPts val="400"/>
              </a:spcAft>
              <a:buSzPct val="100000"/>
              <a:buChar char="•"/>
            </a:pPr>
            <a:r>
              <a:rPr lang="en-US" sz="1250" dirty="0">
                <a:solidFill>
                  <a:srgbClr val="14232B"/>
                </a:solidFill>
                <a:latin typeface="Arial" pitchFamily="34" charset="0"/>
                <a:ea typeface="Arial" pitchFamily="34" charset="-122"/>
                <a:cs typeface="Arial" pitchFamily="34" charset="-120"/>
              </a:rPr>
              <a:t>Workflows run on the clinic's existing WhatsApp Business number</a:t>
            </a:r>
            <a:endParaRPr lang="en-US" sz="1250" dirty="0"/>
          </a:p>
          <a:p>
            <a:pPr algn="l" marL="165100" indent="-165100">
              <a:lnSpc>
                <a:spcPts val="1560"/>
              </a:lnSpc>
              <a:spcAft>
                <a:spcPts val="400"/>
              </a:spcAft>
              <a:buSzPct val="100000"/>
              <a:buChar char="•"/>
            </a:pPr>
            <a:r>
              <a:rPr lang="en-US" sz="1250" dirty="0">
                <a:solidFill>
                  <a:srgbClr val="14232B"/>
                </a:solidFill>
                <a:latin typeface="Arial" pitchFamily="34" charset="0"/>
                <a:ea typeface="Arial" pitchFamily="34" charset="-122"/>
                <a:cs typeface="Arial" pitchFamily="34" charset="-120"/>
              </a:rPr>
              <a:t>Exact behaviour depends on the clinic's current tools and the approved scope</a:t>
            </a:r>
            <a:endParaRPr lang="en-US" sz="1250" dirty="0"/>
          </a:p>
          <a:p>
            <a:pPr algn="l" marL="165100" indent="-165100">
              <a:lnSpc>
                <a:spcPts val="1560"/>
              </a:lnSpc>
              <a:spcAft>
                <a:spcPts val="400"/>
              </a:spcAft>
              <a:buSzPct val="100000"/>
              <a:buChar char="•"/>
            </a:pPr>
            <a:r>
              <a:rPr lang="en-US" sz="1250" dirty="0">
                <a:solidFill>
                  <a:srgbClr val="14232B"/>
                </a:solidFill>
                <a:latin typeface="Arial" pitchFamily="34" charset="0"/>
                <a:ea typeface="Arial" pitchFamily="34" charset="-122"/>
                <a:cs typeface="Arial" pitchFamily="34" charset="-120"/>
              </a:rPr>
              <a:t>Integrations not listed in this proposal are excluded</a:t>
            </a:r>
            <a:endParaRPr lang="en-US" sz="1250" dirty="0"/>
          </a:p>
          <a:p>
            <a:pPr algn="l" marL="165100" indent="-165100">
              <a:lnSpc>
                <a:spcPts val="1560"/>
              </a:lnSpc>
              <a:buSzPct val="100000"/>
              <a:buChar char="•"/>
            </a:pPr>
            <a:r>
              <a:rPr lang="en-US" sz="1250" dirty="0">
                <a:solidFill>
                  <a:srgbClr val="14232B"/>
                </a:solidFill>
                <a:latin typeface="Arial" pitchFamily="34" charset="0"/>
                <a:ea typeface="Arial" pitchFamily="34" charset="-122"/>
                <a:cs typeface="Arial" pitchFamily="34" charset="-120"/>
              </a:rPr>
              <a:t>Third-party platform and messaging charges are billed separately unless stated</a:t>
            </a:r>
            <a:endParaRPr lang="en-US" sz="1250" dirty="0"/>
          </a:p>
        </p:txBody>
      </p:sp>
      <p:sp>
        <p:nvSpPr>
          <p:cNvPr id="12" name="Shape 10"/>
          <p:cNvSpPr/>
          <p:nvPr/>
        </p:nvSpPr>
        <p:spPr>
          <a:xfrm>
            <a:off x="8097317" y="1463040"/>
            <a:ext cx="3545738" cy="2941574"/>
          </a:xfrm>
          <a:prstGeom prst="roundRect">
            <a:avLst>
              <a:gd name="adj" fmla="val 3886"/>
            </a:avLst>
          </a:prstGeom>
          <a:solidFill>
            <a:srgbClr val="FFFFFF"/>
          </a:solidFill>
          <a:ln w="9525">
            <a:solidFill>
              <a:srgbClr val="D5DEDB"/>
            </a:solidFill>
            <a:prstDash val="solid"/>
          </a:ln>
        </p:spPr>
      </p:sp>
      <p:sp>
        <p:nvSpPr>
          <p:cNvPr id="13" name="Shape 11"/>
          <p:cNvSpPr/>
          <p:nvPr/>
        </p:nvSpPr>
        <p:spPr>
          <a:xfrm>
            <a:off x="8097317" y="1463040"/>
            <a:ext cx="3545738" cy="73152"/>
          </a:xfrm>
          <a:prstGeom prst="rect">
            <a:avLst/>
          </a:prstGeom>
          <a:solidFill>
            <a:srgbClr val="D5DEDB"/>
          </a:solidFill>
          <a:ln/>
        </p:spPr>
      </p:sp>
      <p:sp>
        <p:nvSpPr>
          <p:cNvPr id="14" name="Text 12"/>
          <p:cNvSpPr txBox="1"/>
          <p:nvPr/>
        </p:nvSpPr>
        <p:spPr>
          <a:xfrm>
            <a:off x="8371637" y="1783080"/>
            <a:ext cx="2997098"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Data and access</a:t>
            </a:r>
            <a:endParaRPr lang="en-US" sz="1000" dirty="0"/>
          </a:p>
        </p:txBody>
      </p:sp>
      <p:sp>
        <p:nvSpPr>
          <p:cNvPr id="15" name="Text 13"/>
          <p:cNvSpPr txBox="1"/>
          <p:nvPr/>
        </p:nvSpPr>
        <p:spPr>
          <a:xfrm>
            <a:off x="8371637" y="1996694"/>
            <a:ext cx="2997098" cy="1290320"/>
          </a:xfrm>
          <a:prstGeom prst="rect">
            <a:avLst/>
          </a:prstGeom>
          <a:noFill/>
          <a:ln/>
        </p:spPr>
        <p:txBody>
          <a:bodyPr wrap="square" lIns="0" tIns="0" rIns="0" bIns="0" rtlCol="0" anchor="t"/>
          <a:lstStyle/>
          <a:p>
            <a:pPr algn="l" marL="165100" indent="-165100">
              <a:lnSpc>
                <a:spcPts val="1560"/>
              </a:lnSpc>
              <a:spcAft>
                <a:spcPts val="400"/>
              </a:spcAft>
              <a:buSzPct val="100000"/>
              <a:buChar char="•"/>
            </a:pPr>
            <a:r>
              <a:rPr lang="en-US" sz="1250" dirty="0">
                <a:solidFill>
                  <a:srgbClr val="14232B"/>
                </a:solidFill>
                <a:latin typeface="Arial" pitchFamily="34" charset="0"/>
                <a:ea typeface="Arial" pitchFamily="34" charset="-122"/>
                <a:cs typeface="Arial" pitchFamily="34" charset="-120"/>
              </a:rPr>
              <a:t>Only the data needed to run the agreed workflows is accessed</a:t>
            </a:r>
            <a:endParaRPr lang="en-US" sz="1250" dirty="0"/>
          </a:p>
          <a:p>
            <a:pPr algn="l" marL="165100" indent="-165100">
              <a:lnSpc>
                <a:spcPts val="1560"/>
              </a:lnSpc>
              <a:spcAft>
                <a:spcPts val="400"/>
              </a:spcAft>
              <a:buSzPct val="100000"/>
              <a:buChar char="•"/>
            </a:pPr>
            <a:r>
              <a:rPr lang="en-US" sz="1250" dirty="0">
                <a:solidFill>
                  <a:srgbClr val="14232B"/>
                </a:solidFill>
                <a:latin typeface="Arial" pitchFamily="34" charset="0"/>
                <a:ea typeface="Arial" pitchFamily="34" charset="-122"/>
                <a:cs typeface="Arial" pitchFamily="34" charset="-120"/>
              </a:rPr>
              <a:t>Patient data is used only to operate the clinic’s workflows</a:t>
            </a:r>
            <a:endParaRPr lang="en-US" sz="1250" dirty="0"/>
          </a:p>
          <a:p>
            <a:pPr algn="l" marL="165100" indent="-165100">
              <a:lnSpc>
                <a:spcPts val="1560"/>
              </a:lnSpc>
              <a:buSzPct val="100000"/>
              <a:buChar char="•"/>
            </a:pPr>
            <a:r>
              <a:rPr lang="en-US" sz="1250" dirty="0">
                <a:solidFill>
                  <a:srgbClr val="14232B"/>
                </a:solidFill>
                <a:latin typeface="Arial" pitchFamily="34" charset="0"/>
                <a:ea typeface="Arial" pitchFamily="34" charset="-122"/>
                <a:cs typeface="Arial" pitchFamily="34" charset="-120"/>
              </a:rPr>
              <a:t>The clinic can withdraw access at any time</a:t>
            </a:r>
            <a:endParaRPr lang="en-US" sz="1250" dirty="0"/>
          </a:p>
        </p:txBody>
      </p:sp>
      <p:sp>
        <p:nvSpPr>
          <p:cNvPr id="16" name="Shape 14"/>
          <p:cNvSpPr/>
          <p:nvPr/>
        </p:nvSpPr>
        <p:spPr>
          <a:xfrm>
            <a:off x="548640" y="6355080"/>
            <a:ext cx="11094415" cy="0"/>
          </a:xfrm>
          <a:prstGeom prst="line">
            <a:avLst/>
          </a:prstGeom>
          <a:noFill/>
          <a:ln w="9525">
            <a:solidFill>
              <a:srgbClr val="D5DEDB"/>
            </a:solidFill>
            <a:prstDash val="solid"/>
          </a:ln>
        </p:spPr>
      </p:sp>
      <p:sp>
        <p:nvSpPr>
          <p:cNvPr id="17" name="Text 15"/>
          <p:cNvSpPr txBox="1"/>
          <p:nvPr/>
        </p:nvSpPr>
        <p:spPr>
          <a:xfrm>
            <a:off x="548640" y="6437376"/>
            <a:ext cx="9144000" cy="182880"/>
          </a:xfrm>
          <a:prstGeom prst="rect">
            <a:avLst/>
          </a:prstGeom>
          <a:noFill/>
          <a:ln/>
        </p:spPr>
        <p:txBody>
          <a:bodyPr wrap="square" lIns="0" tIns="0" rIns="0" bIns="0" rtlCol="0" anchor="t"/>
          <a:lstStyle/>
          <a:p>
            <a:pPr algn="l" indent="0" marL="0">
              <a:lnSpc>
                <a:spcPts val="1130"/>
              </a:lnSpc>
              <a:buNone/>
            </a:pPr>
            <a:r>
              <a:rPr lang="en-US" sz="900" dirty="0">
                <a:solidFill>
                  <a:srgbClr val="5B6B70"/>
                </a:solidFill>
                <a:latin typeface="Arial" pitchFamily="34" charset="0"/>
                <a:ea typeface="Arial" pitchFamily="34" charset="-122"/>
                <a:cs typeface="Arial" pitchFamily="34" charset="-120"/>
              </a:rPr>
              <a:t>Patientcurve  ·  Proposal for Sample Smile Dental Studio (fictional)  ·  Ref SAMPLE-001</a:t>
            </a:r>
            <a:endParaRPr lang="en-US" sz="900" dirty="0"/>
          </a:p>
        </p:txBody>
      </p:sp>
      <p:sp>
        <p:nvSpPr>
          <p:cNvPr id="18" name="Text 16"/>
          <p:cNvSpPr txBox="1"/>
          <p:nvPr/>
        </p:nvSpPr>
        <p:spPr>
          <a:xfrm>
            <a:off x="10271455" y="6437376"/>
            <a:ext cx="1371600" cy="182880"/>
          </a:xfrm>
          <a:prstGeom prst="rect">
            <a:avLst/>
          </a:prstGeom>
          <a:noFill/>
          <a:ln/>
        </p:spPr>
        <p:txBody>
          <a:bodyPr wrap="square" lIns="0" tIns="0" rIns="0" bIns="0" rtlCol="0" anchor="t"/>
          <a:lstStyle/>
          <a:p>
            <a:pPr algn="r" indent="0" marL="0">
              <a:lnSpc>
                <a:spcPts val="1130"/>
              </a:lnSpc>
              <a:buNone/>
            </a:pPr>
            <a:r>
              <a:rPr lang="en-US" sz="900" dirty="0">
                <a:solidFill>
                  <a:srgbClr val="5B6B70"/>
                </a:solidFill>
                <a:latin typeface="Arial" pitchFamily="34" charset="0"/>
                <a:ea typeface="Arial" pitchFamily="34" charset="-122"/>
                <a:cs typeface="Arial" pitchFamily="34" charset="-120"/>
              </a:rPr>
              <a:t>9 / 10</a:t>
            </a:r>
            <a:endParaRPr lang="en-US" sz="900" dirty="0"/>
          </a:p>
        </p:txBody>
      </p:sp>
      <p:sp>
        <p:nvSpPr>
          <p:cNvPr id="19" name="Shape 17"/>
          <p:cNvSpPr/>
          <p:nvPr/>
        </p:nvSpPr>
        <p:spPr>
          <a:xfrm>
            <a:off x="0" y="0"/>
            <a:ext cx="12191695" cy="237744"/>
          </a:xfrm>
          <a:prstGeom prst="rect">
            <a:avLst/>
          </a:prstGeom>
          <a:solidFill>
            <a:srgbClr val="8F5A0E"/>
          </a:solidFill>
          <a:ln/>
        </p:spPr>
      </p:sp>
      <p:sp>
        <p:nvSpPr>
          <p:cNvPr id="20" name="Text 18"/>
          <p:cNvSpPr txBox="1"/>
          <p:nvPr/>
        </p:nvSpPr>
        <p:spPr>
          <a:xfrm>
            <a:off x="0" y="50292"/>
            <a:ext cx="12191695" cy="146304"/>
          </a:xfrm>
          <a:prstGeom prst="rect">
            <a:avLst/>
          </a:prstGeom>
          <a:noFill/>
          <a:ln/>
        </p:spPr>
        <p:txBody>
          <a:bodyPr wrap="square" lIns="0" tIns="0" rIns="0" bIns="0" rtlCol="0" anchor="t"/>
          <a:lstStyle/>
          <a:p>
            <a:pPr algn="ctr" indent="0" marL="0">
              <a:lnSpc>
                <a:spcPts val="1060"/>
              </a:lnSpc>
              <a:buNone/>
            </a:pPr>
            <a:r>
              <a:rPr lang="en-US" sz="850" b="1" spc="100" kern="0" dirty="0">
                <a:solidFill>
                  <a:srgbClr val="FFFFFF"/>
                </a:solidFill>
                <a:latin typeface="Arial" pitchFamily="34" charset="0"/>
                <a:ea typeface="Arial" pitchFamily="34" charset="-122"/>
                <a:cs typeface="Arial" pitchFamily="34" charset="-120"/>
              </a:rPr>
              <a:t>SAMPLE PROPOSAL  ·  FICTIONAL CLINIC DATA  ·  DO NOT SEND</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175260"/>
          </a:xfrm>
          <a:prstGeom prst="rect">
            <a:avLst/>
          </a:prstGeom>
          <a:noFill/>
          <a:ln/>
        </p:spPr>
        <p:txBody>
          <a:bodyPr wrap="square" lIns="0" tIns="0" rIns="0" bIns="0" rtlCol="0" anchor="t"/>
          <a:lstStyle/>
          <a:p>
            <a:pPr algn="l" indent="0" marL="0">
              <a:lnSpc>
                <a:spcPts val="1380"/>
              </a:lnSpc>
              <a:buNone/>
            </a:pPr>
            <a:r>
              <a:rPr lang="en-US" sz="1100" b="1" dirty="0">
                <a:solidFill>
                  <a:srgbClr val="0E7C6B"/>
                </a:solidFill>
                <a:latin typeface="Arial" pitchFamily="34" charset="0"/>
                <a:ea typeface="Arial" pitchFamily="34" charset="-122"/>
                <a:cs typeface="Arial" pitchFamily="34" charset="-120"/>
              </a:rPr>
              <a:t>Approval</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t"/>
          <a:lstStyle/>
          <a:p>
            <a:pPr algn="l" indent="0" marL="0">
              <a:lnSpc>
                <a:spcPts val="3500"/>
              </a:lnSpc>
              <a:buNone/>
            </a:pPr>
            <a:r>
              <a:rPr lang="en-US" sz="2800" b="1" dirty="0">
                <a:solidFill>
                  <a:srgbClr val="14232B"/>
                </a:solidFill>
                <a:latin typeface="Arial" pitchFamily="34" charset="0"/>
                <a:ea typeface="Arial" pitchFamily="34" charset="-122"/>
                <a:cs typeface="Arial" pitchFamily="34" charset="-120"/>
              </a:rPr>
              <a:t>Acceptance and next step</a:t>
            </a:r>
            <a:endParaRPr lang="en-US" sz="2800" dirty="0"/>
          </a:p>
        </p:txBody>
      </p:sp>
      <p:sp>
        <p:nvSpPr>
          <p:cNvPr id="4" name="Text 2"/>
          <p:cNvSpPr txBox="1"/>
          <p:nvPr/>
        </p:nvSpPr>
        <p:spPr>
          <a:xfrm>
            <a:off x="548640" y="1417320"/>
            <a:ext cx="11094415" cy="457200"/>
          </a:xfrm>
          <a:prstGeom prst="rect">
            <a:avLst/>
          </a:prstGeom>
          <a:noFill/>
          <a:ln/>
        </p:spPr>
        <p:txBody>
          <a:bodyPr wrap="square" lIns="0" tIns="0" rIns="0" bIns="0" rtlCol="0" anchor="t"/>
          <a:lstStyle/>
          <a:p>
            <a:pPr algn="l" indent="0" marL="0">
              <a:lnSpc>
                <a:spcPts val="1630"/>
              </a:lnSpc>
              <a:buNone/>
            </a:pPr>
            <a:r>
              <a:rPr lang="en-US" sz="1300" dirty="0">
                <a:solidFill>
                  <a:srgbClr val="5B6B70"/>
                </a:solidFill>
                <a:latin typeface="Arial" pitchFamily="34" charset="0"/>
                <a:ea typeface="Arial" pitchFamily="34" charset="-122"/>
                <a:cs typeface="Arial" pitchFamily="34" charset="-120"/>
              </a:rPr>
              <a:t>The clinic reviews and approves message content and workflow behaviour before go-live.</a:t>
            </a:r>
            <a:endParaRPr lang="en-US" sz="1300" dirty="0"/>
          </a:p>
        </p:txBody>
      </p:sp>
      <p:sp>
        <p:nvSpPr>
          <p:cNvPr id="5" name="Shape 3"/>
          <p:cNvSpPr/>
          <p:nvPr/>
        </p:nvSpPr>
        <p:spPr>
          <a:xfrm>
            <a:off x="548640" y="2011680"/>
            <a:ext cx="5410048" cy="2057400"/>
          </a:xfrm>
          <a:prstGeom prst="roundRect">
            <a:avLst>
              <a:gd name="adj" fmla="val 5556"/>
            </a:avLst>
          </a:prstGeom>
          <a:solidFill>
            <a:srgbClr val="FFFFFF"/>
          </a:solidFill>
          <a:ln w="9525">
            <a:solidFill>
              <a:srgbClr val="D5DEDB"/>
            </a:solidFill>
            <a:prstDash val="solid"/>
          </a:ln>
        </p:spPr>
      </p:sp>
      <p:sp>
        <p:nvSpPr>
          <p:cNvPr id="6" name="Text 4"/>
          <p:cNvSpPr txBox="1"/>
          <p:nvPr/>
        </p:nvSpPr>
        <p:spPr>
          <a:xfrm>
            <a:off x="822960" y="2212848"/>
            <a:ext cx="4861408"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For the clinic</a:t>
            </a:r>
            <a:endParaRPr lang="en-US" sz="1000" dirty="0"/>
          </a:p>
        </p:txBody>
      </p:sp>
      <p:sp>
        <p:nvSpPr>
          <p:cNvPr id="7" name="Text 5"/>
          <p:cNvSpPr txBox="1"/>
          <p:nvPr/>
        </p:nvSpPr>
        <p:spPr>
          <a:xfrm>
            <a:off x="822960" y="2423160"/>
            <a:ext cx="4861408" cy="274320"/>
          </a:xfrm>
          <a:prstGeom prst="rect">
            <a:avLst/>
          </a:prstGeom>
          <a:noFill/>
          <a:ln/>
        </p:spPr>
        <p:txBody>
          <a:bodyPr wrap="square" lIns="0" tIns="0" rIns="0" bIns="0" rtlCol="0" anchor="t"/>
          <a:lstStyle/>
          <a:p>
            <a:pPr algn="l" indent="0" marL="0">
              <a:lnSpc>
                <a:spcPts val="1750"/>
              </a:lnSpc>
              <a:buNone/>
            </a:pPr>
            <a:r>
              <a:rPr lang="en-US" sz="1400" b="1" dirty="0">
                <a:solidFill>
                  <a:srgbClr val="14232B"/>
                </a:solidFill>
                <a:latin typeface="Arial" pitchFamily="34" charset="0"/>
                <a:ea typeface="Arial" pitchFamily="34" charset="-122"/>
                <a:cs typeface="Arial" pitchFamily="34" charset="-120"/>
              </a:rPr>
              <a:t>Sample Smile Dental Studio (fictional)</a:t>
            </a:r>
            <a:endParaRPr lang="en-US" sz="1400" dirty="0"/>
          </a:p>
        </p:txBody>
      </p:sp>
      <p:sp>
        <p:nvSpPr>
          <p:cNvPr id="8" name="Shape 6"/>
          <p:cNvSpPr/>
          <p:nvPr/>
        </p:nvSpPr>
        <p:spPr>
          <a:xfrm>
            <a:off x="822960" y="3200400"/>
            <a:ext cx="4861408" cy="0"/>
          </a:xfrm>
          <a:prstGeom prst="line">
            <a:avLst/>
          </a:prstGeom>
          <a:noFill/>
          <a:ln w="9525">
            <a:solidFill>
              <a:srgbClr val="5B6B70"/>
            </a:solidFill>
            <a:prstDash val="solid"/>
          </a:ln>
        </p:spPr>
      </p:sp>
      <p:sp>
        <p:nvSpPr>
          <p:cNvPr id="9" name="Text 7"/>
          <p:cNvSpPr txBox="1"/>
          <p:nvPr/>
        </p:nvSpPr>
        <p:spPr>
          <a:xfrm>
            <a:off x="822960" y="3255264"/>
            <a:ext cx="4861408" cy="182880"/>
          </a:xfrm>
          <a:prstGeom prst="rect">
            <a:avLst/>
          </a:prstGeom>
          <a:noFill/>
          <a:ln/>
        </p:spPr>
        <p:txBody>
          <a:bodyPr wrap="square" lIns="0" tIns="0" rIns="0" bIns="0" rtlCol="0" anchor="t"/>
          <a:lstStyle/>
          <a:p>
            <a:pPr algn="l" indent="0" marL="0">
              <a:lnSpc>
                <a:spcPts val="1190"/>
              </a:lnSpc>
              <a:buNone/>
            </a:pPr>
            <a:r>
              <a:rPr lang="en-US" sz="950" dirty="0">
                <a:solidFill>
                  <a:srgbClr val="5B6B70"/>
                </a:solidFill>
                <a:latin typeface="Arial" pitchFamily="34" charset="0"/>
                <a:ea typeface="Arial" pitchFamily="34" charset="-122"/>
                <a:cs typeface="Arial" pitchFamily="34" charset="-120"/>
              </a:rPr>
              <a:t>Name</a:t>
            </a:r>
            <a:endParaRPr lang="en-US" sz="950" dirty="0"/>
          </a:p>
        </p:txBody>
      </p:sp>
      <p:sp>
        <p:nvSpPr>
          <p:cNvPr id="10" name="Shape 8"/>
          <p:cNvSpPr/>
          <p:nvPr/>
        </p:nvSpPr>
        <p:spPr>
          <a:xfrm>
            <a:off x="822960" y="3840480"/>
            <a:ext cx="2722388" cy="0"/>
          </a:xfrm>
          <a:prstGeom prst="line">
            <a:avLst/>
          </a:prstGeom>
          <a:noFill/>
          <a:ln w="9525">
            <a:solidFill>
              <a:srgbClr val="5B6B70"/>
            </a:solidFill>
            <a:prstDash val="solid"/>
          </a:ln>
        </p:spPr>
      </p:sp>
      <p:sp>
        <p:nvSpPr>
          <p:cNvPr id="11" name="Text 9"/>
          <p:cNvSpPr txBox="1"/>
          <p:nvPr/>
        </p:nvSpPr>
        <p:spPr>
          <a:xfrm>
            <a:off x="822960" y="3895344"/>
            <a:ext cx="2722388" cy="182880"/>
          </a:xfrm>
          <a:prstGeom prst="rect">
            <a:avLst/>
          </a:prstGeom>
          <a:noFill/>
          <a:ln/>
        </p:spPr>
        <p:txBody>
          <a:bodyPr wrap="square" lIns="0" tIns="0" rIns="0" bIns="0" rtlCol="0" anchor="t"/>
          <a:lstStyle/>
          <a:p>
            <a:pPr algn="l" indent="0" marL="0">
              <a:lnSpc>
                <a:spcPts val="1190"/>
              </a:lnSpc>
              <a:buNone/>
            </a:pPr>
            <a:r>
              <a:rPr lang="en-US" sz="950" dirty="0">
                <a:solidFill>
                  <a:srgbClr val="5B6B70"/>
                </a:solidFill>
                <a:latin typeface="Arial" pitchFamily="34" charset="0"/>
                <a:ea typeface="Arial" pitchFamily="34" charset="-122"/>
                <a:cs typeface="Arial" pitchFamily="34" charset="-120"/>
              </a:rPr>
              <a:t>Signature</a:t>
            </a:r>
            <a:endParaRPr lang="en-US" sz="950" dirty="0"/>
          </a:p>
        </p:txBody>
      </p:sp>
      <p:sp>
        <p:nvSpPr>
          <p:cNvPr id="12" name="Shape 10"/>
          <p:cNvSpPr/>
          <p:nvPr/>
        </p:nvSpPr>
        <p:spPr>
          <a:xfrm>
            <a:off x="3837033" y="3840480"/>
            <a:ext cx="1847335" cy="0"/>
          </a:xfrm>
          <a:prstGeom prst="line">
            <a:avLst/>
          </a:prstGeom>
          <a:noFill/>
          <a:ln w="9525">
            <a:solidFill>
              <a:srgbClr val="5B6B70"/>
            </a:solidFill>
            <a:prstDash val="solid"/>
          </a:ln>
        </p:spPr>
      </p:sp>
      <p:sp>
        <p:nvSpPr>
          <p:cNvPr id="13" name="Text 11"/>
          <p:cNvSpPr txBox="1"/>
          <p:nvPr/>
        </p:nvSpPr>
        <p:spPr>
          <a:xfrm>
            <a:off x="3837033" y="3895344"/>
            <a:ext cx="1847335" cy="182880"/>
          </a:xfrm>
          <a:prstGeom prst="rect">
            <a:avLst/>
          </a:prstGeom>
          <a:noFill/>
          <a:ln/>
        </p:spPr>
        <p:txBody>
          <a:bodyPr wrap="square" lIns="0" tIns="0" rIns="0" bIns="0" rtlCol="0" anchor="t"/>
          <a:lstStyle/>
          <a:p>
            <a:pPr algn="l" indent="0" marL="0">
              <a:lnSpc>
                <a:spcPts val="1190"/>
              </a:lnSpc>
              <a:buNone/>
            </a:pPr>
            <a:r>
              <a:rPr lang="en-US" sz="950" dirty="0">
                <a:solidFill>
                  <a:srgbClr val="5B6B70"/>
                </a:solidFill>
                <a:latin typeface="Arial" pitchFamily="34" charset="0"/>
                <a:ea typeface="Arial" pitchFamily="34" charset="-122"/>
                <a:cs typeface="Arial" pitchFamily="34" charset="-120"/>
              </a:rPr>
              <a:t>Date</a:t>
            </a:r>
            <a:endParaRPr lang="en-US" sz="950" dirty="0"/>
          </a:p>
        </p:txBody>
      </p:sp>
      <p:sp>
        <p:nvSpPr>
          <p:cNvPr id="14" name="Shape 12"/>
          <p:cNvSpPr/>
          <p:nvPr/>
        </p:nvSpPr>
        <p:spPr>
          <a:xfrm>
            <a:off x="6233008" y="2011680"/>
            <a:ext cx="5410048" cy="2057400"/>
          </a:xfrm>
          <a:prstGeom prst="roundRect">
            <a:avLst>
              <a:gd name="adj" fmla="val 5556"/>
            </a:avLst>
          </a:prstGeom>
          <a:solidFill>
            <a:srgbClr val="FFFFFF"/>
          </a:solidFill>
          <a:ln w="9525">
            <a:solidFill>
              <a:srgbClr val="D5DEDB"/>
            </a:solidFill>
            <a:prstDash val="solid"/>
          </a:ln>
        </p:spPr>
      </p:sp>
      <p:sp>
        <p:nvSpPr>
          <p:cNvPr id="15" name="Text 13"/>
          <p:cNvSpPr txBox="1"/>
          <p:nvPr/>
        </p:nvSpPr>
        <p:spPr>
          <a:xfrm>
            <a:off x="6507328" y="2212848"/>
            <a:ext cx="4861408"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For Patientcurve</a:t>
            </a:r>
            <a:endParaRPr lang="en-US" sz="1000" dirty="0"/>
          </a:p>
        </p:txBody>
      </p:sp>
      <p:sp>
        <p:nvSpPr>
          <p:cNvPr id="16" name="Text 14"/>
          <p:cNvSpPr txBox="1"/>
          <p:nvPr/>
        </p:nvSpPr>
        <p:spPr>
          <a:xfrm>
            <a:off x="6507328" y="2423160"/>
            <a:ext cx="4861408" cy="274320"/>
          </a:xfrm>
          <a:prstGeom prst="rect">
            <a:avLst/>
          </a:prstGeom>
          <a:noFill/>
          <a:ln/>
        </p:spPr>
        <p:txBody>
          <a:bodyPr wrap="square" lIns="0" tIns="0" rIns="0" bIns="0" rtlCol="0" anchor="t"/>
          <a:lstStyle/>
          <a:p>
            <a:pPr algn="l" indent="0" marL="0">
              <a:lnSpc>
                <a:spcPts val="1750"/>
              </a:lnSpc>
              <a:buNone/>
            </a:pPr>
            <a:r>
              <a:rPr lang="en-US" sz="1400" b="1" dirty="0">
                <a:solidFill>
                  <a:srgbClr val="14232B"/>
                </a:solidFill>
                <a:latin typeface="Arial" pitchFamily="34" charset="0"/>
                <a:ea typeface="Arial" pitchFamily="34" charset="-122"/>
                <a:cs typeface="Arial" pitchFamily="34" charset="-120"/>
              </a:rPr>
              <a:t>Patientcurve</a:t>
            </a:r>
            <a:endParaRPr lang="en-US" sz="1400" dirty="0"/>
          </a:p>
        </p:txBody>
      </p:sp>
      <p:sp>
        <p:nvSpPr>
          <p:cNvPr id="17" name="Shape 15"/>
          <p:cNvSpPr/>
          <p:nvPr/>
        </p:nvSpPr>
        <p:spPr>
          <a:xfrm>
            <a:off x="6507328" y="3200400"/>
            <a:ext cx="4861408" cy="0"/>
          </a:xfrm>
          <a:prstGeom prst="line">
            <a:avLst/>
          </a:prstGeom>
          <a:noFill/>
          <a:ln w="9525">
            <a:solidFill>
              <a:srgbClr val="5B6B70"/>
            </a:solidFill>
            <a:prstDash val="solid"/>
          </a:ln>
        </p:spPr>
      </p:sp>
      <p:sp>
        <p:nvSpPr>
          <p:cNvPr id="18" name="Text 16"/>
          <p:cNvSpPr txBox="1"/>
          <p:nvPr/>
        </p:nvSpPr>
        <p:spPr>
          <a:xfrm>
            <a:off x="6507328" y="3255264"/>
            <a:ext cx="4861408" cy="182880"/>
          </a:xfrm>
          <a:prstGeom prst="rect">
            <a:avLst/>
          </a:prstGeom>
          <a:noFill/>
          <a:ln/>
        </p:spPr>
        <p:txBody>
          <a:bodyPr wrap="square" lIns="0" tIns="0" rIns="0" bIns="0" rtlCol="0" anchor="t"/>
          <a:lstStyle/>
          <a:p>
            <a:pPr algn="l" indent="0" marL="0">
              <a:lnSpc>
                <a:spcPts val="1190"/>
              </a:lnSpc>
              <a:buNone/>
            </a:pPr>
            <a:r>
              <a:rPr lang="en-US" sz="950" dirty="0">
                <a:solidFill>
                  <a:srgbClr val="5B6B70"/>
                </a:solidFill>
                <a:latin typeface="Arial" pitchFamily="34" charset="0"/>
                <a:ea typeface="Arial" pitchFamily="34" charset="-122"/>
                <a:cs typeface="Arial" pitchFamily="34" charset="-120"/>
              </a:rPr>
              <a:t>Authorised representative</a:t>
            </a:r>
            <a:endParaRPr lang="en-US" sz="950" dirty="0"/>
          </a:p>
        </p:txBody>
      </p:sp>
      <p:sp>
        <p:nvSpPr>
          <p:cNvPr id="19" name="Shape 17"/>
          <p:cNvSpPr/>
          <p:nvPr/>
        </p:nvSpPr>
        <p:spPr>
          <a:xfrm>
            <a:off x="6507328" y="3840480"/>
            <a:ext cx="2722388" cy="0"/>
          </a:xfrm>
          <a:prstGeom prst="line">
            <a:avLst/>
          </a:prstGeom>
          <a:noFill/>
          <a:ln w="9525">
            <a:solidFill>
              <a:srgbClr val="5B6B70"/>
            </a:solidFill>
            <a:prstDash val="solid"/>
          </a:ln>
        </p:spPr>
      </p:sp>
      <p:sp>
        <p:nvSpPr>
          <p:cNvPr id="20" name="Text 18"/>
          <p:cNvSpPr txBox="1"/>
          <p:nvPr/>
        </p:nvSpPr>
        <p:spPr>
          <a:xfrm>
            <a:off x="6507328" y="3895344"/>
            <a:ext cx="2722388" cy="182880"/>
          </a:xfrm>
          <a:prstGeom prst="rect">
            <a:avLst/>
          </a:prstGeom>
          <a:noFill/>
          <a:ln/>
        </p:spPr>
        <p:txBody>
          <a:bodyPr wrap="square" lIns="0" tIns="0" rIns="0" bIns="0" rtlCol="0" anchor="t"/>
          <a:lstStyle/>
          <a:p>
            <a:pPr algn="l" indent="0" marL="0">
              <a:lnSpc>
                <a:spcPts val="1190"/>
              </a:lnSpc>
              <a:buNone/>
            </a:pPr>
            <a:r>
              <a:rPr lang="en-US" sz="950" dirty="0">
                <a:solidFill>
                  <a:srgbClr val="5B6B70"/>
                </a:solidFill>
                <a:latin typeface="Arial" pitchFamily="34" charset="0"/>
                <a:ea typeface="Arial" pitchFamily="34" charset="-122"/>
                <a:cs typeface="Arial" pitchFamily="34" charset="-120"/>
              </a:rPr>
              <a:t>Signature</a:t>
            </a:r>
            <a:endParaRPr lang="en-US" sz="950" dirty="0"/>
          </a:p>
        </p:txBody>
      </p:sp>
      <p:sp>
        <p:nvSpPr>
          <p:cNvPr id="21" name="Shape 19"/>
          <p:cNvSpPr/>
          <p:nvPr/>
        </p:nvSpPr>
        <p:spPr>
          <a:xfrm>
            <a:off x="9521400" y="3840480"/>
            <a:ext cx="1847335" cy="0"/>
          </a:xfrm>
          <a:prstGeom prst="line">
            <a:avLst/>
          </a:prstGeom>
          <a:noFill/>
          <a:ln w="9525">
            <a:solidFill>
              <a:srgbClr val="5B6B70"/>
            </a:solidFill>
            <a:prstDash val="solid"/>
          </a:ln>
        </p:spPr>
      </p:sp>
      <p:sp>
        <p:nvSpPr>
          <p:cNvPr id="22" name="Text 20"/>
          <p:cNvSpPr txBox="1"/>
          <p:nvPr/>
        </p:nvSpPr>
        <p:spPr>
          <a:xfrm>
            <a:off x="9521400" y="3895344"/>
            <a:ext cx="1847335" cy="182880"/>
          </a:xfrm>
          <a:prstGeom prst="rect">
            <a:avLst/>
          </a:prstGeom>
          <a:noFill/>
          <a:ln/>
        </p:spPr>
        <p:txBody>
          <a:bodyPr wrap="square" lIns="0" tIns="0" rIns="0" bIns="0" rtlCol="0" anchor="t"/>
          <a:lstStyle/>
          <a:p>
            <a:pPr algn="l" indent="0" marL="0">
              <a:lnSpc>
                <a:spcPts val="1190"/>
              </a:lnSpc>
              <a:buNone/>
            </a:pPr>
            <a:r>
              <a:rPr lang="en-US" sz="950" dirty="0">
                <a:solidFill>
                  <a:srgbClr val="5B6B70"/>
                </a:solidFill>
                <a:latin typeface="Arial" pitchFamily="34" charset="0"/>
                <a:ea typeface="Arial" pitchFamily="34" charset="-122"/>
                <a:cs typeface="Arial" pitchFamily="34" charset="-120"/>
              </a:rPr>
              <a:t>Date</a:t>
            </a:r>
            <a:endParaRPr lang="en-US" sz="950" dirty="0"/>
          </a:p>
        </p:txBody>
      </p:sp>
      <p:sp>
        <p:nvSpPr>
          <p:cNvPr id="23" name="Shape 21"/>
          <p:cNvSpPr/>
          <p:nvPr/>
        </p:nvSpPr>
        <p:spPr>
          <a:xfrm>
            <a:off x="548640" y="4343400"/>
            <a:ext cx="11094415" cy="914400"/>
          </a:xfrm>
          <a:prstGeom prst="roundRect">
            <a:avLst>
              <a:gd name="adj" fmla="val 12500"/>
            </a:avLst>
          </a:prstGeom>
          <a:solidFill>
            <a:srgbClr val="DCEFEA"/>
          </a:solidFill>
          <a:ln/>
        </p:spPr>
      </p:sp>
      <p:sp>
        <p:nvSpPr>
          <p:cNvPr id="24" name="Text 22"/>
          <p:cNvSpPr txBox="1"/>
          <p:nvPr/>
        </p:nvSpPr>
        <p:spPr>
          <a:xfrm>
            <a:off x="822960" y="4498848"/>
            <a:ext cx="10545775" cy="158750"/>
          </a:xfrm>
          <a:prstGeom prst="rect">
            <a:avLst/>
          </a:prstGeom>
          <a:noFill/>
          <a:ln/>
        </p:spPr>
        <p:txBody>
          <a:bodyPr wrap="square" lIns="0" tIns="0" rIns="0" bIns="0" rtlCol="0" anchor="t"/>
          <a:lstStyle/>
          <a:p>
            <a:pPr algn="l" indent="0" marL="0">
              <a:lnSpc>
                <a:spcPts val="1250"/>
              </a:lnSpc>
              <a:buNone/>
            </a:pPr>
            <a:r>
              <a:rPr lang="en-US" sz="1000" b="1" dirty="0">
                <a:solidFill>
                  <a:srgbClr val="0E7C6B"/>
                </a:solidFill>
                <a:latin typeface="Arial" pitchFamily="34" charset="0"/>
                <a:ea typeface="Arial" pitchFamily="34" charset="-122"/>
                <a:cs typeface="Arial" pitchFamily="34" charset="-120"/>
              </a:rPr>
              <a:t>Next step</a:t>
            </a:r>
            <a:endParaRPr lang="en-US" sz="1000" dirty="0"/>
          </a:p>
        </p:txBody>
      </p:sp>
      <p:sp>
        <p:nvSpPr>
          <p:cNvPr id="25" name="Text 23"/>
          <p:cNvSpPr txBox="1"/>
          <p:nvPr/>
        </p:nvSpPr>
        <p:spPr>
          <a:xfrm>
            <a:off x="822960" y="4709160"/>
            <a:ext cx="10545775" cy="457200"/>
          </a:xfrm>
          <a:prstGeom prst="rect">
            <a:avLst/>
          </a:prstGeom>
          <a:noFill/>
          <a:ln/>
        </p:spPr>
        <p:txBody>
          <a:bodyPr wrap="square" lIns="0" tIns="0" rIns="0" bIns="0" rtlCol="0" anchor="t"/>
          <a:lstStyle/>
          <a:p>
            <a:pPr algn="l" indent="0" marL="0">
              <a:lnSpc>
                <a:spcPts val="2130"/>
              </a:lnSpc>
              <a:buNone/>
            </a:pPr>
            <a:r>
              <a:rPr lang="en-US" sz="1700" b="1" dirty="0">
                <a:solidFill>
                  <a:srgbClr val="14232B"/>
                </a:solidFill>
                <a:latin typeface="Arial" pitchFamily="34" charset="0"/>
                <a:ea typeface="Arial" pitchFamily="34" charset="-122"/>
                <a:cs typeface="Arial" pitchFamily="34" charset="-120"/>
              </a:rPr>
              <a:t>Approve the proposal and schedule the implementation discussion.</a:t>
            </a:r>
            <a:endParaRPr lang="en-US" sz="1700" dirty="0"/>
          </a:p>
        </p:txBody>
      </p:sp>
      <p:sp>
        <p:nvSpPr>
          <p:cNvPr id="26" name="Shape 24"/>
          <p:cNvSpPr/>
          <p:nvPr/>
        </p:nvSpPr>
        <p:spPr>
          <a:xfrm>
            <a:off x="548640" y="5605272"/>
            <a:ext cx="109728" cy="109728"/>
          </a:xfrm>
          <a:prstGeom prst="ellipse">
            <a:avLst/>
          </a:prstGeom>
          <a:solidFill>
            <a:srgbClr val="E2607A"/>
          </a:solidFill>
          <a:ln/>
        </p:spPr>
      </p:sp>
      <p:sp>
        <p:nvSpPr>
          <p:cNvPr id="27" name="Text 25"/>
          <p:cNvSpPr txBox="1"/>
          <p:nvPr/>
        </p:nvSpPr>
        <p:spPr>
          <a:xfrm>
            <a:off x="777240" y="5458968"/>
            <a:ext cx="6858000" cy="365760"/>
          </a:xfrm>
          <a:prstGeom prst="rect">
            <a:avLst/>
          </a:prstGeom>
          <a:noFill/>
          <a:ln/>
        </p:spPr>
        <p:txBody>
          <a:bodyPr wrap="square" lIns="0" tIns="0" rIns="0" bIns="0" rtlCol="0" anchor="t"/>
          <a:lstStyle/>
          <a:p>
            <a:pPr algn="l" indent="0" marL="0">
              <a:lnSpc>
                <a:spcPts val="2250"/>
              </a:lnSpc>
              <a:buNone/>
            </a:pPr>
            <a:r>
              <a:rPr lang="en-US" sz="1800" b="1" dirty="0">
                <a:solidFill>
                  <a:srgbClr val="14232B"/>
                </a:solidFill>
                <a:latin typeface="Arial" pitchFamily="34" charset="0"/>
                <a:ea typeface="Arial" pitchFamily="34" charset="-122"/>
                <a:cs typeface="Arial" pitchFamily="34" charset="-120"/>
              </a:rPr>
              <a:t>Let's make patient follow-up more consistent.</a:t>
            </a:r>
            <a:endParaRPr lang="en-US" sz="1800" dirty="0"/>
          </a:p>
        </p:txBody>
      </p:sp>
      <p:sp>
        <p:nvSpPr>
          <p:cNvPr id="28" name="Text 26"/>
          <p:cNvSpPr txBox="1"/>
          <p:nvPr/>
        </p:nvSpPr>
        <p:spPr>
          <a:xfrm>
            <a:off x="7223760" y="5559552"/>
            <a:ext cx="4419295" cy="219456"/>
          </a:xfrm>
          <a:prstGeom prst="rect">
            <a:avLst/>
          </a:prstGeom>
          <a:noFill/>
          <a:ln/>
        </p:spPr>
        <p:txBody>
          <a:bodyPr wrap="square" lIns="0" tIns="0" rIns="0" bIns="0" rtlCol="0" anchor="t"/>
          <a:lstStyle/>
          <a:p>
            <a:pPr algn="r" indent="0" marL="0">
              <a:lnSpc>
                <a:spcPts val="1060"/>
              </a:lnSpc>
              <a:buNone/>
            </a:pPr>
            <a:r>
              <a:rPr lang="en-US" sz="850" dirty="0">
                <a:solidFill>
                  <a:srgbClr val="5B6B70"/>
                </a:solidFill>
                <a:latin typeface="Arial" pitchFamily="34" charset="0"/>
                <a:ea typeface="Arial" pitchFamily="34" charset="-122"/>
                <a:cs typeface="Arial" pitchFamily="34" charset="-120"/>
              </a:rPr>
              <a:t>Sample Founder (fictional)  ·  hello@example.com  ·  +91 90000 00000  ·  patientcurve.com</a:t>
            </a:r>
            <a:endParaRPr lang="en-US" sz="850" dirty="0"/>
          </a:p>
        </p:txBody>
      </p:sp>
      <p:sp>
        <p:nvSpPr>
          <p:cNvPr id="29" name="Shape 27"/>
          <p:cNvSpPr/>
          <p:nvPr/>
        </p:nvSpPr>
        <p:spPr>
          <a:xfrm>
            <a:off x="548640" y="6355080"/>
            <a:ext cx="11094415" cy="0"/>
          </a:xfrm>
          <a:prstGeom prst="line">
            <a:avLst/>
          </a:prstGeom>
          <a:noFill/>
          <a:ln w="9525">
            <a:solidFill>
              <a:srgbClr val="D5DEDB"/>
            </a:solidFill>
            <a:prstDash val="solid"/>
          </a:ln>
        </p:spPr>
      </p:sp>
      <p:sp>
        <p:nvSpPr>
          <p:cNvPr id="30" name="Text 28"/>
          <p:cNvSpPr txBox="1"/>
          <p:nvPr/>
        </p:nvSpPr>
        <p:spPr>
          <a:xfrm>
            <a:off x="548640" y="6437376"/>
            <a:ext cx="9144000" cy="182880"/>
          </a:xfrm>
          <a:prstGeom prst="rect">
            <a:avLst/>
          </a:prstGeom>
          <a:noFill/>
          <a:ln/>
        </p:spPr>
        <p:txBody>
          <a:bodyPr wrap="square" lIns="0" tIns="0" rIns="0" bIns="0" rtlCol="0" anchor="t"/>
          <a:lstStyle/>
          <a:p>
            <a:pPr algn="l" indent="0" marL="0">
              <a:lnSpc>
                <a:spcPts val="1130"/>
              </a:lnSpc>
              <a:buNone/>
            </a:pPr>
            <a:r>
              <a:rPr lang="en-US" sz="900" dirty="0">
                <a:solidFill>
                  <a:srgbClr val="5B6B70"/>
                </a:solidFill>
                <a:latin typeface="Arial" pitchFamily="34" charset="0"/>
                <a:ea typeface="Arial" pitchFamily="34" charset="-122"/>
                <a:cs typeface="Arial" pitchFamily="34" charset="-120"/>
              </a:rPr>
              <a:t>Patientcurve  ·  Proposal for Sample Smile Dental Studio (fictional)  ·  Ref SAMPLE-001</a:t>
            </a:r>
            <a:endParaRPr lang="en-US" sz="900" dirty="0"/>
          </a:p>
        </p:txBody>
      </p:sp>
      <p:sp>
        <p:nvSpPr>
          <p:cNvPr id="31" name="Text 29"/>
          <p:cNvSpPr txBox="1"/>
          <p:nvPr/>
        </p:nvSpPr>
        <p:spPr>
          <a:xfrm>
            <a:off x="10271455" y="6437376"/>
            <a:ext cx="1371600" cy="182880"/>
          </a:xfrm>
          <a:prstGeom prst="rect">
            <a:avLst/>
          </a:prstGeom>
          <a:noFill/>
          <a:ln/>
        </p:spPr>
        <p:txBody>
          <a:bodyPr wrap="square" lIns="0" tIns="0" rIns="0" bIns="0" rtlCol="0" anchor="t"/>
          <a:lstStyle/>
          <a:p>
            <a:pPr algn="r" indent="0" marL="0">
              <a:lnSpc>
                <a:spcPts val="1130"/>
              </a:lnSpc>
              <a:buNone/>
            </a:pPr>
            <a:r>
              <a:rPr lang="en-US" sz="900" dirty="0">
                <a:solidFill>
                  <a:srgbClr val="5B6B70"/>
                </a:solidFill>
                <a:latin typeface="Arial" pitchFamily="34" charset="0"/>
                <a:ea typeface="Arial" pitchFamily="34" charset="-122"/>
                <a:cs typeface="Arial" pitchFamily="34" charset="-120"/>
              </a:rPr>
              <a:t>10 / 10</a:t>
            </a:r>
            <a:endParaRPr lang="en-US" sz="900" dirty="0"/>
          </a:p>
        </p:txBody>
      </p:sp>
      <p:sp>
        <p:nvSpPr>
          <p:cNvPr id="32" name="Shape 30"/>
          <p:cNvSpPr/>
          <p:nvPr/>
        </p:nvSpPr>
        <p:spPr>
          <a:xfrm>
            <a:off x="0" y="0"/>
            <a:ext cx="12191695" cy="237744"/>
          </a:xfrm>
          <a:prstGeom prst="rect">
            <a:avLst/>
          </a:prstGeom>
          <a:solidFill>
            <a:srgbClr val="8F5A0E"/>
          </a:solidFill>
          <a:ln/>
        </p:spPr>
      </p:sp>
      <p:sp>
        <p:nvSpPr>
          <p:cNvPr id="33" name="Text 31"/>
          <p:cNvSpPr txBox="1"/>
          <p:nvPr/>
        </p:nvSpPr>
        <p:spPr>
          <a:xfrm>
            <a:off x="0" y="50292"/>
            <a:ext cx="12191695" cy="146304"/>
          </a:xfrm>
          <a:prstGeom prst="rect">
            <a:avLst/>
          </a:prstGeom>
          <a:noFill/>
          <a:ln/>
        </p:spPr>
        <p:txBody>
          <a:bodyPr wrap="square" lIns="0" tIns="0" rIns="0" bIns="0" rtlCol="0" anchor="t"/>
          <a:lstStyle/>
          <a:p>
            <a:pPr algn="ctr" indent="0" marL="0">
              <a:lnSpc>
                <a:spcPts val="1060"/>
              </a:lnSpc>
              <a:buNone/>
            </a:pPr>
            <a:r>
              <a:rPr lang="en-US" sz="850" b="1" spc="100" kern="0" dirty="0">
                <a:solidFill>
                  <a:srgbClr val="FFFFFF"/>
                </a:solidFill>
                <a:latin typeface="Arial" pitchFamily="34" charset="0"/>
                <a:ea typeface="Arial" pitchFamily="34" charset="-122"/>
                <a:cs typeface="Arial" pitchFamily="34" charset="-120"/>
              </a:rPr>
              <a:t>SAMPLE PROPOSAL  ·  FICTIONAL CLINIC DATA  ·  DO NOT SEND</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Patientcurve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 journey automation proposal for Sample Smile Dental Studio (fictional)</dc:title>
  <dc:subject>Patient journey automation proposal</dc:subject>
  <dc:creator>Sample Founder (fictional)</dc:creator>
  <cp:lastModifiedBy>Sample Founder (fictional)</cp:lastModifiedBy>
  <cp:revision>1</cp:revision>
  <dcterms:created xsi:type="dcterms:W3CDTF">2026-10-10T10:52:06Z</dcterms:created>
  <dcterms:modified xsi:type="dcterms:W3CDTF">2026-10-10T10:52:06Z</dcterms:modified>
</cp:coreProperties>
</file>