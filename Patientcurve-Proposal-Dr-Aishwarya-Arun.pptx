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384048"/>
            <a:ext cx="1600200" cy="304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FOR DR. AISHWARYA ARUN  ·  THE PROBLEM AND THE SOLUTION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enquiry deserves a next step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6437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 </a:t>
            </a:r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Aishwarya Arun  ·  </a:t>
            </a:r>
            <a:pPr indent="0" marL="0">
              <a:buNone/>
            </a:pPr>
            <a:r>
              <a:rPr lang="en-US" sz="1000" b="1" dirty="0">
                <a:solidFill>
                  <a:srgbClr val="8F5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[Clinic name]</a:t>
            </a:r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10 Oct 2026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6437376"/>
            <a:ext cx="3230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 proposal  ·  1 / 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786384"/>
            <a:ext cx="4419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</a:t>
            </a:r>
            <a:pPr algn="r" indent="0" marL="0">
              <a:buNone/>
            </a:pPr>
            <a:r>
              <a:rPr lang="en-US" sz="125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Aishwarya Arun</a:t>
            </a:r>
            <a:endParaRPr lang="en-US" sz="1250" dirty="0"/>
          </a:p>
          <a:p>
            <a:pPr algn="r" indent="0" marL="0">
              <a:buNone/>
            </a:pPr>
            <a:r>
              <a:rPr lang="en-US" sz="1250" b="1" dirty="0">
                <a:solidFill>
                  <a:srgbClr val="8F5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[Clinic name]</a:t>
            </a:r>
            <a:pPr algn="r"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10 Oct 2026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1417320"/>
            <a:ext cx="3611880" cy="2514600"/>
          </a:xfrm>
          <a:prstGeom prst="roundRect">
            <a:avLst>
              <a:gd name="adj" fmla="val 4364"/>
            </a:avLst>
          </a:prstGeom>
          <a:solidFill>
            <a:srgbClr val="1423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16459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FC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19385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don't leave. They slip away between conversations.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6517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9D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Enquiries wait for a reply after hours or on busy days</a:t>
            </a:r>
            <a:endParaRPr lang="en-US" sz="115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9D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who don't book on the first reply never hear back</a:t>
            </a:r>
            <a:endParaRPr lang="en-US" sz="115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9D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visits and recalls depend on someone remembering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1417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PATIENTCURVE DOES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1691640"/>
            <a:ext cx="7253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WhatsApp follow-ups on the clinic's own number, using clinic-approved messages.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389120" y="2103120"/>
            <a:ext cx="229605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17720" y="2240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818" y="2286000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617720" y="2697480"/>
            <a:ext cx="1838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617720" y="3063240"/>
            <a:ext cx="1884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enquiry is answered and recorded with the patient's need, day or night.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868058" y="2103120"/>
            <a:ext cx="229605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096658" y="2240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757" y="2286000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096658" y="2697480"/>
            <a:ext cx="1838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up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096658" y="3063240"/>
            <a:ext cx="1884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 follow-ups and reminders until the patient books or opts out.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9346997" y="2103120"/>
            <a:ext cx="2296058" cy="1828800"/>
          </a:xfrm>
          <a:prstGeom prst="roundRect">
            <a:avLst>
              <a:gd name="adj" fmla="val 6000"/>
            </a:avLst>
          </a:prstGeom>
          <a:solidFill>
            <a:srgbClr val="DCEFEA"/>
          </a:solidFill>
          <a:ln w="9525">
            <a:solidFill>
              <a:srgbClr val="0E7C6B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9575597" y="2240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2286000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575597" y="2697480"/>
            <a:ext cx="1838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9575597" y="3063240"/>
            <a:ext cx="1884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visits and past patients are invited back where appointment data allows.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41605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48640" y="4434840"/>
            <a:ext cx="1999427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58368" y="4434840"/>
            <a:ext cx="17799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messages on WhatsApp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2584643" y="4718304"/>
            <a:ext cx="201168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2822387" y="4434840"/>
            <a:ext cx="1999427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2932115" y="4434840"/>
            <a:ext cx="17799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answers and a few questions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4858390" y="4718304"/>
            <a:ext cx="201168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5096134" y="4434840"/>
            <a:ext cx="1999427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5205862" y="4434840"/>
            <a:ext cx="17799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Follow-ups if not booked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7132137" y="4718304"/>
            <a:ext cx="201168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  <a:tailEnd type="triangle"/>
          </a:ln>
        </p:spPr>
      </p:sp>
      <p:sp>
        <p:nvSpPr>
          <p:cNvPr id="40" name="Shape 34"/>
          <p:cNvSpPr/>
          <p:nvPr/>
        </p:nvSpPr>
        <p:spPr>
          <a:xfrm>
            <a:off x="7369881" y="4434840"/>
            <a:ext cx="1999427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479609" y="4434840"/>
            <a:ext cx="17799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link or staff call</a:t>
            </a:r>
            <a:endParaRPr lang="en-US" sz="1150" dirty="0"/>
          </a:p>
        </p:txBody>
      </p:sp>
      <p:sp>
        <p:nvSpPr>
          <p:cNvPr id="42" name="Shape 36"/>
          <p:cNvSpPr/>
          <p:nvPr/>
        </p:nvSpPr>
        <p:spPr>
          <a:xfrm>
            <a:off x="9405884" y="4718304"/>
            <a:ext cx="201168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  <a:tailEnd type="triangle"/>
          </a:ln>
        </p:spPr>
      </p:sp>
      <p:sp>
        <p:nvSpPr>
          <p:cNvPr id="43" name="Shape 37"/>
          <p:cNvSpPr/>
          <p:nvPr/>
        </p:nvSpPr>
        <p:spPr>
          <a:xfrm>
            <a:off x="9643628" y="4434840"/>
            <a:ext cx="1999427" cy="566928"/>
          </a:xfrm>
          <a:prstGeom prst="roundRect">
            <a:avLst>
              <a:gd name="adj" fmla="val 19355"/>
            </a:avLst>
          </a:prstGeom>
          <a:solidFill>
            <a:srgbClr val="14232B"/>
          </a:solidFill>
          <a:ln w="9525">
            <a:solidFill>
              <a:srgbClr val="14232B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9753356" y="4434840"/>
            <a:ext cx="17799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tracked for every enquiry</a:t>
            </a:r>
            <a:endParaRPr lang="en-US" sz="1150" dirty="0"/>
          </a:p>
        </p:txBody>
      </p:sp>
      <p:sp>
        <p:nvSpPr>
          <p:cNvPr id="45" name="Text 39"/>
          <p:cNvSpPr txBox="1"/>
          <p:nvPr/>
        </p:nvSpPr>
        <p:spPr>
          <a:xfrm>
            <a:off x="548640" y="52303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CLINIC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548640" y="5504688"/>
            <a:ext cx="2636444" cy="640080"/>
          </a:xfrm>
          <a:prstGeom prst="roundRect">
            <a:avLst>
              <a:gd name="adj" fmla="val 17143"/>
            </a:avLst>
          </a:prstGeom>
          <a:solidFill>
            <a:srgbClr val="DCEFEA"/>
          </a:solidFill>
          <a:ln/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669280"/>
            <a:ext cx="310896" cy="310896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1170432" y="5504688"/>
            <a:ext cx="18592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enquiry goes unanswered</a:t>
            </a:r>
            <a:endParaRPr lang="en-US" sz="1200" dirty="0"/>
          </a:p>
        </p:txBody>
      </p:sp>
      <p:sp>
        <p:nvSpPr>
          <p:cNvPr id="49" name="Shape 42"/>
          <p:cNvSpPr/>
          <p:nvPr/>
        </p:nvSpPr>
        <p:spPr>
          <a:xfrm>
            <a:off x="3367964" y="5504688"/>
            <a:ext cx="2636444" cy="640080"/>
          </a:xfrm>
          <a:prstGeom prst="roundRect">
            <a:avLst>
              <a:gd name="adj" fmla="val 17143"/>
            </a:avLst>
          </a:prstGeom>
          <a:solidFill>
            <a:srgbClr val="DCEFEA"/>
          </a:solidFill>
          <a:ln/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0844" y="5669280"/>
            <a:ext cx="310896" cy="310896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3989756" y="5504688"/>
            <a:ext cx="18592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happens without staff chasing</a:t>
            </a:r>
            <a:endParaRPr lang="en-US" sz="1200" dirty="0"/>
          </a:p>
        </p:txBody>
      </p:sp>
      <p:sp>
        <p:nvSpPr>
          <p:cNvPr id="52" name="Shape 44"/>
          <p:cNvSpPr/>
          <p:nvPr/>
        </p:nvSpPr>
        <p:spPr>
          <a:xfrm>
            <a:off x="6187288" y="5504688"/>
            <a:ext cx="2636444" cy="640080"/>
          </a:xfrm>
          <a:prstGeom prst="roundRect">
            <a:avLst>
              <a:gd name="adj" fmla="val 17143"/>
            </a:avLst>
          </a:prstGeom>
          <a:solidFill>
            <a:srgbClr val="DCEFEA"/>
          </a:solidFill>
          <a:ln/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0168" y="5669280"/>
            <a:ext cx="310896" cy="310896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6809080" y="5504688"/>
            <a:ext cx="18592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missed bookings left unrecovered</a:t>
            </a:r>
            <a:endParaRPr lang="en-US" sz="1200" dirty="0"/>
          </a:p>
        </p:txBody>
      </p:sp>
      <p:sp>
        <p:nvSpPr>
          <p:cNvPr id="55" name="Shape 46"/>
          <p:cNvSpPr/>
          <p:nvPr/>
        </p:nvSpPr>
        <p:spPr>
          <a:xfrm>
            <a:off x="9006611" y="5504688"/>
            <a:ext cx="2636444" cy="640080"/>
          </a:xfrm>
          <a:prstGeom prst="roundRect">
            <a:avLst>
              <a:gd name="adj" fmla="val 17143"/>
            </a:avLst>
          </a:prstGeom>
          <a:solidFill>
            <a:srgbClr val="DCEFEA"/>
          </a:solidFill>
          <a:ln/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491" y="5669280"/>
            <a:ext cx="310896" cy="310896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9628403" y="5504688"/>
            <a:ext cx="18592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view of every patient's status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384048"/>
            <a:ext cx="1600200" cy="304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FOR DR. AISHWARYA ARUN  ·  PRICING AND NEXT STEPS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pilot price and clear scope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6437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 </a:t>
            </a:r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Aishwarya Arun  ·  </a:t>
            </a:r>
            <a:pPr indent="0" marL="0">
              <a:buNone/>
            </a:pPr>
            <a:r>
              <a:rPr lang="en-US" sz="1000" b="1" dirty="0">
                <a:solidFill>
                  <a:srgbClr val="8F5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[Clinic name]</a:t>
            </a:r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10 Oct 2026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6437376"/>
            <a:ext cx="3230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 proposal  ·  2 / 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325880"/>
            <a:ext cx="3545738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554480"/>
            <a:ext cx="2997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·  YOUR PILOT PRICE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1783080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₹5,000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377440"/>
            <a:ext cx="2997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price ₹7,500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697480"/>
            <a:ext cx="2997098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2807208"/>
            <a:ext cx="304281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call to agree workflows and timings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answers, written by us, signed off by you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Enquiry, follow-up and reminder workflows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WhatsApp Business number connected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notifications for calls and handoffs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walkthrough and end-to-end testing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22978" y="1325880"/>
            <a:ext cx="3545738" cy="3383280"/>
          </a:xfrm>
          <a:prstGeom prst="roundRect">
            <a:avLst>
              <a:gd name="adj" fmla="val 3243"/>
            </a:avLst>
          </a:prstGeom>
          <a:solidFill>
            <a:srgbClr val="14232B"/>
          </a:solidFill>
          <a:ln w="9525">
            <a:solidFill>
              <a:srgbClr val="1423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97298" y="1554480"/>
            <a:ext cx="2997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FC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FEE  ·  YOUR PILOT PRICE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97298" y="1783080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₹2,999</a:t>
            </a:r>
            <a:pPr indent="0" marL="0">
              <a:buNone/>
            </a:pPr>
            <a:r>
              <a:rPr lang="en-US" sz="1300" dirty="0">
                <a:solidFill>
                  <a:srgbClr val="C9D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month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97298" y="2377440"/>
            <a:ext cx="2997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FC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price ₹4,999 a month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97298" y="2697480"/>
            <a:ext cx="2997098" cy="0"/>
          </a:xfrm>
          <a:prstGeom prst="line">
            <a:avLst/>
          </a:prstGeom>
          <a:noFill/>
          <a:ln w="9525">
            <a:solidFill>
              <a:srgbClr val="2E4A5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97298" y="2807208"/>
            <a:ext cx="304281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enquiry answered and followed up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reminders and missed-visit follow-up *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and review requests *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enquiry-to-appointment report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updates when fees or timings change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Hosting, monitoring and updates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97317" y="1325880"/>
            <a:ext cx="354573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1637" y="1527048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783117" y="1563624"/>
            <a:ext cx="26313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INCLUDED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8371637" y="1947672"/>
            <a:ext cx="30428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on WhatsApp and phone for you and your team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investigated and fixed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and rule changes on request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097317" y="3063240"/>
            <a:ext cx="3545738" cy="1645920"/>
          </a:xfrm>
          <a:prstGeom prst="roundRect">
            <a:avLst>
              <a:gd name="adj" fmla="val 6667"/>
            </a:avLst>
          </a:prstGeom>
          <a:solidFill>
            <a:srgbClr val="FBF3E6"/>
          </a:solidFill>
          <a:ln w="9525">
            <a:solidFill>
              <a:srgbClr val="8F5A0E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637" y="324612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783117" y="3264408"/>
            <a:ext cx="26313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F5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INCLUDED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8371637" y="3611880"/>
            <a:ext cx="30428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charges set by Meta, billed at actual cost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or software integrations, unless agreed and quoted separately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ad campaigns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4800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offer: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₹5,000 setup and ₹2,999 a month is the specific pilot price offered to Dr. Aishwarya Arun for this proposal. Other clinics pay the standard price. Taxes as applicable.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Scope: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booking, reminders, recall and review requests depend on the clinic's systems and the configuration agreed at onboarding. No integration is included unless listed.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548640" y="54406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STARTED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48640" y="5687568"/>
            <a:ext cx="2636444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31520" y="5797296"/>
            <a:ext cx="329184" cy="329184"/>
          </a:xfrm>
          <a:prstGeom prst="ellipse">
            <a:avLst/>
          </a:prstGeom>
          <a:solidFill>
            <a:srgbClr val="DCEFE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31520" y="5797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1188720" y="5687568"/>
            <a:ext cx="18592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this proposal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3367964" y="5687568"/>
            <a:ext cx="2636444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3550844" y="5797296"/>
            <a:ext cx="329184" cy="329184"/>
          </a:xfrm>
          <a:prstGeom prst="ellipse">
            <a:avLst/>
          </a:prstGeom>
          <a:solidFill>
            <a:srgbClr val="DCEFE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3550844" y="5797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4008044" y="5687568"/>
            <a:ext cx="18592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WhatsApp access and clinic details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187288" y="5687568"/>
            <a:ext cx="2636444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370168" y="5797296"/>
            <a:ext cx="329184" cy="329184"/>
          </a:xfrm>
          <a:prstGeom prst="ellipse">
            <a:avLst/>
          </a:prstGeom>
          <a:solidFill>
            <a:srgbClr val="DCEFEA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6370168" y="5797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6827368" y="5687568"/>
            <a:ext cx="18592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configure and test with your team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9006611" y="5687568"/>
            <a:ext cx="2636444" cy="548640"/>
          </a:xfrm>
          <a:prstGeom prst="roundRect">
            <a:avLst>
              <a:gd name="adj" fmla="val 20000"/>
            </a:avLst>
          </a:prstGeom>
          <a:solidFill>
            <a:srgbClr val="0E7C6B"/>
          </a:solidFill>
          <a:ln w="9525">
            <a:solidFill>
              <a:srgbClr val="0E7C6B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9189491" y="5797296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9189491" y="5797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Text 40"/>
          <p:cNvSpPr txBox="1"/>
          <p:nvPr/>
        </p:nvSpPr>
        <p:spPr>
          <a:xfrm>
            <a:off x="9646691" y="5687568"/>
            <a:ext cx="18592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live, with support from day one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Patientcurve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Patientcurve proposal for Dr. Aishwarya Arun</dc:title>
  <dc:subject>PptxGenJS Presentation</dc:subject>
  <dc:creator>Patientcurve</dc:creator>
  <cp:lastModifiedBy>Patientcurve</cp:lastModifiedBy>
  <cp:revision>1</cp:revision>
  <dcterms:created xsi:type="dcterms:W3CDTF">2026-10-10T11:14:12Z</dcterms:created>
  <dcterms:modified xsi:type="dcterms:W3CDTF">2026-10-10T11:14:12Z</dcterms:modified>
</cp:coreProperties>
</file>