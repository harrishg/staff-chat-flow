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59bc5b3-6bb4-4cc0-e5b2-e1810ad700b8}">
          <p14:sldIdLst>
            <p14:sldId id="256"/>
            <p14:sldId id="257"/>
          </p14:sldIdLst>
        </p14:section>
        <p14:section name="The opportunity" id="{1f2400c7-0142-6320-7061-40ccc93b09b1}">
          <p14:sldIdLst>
            <p14:sldId id="258"/>
            <p14:sldId id="259"/>
            <p14:sldId id="260"/>
          </p14:sldIdLst>
        </p14:section>
        <p14:section name="The solution" id="{1aa23a7d-47b6-648a-4cf6-64c66f8ed6b1}">
          <p14:sldIdLst>
            <p14:sldId id="261"/>
            <p14:sldId id="262"/>
            <p14:sldId id="263"/>
            <p14:sldId id="264"/>
          </p14:sldIdLst>
        </p14:section>
        <p14:section name="Investment" id="{11d5a699-115d-27b5-0a29-13997de70a0c}">
          <p14:sldIdLst>
            <p14:sldId id="265"/>
            <p14:sldId id="266"/>
            <p14:sldId id="267"/>
          </p14:sldIdLst>
        </p14:section>
        <p14:section name="Scope and next steps" id="{52a4b696-904e-c190-1e38-093bc8d5c91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Dr. Mohanapriya for her time. This proposal shows how PatientCurve manages every WhatsApp enquiry from her ads until it becomes a booked consultation, and how her team recovers patients who don't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PatientCurve does: controlled answers, routing and booking, and staff follow-up. As a pilot customer, setup is ₹5,000 instead of ₹7,500, and the monthly fee is ₹2,999 instead of ₹4,999.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facts the clinic shared: around three campaigns and a hundred enquiries a month, mostly on WhatsApp, and a Meta AI bot that has sometimes given wrong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enquiry that doesn't book is revenue that never arrives. Today nobody can say exactly how many drop away; PatientCurve makes that number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100 enquiries comes from the clinic. The other inputs are examples to replace with her real numbers. At these figures, 60 enquiries a month don't book; recovering 20% of them is 12 patients, worth about ₹96,000 a month, and a single recovered patient covers the ₹2,999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ad, WhatsApp enquiry, details, location and need, then an approved answer. Local patients are offered offline consultation, other towns video. Booked patients land in Google Calendar. Anyone who doesn't book goes to the follow-up list; staff call, recover the booking or close it, and update the PMS.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from the earlier slide maps to one thing PatientCurve does and one outcome for the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month the clinic sees enquiries, qualified leads, bookings by type, staff recoveries and the conversion rate, per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software for the team to learn beyond the staff chat. WhatsApp, Google Calendar and the PMS stay as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pilot customer: setup ₹5,000 instead of ₹7,500, and ₹2,999 a month instead of ₹4,999. This price is only for pilot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needed to go live is in setup: the onboarding call, approved answers, the WhatsApp flow, routing, calendar booking, connecting the number, the staff list, training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monthly fee covers running the whole workflow and the report. Support covers help for the doctor and front desk, fixes, changes on request and a monthly review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are agreed. The details on the right are settled in the onboarding call before anything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steps and ask for approval to start 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A1D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40080"/>
            <a:ext cx="502920" cy="502920"/>
          </a:xfrm>
          <a:prstGeom prst="rect">
            <a:avLst/>
          </a:prstGeom>
        </p:spPr>
      </p:pic>
      <p:sp>
        <p:nvSpPr>
          <p:cNvPr id="3" name="Text 0"/>
          <p:cNvSpPr/>
          <p:nvPr/>
        </p:nvSpPr>
        <p:spPr>
          <a:xfrm>
            <a:off x="1371600" y="658368"/>
            <a:ext cx="3657600" cy="45720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PatientCurve</a:t>
            </a:r>
            <a:endParaRPr lang="en-US" sz="2200" dirty="0"/>
          </a:p>
        </p:txBody>
      </p:sp>
      <p:sp>
        <p:nvSpPr>
          <p:cNvPr id="4" name="Text 1"/>
          <p:cNvSpPr/>
          <p:nvPr/>
        </p:nvSpPr>
        <p:spPr>
          <a:xfrm>
            <a:off x="731520" y="5943600"/>
            <a:ext cx="7315200" cy="365760"/>
          </a:xfrm>
          <a:prstGeom prst="rect">
            <a:avLst/>
          </a:prstGeom>
          <a:noFill/>
          <a:ln/>
        </p:spPr>
        <p:txBody>
          <a:bodyPr wrap="square" lIns="0" tIns="0" rIns="0" bIns="0" rtlCol="0" anchor="ctr"/>
          <a:lstStyle/>
          <a:p>
            <a:pPr indent="0" marL="0">
              <a:buNone/>
            </a:pPr>
            <a:r>
              <a:rPr lang="en-US" sz="1200" dirty="0">
                <a:solidFill>
                  <a:schemeClr val="accent2"/>
                </a:solidFill>
              </a:rPr>
              <a:t>More follow-up. More appointments. More revenue.</a:t>
            </a:r>
            <a:endParaRPr lang="en-US" sz="1200" dirty="0"/>
          </a:p>
        </p:txBody>
      </p:sp>
      <p:sp>
        <p:nvSpPr>
          <p:cNvPr id="5" name="Text 2"/>
          <p:cNvSpPr/>
          <p:nvPr>
            <p:ph idx="103" type="title" hasCustomPrompt="1"/>
          </p:nvPr>
        </p:nvSpPr>
        <p:spPr>
          <a:xfrm>
            <a:off x="731520" y="2331720"/>
            <a:ext cx="10698480" cy="137160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6" name="Text 2"/>
          <p:cNvSpPr/>
          <p:nvPr>
            <p:ph idx="104" type="body" hasCustomPrompt="1"/>
          </p:nvPr>
        </p:nvSpPr>
        <p:spPr>
          <a:xfrm>
            <a:off x="731520" y="3886200"/>
            <a:ext cx="10698480" cy="109728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20272" y="6327648"/>
            <a:ext cx="320040" cy="320040"/>
          </a:xfrm>
          <a:prstGeom prst="rect">
            <a:avLst/>
          </a:prstGeom>
        </p:spPr>
      </p:pic>
      <p:sp>
        <p:nvSpPr>
          <p:cNvPr id="3" name="Text 0"/>
          <p:cNvSpPr/>
          <p:nvPr/>
        </p:nvSpPr>
        <p:spPr>
          <a:xfrm>
            <a:off x="548640" y="6327648"/>
            <a:ext cx="8229600" cy="320040"/>
          </a:xfrm>
          <a:prstGeom prst="rect">
            <a:avLst/>
          </a:prstGeom>
          <a:noFill/>
          <a:ln/>
        </p:spPr>
        <p:txBody>
          <a:bodyPr wrap="square" lIns="0" tIns="0" rIns="0" bIns="0" rtlCol="0" anchor="ctr"/>
          <a:lstStyle/>
          <a:p>
            <a:pPr indent="0" marL="0">
              <a:buNone/>
            </a:pPr>
            <a:r>
              <a:rPr lang="en-US" sz="1000" dirty="0">
                <a:solidFill>
                  <a:schemeClr val="accent4"/>
                </a:solidFill>
              </a:rPr>
              <a:t>PatientCurve  ·  Proposal for Dr. Mohanapriya  ·  Pilot customer</a:t>
            </a:r>
            <a:endParaRPr lang="en-US" sz="1000" dirty="0"/>
          </a:p>
        </p:txBody>
      </p:sp>
      <p:sp>
        <p:nvSpPr>
          <p:cNvPr id="4" name="Text 1"/>
          <p:cNvSpPr/>
          <p:nvPr>
            <p:ph idx="102"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A1D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20272" y="6327648"/>
            <a:ext cx="320040" cy="320040"/>
          </a:xfrm>
          <a:prstGeom prst="rect">
            <a:avLst/>
          </a:prstGeom>
        </p:spPr>
      </p:pic>
      <p:sp>
        <p:nvSpPr>
          <p:cNvPr id="3" name="Text 0"/>
          <p:cNvSpPr/>
          <p:nvPr/>
        </p:nvSpPr>
        <p:spPr>
          <a:xfrm>
            <a:off x="548640" y="6327648"/>
            <a:ext cx="8229600" cy="320040"/>
          </a:xfrm>
          <a:prstGeom prst="rect">
            <a:avLst/>
          </a:prstGeom>
          <a:noFill/>
          <a:ln/>
        </p:spPr>
        <p:txBody>
          <a:bodyPr wrap="square" lIns="0" tIns="0" rIns="0" bIns="0" rtlCol="0" anchor="ctr"/>
          <a:lstStyle/>
          <a:p>
            <a:pPr indent="0" marL="0">
              <a:buNone/>
            </a:pPr>
            <a:r>
              <a:rPr lang="en-US" sz="1000" dirty="0">
                <a:solidFill>
                  <a:schemeClr val="accent2"/>
                </a:solidFill>
              </a:rPr>
              <a:t>PatientCurve  ·  Proposal for Dr. Mohanapriya  ·  Pilot customer</a:t>
            </a:r>
            <a:endParaRPr lang="en-US" sz="1000" dirty="0"/>
          </a:p>
        </p:txBody>
      </p:sp>
      <p:sp>
        <p:nvSpPr>
          <p:cNvPr id="4" name="Text 1"/>
          <p:cNvSpPr/>
          <p:nvPr>
            <p:ph idx="102"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3" type="title" hasCustomPrompt="1"/>
          </p:nvPr>
        </p:nvSpPr>
        <p:spPr>
          <a:xfrm>
            <a:off x="731520" y="233172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latin typeface="Arial" pitchFamily="34" charset="0"/>
                <a:ea typeface="Arial" pitchFamily="34" charset="-122"/>
                <a:cs typeface="Arial" pitchFamily="34" charset="-120"/>
              </a:rPr>
              <a:t>Enquiry-to-appointment proposal</a:t>
            </a:r>
            <a:endParaRPr lang="en-US" sz="4400" dirty="0"/>
          </a:p>
        </p:txBody>
      </p:sp>
      <p:sp>
        <p:nvSpPr>
          <p:cNvPr id="3" name="Text 2"/>
          <p:cNvSpPr/>
          <p:nvPr>
            <p:ph idx="104" type="body" hasCustomPrompt="1"/>
          </p:nvPr>
        </p:nvSpPr>
        <p:spPr>
          <a:xfrm>
            <a:off x="731520" y="3886200"/>
            <a:ext cx="10698480" cy="1097280"/>
          </a:xfrm>
          <a:prstGeom prst="rect">
            <a:avLst/>
          </a:prstGeom>
          <a:noFill/>
          <a:ln/>
        </p:spPr>
        <p:txBody>
          <a:bodyPr wrap="square" lIns="0" tIns="0" rIns="0" bIns="0" rtlCol="0" anchor="t"/>
          <a:lstStyle/>
          <a:p>
            <a:pPr indent="0" marL="0">
              <a:buNone/>
            </a:pPr>
            <a:r>
              <a:rPr lang="en-US" sz="2000" dirty="0">
                <a:solidFill>
                  <a:schemeClr val="accent2"/>
                </a:solidFill>
              </a:rPr>
              <a:t>Prepared for Dr. Mohanapriya  ·  Pilot customer proposal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Every ad enquiry managed until it becomes an appointment</a:t>
            </a:r>
            <a:endParaRPr lang="en-US" sz="3000" dirty="0"/>
          </a:p>
        </p:txBody>
      </p:sp>
      <p:sp>
        <p:nvSpPr>
          <p:cNvPr id="3" name="Shape 1"/>
          <p:cNvSpPr/>
          <p:nvPr/>
        </p:nvSpPr>
        <p:spPr>
          <a:xfrm>
            <a:off x="548640" y="150876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708660" y="1668780"/>
            <a:ext cx="320040" cy="320040"/>
          </a:xfrm>
          <a:prstGeom prst="rect">
            <a:avLst/>
          </a:prstGeom>
        </p:spPr>
      </p:pic>
      <p:sp>
        <p:nvSpPr>
          <p:cNvPr id="5" name="Text 2"/>
          <p:cNvSpPr txBox="1"/>
          <p:nvPr/>
        </p:nvSpPr>
        <p:spPr>
          <a:xfrm>
            <a:off x="1417320" y="1490472"/>
            <a:ext cx="5394960" cy="365760"/>
          </a:xfrm>
          <a:prstGeom prst="rect">
            <a:avLst/>
          </a:prstGeom>
          <a:noFill/>
          <a:ln/>
        </p:spPr>
        <p:txBody>
          <a:bodyPr wrap="square" lIns="0" tIns="0" rIns="0" bIns="0" rtlCol="0" anchor="t"/>
          <a:lstStyle/>
          <a:p>
            <a:pPr indent="0" marL="0">
              <a:buNone/>
            </a:pPr>
            <a:r>
              <a:rPr lang="en-US" sz="1800" b="1" dirty="0">
                <a:solidFill>
                  <a:schemeClr val="tx1"/>
                </a:solidFill>
              </a:rPr>
              <a:t>Correct answers, every time</a:t>
            </a:r>
            <a:endParaRPr lang="en-US" sz="1800" dirty="0"/>
          </a:p>
        </p:txBody>
      </p:sp>
      <p:sp>
        <p:nvSpPr>
          <p:cNvPr id="6" name="Text 3"/>
          <p:cNvSpPr txBox="1"/>
          <p:nvPr/>
        </p:nvSpPr>
        <p:spPr>
          <a:xfrm>
            <a:off x="1417320" y="1892808"/>
            <a:ext cx="5394960" cy="822960"/>
          </a:xfrm>
          <a:prstGeom prst="rect">
            <a:avLst/>
          </a:prstGeom>
          <a:noFill/>
          <a:ln/>
        </p:spPr>
        <p:txBody>
          <a:bodyPr wrap="square" lIns="0" tIns="0" rIns="0" bIns="0" rtlCol="0" anchor="t"/>
          <a:lstStyle/>
          <a:p>
            <a:pPr indent="0" marL="0">
              <a:buNone/>
            </a:pPr>
            <a:r>
              <a:rPr lang="en-US" sz="1400" dirty="0">
                <a:solidFill>
                  <a:schemeClr val="accent4"/>
                </a:solidFill>
              </a:rPr>
              <a:t>Patients only receive information you have approved: consultation types, fees, timings and address.</a:t>
            </a:r>
            <a:endParaRPr lang="en-US" sz="1400" dirty="0"/>
          </a:p>
        </p:txBody>
      </p:sp>
      <p:sp>
        <p:nvSpPr>
          <p:cNvPr id="7" name="Shape 4"/>
          <p:cNvSpPr/>
          <p:nvPr/>
        </p:nvSpPr>
        <p:spPr>
          <a:xfrm>
            <a:off x="548640" y="2971800"/>
            <a:ext cx="640080" cy="64008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08660" y="3131820"/>
            <a:ext cx="320040" cy="320040"/>
          </a:xfrm>
          <a:prstGeom prst="rect">
            <a:avLst/>
          </a:prstGeom>
        </p:spPr>
      </p:pic>
      <p:sp>
        <p:nvSpPr>
          <p:cNvPr id="9" name="Text 5"/>
          <p:cNvSpPr txBox="1"/>
          <p:nvPr/>
        </p:nvSpPr>
        <p:spPr>
          <a:xfrm>
            <a:off x="1417320" y="2953512"/>
            <a:ext cx="5394960" cy="365760"/>
          </a:xfrm>
          <a:prstGeom prst="rect">
            <a:avLst/>
          </a:prstGeom>
          <a:noFill/>
          <a:ln/>
        </p:spPr>
        <p:txBody>
          <a:bodyPr wrap="square" lIns="0" tIns="0" rIns="0" bIns="0" rtlCol="0" anchor="t"/>
          <a:lstStyle/>
          <a:p>
            <a:pPr indent="0" marL="0">
              <a:buNone/>
            </a:pPr>
            <a:r>
              <a:rPr lang="en-US" sz="1800" b="1" dirty="0">
                <a:solidFill>
                  <a:schemeClr val="tx1"/>
                </a:solidFill>
              </a:rPr>
              <a:t>The right consultation, booked</a:t>
            </a:r>
            <a:endParaRPr lang="en-US" sz="1800" dirty="0"/>
          </a:p>
        </p:txBody>
      </p:sp>
      <p:sp>
        <p:nvSpPr>
          <p:cNvPr id="10" name="Text 6"/>
          <p:cNvSpPr txBox="1"/>
          <p:nvPr/>
        </p:nvSpPr>
        <p:spPr>
          <a:xfrm>
            <a:off x="1417320" y="3355848"/>
            <a:ext cx="5394960" cy="822960"/>
          </a:xfrm>
          <a:prstGeom prst="rect">
            <a:avLst/>
          </a:prstGeom>
          <a:noFill/>
          <a:ln/>
        </p:spPr>
        <p:txBody>
          <a:bodyPr wrap="square" lIns="0" tIns="0" rIns="0" bIns="0" rtlCol="0" anchor="t"/>
          <a:lstStyle/>
          <a:p>
            <a:pPr indent="0" marL="0">
              <a:buNone/>
            </a:pPr>
            <a:r>
              <a:rPr lang="en-US" sz="1400" dirty="0">
                <a:solidFill>
                  <a:schemeClr val="accent4"/>
                </a:solidFill>
              </a:rPr>
              <a:t>Local patients go to offline consultation, patients from other towns to video, and both book into Google Calendar.</a:t>
            </a:r>
            <a:endParaRPr lang="en-US" sz="1400" dirty="0"/>
          </a:p>
        </p:txBody>
      </p:sp>
      <p:sp>
        <p:nvSpPr>
          <p:cNvPr id="11" name="Shape 7"/>
          <p:cNvSpPr/>
          <p:nvPr/>
        </p:nvSpPr>
        <p:spPr>
          <a:xfrm>
            <a:off x="548640" y="4434840"/>
            <a:ext cx="640080" cy="64008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708660" y="4594860"/>
            <a:ext cx="320040" cy="320040"/>
          </a:xfrm>
          <a:prstGeom prst="rect">
            <a:avLst/>
          </a:prstGeom>
        </p:spPr>
      </p:pic>
      <p:sp>
        <p:nvSpPr>
          <p:cNvPr id="13" name="Text 8"/>
          <p:cNvSpPr txBox="1"/>
          <p:nvPr/>
        </p:nvSpPr>
        <p:spPr>
          <a:xfrm>
            <a:off x="1417320" y="4416552"/>
            <a:ext cx="5394960" cy="365760"/>
          </a:xfrm>
          <a:prstGeom prst="rect">
            <a:avLst/>
          </a:prstGeom>
          <a:noFill/>
          <a:ln/>
        </p:spPr>
        <p:txBody>
          <a:bodyPr wrap="square" lIns="0" tIns="0" rIns="0" bIns="0" rtlCol="0" anchor="t"/>
          <a:lstStyle/>
          <a:p>
            <a:pPr indent="0" marL="0">
              <a:buNone/>
            </a:pPr>
            <a:r>
              <a:rPr lang="en-US" sz="1800" b="1" dirty="0">
                <a:solidFill>
                  <a:schemeClr val="tx1"/>
                </a:solidFill>
              </a:rPr>
              <a:t>No enquiry forgotten</a:t>
            </a:r>
            <a:endParaRPr lang="en-US" sz="1800" dirty="0"/>
          </a:p>
        </p:txBody>
      </p:sp>
      <p:sp>
        <p:nvSpPr>
          <p:cNvPr id="14" name="Text 9"/>
          <p:cNvSpPr txBox="1"/>
          <p:nvPr/>
        </p:nvSpPr>
        <p:spPr>
          <a:xfrm>
            <a:off x="1417320" y="4818888"/>
            <a:ext cx="5394960" cy="822960"/>
          </a:xfrm>
          <a:prstGeom prst="rect">
            <a:avLst/>
          </a:prstGeom>
          <a:noFill/>
          <a:ln/>
        </p:spPr>
        <p:txBody>
          <a:bodyPr wrap="square" lIns="0" tIns="0" rIns="0" bIns="0" rtlCol="0" anchor="t"/>
          <a:lstStyle/>
          <a:p>
            <a:pPr indent="0" marL="0">
              <a:buNone/>
            </a:pPr>
            <a:r>
              <a:rPr lang="en-US" sz="1400" dirty="0">
                <a:solidFill>
                  <a:schemeClr val="accent4"/>
                </a:solidFill>
              </a:rPr>
              <a:t>Everyone who doesn't book goes onto your team's follow-up list until they are recovered or closed.</a:t>
            </a:r>
            <a:endParaRPr lang="en-US" sz="1400" dirty="0"/>
          </a:p>
        </p:txBody>
      </p:sp>
      <p:sp>
        <p:nvSpPr>
          <p:cNvPr id="15" name="pilot-price-card"/>
          <p:cNvSpPr/>
          <p:nvPr/>
        </p:nvSpPr>
        <p:spPr>
          <a:xfrm>
            <a:off x="7315200" y="1508760"/>
            <a:ext cx="4325112" cy="4114800"/>
          </a:xfrm>
          <a:prstGeom prst="roundRect">
            <a:avLst>
              <a:gd name="adj" fmla="val 1778"/>
            </a:avLst>
          </a:prstGeom>
          <a:solidFill>
            <a:schemeClr val="bg2"/>
          </a:solidFill>
          <a:ln/>
        </p:spPr>
      </p:sp>
      <p:sp>
        <p:nvSpPr>
          <p:cNvPr id="16" name="Text 11"/>
          <p:cNvSpPr txBox="1"/>
          <p:nvPr/>
        </p:nvSpPr>
        <p:spPr>
          <a:xfrm>
            <a:off x="7680960" y="1783080"/>
            <a:ext cx="36576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PILOT PRICING</a:t>
            </a:r>
            <a:endParaRPr lang="en-US" sz="1100" dirty="0"/>
          </a:p>
        </p:txBody>
      </p:sp>
      <p:sp>
        <p:nvSpPr>
          <p:cNvPr id="17" name="Text 12"/>
          <p:cNvSpPr txBox="1"/>
          <p:nvPr/>
        </p:nvSpPr>
        <p:spPr>
          <a:xfrm>
            <a:off x="7680960" y="2194560"/>
            <a:ext cx="3749040" cy="640080"/>
          </a:xfrm>
          <a:prstGeom prst="rect">
            <a:avLst/>
          </a:prstGeom>
          <a:noFill/>
          <a:ln/>
        </p:spPr>
        <p:txBody>
          <a:bodyPr wrap="square" lIns="0" tIns="0" rIns="0" bIns="0" rtlCol="0" anchor="b"/>
          <a:lstStyle/>
          <a:p>
            <a:pPr indent="0" marL="0">
              <a:buNone/>
            </a:pPr>
            <a:r>
              <a:rPr lang="en-US" sz="3600" b="1" dirty="0">
                <a:solidFill>
                  <a:schemeClr val="tx1"/>
                </a:solidFill>
              </a:rPr>
              <a:t>₹5,000</a:t>
            </a:r>
            <a:pPr indent="0" marL="0">
              <a:buNone/>
            </a:pPr>
            <a:r>
              <a:rPr lang="en-US" sz="1400" dirty="0">
                <a:solidFill>
                  <a:schemeClr val="accent4"/>
                </a:solidFill>
              </a:rPr>
              <a:t>  one-time setup</a:t>
            </a:r>
            <a:endParaRPr lang="en-US" sz="1400" dirty="0"/>
          </a:p>
        </p:txBody>
      </p:sp>
      <p:sp>
        <p:nvSpPr>
          <p:cNvPr id="18" name="Text 13"/>
          <p:cNvSpPr txBox="1"/>
          <p:nvPr/>
        </p:nvSpPr>
        <p:spPr>
          <a:xfrm>
            <a:off x="7680960" y="2880360"/>
            <a:ext cx="3657600" cy="274320"/>
          </a:xfrm>
          <a:prstGeom prst="rect">
            <a:avLst/>
          </a:prstGeom>
          <a:noFill/>
          <a:ln/>
        </p:spPr>
        <p:txBody>
          <a:bodyPr wrap="square" lIns="0" tIns="0" rIns="0" bIns="0" rtlCol="0" anchor="t"/>
          <a:lstStyle/>
          <a:p>
            <a:pPr indent="0" marL="0">
              <a:buNone/>
            </a:pPr>
            <a:r>
              <a:rPr lang="en-US" sz="1200" strike="sngStrike" dirty="0">
                <a:solidFill>
                  <a:schemeClr val="accent4"/>
                </a:solidFill>
              </a:rPr>
              <a:t>Standard ₹7,500</a:t>
            </a:r>
            <a:endParaRPr lang="en-US" sz="1200" dirty="0"/>
          </a:p>
        </p:txBody>
      </p:sp>
      <p:sp>
        <p:nvSpPr>
          <p:cNvPr id="19" name="Text 14"/>
          <p:cNvSpPr txBox="1"/>
          <p:nvPr/>
        </p:nvSpPr>
        <p:spPr>
          <a:xfrm>
            <a:off x="7680960" y="3337560"/>
            <a:ext cx="3749040" cy="640080"/>
          </a:xfrm>
          <a:prstGeom prst="rect">
            <a:avLst/>
          </a:prstGeom>
          <a:noFill/>
          <a:ln/>
        </p:spPr>
        <p:txBody>
          <a:bodyPr wrap="square" lIns="0" tIns="0" rIns="0" bIns="0" rtlCol="0" anchor="b"/>
          <a:lstStyle/>
          <a:p>
            <a:pPr indent="0" marL="0">
              <a:buNone/>
            </a:pPr>
            <a:r>
              <a:rPr lang="en-US" sz="3600" b="1" dirty="0">
                <a:solidFill>
                  <a:schemeClr val="tx1"/>
                </a:solidFill>
              </a:rPr>
              <a:t>₹2,999</a:t>
            </a:r>
            <a:pPr indent="0" marL="0">
              <a:buNone/>
            </a:pPr>
            <a:r>
              <a:rPr lang="en-US" sz="1400" dirty="0">
                <a:solidFill>
                  <a:schemeClr val="accent4"/>
                </a:solidFill>
              </a:rPr>
              <a:t>  a month</a:t>
            </a:r>
            <a:endParaRPr lang="en-US" sz="1400" dirty="0"/>
          </a:p>
        </p:txBody>
      </p:sp>
      <p:sp>
        <p:nvSpPr>
          <p:cNvPr id="20" name="Text 15"/>
          <p:cNvSpPr txBox="1"/>
          <p:nvPr/>
        </p:nvSpPr>
        <p:spPr>
          <a:xfrm>
            <a:off x="7680960" y="4023360"/>
            <a:ext cx="3657600" cy="274320"/>
          </a:xfrm>
          <a:prstGeom prst="rect">
            <a:avLst/>
          </a:prstGeom>
          <a:noFill/>
          <a:ln/>
        </p:spPr>
        <p:txBody>
          <a:bodyPr wrap="square" lIns="0" tIns="0" rIns="0" bIns="0" rtlCol="0" anchor="t"/>
          <a:lstStyle/>
          <a:p>
            <a:pPr indent="0" marL="0">
              <a:buNone/>
            </a:pPr>
            <a:r>
              <a:rPr lang="en-US" sz="1200" strike="sngStrike" dirty="0">
                <a:solidFill>
                  <a:schemeClr val="accent4"/>
                </a:solidFill>
              </a:rPr>
              <a:t>Standard ₹4,999 a month</a:t>
            </a:r>
            <a:endParaRPr lang="en-US" sz="1200" dirty="0"/>
          </a:p>
        </p:txBody>
      </p:sp>
      <p:sp>
        <p:nvSpPr>
          <p:cNvPr id="21" name="Text 16"/>
          <p:cNvSpPr txBox="1"/>
          <p:nvPr/>
        </p:nvSpPr>
        <p:spPr>
          <a:xfrm>
            <a:off x="7680960" y="4800600"/>
            <a:ext cx="3657600" cy="457200"/>
          </a:xfrm>
          <a:prstGeom prst="rect">
            <a:avLst/>
          </a:prstGeom>
          <a:noFill/>
          <a:ln/>
        </p:spPr>
        <p:txBody>
          <a:bodyPr wrap="square" lIns="0" tIns="0" rIns="0" bIns="0" rtlCol="0" anchor="t"/>
          <a:lstStyle/>
          <a:p>
            <a:pPr indent="0" marL="0">
              <a:buNone/>
            </a:pPr>
            <a:r>
              <a:rPr lang="en-US" sz="1300" dirty="0">
                <a:solidFill>
                  <a:schemeClr val="tx1"/>
                </a:solidFill>
              </a:rPr>
              <a:t>Offered to pilot customers only.</a:t>
            </a:r>
            <a:endParaRPr lang="en-US" sz="13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Your ads already bring about 100 enquiries a month</a:t>
            </a:r>
            <a:endParaRPr lang="en-US" sz="3000" dirty="0"/>
          </a:p>
        </p:txBody>
      </p:sp>
      <p:sp>
        <p:nvSpPr>
          <p:cNvPr id="3" name="stat-0"/>
          <p:cNvSpPr/>
          <p:nvPr/>
        </p:nvSpPr>
        <p:spPr>
          <a:xfrm>
            <a:off x="548640" y="1554480"/>
            <a:ext cx="2606040" cy="3291840"/>
          </a:xfrm>
          <a:prstGeom prst="roundRect">
            <a:avLst>
              <a:gd name="adj" fmla="val 2807"/>
            </a:avLst>
          </a:prstGeom>
          <a:solidFill>
            <a:schemeClr val="bg2"/>
          </a:solidFill>
          <a:ln/>
        </p:spPr>
      </p:sp>
      <p:sp>
        <p:nvSpPr>
          <p:cNvPr id="4" name="Shape 2"/>
          <p:cNvSpPr/>
          <p:nvPr/>
        </p:nvSpPr>
        <p:spPr>
          <a:xfrm>
            <a:off x="868680" y="187452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28700" y="2034540"/>
            <a:ext cx="320040" cy="320040"/>
          </a:xfrm>
          <a:prstGeom prst="rect">
            <a:avLst/>
          </a:prstGeom>
        </p:spPr>
      </p:pic>
      <p:sp>
        <p:nvSpPr>
          <p:cNvPr id="6" name="Text 3"/>
          <p:cNvSpPr txBox="1"/>
          <p:nvPr/>
        </p:nvSpPr>
        <p:spPr>
          <a:xfrm>
            <a:off x="868680" y="2743200"/>
            <a:ext cx="2011680" cy="731520"/>
          </a:xfrm>
          <a:prstGeom prst="rect">
            <a:avLst/>
          </a:prstGeom>
          <a:noFill/>
          <a:ln/>
        </p:spPr>
        <p:txBody>
          <a:bodyPr wrap="square" lIns="0" tIns="0" rIns="0" bIns="0" rtlCol="0" anchor="b"/>
          <a:lstStyle/>
          <a:p>
            <a:pPr indent="0" marL="0">
              <a:buNone/>
            </a:pPr>
            <a:r>
              <a:rPr lang="en-US" sz="4400" b="1" dirty="0">
                <a:solidFill>
                  <a:schemeClr val="tx1"/>
                </a:solidFill>
                <a:latin typeface="Arial" pitchFamily="34" charset="0"/>
                <a:ea typeface="Arial" pitchFamily="34" charset="-122"/>
                <a:cs typeface="Arial" pitchFamily="34" charset="-120"/>
              </a:rPr>
              <a:t>~3</a:t>
            </a:r>
            <a:endParaRPr lang="en-US" sz="4400" dirty="0"/>
          </a:p>
        </p:txBody>
      </p:sp>
      <p:sp>
        <p:nvSpPr>
          <p:cNvPr id="7" name="Text 4"/>
          <p:cNvSpPr txBox="1"/>
          <p:nvPr/>
        </p:nvSpPr>
        <p:spPr>
          <a:xfrm>
            <a:off x="868680" y="3566160"/>
            <a:ext cx="2011680" cy="1097280"/>
          </a:xfrm>
          <a:prstGeom prst="rect">
            <a:avLst/>
          </a:prstGeom>
          <a:noFill/>
          <a:ln/>
        </p:spPr>
        <p:txBody>
          <a:bodyPr wrap="square" lIns="0" tIns="0" rIns="0" bIns="0" rtlCol="0" anchor="t"/>
          <a:lstStyle/>
          <a:p>
            <a:pPr indent="0" marL="0">
              <a:buNone/>
            </a:pPr>
            <a:r>
              <a:rPr lang="en-US" sz="1400" dirty="0">
                <a:solidFill>
                  <a:schemeClr val="accent4"/>
                </a:solidFill>
              </a:rPr>
              <a:t>ad campaigns a month</a:t>
            </a:r>
            <a:endParaRPr lang="en-US" sz="1400" dirty="0"/>
          </a:p>
        </p:txBody>
      </p:sp>
      <p:sp>
        <p:nvSpPr>
          <p:cNvPr id="8" name="stat-1"/>
          <p:cNvSpPr/>
          <p:nvPr/>
        </p:nvSpPr>
        <p:spPr>
          <a:xfrm>
            <a:off x="3383280" y="1554480"/>
            <a:ext cx="2606040" cy="3291840"/>
          </a:xfrm>
          <a:prstGeom prst="roundRect">
            <a:avLst>
              <a:gd name="adj" fmla="val 2807"/>
            </a:avLst>
          </a:prstGeom>
          <a:solidFill>
            <a:schemeClr val="bg2"/>
          </a:solidFill>
          <a:ln/>
        </p:spPr>
      </p:sp>
      <p:sp>
        <p:nvSpPr>
          <p:cNvPr id="9" name="Shape 6"/>
          <p:cNvSpPr/>
          <p:nvPr/>
        </p:nvSpPr>
        <p:spPr>
          <a:xfrm>
            <a:off x="3703320" y="1874520"/>
            <a:ext cx="640080" cy="6400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863340" y="2034540"/>
            <a:ext cx="320040" cy="320040"/>
          </a:xfrm>
          <a:prstGeom prst="rect">
            <a:avLst/>
          </a:prstGeom>
        </p:spPr>
      </p:pic>
      <p:sp>
        <p:nvSpPr>
          <p:cNvPr id="11" name="Text 7"/>
          <p:cNvSpPr txBox="1"/>
          <p:nvPr/>
        </p:nvSpPr>
        <p:spPr>
          <a:xfrm>
            <a:off x="3703320" y="2743200"/>
            <a:ext cx="2011680" cy="731520"/>
          </a:xfrm>
          <a:prstGeom prst="rect">
            <a:avLst/>
          </a:prstGeom>
          <a:noFill/>
          <a:ln/>
        </p:spPr>
        <p:txBody>
          <a:bodyPr wrap="square" lIns="0" tIns="0" rIns="0" bIns="0" rtlCol="0" anchor="b"/>
          <a:lstStyle/>
          <a:p>
            <a:pPr indent="0" marL="0">
              <a:buNone/>
            </a:pPr>
            <a:r>
              <a:rPr lang="en-US" sz="4400" b="1" dirty="0">
                <a:solidFill>
                  <a:schemeClr val="tx1"/>
                </a:solidFill>
                <a:latin typeface="Arial" pitchFamily="34" charset="0"/>
                <a:ea typeface="Arial" pitchFamily="34" charset="-122"/>
                <a:cs typeface="Arial" pitchFamily="34" charset="-120"/>
              </a:rPr>
              <a:t>~100</a:t>
            </a:r>
            <a:endParaRPr lang="en-US" sz="4400" dirty="0"/>
          </a:p>
        </p:txBody>
      </p:sp>
      <p:sp>
        <p:nvSpPr>
          <p:cNvPr id="12" name="Text 8"/>
          <p:cNvSpPr txBox="1"/>
          <p:nvPr/>
        </p:nvSpPr>
        <p:spPr>
          <a:xfrm>
            <a:off x="3703320" y="3566160"/>
            <a:ext cx="2011680" cy="1097280"/>
          </a:xfrm>
          <a:prstGeom prst="rect">
            <a:avLst/>
          </a:prstGeom>
          <a:noFill/>
          <a:ln/>
        </p:spPr>
        <p:txBody>
          <a:bodyPr wrap="square" lIns="0" tIns="0" rIns="0" bIns="0" rtlCol="0" anchor="t"/>
          <a:lstStyle/>
          <a:p>
            <a:pPr indent="0" marL="0">
              <a:buNone/>
            </a:pPr>
            <a:r>
              <a:rPr lang="en-US" sz="1400" dirty="0">
                <a:solidFill>
                  <a:schemeClr val="accent4"/>
                </a:solidFill>
              </a:rPr>
              <a:t>enquiries a month</a:t>
            </a:r>
            <a:endParaRPr lang="en-US" sz="1400" dirty="0"/>
          </a:p>
        </p:txBody>
      </p:sp>
      <p:sp>
        <p:nvSpPr>
          <p:cNvPr id="13" name="stat-2"/>
          <p:cNvSpPr/>
          <p:nvPr/>
        </p:nvSpPr>
        <p:spPr>
          <a:xfrm>
            <a:off x="6217920" y="1554480"/>
            <a:ext cx="2606040" cy="3291840"/>
          </a:xfrm>
          <a:prstGeom prst="roundRect">
            <a:avLst>
              <a:gd name="adj" fmla="val 2807"/>
            </a:avLst>
          </a:prstGeom>
          <a:solidFill>
            <a:schemeClr val="bg2"/>
          </a:solidFill>
          <a:ln/>
        </p:spPr>
      </p:sp>
      <p:sp>
        <p:nvSpPr>
          <p:cNvPr id="14" name="Shape 10"/>
          <p:cNvSpPr/>
          <p:nvPr/>
        </p:nvSpPr>
        <p:spPr>
          <a:xfrm>
            <a:off x="6537960" y="1874520"/>
            <a:ext cx="640080" cy="64008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697980" y="2034540"/>
            <a:ext cx="320040" cy="320040"/>
          </a:xfrm>
          <a:prstGeom prst="rect">
            <a:avLst/>
          </a:prstGeom>
        </p:spPr>
      </p:pic>
      <p:sp>
        <p:nvSpPr>
          <p:cNvPr id="16" name="Text 11"/>
          <p:cNvSpPr txBox="1"/>
          <p:nvPr/>
        </p:nvSpPr>
        <p:spPr>
          <a:xfrm>
            <a:off x="6537960" y="2743200"/>
            <a:ext cx="2011680" cy="73152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WhatsApp</a:t>
            </a:r>
            <a:endParaRPr lang="en-US" sz="2600" dirty="0"/>
          </a:p>
        </p:txBody>
      </p:sp>
      <p:sp>
        <p:nvSpPr>
          <p:cNvPr id="17" name="Text 12"/>
          <p:cNvSpPr txBox="1"/>
          <p:nvPr/>
        </p:nvSpPr>
        <p:spPr>
          <a:xfrm>
            <a:off x="6537960" y="3566160"/>
            <a:ext cx="2011680" cy="1097280"/>
          </a:xfrm>
          <a:prstGeom prst="rect">
            <a:avLst/>
          </a:prstGeom>
          <a:noFill/>
          <a:ln/>
        </p:spPr>
        <p:txBody>
          <a:bodyPr wrap="square" lIns="0" tIns="0" rIns="0" bIns="0" rtlCol="0" anchor="t"/>
          <a:lstStyle/>
          <a:p>
            <a:pPr indent="0" marL="0">
              <a:buNone/>
            </a:pPr>
            <a:r>
              <a:rPr lang="en-US" sz="1400" dirty="0">
                <a:solidFill>
                  <a:schemeClr val="accent4"/>
                </a:solidFill>
              </a:rPr>
              <a:t>where most enquiries arrive</a:t>
            </a:r>
            <a:endParaRPr lang="en-US" sz="1400" dirty="0"/>
          </a:p>
        </p:txBody>
      </p:sp>
      <p:sp>
        <p:nvSpPr>
          <p:cNvPr id="18" name="stat-3"/>
          <p:cNvSpPr/>
          <p:nvPr/>
        </p:nvSpPr>
        <p:spPr>
          <a:xfrm>
            <a:off x="9052560" y="1554480"/>
            <a:ext cx="2606040" cy="3291840"/>
          </a:xfrm>
          <a:prstGeom prst="roundRect">
            <a:avLst>
              <a:gd name="adj" fmla="val 2807"/>
            </a:avLst>
          </a:prstGeom>
          <a:solidFill>
            <a:schemeClr val="bg2"/>
          </a:solidFill>
          <a:ln/>
        </p:spPr>
      </p:sp>
      <p:sp>
        <p:nvSpPr>
          <p:cNvPr id="19" name="Shape 14"/>
          <p:cNvSpPr/>
          <p:nvPr/>
        </p:nvSpPr>
        <p:spPr>
          <a:xfrm>
            <a:off x="9372600" y="1874520"/>
            <a:ext cx="640080" cy="64008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532620" y="2034540"/>
            <a:ext cx="320040" cy="320040"/>
          </a:xfrm>
          <a:prstGeom prst="rect">
            <a:avLst/>
          </a:prstGeom>
        </p:spPr>
      </p:pic>
      <p:sp>
        <p:nvSpPr>
          <p:cNvPr id="21" name="Text 15"/>
          <p:cNvSpPr txBox="1"/>
          <p:nvPr/>
        </p:nvSpPr>
        <p:spPr>
          <a:xfrm>
            <a:off x="9372600" y="2743200"/>
            <a:ext cx="2011680" cy="731520"/>
          </a:xfrm>
          <a:prstGeom prst="rect">
            <a:avLst/>
          </a:prstGeom>
          <a:noFill/>
          <a:ln/>
        </p:spPr>
        <p:txBody>
          <a:bodyPr wrap="square" lIns="0" tIns="0" rIns="0" bIns="0" rtlCol="0" anchor="b"/>
          <a:lstStyle/>
          <a:p>
            <a:pPr indent="0" marL="0">
              <a:buNone/>
            </a:pPr>
            <a:r>
              <a:rPr lang="en-US" sz="2600" b="1" dirty="0">
                <a:solidFill>
                  <a:schemeClr val="tx1"/>
                </a:solidFill>
                <a:latin typeface="Arial" pitchFamily="34" charset="0"/>
                <a:ea typeface="Arial" pitchFamily="34" charset="-122"/>
                <a:cs typeface="Arial" pitchFamily="34" charset="-120"/>
              </a:rPr>
              <a:t>Meta AI bot</a:t>
            </a:r>
            <a:endParaRPr lang="en-US" sz="2600" dirty="0"/>
          </a:p>
        </p:txBody>
      </p:sp>
      <p:sp>
        <p:nvSpPr>
          <p:cNvPr id="22" name="Text 16"/>
          <p:cNvSpPr txBox="1"/>
          <p:nvPr/>
        </p:nvSpPr>
        <p:spPr>
          <a:xfrm>
            <a:off x="9372600" y="3566160"/>
            <a:ext cx="2011680" cy="1097280"/>
          </a:xfrm>
          <a:prstGeom prst="rect">
            <a:avLst/>
          </a:prstGeom>
          <a:noFill/>
          <a:ln/>
        </p:spPr>
        <p:txBody>
          <a:bodyPr wrap="square" lIns="0" tIns="0" rIns="0" bIns="0" rtlCol="0" anchor="t"/>
          <a:lstStyle/>
          <a:p>
            <a:pPr indent="0" marL="0">
              <a:buNone/>
            </a:pPr>
            <a:r>
              <a:rPr lang="en-US" sz="1400" dirty="0">
                <a:solidFill>
                  <a:schemeClr val="accent4"/>
                </a:solidFill>
              </a:rPr>
              <a:t>has sometimes given patients incorrect information</a:t>
            </a:r>
            <a:endParaRPr lang="en-US" sz="1400" dirty="0"/>
          </a:p>
        </p:txBody>
      </p:sp>
      <p:sp>
        <p:nvSpPr>
          <p:cNvPr id="23" name="Text 17"/>
          <p:cNvSpPr txBox="1"/>
          <p:nvPr/>
        </p:nvSpPr>
        <p:spPr>
          <a:xfrm>
            <a:off x="548640" y="5120640"/>
            <a:ext cx="7315200" cy="320040"/>
          </a:xfrm>
          <a:prstGeom prst="rect">
            <a:avLst/>
          </a:prstGeom>
          <a:noFill/>
          <a:ln/>
        </p:spPr>
        <p:txBody>
          <a:bodyPr wrap="square" lIns="0" tIns="0" rIns="0" bIns="0" rtlCol="0" anchor="t"/>
          <a:lstStyle/>
          <a:p>
            <a:pPr indent="0" marL="0">
              <a:buNone/>
            </a:pPr>
            <a:r>
              <a:rPr lang="en-US" sz="1100" dirty="0">
                <a:solidFill>
                  <a:schemeClr val="accent4"/>
                </a:solidFill>
              </a:rPr>
              <a:t>Figures shared by the clinic.</a:t>
            </a:r>
            <a:endParaRPr lang="en-US" sz="11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Some enquiries never become appointments</a:t>
            </a:r>
            <a:endParaRPr lang="en-US" sz="3000" dirty="0"/>
          </a:p>
        </p:txBody>
      </p:sp>
      <p:sp>
        <p:nvSpPr>
          <p:cNvPr id="3" name="Shape 1"/>
          <p:cNvSpPr/>
          <p:nvPr/>
        </p:nvSpPr>
        <p:spPr>
          <a:xfrm>
            <a:off x="548640" y="1600200"/>
            <a:ext cx="5486400" cy="713232"/>
          </a:xfrm>
          <a:prstGeom prst="rect">
            <a:avLst/>
          </a:prstGeom>
          <a:solidFill>
            <a:schemeClr val="accent5"/>
          </a:solidFill>
          <a:ln/>
        </p:spPr>
      </p:sp>
      <p:sp>
        <p:nvSpPr>
          <p:cNvPr id="4" name="Text 2"/>
          <p:cNvSpPr txBox="1"/>
          <p:nvPr/>
        </p:nvSpPr>
        <p:spPr>
          <a:xfrm>
            <a:off x="548640" y="1600200"/>
            <a:ext cx="5486400" cy="713232"/>
          </a:xfrm>
          <a:prstGeom prst="rect">
            <a:avLst/>
          </a:prstGeom>
          <a:noFill/>
          <a:ln/>
        </p:spPr>
        <p:txBody>
          <a:bodyPr wrap="square" lIns="0" tIns="0" rIns="0" bIns="0" rtlCol="0" anchor="ctr"/>
          <a:lstStyle/>
          <a:p>
            <a:pPr algn="ctr" indent="0" marL="0">
              <a:buNone/>
            </a:pPr>
            <a:r>
              <a:rPr lang="en-US" sz="1500" b="1" dirty="0">
                <a:solidFill>
                  <a:schemeClr val="tx1"/>
                </a:solidFill>
              </a:rPr>
              <a:t>~100 enquiries a month</a:t>
            </a:r>
            <a:endParaRPr lang="en-US" sz="1500" dirty="0"/>
          </a:p>
        </p:txBody>
      </p:sp>
      <p:sp>
        <p:nvSpPr>
          <p:cNvPr id="5" name="Shape 3"/>
          <p:cNvSpPr/>
          <p:nvPr/>
        </p:nvSpPr>
        <p:spPr>
          <a:xfrm>
            <a:off x="960120" y="2468880"/>
            <a:ext cx="4663440" cy="713232"/>
          </a:xfrm>
          <a:prstGeom prst="rect">
            <a:avLst/>
          </a:prstGeom>
          <a:solidFill>
            <a:schemeClr val="accent5"/>
          </a:solidFill>
          <a:ln/>
        </p:spPr>
      </p:sp>
      <p:sp>
        <p:nvSpPr>
          <p:cNvPr id="6" name="Text 4"/>
          <p:cNvSpPr txBox="1"/>
          <p:nvPr/>
        </p:nvSpPr>
        <p:spPr>
          <a:xfrm>
            <a:off x="960120" y="2468880"/>
            <a:ext cx="4663440" cy="713232"/>
          </a:xfrm>
          <a:prstGeom prst="rect">
            <a:avLst/>
          </a:prstGeom>
          <a:noFill/>
          <a:ln/>
        </p:spPr>
        <p:txBody>
          <a:bodyPr wrap="square" lIns="0" tIns="0" rIns="0" bIns="0" rtlCol="0" anchor="ctr"/>
          <a:lstStyle/>
          <a:p>
            <a:pPr algn="ctr" indent="0" marL="0">
              <a:buNone/>
            </a:pPr>
            <a:r>
              <a:rPr lang="en-US" sz="1500" b="1" dirty="0">
                <a:solidFill>
                  <a:schemeClr val="tx1"/>
                </a:solidFill>
              </a:rPr>
              <a:t>Book an appointment</a:t>
            </a:r>
            <a:endParaRPr lang="en-US" sz="1500" dirty="0"/>
          </a:p>
        </p:txBody>
      </p:sp>
      <p:sp>
        <p:nvSpPr>
          <p:cNvPr id="7" name="Shape 5"/>
          <p:cNvSpPr/>
          <p:nvPr/>
        </p:nvSpPr>
        <p:spPr>
          <a:xfrm>
            <a:off x="1371600" y="3337560"/>
            <a:ext cx="3840480" cy="713232"/>
          </a:xfrm>
          <a:prstGeom prst="rect">
            <a:avLst/>
          </a:prstGeom>
          <a:solidFill>
            <a:schemeClr val="accent6"/>
          </a:solidFill>
          <a:ln/>
        </p:spPr>
      </p:sp>
      <p:sp>
        <p:nvSpPr>
          <p:cNvPr id="8" name="Text 6"/>
          <p:cNvSpPr txBox="1"/>
          <p:nvPr/>
        </p:nvSpPr>
        <p:spPr>
          <a:xfrm>
            <a:off x="1371600" y="3337560"/>
            <a:ext cx="3840480" cy="713232"/>
          </a:xfrm>
          <a:prstGeom prst="rect">
            <a:avLst/>
          </a:prstGeom>
          <a:noFill/>
          <a:ln/>
        </p:spPr>
        <p:txBody>
          <a:bodyPr wrap="square" lIns="0" tIns="0" rIns="0" bIns="0" rtlCol="0" anchor="ctr"/>
          <a:lstStyle/>
          <a:p>
            <a:pPr algn="ctr" indent="0" marL="0">
              <a:buNone/>
            </a:pPr>
            <a:r>
              <a:rPr lang="en-US" sz="1500" b="1" dirty="0">
                <a:solidFill>
                  <a:schemeClr val="tx1"/>
                </a:solidFill>
              </a:rPr>
              <a:t>Enquire but don't book</a:t>
            </a:r>
            <a:endParaRPr lang="en-US" sz="1500" dirty="0"/>
          </a:p>
        </p:txBody>
      </p:sp>
      <p:sp>
        <p:nvSpPr>
          <p:cNvPr id="9" name="Shape 7"/>
          <p:cNvSpPr/>
          <p:nvPr/>
        </p:nvSpPr>
        <p:spPr>
          <a:xfrm>
            <a:off x="1783080" y="4206240"/>
            <a:ext cx="3017520" cy="713232"/>
          </a:xfrm>
          <a:prstGeom prst="rect">
            <a:avLst/>
          </a:prstGeom>
          <a:solidFill>
            <a:schemeClr val="accent6"/>
          </a:solidFill>
          <a:ln/>
        </p:spPr>
      </p:sp>
      <p:sp>
        <p:nvSpPr>
          <p:cNvPr id="10" name="Text 8"/>
          <p:cNvSpPr txBox="1"/>
          <p:nvPr/>
        </p:nvSpPr>
        <p:spPr>
          <a:xfrm>
            <a:off x="1783080" y="4206240"/>
            <a:ext cx="3017520" cy="713232"/>
          </a:xfrm>
          <a:prstGeom prst="rect">
            <a:avLst/>
          </a:prstGeom>
          <a:noFill/>
          <a:ln/>
        </p:spPr>
        <p:txBody>
          <a:bodyPr wrap="square" lIns="0" tIns="0" rIns="0" bIns="0" rtlCol="0" anchor="ctr"/>
          <a:lstStyle/>
          <a:p>
            <a:pPr algn="ctr" indent="0" marL="0">
              <a:buNone/>
            </a:pPr>
            <a:r>
              <a:rPr lang="en-US" sz="1500" b="1" dirty="0">
                <a:solidFill>
                  <a:schemeClr val="tx1"/>
                </a:solidFill>
              </a:rPr>
              <a:t>Revenue that never arrives</a:t>
            </a:r>
            <a:endParaRPr lang="en-US" sz="1500" dirty="0"/>
          </a:p>
        </p:txBody>
      </p:sp>
      <p:sp>
        <p:nvSpPr>
          <p:cNvPr id="11" name="Text 9"/>
          <p:cNvSpPr txBox="1"/>
          <p:nvPr/>
        </p:nvSpPr>
        <p:spPr>
          <a:xfrm>
            <a:off x="548640" y="5166360"/>
            <a:ext cx="5486400" cy="457200"/>
          </a:xfrm>
          <a:prstGeom prst="rect">
            <a:avLst/>
          </a:prstGeom>
          <a:noFill/>
          <a:ln/>
        </p:spPr>
        <p:txBody>
          <a:bodyPr wrap="square" lIns="0" tIns="0" rIns="0" bIns="0" rtlCol="0" anchor="t"/>
          <a:lstStyle/>
          <a:p>
            <a:pPr indent="0" marL="0">
              <a:buNone/>
            </a:pPr>
            <a:r>
              <a:rPr lang="en-US" sz="1200" dirty="0">
                <a:solidFill>
                  <a:schemeClr val="accent4"/>
                </a:solidFill>
              </a:rPr>
              <a:t>How many book and how many drop away is measured from day one.</a:t>
            </a:r>
            <a:endParaRPr lang="en-US" sz="1200" dirty="0"/>
          </a:p>
        </p:txBody>
      </p:sp>
      <p:sp>
        <p:nvSpPr>
          <p:cNvPr id="12" name="Text 10"/>
          <p:cNvSpPr txBox="1"/>
          <p:nvPr/>
        </p:nvSpPr>
        <p:spPr>
          <a:xfrm>
            <a:off x="6675120" y="1600200"/>
            <a:ext cx="4965192" cy="4206240"/>
          </a:xfrm>
          <a:prstGeom prst="rect">
            <a:avLst/>
          </a:prstGeom>
          <a:noFill/>
          <a:ln/>
        </p:spPr>
        <p:txBody>
          <a:bodyPr wrap="square" lIns="0" tIns="0" rIns="0" bIns="0" rtlCol="0" anchor="t"/>
          <a:lstStyle/>
          <a:p>
            <a:pPr indent="0" marL="0">
              <a:buNone/>
            </a:pPr>
            <a:r>
              <a:rPr lang="en-US" sz="1400" b="1" dirty="0">
                <a:solidFill>
                  <a:schemeClr val="tx1"/>
                </a:solidFill>
              </a:rPr>
              <a:t>Wrong or inconsistent answers</a:t>
            </a:r>
            <a:endParaRPr lang="en-US" sz="1400" dirty="0"/>
          </a:p>
          <a:p>
            <a:pPr indent="0" marL="0">
              <a:spcAft>
                <a:spcPts val="1000"/>
              </a:spcAft>
              <a:buNone/>
            </a:pPr>
            <a:r>
              <a:rPr lang="en-US" sz="1400" dirty="0">
                <a:solidFill>
                  <a:schemeClr val="accent4"/>
                </a:solidFill>
              </a:rPr>
              <a:t>A patient given the wrong fee, timing or detail may not come back to check.</a:t>
            </a:r>
            <a:endParaRPr lang="en-US" sz="1400" dirty="0"/>
          </a:p>
          <a:p>
            <a:pPr indent="0" marL="0">
              <a:buNone/>
            </a:pPr>
            <a:r>
              <a:rPr lang="en-US" sz="1400" b="1" dirty="0">
                <a:solidFill>
                  <a:schemeClr val="tx1"/>
                </a:solidFill>
              </a:rPr>
              <a:t>No clear next step</a:t>
            </a:r>
            <a:endParaRPr lang="en-US" sz="1400" dirty="0"/>
          </a:p>
          <a:p>
            <a:pPr indent="0" marL="0">
              <a:spcAft>
                <a:spcPts val="1000"/>
              </a:spcAft>
              <a:buNone/>
            </a:pPr>
            <a:r>
              <a:rPr lang="en-US" sz="1400" dirty="0">
                <a:solidFill>
                  <a:schemeClr val="accent4"/>
                </a:solidFill>
              </a:rPr>
              <a:t>Without the patient's location and need, the right consultation isn't offered.</a:t>
            </a:r>
            <a:endParaRPr lang="en-US" sz="1400" dirty="0"/>
          </a:p>
          <a:p>
            <a:pPr indent="0" marL="0">
              <a:buNone/>
            </a:pPr>
            <a:r>
              <a:rPr lang="en-US" sz="1400" b="1" dirty="0">
                <a:solidFill>
                  <a:schemeClr val="tx1"/>
                </a:solidFill>
              </a:rPr>
              <a:t>Non-bookers fade away</a:t>
            </a:r>
            <a:endParaRPr lang="en-US" sz="1400" dirty="0"/>
          </a:p>
          <a:p>
            <a:pPr indent="0" marL="0">
              <a:spcAft>
                <a:spcPts val="1000"/>
              </a:spcAft>
              <a:buNone/>
            </a:pPr>
            <a:r>
              <a:rPr lang="en-US" sz="1400" dirty="0">
                <a:solidFill>
                  <a:schemeClr val="accent4"/>
                </a:solidFill>
              </a:rPr>
              <a:t>Someone who asks but doesn't book needs a call. Without a list, it depends on memory.</a:t>
            </a:r>
            <a:endParaRPr lang="en-US" sz="1400" dirty="0"/>
          </a:p>
          <a:p>
            <a:pPr indent="0" marL="0">
              <a:buNone/>
            </a:pPr>
            <a:r>
              <a:rPr lang="en-US" sz="1400" b="1" dirty="0">
                <a:solidFill>
                  <a:schemeClr val="tx1"/>
                </a:solidFill>
              </a:rPr>
              <a:t>No view of what works</a:t>
            </a:r>
            <a:endParaRPr lang="en-US" sz="1400" dirty="0"/>
          </a:p>
          <a:p>
            <a:pPr indent="0" marL="0">
              <a:spcAft>
                <a:spcPts val="1000"/>
              </a:spcAft>
              <a:buNone/>
            </a:pPr>
            <a:r>
              <a:rPr lang="en-US" sz="1400" dirty="0">
                <a:solidFill>
                  <a:schemeClr val="accent4"/>
                </a:solidFill>
              </a:rPr>
              <a:t>Without numbers per campaign, it's hard to see which ads pay for themselves.</a:t>
            </a:r>
            <a:endParaRPr lang="en-US" sz="14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One recovered patient a month can cover the fee</a:t>
            </a:r>
            <a:endParaRPr lang="en-US" sz="3000" dirty="0"/>
          </a:p>
        </p:txBody>
      </p:sp>
      <p:sp>
        <p:nvSpPr>
          <p:cNvPr id="3" name="Text 1"/>
          <p:cNvSpPr txBox="1"/>
          <p:nvPr/>
        </p:nvSpPr>
        <p:spPr>
          <a:xfrm>
            <a:off x="548640" y="1371600"/>
            <a:ext cx="5486400" cy="320040"/>
          </a:xfrm>
          <a:prstGeom prst="rect">
            <a:avLst/>
          </a:prstGeom>
          <a:noFill/>
          <a:ln/>
        </p:spPr>
        <p:txBody>
          <a:bodyPr wrap="square" lIns="0" tIns="0" rIns="0" bIns="0" rtlCol="0" anchor="t"/>
          <a:lstStyle/>
          <a:p>
            <a:pPr indent="0" marL="0">
              <a:buNone/>
            </a:pPr>
            <a:r>
              <a:rPr lang="en-US" sz="1600" b="1" dirty="0">
                <a:solidFill>
                  <a:schemeClr val="tx1"/>
                </a:solidFill>
              </a:rPr>
              <a:t>How the value is calculated</a:t>
            </a:r>
            <a:endParaRPr lang="en-US" sz="1600" dirty="0"/>
          </a:p>
        </p:txBody>
      </p:sp>
      <p:sp>
        <p:nvSpPr>
          <p:cNvPr id="4" name="Text 2"/>
          <p:cNvSpPr txBox="1"/>
          <p:nvPr/>
        </p:nvSpPr>
        <p:spPr>
          <a:xfrm>
            <a:off x="548640" y="1783080"/>
            <a:ext cx="5577840" cy="1371600"/>
          </a:xfrm>
          <a:prstGeom prst="rect">
            <a:avLst/>
          </a:prstGeom>
          <a:noFill/>
          <a:ln/>
        </p:spPr>
        <p:txBody>
          <a:bodyPr wrap="square" lIns="0" tIns="0" rIns="0" bIns="0" rtlCol="0" anchor="t"/>
          <a:lstStyle/>
          <a:p>
            <a:pPr indent="0" marL="0">
              <a:buNone/>
            </a:pPr>
            <a:r>
              <a:rPr lang="en-US" sz="1400" b="1" dirty="0">
                <a:solidFill>
                  <a:schemeClr val="tx1"/>
                </a:solidFill>
              </a:rPr>
              <a:t>Value per patient</a:t>
            </a:r>
            <a:endParaRPr lang="en-US" sz="1400" dirty="0"/>
          </a:p>
          <a:p>
            <a:pPr indent="0" marL="0">
              <a:spcAft>
                <a:spcPts val="800"/>
              </a:spcAft>
              <a:buNone/>
            </a:pPr>
            <a:r>
              <a:rPr lang="en-US" sz="1400" dirty="0">
                <a:solidFill>
                  <a:schemeClr val="accent4"/>
                </a:solidFill>
              </a:rPr>
              <a:t>= consultation fee + (treatment rate × average treatment value)</a:t>
            </a:r>
            <a:endParaRPr lang="en-US" sz="1400" dirty="0"/>
          </a:p>
          <a:p>
            <a:pPr indent="0" marL="0">
              <a:buNone/>
            </a:pPr>
            <a:r>
              <a:rPr lang="en-US" sz="1400" b="1" dirty="0">
                <a:solidFill>
                  <a:schemeClr val="tx1"/>
                </a:solidFill>
              </a:rPr>
              <a:t>Monthly value recovered</a:t>
            </a:r>
            <a:endParaRPr lang="en-US" sz="1400" dirty="0"/>
          </a:p>
          <a:p>
            <a:pPr indent="0" marL="0">
              <a:buNone/>
            </a:pPr>
            <a:r>
              <a:rPr lang="en-US" sz="1400" dirty="0">
                <a:solidFill>
                  <a:schemeClr val="accent4"/>
                </a:solidFill>
              </a:rPr>
              <a:t>= enquiries not booked × share recovered × value per patient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5577840" cy="914400"/>
        </p:xfrm>
        <a:graphic>
          <a:graphicData uri="http://schemas.openxmlformats.org/drawingml/2006/table">
            <a:tbl>
              <a:tblPr/>
              <a:tblGrid>
                <a:gridCol w="3566160"/>
                <a:gridCol w="2011680"/>
              </a:tblGrid>
              <a:tr h="329184">
                <a:tc>
                  <a:txBody>
                    <a:bodyPr/>
                    <a:lstStyle/>
                    <a:p>
                      <a:pPr indent="0" marL="0">
                        <a:buNone/>
                      </a:pPr>
                      <a:r>
                        <a:rPr lang="en-US" sz="1300" dirty="0">
                          <a:solidFill>
                            <a:schemeClr val="tx1"/>
                          </a:solidFill>
                        </a:rPr>
                        <a:t>Enquiries a month</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100 (clinic)</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300" dirty="0">
                          <a:solidFill>
                            <a:schemeClr val="tx1"/>
                          </a:solidFill>
                        </a:rPr>
                        <a:t>Enquiries that book today</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40% (example)</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300" dirty="0">
                          <a:solidFill>
                            <a:schemeClr val="tx1"/>
                          </a:solidFill>
                        </a:rPr>
                        <a:t>Consultation fee</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₹500 (example)</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300" dirty="0">
                          <a:solidFill>
                            <a:schemeClr val="tx1"/>
                          </a:solidFill>
                        </a:rPr>
                        <a:t>Consultations that go on to treatment</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50% (example)</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300" dirty="0">
                          <a:solidFill>
                            <a:schemeClr val="tx1"/>
                          </a:solidFill>
                        </a:rPr>
                        <a:t>Average treatment value</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₹15,000 (example)</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300" dirty="0">
                          <a:solidFill>
                            <a:schemeClr val="tx1"/>
                          </a:solidFill>
                        </a:rPr>
                        <a:t>Non-bookers recovered</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20% (example)</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ile-0"/>
          <p:cNvSpPr/>
          <p:nvPr/>
        </p:nvSpPr>
        <p:spPr>
          <a:xfrm>
            <a:off x="6583680" y="1417320"/>
            <a:ext cx="2423160" cy="1783080"/>
          </a:xfrm>
          <a:prstGeom prst="roundRect">
            <a:avLst>
              <a:gd name="adj" fmla="val 4103"/>
            </a:avLst>
          </a:prstGeom>
          <a:solidFill>
            <a:schemeClr val="bg2"/>
          </a:solidFill>
          <a:ln/>
        </p:spPr>
      </p:sp>
      <p:sp>
        <p:nvSpPr>
          <p:cNvPr id="7" name="Text 4"/>
          <p:cNvSpPr txBox="1"/>
          <p:nvPr/>
        </p:nvSpPr>
        <p:spPr>
          <a:xfrm>
            <a:off x="6812280" y="1645920"/>
            <a:ext cx="2011680" cy="685800"/>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60</a:t>
            </a:r>
            <a:endParaRPr lang="en-US" sz="3000" dirty="0"/>
          </a:p>
        </p:txBody>
      </p:sp>
      <p:sp>
        <p:nvSpPr>
          <p:cNvPr id="8" name="Text 5"/>
          <p:cNvSpPr txBox="1"/>
          <p:nvPr/>
        </p:nvSpPr>
        <p:spPr>
          <a:xfrm>
            <a:off x="6812280" y="2377440"/>
            <a:ext cx="2011680" cy="685800"/>
          </a:xfrm>
          <a:prstGeom prst="rect">
            <a:avLst/>
          </a:prstGeom>
          <a:noFill/>
          <a:ln/>
        </p:spPr>
        <p:txBody>
          <a:bodyPr wrap="square" lIns="0" tIns="0" rIns="0" bIns="0" rtlCol="0" anchor="t"/>
          <a:lstStyle/>
          <a:p>
            <a:pPr indent="0" marL="0">
              <a:buNone/>
            </a:pPr>
            <a:r>
              <a:rPr lang="en-US" sz="1300" dirty="0">
                <a:solidFill>
                  <a:schemeClr val="accent4"/>
                </a:solidFill>
              </a:rPr>
              <a:t>enquiries not booked a month</a:t>
            </a:r>
            <a:endParaRPr lang="en-US" sz="1300" dirty="0"/>
          </a:p>
        </p:txBody>
      </p:sp>
      <p:sp>
        <p:nvSpPr>
          <p:cNvPr id="9" name="tile-1"/>
          <p:cNvSpPr/>
          <p:nvPr/>
        </p:nvSpPr>
        <p:spPr>
          <a:xfrm>
            <a:off x="9144000" y="1417320"/>
            <a:ext cx="2423160" cy="1783080"/>
          </a:xfrm>
          <a:prstGeom prst="roundRect">
            <a:avLst>
              <a:gd name="adj" fmla="val 4103"/>
            </a:avLst>
          </a:prstGeom>
          <a:solidFill>
            <a:schemeClr val="bg2"/>
          </a:solidFill>
          <a:ln/>
        </p:spPr>
      </p:sp>
      <p:sp>
        <p:nvSpPr>
          <p:cNvPr id="10" name="Text 7"/>
          <p:cNvSpPr txBox="1"/>
          <p:nvPr/>
        </p:nvSpPr>
        <p:spPr>
          <a:xfrm>
            <a:off x="9372600" y="1645920"/>
            <a:ext cx="2011680" cy="685800"/>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₹8,000</a:t>
            </a:r>
            <a:endParaRPr lang="en-US" sz="3000" dirty="0"/>
          </a:p>
        </p:txBody>
      </p:sp>
      <p:sp>
        <p:nvSpPr>
          <p:cNvPr id="11" name="Text 8"/>
          <p:cNvSpPr txBox="1"/>
          <p:nvPr/>
        </p:nvSpPr>
        <p:spPr>
          <a:xfrm>
            <a:off x="9372600" y="2377440"/>
            <a:ext cx="2011680" cy="685800"/>
          </a:xfrm>
          <a:prstGeom prst="rect">
            <a:avLst/>
          </a:prstGeom>
          <a:noFill/>
          <a:ln/>
        </p:spPr>
        <p:txBody>
          <a:bodyPr wrap="square" lIns="0" tIns="0" rIns="0" bIns="0" rtlCol="0" anchor="t"/>
          <a:lstStyle/>
          <a:p>
            <a:pPr indent="0" marL="0">
              <a:buNone/>
            </a:pPr>
            <a:r>
              <a:rPr lang="en-US" sz="1300" dirty="0">
                <a:solidFill>
                  <a:schemeClr val="accent4"/>
                </a:solidFill>
              </a:rPr>
              <a:t>value of one booked patient</a:t>
            </a:r>
            <a:endParaRPr lang="en-US" sz="1300" dirty="0"/>
          </a:p>
        </p:txBody>
      </p:sp>
      <p:sp>
        <p:nvSpPr>
          <p:cNvPr id="12" name="tile-2"/>
          <p:cNvSpPr/>
          <p:nvPr/>
        </p:nvSpPr>
        <p:spPr>
          <a:xfrm>
            <a:off x="6583680" y="3383280"/>
            <a:ext cx="2423160" cy="1783080"/>
          </a:xfrm>
          <a:prstGeom prst="roundRect">
            <a:avLst>
              <a:gd name="adj" fmla="val 4103"/>
            </a:avLst>
          </a:prstGeom>
          <a:solidFill>
            <a:schemeClr val="bg2"/>
          </a:solidFill>
          <a:ln/>
        </p:spPr>
      </p:sp>
      <p:sp>
        <p:nvSpPr>
          <p:cNvPr id="13" name="Text 10"/>
          <p:cNvSpPr txBox="1"/>
          <p:nvPr/>
        </p:nvSpPr>
        <p:spPr>
          <a:xfrm>
            <a:off x="6812280" y="3611880"/>
            <a:ext cx="2011680" cy="685800"/>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₹96,000</a:t>
            </a:r>
            <a:endParaRPr lang="en-US" sz="3000" dirty="0"/>
          </a:p>
        </p:txBody>
      </p:sp>
      <p:sp>
        <p:nvSpPr>
          <p:cNvPr id="14" name="Text 11"/>
          <p:cNvSpPr txBox="1"/>
          <p:nvPr/>
        </p:nvSpPr>
        <p:spPr>
          <a:xfrm>
            <a:off x="6812280" y="4343400"/>
            <a:ext cx="2011680" cy="685800"/>
          </a:xfrm>
          <a:prstGeom prst="rect">
            <a:avLst/>
          </a:prstGeom>
          <a:noFill/>
          <a:ln/>
        </p:spPr>
        <p:txBody>
          <a:bodyPr wrap="square" lIns="0" tIns="0" rIns="0" bIns="0" rtlCol="0" anchor="t"/>
          <a:lstStyle/>
          <a:p>
            <a:pPr indent="0" marL="0">
              <a:buNone/>
            </a:pPr>
            <a:r>
              <a:rPr lang="en-US" sz="1300" dirty="0">
                <a:solidFill>
                  <a:schemeClr val="accent4"/>
                </a:solidFill>
              </a:rPr>
              <a:t>a month from 12 recovered patients</a:t>
            </a:r>
            <a:endParaRPr lang="en-US" sz="1300" dirty="0"/>
          </a:p>
        </p:txBody>
      </p:sp>
      <p:sp>
        <p:nvSpPr>
          <p:cNvPr id="15" name="tile-3"/>
          <p:cNvSpPr/>
          <p:nvPr/>
        </p:nvSpPr>
        <p:spPr>
          <a:xfrm>
            <a:off x="9144000" y="3383280"/>
            <a:ext cx="2423160" cy="1783080"/>
          </a:xfrm>
          <a:prstGeom prst="roundRect">
            <a:avLst>
              <a:gd name="adj" fmla="val 4103"/>
            </a:avLst>
          </a:prstGeom>
          <a:solidFill>
            <a:schemeClr val="tx1"/>
          </a:solidFill>
          <a:ln/>
        </p:spPr>
      </p:sp>
      <p:sp>
        <p:nvSpPr>
          <p:cNvPr id="16" name="Text 13"/>
          <p:cNvSpPr txBox="1"/>
          <p:nvPr/>
        </p:nvSpPr>
        <p:spPr>
          <a:xfrm>
            <a:off x="9372600" y="3611880"/>
            <a:ext cx="2011680" cy="685800"/>
          </a:xfrm>
          <a:prstGeom prst="rect">
            <a:avLst/>
          </a:prstGeom>
          <a:noFill/>
          <a:ln/>
        </p:spPr>
        <p:txBody>
          <a:bodyPr wrap="square" lIns="0" tIns="0" rIns="0" bIns="0" rtlCol="0" anchor="b"/>
          <a:lstStyle/>
          <a:p>
            <a:pPr indent="0" marL="0">
              <a:buNone/>
            </a:pPr>
            <a:r>
              <a:rPr lang="en-US" sz="3000" b="1" dirty="0">
                <a:solidFill>
                  <a:schemeClr val="accent2"/>
                </a:solidFill>
                <a:latin typeface="Arial" pitchFamily="34" charset="0"/>
                <a:ea typeface="Arial" pitchFamily="34" charset="-122"/>
                <a:cs typeface="Arial" pitchFamily="34" charset="-120"/>
              </a:rPr>
              <a:t>1 patient</a:t>
            </a:r>
            <a:endParaRPr lang="en-US" sz="3000" dirty="0"/>
          </a:p>
        </p:txBody>
      </p:sp>
      <p:sp>
        <p:nvSpPr>
          <p:cNvPr id="17" name="Text 14"/>
          <p:cNvSpPr txBox="1"/>
          <p:nvPr/>
        </p:nvSpPr>
        <p:spPr>
          <a:xfrm>
            <a:off x="9372600" y="4343400"/>
            <a:ext cx="2011680" cy="685800"/>
          </a:xfrm>
          <a:prstGeom prst="rect">
            <a:avLst/>
          </a:prstGeom>
          <a:noFill/>
          <a:ln/>
        </p:spPr>
        <p:txBody>
          <a:bodyPr wrap="square" lIns="0" tIns="0" rIns="0" bIns="0" rtlCol="0" anchor="t"/>
          <a:lstStyle/>
          <a:p>
            <a:pPr indent="0" marL="0">
              <a:buNone/>
            </a:pPr>
            <a:r>
              <a:rPr lang="en-US" sz="1300" dirty="0">
                <a:solidFill>
                  <a:schemeClr val="bg1"/>
                </a:solidFill>
              </a:rPr>
              <a:t>a month covers the ₹2,999 fee</a:t>
            </a:r>
            <a:endParaRPr lang="en-US" sz="1300" dirty="0"/>
          </a:p>
        </p:txBody>
      </p:sp>
      <p:sp>
        <p:nvSpPr>
          <p:cNvPr id="18" name="Text 15"/>
          <p:cNvSpPr txBox="1"/>
          <p:nvPr/>
        </p:nvSpPr>
        <p:spPr>
          <a:xfrm>
            <a:off x="6583680" y="5440680"/>
            <a:ext cx="5029200" cy="457200"/>
          </a:xfrm>
          <a:prstGeom prst="rect">
            <a:avLst/>
          </a:prstGeom>
          <a:noFill/>
          <a:ln/>
        </p:spPr>
        <p:txBody>
          <a:bodyPr wrap="square" lIns="0" tIns="0" rIns="0" bIns="0" rtlCol="0" anchor="t"/>
          <a:lstStyle/>
          <a:p>
            <a:pPr indent="0" marL="0">
              <a:buNone/>
            </a:pPr>
            <a:r>
              <a:rPr lang="en-US" sz="1100" dirty="0">
                <a:solidFill>
                  <a:schemeClr val="accent4"/>
                </a:solidFill>
              </a:rPr>
              <a:t>Example figures, not a forecast. We recalculate with your clinic's numbers during onboarding.</a:t>
            </a:r>
            <a:endParaRPr lang="en-US" sz="11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Every enquiry ends in the calendar or on the call list</a:t>
            </a:r>
            <a:endParaRPr lang="en-US" sz="3000" dirty="0"/>
          </a:p>
        </p:txBody>
      </p:sp>
      <p:sp>
        <p:nvSpPr>
          <p:cNvPr id="3" name="Shape 1"/>
          <p:cNvSpPr/>
          <p:nvPr/>
        </p:nvSpPr>
        <p:spPr>
          <a:xfrm>
            <a:off x="548640" y="1417320"/>
            <a:ext cx="1920240" cy="731520"/>
          </a:xfrm>
          <a:prstGeom prst="roundRect">
            <a:avLst>
              <a:gd name="adj" fmla="val 10000"/>
            </a:avLst>
          </a:prstGeom>
          <a:solidFill>
            <a:schemeClr val="bg1"/>
          </a:solidFill>
          <a:ln w="12700">
            <a:solidFill>
              <a:schemeClr val="accent4"/>
            </a:solidFill>
            <a:prstDash val="solid"/>
          </a:ln>
        </p:spPr>
      </p:sp>
      <p:sp>
        <p:nvSpPr>
          <p:cNvPr id="4" name="Text 2"/>
          <p:cNvSpPr txBox="1"/>
          <p:nvPr/>
        </p:nvSpPr>
        <p:spPr>
          <a:xfrm>
            <a:off x="548640" y="141732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Ad</a:t>
            </a:r>
            <a:endParaRPr lang="en-US" sz="1400" dirty="0"/>
          </a:p>
        </p:txBody>
      </p:sp>
      <p:sp>
        <p:nvSpPr>
          <p:cNvPr id="5" name="Shape 3"/>
          <p:cNvSpPr/>
          <p:nvPr/>
        </p:nvSpPr>
        <p:spPr>
          <a:xfrm>
            <a:off x="2468880" y="1783080"/>
            <a:ext cx="365760" cy="0"/>
          </a:xfrm>
          <a:prstGeom prst="line">
            <a:avLst/>
          </a:prstGeom>
          <a:noFill/>
          <a:ln w="15875">
            <a:solidFill>
              <a:schemeClr val="accent4"/>
            </a:solidFill>
            <a:prstDash val="solid"/>
            <a:tailEnd type="triangle"/>
          </a:ln>
        </p:spPr>
      </p:sp>
      <p:sp>
        <p:nvSpPr>
          <p:cNvPr id="6" name="Shape 4"/>
          <p:cNvSpPr/>
          <p:nvPr/>
        </p:nvSpPr>
        <p:spPr>
          <a:xfrm>
            <a:off x="2834640" y="1417320"/>
            <a:ext cx="1920240" cy="731520"/>
          </a:xfrm>
          <a:prstGeom prst="roundRect">
            <a:avLst>
              <a:gd name="adj" fmla="val 10000"/>
            </a:avLst>
          </a:prstGeom>
          <a:solidFill>
            <a:schemeClr val="bg1"/>
          </a:solidFill>
          <a:ln w="12700">
            <a:solidFill>
              <a:schemeClr val="accent4"/>
            </a:solidFill>
            <a:prstDash val="solid"/>
          </a:ln>
        </p:spPr>
      </p:sp>
      <p:sp>
        <p:nvSpPr>
          <p:cNvPr id="7" name="Text 5"/>
          <p:cNvSpPr txBox="1"/>
          <p:nvPr/>
        </p:nvSpPr>
        <p:spPr>
          <a:xfrm>
            <a:off x="2834640" y="141732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WhatsApp enquiry</a:t>
            </a:r>
            <a:endParaRPr lang="en-US" sz="1400" dirty="0"/>
          </a:p>
        </p:txBody>
      </p:sp>
      <p:sp>
        <p:nvSpPr>
          <p:cNvPr id="8" name="Shape 6"/>
          <p:cNvSpPr/>
          <p:nvPr/>
        </p:nvSpPr>
        <p:spPr>
          <a:xfrm>
            <a:off x="4754880" y="1783080"/>
            <a:ext cx="365760" cy="0"/>
          </a:xfrm>
          <a:prstGeom prst="line">
            <a:avLst/>
          </a:prstGeom>
          <a:noFill/>
          <a:ln w="15875">
            <a:solidFill>
              <a:schemeClr val="accent4"/>
            </a:solidFill>
            <a:prstDash val="solid"/>
            <a:tailEnd type="triangle"/>
          </a:ln>
        </p:spPr>
      </p:sp>
      <p:sp>
        <p:nvSpPr>
          <p:cNvPr id="9" name="Shape 7"/>
          <p:cNvSpPr/>
          <p:nvPr/>
        </p:nvSpPr>
        <p:spPr>
          <a:xfrm>
            <a:off x="5120640" y="1417320"/>
            <a:ext cx="1920240" cy="731520"/>
          </a:xfrm>
          <a:prstGeom prst="roundRect">
            <a:avLst>
              <a:gd name="adj" fmla="val 10000"/>
            </a:avLst>
          </a:prstGeom>
          <a:solidFill>
            <a:schemeClr val="bg1"/>
          </a:solidFill>
          <a:ln w="12700">
            <a:solidFill>
              <a:schemeClr val="accent4"/>
            </a:solidFill>
            <a:prstDash val="solid"/>
          </a:ln>
        </p:spPr>
      </p:sp>
      <p:sp>
        <p:nvSpPr>
          <p:cNvPr id="10" name="Text 8"/>
          <p:cNvSpPr txBox="1"/>
          <p:nvPr/>
        </p:nvSpPr>
        <p:spPr>
          <a:xfrm>
            <a:off x="5120640" y="141732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Patient details</a:t>
            </a:r>
            <a:endParaRPr lang="en-US" sz="1400" dirty="0"/>
          </a:p>
        </p:txBody>
      </p:sp>
      <p:sp>
        <p:nvSpPr>
          <p:cNvPr id="11" name="Shape 9"/>
          <p:cNvSpPr/>
          <p:nvPr/>
        </p:nvSpPr>
        <p:spPr>
          <a:xfrm>
            <a:off x="7040880" y="1783080"/>
            <a:ext cx="365760" cy="0"/>
          </a:xfrm>
          <a:prstGeom prst="line">
            <a:avLst/>
          </a:prstGeom>
          <a:noFill/>
          <a:ln w="15875">
            <a:solidFill>
              <a:schemeClr val="accent4"/>
            </a:solidFill>
            <a:prstDash val="solid"/>
            <a:tailEnd type="triangle"/>
          </a:ln>
        </p:spPr>
      </p:sp>
      <p:sp>
        <p:nvSpPr>
          <p:cNvPr id="12" name="Shape 10"/>
          <p:cNvSpPr/>
          <p:nvPr/>
        </p:nvSpPr>
        <p:spPr>
          <a:xfrm>
            <a:off x="7406640" y="1417320"/>
            <a:ext cx="1920240" cy="731520"/>
          </a:xfrm>
          <a:prstGeom prst="roundRect">
            <a:avLst>
              <a:gd name="adj" fmla="val 10000"/>
            </a:avLst>
          </a:prstGeom>
          <a:solidFill>
            <a:schemeClr val="bg1"/>
          </a:solidFill>
          <a:ln w="12700">
            <a:solidFill>
              <a:schemeClr val="accent4"/>
            </a:solidFill>
            <a:prstDash val="solid"/>
          </a:ln>
        </p:spPr>
      </p:sp>
      <p:sp>
        <p:nvSpPr>
          <p:cNvPr id="13" name="Text 11"/>
          <p:cNvSpPr txBox="1"/>
          <p:nvPr/>
        </p:nvSpPr>
        <p:spPr>
          <a:xfrm>
            <a:off x="7406640" y="141732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Location and need</a:t>
            </a:r>
            <a:endParaRPr lang="en-US" sz="1400" dirty="0"/>
          </a:p>
        </p:txBody>
      </p:sp>
      <p:sp>
        <p:nvSpPr>
          <p:cNvPr id="14" name="Shape 12"/>
          <p:cNvSpPr/>
          <p:nvPr/>
        </p:nvSpPr>
        <p:spPr>
          <a:xfrm>
            <a:off x="9326880" y="1783080"/>
            <a:ext cx="365760" cy="0"/>
          </a:xfrm>
          <a:prstGeom prst="line">
            <a:avLst/>
          </a:prstGeom>
          <a:noFill/>
          <a:ln w="15875">
            <a:solidFill>
              <a:schemeClr val="accent4"/>
            </a:solidFill>
            <a:prstDash val="solid"/>
            <a:tailEnd type="triangle"/>
          </a:ln>
        </p:spPr>
      </p:sp>
      <p:sp>
        <p:nvSpPr>
          <p:cNvPr id="15" name="Shape 13"/>
          <p:cNvSpPr/>
          <p:nvPr/>
        </p:nvSpPr>
        <p:spPr>
          <a:xfrm>
            <a:off x="9692640" y="1417320"/>
            <a:ext cx="1920240" cy="731520"/>
          </a:xfrm>
          <a:prstGeom prst="roundRect">
            <a:avLst>
              <a:gd name="adj" fmla="val 10000"/>
            </a:avLst>
          </a:prstGeom>
          <a:solidFill>
            <a:schemeClr val="bg1"/>
          </a:solidFill>
          <a:ln w="12700">
            <a:solidFill>
              <a:schemeClr val="accent4"/>
            </a:solidFill>
            <a:prstDash val="solid"/>
          </a:ln>
        </p:spPr>
      </p:sp>
      <p:sp>
        <p:nvSpPr>
          <p:cNvPr id="16" name="Text 14"/>
          <p:cNvSpPr txBox="1"/>
          <p:nvPr/>
        </p:nvSpPr>
        <p:spPr>
          <a:xfrm>
            <a:off x="9692640" y="141732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Approved answer</a:t>
            </a:r>
            <a:endParaRPr lang="en-US" sz="1400" dirty="0"/>
          </a:p>
        </p:txBody>
      </p:sp>
      <p:sp>
        <p:nvSpPr>
          <p:cNvPr id="17" name="Shape 15"/>
          <p:cNvSpPr/>
          <p:nvPr/>
        </p:nvSpPr>
        <p:spPr>
          <a:xfrm>
            <a:off x="10652760" y="2148840"/>
            <a:ext cx="0" cy="548640"/>
          </a:xfrm>
          <a:prstGeom prst="line">
            <a:avLst/>
          </a:prstGeom>
          <a:noFill/>
          <a:ln w="15875">
            <a:solidFill>
              <a:schemeClr val="accent4"/>
            </a:solidFill>
            <a:prstDash val="solid"/>
            <a:tailEnd type="triangle"/>
          </a:ln>
        </p:spPr>
      </p:sp>
      <p:sp>
        <p:nvSpPr>
          <p:cNvPr id="18" name="Shape 16"/>
          <p:cNvSpPr/>
          <p:nvPr/>
        </p:nvSpPr>
        <p:spPr>
          <a:xfrm>
            <a:off x="9692640" y="2697480"/>
            <a:ext cx="1920240" cy="1097280"/>
          </a:xfrm>
          <a:prstGeom prst="diamond">
            <a:avLst/>
          </a:prstGeom>
          <a:solidFill>
            <a:schemeClr val="bg1"/>
          </a:solidFill>
          <a:ln w="12700">
            <a:solidFill>
              <a:schemeClr val="accent4"/>
            </a:solidFill>
            <a:prstDash val="solid"/>
          </a:ln>
        </p:spPr>
      </p:sp>
      <p:sp>
        <p:nvSpPr>
          <p:cNvPr id="19" name="Text 17"/>
          <p:cNvSpPr txBox="1"/>
          <p:nvPr/>
        </p:nvSpPr>
        <p:spPr>
          <a:xfrm>
            <a:off x="9692640" y="2697480"/>
            <a:ext cx="1920240" cy="1097280"/>
          </a:xfrm>
          <a:prstGeom prst="rect">
            <a:avLst/>
          </a:prstGeom>
          <a:noFill/>
          <a:ln/>
        </p:spPr>
        <p:txBody>
          <a:bodyPr wrap="square" lIns="0" tIns="0" rIns="0" bIns="0" rtlCol="0" anchor="ctr"/>
          <a:lstStyle/>
          <a:p>
            <a:pPr algn="ctr" indent="0" marL="0">
              <a:buNone/>
            </a:pPr>
            <a:r>
              <a:rPr lang="en-US" sz="1300" b="1" dirty="0">
                <a:solidFill>
                  <a:schemeClr val="tx1"/>
                </a:solidFill>
              </a:rPr>
              <a:t>Local patient?</a:t>
            </a:r>
            <a:endParaRPr lang="en-US" sz="1300" dirty="0"/>
          </a:p>
        </p:txBody>
      </p:sp>
      <p:sp>
        <p:nvSpPr>
          <p:cNvPr id="20" name="Shape 18"/>
          <p:cNvSpPr/>
          <p:nvPr/>
        </p:nvSpPr>
        <p:spPr>
          <a:xfrm>
            <a:off x="6583680" y="2514600"/>
            <a:ext cx="2468880" cy="731520"/>
          </a:xfrm>
          <a:prstGeom prst="roundRect">
            <a:avLst>
              <a:gd name="adj" fmla="val 10000"/>
            </a:avLst>
          </a:prstGeom>
          <a:solidFill>
            <a:schemeClr val="bg1"/>
          </a:solidFill>
          <a:ln w="12700">
            <a:solidFill>
              <a:schemeClr val="accent4"/>
            </a:solidFill>
            <a:prstDash val="solid"/>
          </a:ln>
        </p:spPr>
      </p:sp>
      <p:sp>
        <p:nvSpPr>
          <p:cNvPr id="21" name="Text 19"/>
          <p:cNvSpPr txBox="1"/>
          <p:nvPr/>
        </p:nvSpPr>
        <p:spPr>
          <a:xfrm>
            <a:off x="6583680" y="2514600"/>
            <a:ext cx="246888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Offline consultation</a:t>
            </a:r>
            <a:endParaRPr lang="en-US" sz="1400" dirty="0"/>
          </a:p>
          <a:p>
            <a:pPr algn="ctr" indent="0" marL="0">
              <a:buNone/>
            </a:pPr>
            <a:r>
              <a:rPr lang="en-US" sz="1100" dirty="0">
                <a:solidFill>
                  <a:schemeClr val="accent4"/>
                </a:solidFill>
              </a:rPr>
              <a:t>local patients</a:t>
            </a:r>
            <a:endParaRPr lang="en-US" sz="1400" dirty="0"/>
          </a:p>
        </p:txBody>
      </p:sp>
      <p:sp>
        <p:nvSpPr>
          <p:cNvPr id="22" name="Shape 20"/>
          <p:cNvSpPr/>
          <p:nvPr/>
        </p:nvSpPr>
        <p:spPr>
          <a:xfrm>
            <a:off x="6583680" y="3611880"/>
            <a:ext cx="2468880" cy="731520"/>
          </a:xfrm>
          <a:prstGeom prst="roundRect">
            <a:avLst>
              <a:gd name="adj" fmla="val 10000"/>
            </a:avLst>
          </a:prstGeom>
          <a:solidFill>
            <a:schemeClr val="bg1"/>
          </a:solidFill>
          <a:ln w="12700">
            <a:solidFill>
              <a:schemeClr val="accent4"/>
            </a:solidFill>
            <a:prstDash val="solid"/>
          </a:ln>
        </p:spPr>
      </p:sp>
      <p:sp>
        <p:nvSpPr>
          <p:cNvPr id="23" name="Text 21"/>
          <p:cNvSpPr txBox="1"/>
          <p:nvPr/>
        </p:nvSpPr>
        <p:spPr>
          <a:xfrm>
            <a:off x="6583680" y="3611880"/>
            <a:ext cx="246888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Video consultation</a:t>
            </a:r>
            <a:endParaRPr lang="en-US" sz="1400" dirty="0"/>
          </a:p>
          <a:p>
            <a:pPr algn="ctr" indent="0" marL="0">
              <a:buNone/>
            </a:pPr>
            <a:r>
              <a:rPr lang="en-US" sz="1100" dirty="0">
                <a:solidFill>
                  <a:schemeClr val="accent4"/>
                </a:solidFill>
              </a:rPr>
              <a:t>other towns, e.g. Trichy</a:t>
            </a:r>
            <a:endParaRPr lang="en-US" sz="1400" dirty="0"/>
          </a:p>
        </p:txBody>
      </p:sp>
      <p:sp>
        <p:nvSpPr>
          <p:cNvPr id="24" name="Shape 22"/>
          <p:cNvSpPr/>
          <p:nvPr/>
        </p:nvSpPr>
        <p:spPr>
          <a:xfrm flipH="1">
            <a:off x="9372600" y="3246120"/>
            <a:ext cx="320040" cy="0"/>
          </a:xfrm>
          <a:prstGeom prst="line">
            <a:avLst/>
          </a:prstGeom>
          <a:noFill/>
          <a:ln w="15875">
            <a:solidFill>
              <a:schemeClr val="accent4"/>
            </a:solidFill>
            <a:prstDash val="solid"/>
          </a:ln>
        </p:spPr>
      </p:sp>
      <p:sp>
        <p:nvSpPr>
          <p:cNvPr id="25" name="Shape 23"/>
          <p:cNvSpPr/>
          <p:nvPr/>
        </p:nvSpPr>
        <p:spPr>
          <a:xfrm>
            <a:off x="9372600" y="2880360"/>
            <a:ext cx="0" cy="1097280"/>
          </a:xfrm>
          <a:prstGeom prst="line">
            <a:avLst/>
          </a:prstGeom>
          <a:noFill/>
          <a:ln w="15875">
            <a:solidFill>
              <a:schemeClr val="accent4"/>
            </a:solidFill>
            <a:prstDash val="solid"/>
          </a:ln>
        </p:spPr>
      </p:sp>
      <p:sp>
        <p:nvSpPr>
          <p:cNvPr id="26" name="Shape 24"/>
          <p:cNvSpPr/>
          <p:nvPr/>
        </p:nvSpPr>
        <p:spPr>
          <a:xfrm flipH="1">
            <a:off x="9052560" y="2880360"/>
            <a:ext cx="320040" cy="0"/>
          </a:xfrm>
          <a:prstGeom prst="line">
            <a:avLst/>
          </a:prstGeom>
          <a:noFill/>
          <a:ln w="15875">
            <a:solidFill>
              <a:schemeClr val="accent4"/>
            </a:solidFill>
            <a:prstDash val="solid"/>
            <a:tailEnd type="triangle"/>
          </a:ln>
        </p:spPr>
      </p:sp>
      <p:sp>
        <p:nvSpPr>
          <p:cNvPr id="27" name="Shape 25"/>
          <p:cNvSpPr/>
          <p:nvPr/>
        </p:nvSpPr>
        <p:spPr>
          <a:xfrm flipH="1">
            <a:off x="9052560" y="3977640"/>
            <a:ext cx="320040" cy="0"/>
          </a:xfrm>
          <a:prstGeom prst="line">
            <a:avLst/>
          </a:prstGeom>
          <a:noFill/>
          <a:ln w="15875">
            <a:solidFill>
              <a:schemeClr val="accent4"/>
            </a:solidFill>
            <a:prstDash val="solid"/>
            <a:tailEnd type="triangle"/>
          </a:ln>
        </p:spPr>
      </p:sp>
      <p:sp>
        <p:nvSpPr>
          <p:cNvPr id="28" name="Shape 26"/>
          <p:cNvSpPr/>
          <p:nvPr/>
        </p:nvSpPr>
        <p:spPr>
          <a:xfrm>
            <a:off x="4023360" y="2880360"/>
            <a:ext cx="1920240" cy="731520"/>
          </a:xfrm>
          <a:prstGeom prst="roundRect">
            <a:avLst>
              <a:gd name="adj" fmla="val 10000"/>
            </a:avLst>
          </a:prstGeom>
          <a:solidFill>
            <a:schemeClr val="bg1"/>
          </a:solidFill>
          <a:ln w="12700">
            <a:solidFill>
              <a:schemeClr val="accent4"/>
            </a:solidFill>
            <a:prstDash val="solid"/>
          </a:ln>
        </p:spPr>
      </p:sp>
      <p:sp>
        <p:nvSpPr>
          <p:cNvPr id="29" name="Text 27"/>
          <p:cNvSpPr txBox="1"/>
          <p:nvPr/>
        </p:nvSpPr>
        <p:spPr>
          <a:xfrm>
            <a:off x="4023360" y="288036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Book a time</a:t>
            </a:r>
            <a:endParaRPr lang="en-US" sz="1400" dirty="0"/>
          </a:p>
        </p:txBody>
      </p:sp>
      <p:sp>
        <p:nvSpPr>
          <p:cNvPr id="30" name="Shape 28"/>
          <p:cNvSpPr/>
          <p:nvPr/>
        </p:nvSpPr>
        <p:spPr>
          <a:xfrm flipH="1">
            <a:off x="6263640" y="2880360"/>
            <a:ext cx="320040" cy="0"/>
          </a:xfrm>
          <a:prstGeom prst="line">
            <a:avLst/>
          </a:prstGeom>
          <a:noFill/>
          <a:ln w="15875">
            <a:solidFill>
              <a:schemeClr val="accent4"/>
            </a:solidFill>
            <a:prstDash val="solid"/>
          </a:ln>
        </p:spPr>
      </p:sp>
      <p:sp>
        <p:nvSpPr>
          <p:cNvPr id="31" name="Shape 29"/>
          <p:cNvSpPr/>
          <p:nvPr/>
        </p:nvSpPr>
        <p:spPr>
          <a:xfrm flipH="1">
            <a:off x="6263640" y="3977640"/>
            <a:ext cx="320040" cy="0"/>
          </a:xfrm>
          <a:prstGeom prst="line">
            <a:avLst/>
          </a:prstGeom>
          <a:noFill/>
          <a:ln w="15875">
            <a:solidFill>
              <a:schemeClr val="accent4"/>
            </a:solidFill>
            <a:prstDash val="solid"/>
          </a:ln>
        </p:spPr>
      </p:sp>
      <p:sp>
        <p:nvSpPr>
          <p:cNvPr id="32" name="Shape 30"/>
          <p:cNvSpPr/>
          <p:nvPr/>
        </p:nvSpPr>
        <p:spPr>
          <a:xfrm>
            <a:off x="6263640" y="2880360"/>
            <a:ext cx="0" cy="1097280"/>
          </a:xfrm>
          <a:prstGeom prst="line">
            <a:avLst/>
          </a:prstGeom>
          <a:noFill/>
          <a:ln w="15875">
            <a:solidFill>
              <a:schemeClr val="accent4"/>
            </a:solidFill>
            <a:prstDash val="solid"/>
          </a:ln>
        </p:spPr>
      </p:sp>
      <p:sp>
        <p:nvSpPr>
          <p:cNvPr id="33" name="Shape 31"/>
          <p:cNvSpPr/>
          <p:nvPr/>
        </p:nvSpPr>
        <p:spPr>
          <a:xfrm flipH="1">
            <a:off x="5943600" y="3246120"/>
            <a:ext cx="320040" cy="0"/>
          </a:xfrm>
          <a:prstGeom prst="line">
            <a:avLst/>
          </a:prstGeom>
          <a:noFill/>
          <a:ln w="15875">
            <a:solidFill>
              <a:schemeClr val="accent4"/>
            </a:solidFill>
            <a:prstDash val="solid"/>
            <a:tailEnd type="triangle"/>
          </a:ln>
        </p:spPr>
      </p:sp>
      <p:sp>
        <p:nvSpPr>
          <p:cNvPr id="34" name="Shape 32"/>
          <p:cNvSpPr/>
          <p:nvPr/>
        </p:nvSpPr>
        <p:spPr>
          <a:xfrm>
            <a:off x="548640" y="2880360"/>
            <a:ext cx="2377440" cy="731520"/>
          </a:xfrm>
          <a:prstGeom prst="roundRect">
            <a:avLst>
              <a:gd name="adj" fmla="val 10000"/>
            </a:avLst>
          </a:prstGeom>
          <a:solidFill>
            <a:schemeClr val="tx1"/>
          </a:solidFill>
          <a:ln w="12700">
            <a:solidFill>
              <a:schemeClr val="tx1"/>
            </a:solidFill>
            <a:prstDash val="solid"/>
          </a:ln>
        </p:spPr>
      </p:sp>
      <p:sp>
        <p:nvSpPr>
          <p:cNvPr id="35" name="Text 33"/>
          <p:cNvSpPr txBox="1"/>
          <p:nvPr/>
        </p:nvSpPr>
        <p:spPr>
          <a:xfrm>
            <a:off x="548640" y="2880360"/>
            <a:ext cx="237744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Google Calendar</a:t>
            </a:r>
            <a:endParaRPr lang="en-US" sz="1400" dirty="0"/>
          </a:p>
          <a:p>
            <a:pPr algn="ctr" indent="0" marL="0">
              <a:buNone/>
            </a:pPr>
            <a:r>
              <a:rPr lang="en-US" sz="1100" dirty="0">
                <a:solidFill>
                  <a:schemeClr val="bg1"/>
                </a:solidFill>
              </a:rPr>
              <a:t>booking confirmed</a:t>
            </a:r>
            <a:endParaRPr lang="en-US" sz="1400" dirty="0"/>
          </a:p>
        </p:txBody>
      </p:sp>
      <p:sp>
        <p:nvSpPr>
          <p:cNvPr id="36" name="Shape 34"/>
          <p:cNvSpPr/>
          <p:nvPr/>
        </p:nvSpPr>
        <p:spPr>
          <a:xfrm flipH="1">
            <a:off x="2926080" y="3246120"/>
            <a:ext cx="1097280" cy="0"/>
          </a:xfrm>
          <a:prstGeom prst="line">
            <a:avLst/>
          </a:prstGeom>
          <a:noFill/>
          <a:ln w="15875">
            <a:solidFill>
              <a:schemeClr val="accent4"/>
            </a:solidFill>
            <a:prstDash val="solid"/>
            <a:tailEnd type="triangle"/>
          </a:ln>
        </p:spPr>
      </p:sp>
      <p:sp>
        <p:nvSpPr>
          <p:cNvPr id="37" name="Shape 35"/>
          <p:cNvSpPr/>
          <p:nvPr/>
        </p:nvSpPr>
        <p:spPr>
          <a:xfrm>
            <a:off x="4023360" y="4892040"/>
            <a:ext cx="1920240" cy="731520"/>
          </a:xfrm>
          <a:prstGeom prst="roundRect">
            <a:avLst>
              <a:gd name="adj" fmla="val 10000"/>
            </a:avLst>
          </a:prstGeom>
          <a:solidFill>
            <a:schemeClr val="bg1"/>
          </a:solidFill>
          <a:ln w="12700">
            <a:solidFill>
              <a:schemeClr val="accent4"/>
            </a:solidFill>
            <a:prstDash val="solid"/>
          </a:ln>
        </p:spPr>
      </p:sp>
      <p:sp>
        <p:nvSpPr>
          <p:cNvPr id="38" name="Text 36"/>
          <p:cNvSpPr txBox="1"/>
          <p:nvPr/>
        </p:nvSpPr>
        <p:spPr>
          <a:xfrm>
            <a:off x="4023360" y="489204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Follow-up list</a:t>
            </a:r>
            <a:endParaRPr lang="en-US" sz="1400" dirty="0"/>
          </a:p>
        </p:txBody>
      </p:sp>
      <p:sp>
        <p:nvSpPr>
          <p:cNvPr id="39" name="Shape 37"/>
          <p:cNvSpPr/>
          <p:nvPr/>
        </p:nvSpPr>
        <p:spPr>
          <a:xfrm>
            <a:off x="6583680" y="4892040"/>
            <a:ext cx="1920240" cy="731520"/>
          </a:xfrm>
          <a:prstGeom prst="roundRect">
            <a:avLst>
              <a:gd name="adj" fmla="val 10000"/>
            </a:avLst>
          </a:prstGeom>
          <a:solidFill>
            <a:schemeClr val="bg1"/>
          </a:solidFill>
          <a:ln w="12700">
            <a:solidFill>
              <a:schemeClr val="accent4"/>
            </a:solidFill>
            <a:prstDash val="solid"/>
          </a:ln>
        </p:spPr>
      </p:sp>
      <p:sp>
        <p:nvSpPr>
          <p:cNvPr id="40" name="Text 38"/>
          <p:cNvSpPr txBox="1"/>
          <p:nvPr/>
        </p:nvSpPr>
        <p:spPr>
          <a:xfrm>
            <a:off x="6583680" y="489204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Staff call</a:t>
            </a:r>
            <a:endParaRPr lang="en-US" sz="1400" dirty="0"/>
          </a:p>
        </p:txBody>
      </p:sp>
      <p:sp>
        <p:nvSpPr>
          <p:cNvPr id="41" name="Shape 39"/>
          <p:cNvSpPr/>
          <p:nvPr/>
        </p:nvSpPr>
        <p:spPr>
          <a:xfrm>
            <a:off x="9144000" y="4892040"/>
            <a:ext cx="1920240" cy="731520"/>
          </a:xfrm>
          <a:prstGeom prst="roundRect">
            <a:avLst>
              <a:gd name="adj" fmla="val 10000"/>
            </a:avLst>
          </a:prstGeom>
          <a:solidFill>
            <a:schemeClr val="bg1"/>
          </a:solidFill>
          <a:ln w="12700">
            <a:solidFill>
              <a:schemeClr val="accent4"/>
            </a:solidFill>
            <a:prstDash val="solid"/>
          </a:ln>
        </p:spPr>
      </p:sp>
      <p:sp>
        <p:nvSpPr>
          <p:cNvPr id="42" name="Text 40"/>
          <p:cNvSpPr txBox="1"/>
          <p:nvPr/>
        </p:nvSpPr>
        <p:spPr>
          <a:xfrm>
            <a:off x="9144000" y="4892040"/>
            <a:ext cx="19202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Update PMS</a:t>
            </a:r>
            <a:endParaRPr lang="en-US" sz="1400" dirty="0"/>
          </a:p>
        </p:txBody>
      </p:sp>
      <p:sp>
        <p:nvSpPr>
          <p:cNvPr id="43" name="Shape 41"/>
          <p:cNvSpPr/>
          <p:nvPr/>
        </p:nvSpPr>
        <p:spPr>
          <a:xfrm>
            <a:off x="5943600" y="5257800"/>
            <a:ext cx="640080" cy="0"/>
          </a:xfrm>
          <a:prstGeom prst="line">
            <a:avLst/>
          </a:prstGeom>
          <a:noFill/>
          <a:ln w="15875">
            <a:solidFill>
              <a:schemeClr val="accent4"/>
            </a:solidFill>
            <a:prstDash val="solid"/>
            <a:tailEnd type="triangle"/>
          </a:ln>
        </p:spPr>
      </p:sp>
      <p:sp>
        <p:nvSpPr>
          <p:cNvPr id="44" name="Shape 42"/>
          <p:cNvSpPr/>
          <p:nvPr/>
        </p:nvSpPr>
        <p:spPr>
          <a:xfrm>
            <a:off x="8503920" y="5257800"/>
            <a:ext cx="640080" cy="0"/>
          </a:xfrm>
          <a:prstGeom prst="line">
            <a:avLst/>
          </a:prstGeom>
          <a:noFill/>
          <a:ln w="15875">
            <a:solidFill>
              <a:schemeClr val="accent4"/>
            </a:solidFill>
            <a:prstDash val="solid"/>
            <a:tailEnd type="triangle"/>
          </a:ln>
        </p:spPr>
      </p:sp>
      <p:sp>
        <p:nvSpPr>
          <p:cNvPr id="45" name="Shape 43"/>
          <p:cNvSpPr/>
          <p:nvPr/>
        </p:nvSpPr>
        <p:spPr>
          <a:xfrm>
            <a:off x="4572000" y="3611880"/>
            <a:ext cx="0" cy="1280160"/>
          </a:xfrm>
          <a:prstGeom prst="line">
            <a:avLst/>
          </a:prstGeom>
          <a:noFill/>
          <a:ln w="15875">
            <a:solidFill>
              <a:schemeClr val="accent4"/>
            </a:solidFill>
            <a:prstDash val="solid"/>
            <a:tailEnd type="triangle"/>
          </a:ln>
        </p:spPr>
      </p:sp>
      <p:sp>
        <p:nvSpPr>
          <p:cNvPr id="46" name="Text 44"/>
          <p:cNvSpPr txBox="1"/>
          <p:nvPr/>
        </p:nvSpPr>
        <p:spPr>
          <a:xfrm>
            <a:off x="3200400" y="4114800"/>
            <a:ext cx="1280160" cy="274320"/>
          </a:xfrm>
          <a:prstGeom prst="rect">
            <a:avLst/>
          </a:prstGeom>
          <a:noFill/>
          <a:ln/>
        </p:spPr>
        <p:txBody>
          <a:bodyPr wrap="square" lIns="0" tIns="0" rIns="0" bIns="0" rtlCol="0" anchor="t"/>
          <a:lstStyle/>
          <a:p>
            <a:pPr algn="r" indent="0" marL="0">
              <a:buNone/>
            </a:pPr>
            <a:r>
              <a:rPr lang="en-US" sz="1100" dirty="0">
                <a:solidFill>
                  <a:schemeClr val="accent4"/>
                </a:solidFill>
              </a:rPr>
              <a:t>doesn't book</a:t>
            </a:r>
            <a:endParaRPr lang="en-US" sz="1100" dirty="0"/>
          </a:p>
        </p:txBody>
      </p:sp>
      <p:sp>
        <p:nvSpPr>
          <p:cNvPr id="47" name="Shape 45"/>
          <p:cNvSpPr/>
          <p:nvPr/>
        </p:nvSpPr>
        <p:spPr>
          <a:xfrm flipV="1">
            <a:off x="7543800" y="4572000"/>
            <a:ext cx="0" cy="320040"/>
          </a:xfrm>
          <a:prstGeom prst="line">
            <a:avLst/>
          </a:prstGeom>
          <a:noFill/>
          <a:ln w="15875">
            <a:solidFill>
              <a:schemeClr val="accent4"/>
            </a:solidFill>
            <a:prstDash val="solid"/>
          </a:ln>
        </p:spPr>
      </p:sp>
      <p:sp>
        <p:nvSpPr>
          <p:cNvPr id="48" name="Shape 46"/>
          <p:cNvSpPr/>
          <p:nvPr/>
        </p:nvSpPr>
        <p:spPr>
          <a:xfrm flipH="1">
            <a:off x="5486400" y="4572000"/>
            <a:ext cx="2057400" cy="0"/>
          </a:xfrm>
          <a:prstGeom prst="line">
            <a:avLst/>
          </a:prstGeom>
          <a:noFill/>
          <a:ln w="15875">
            <a:solidFill>
              <a:schemeClr val="accent4"/>
            </a:solidFill>
            <a:prstDash val="solid"/>
          </a:ln>
        </p:spPr>
      </p:sp>
      <p:sp>
        <p:nvSpPr>
          <p:cNvPr id="49" name="Shape 47"/>
          <p:cNvSpPr/>
          <p:nvPr/>
        </p:nvSpPr>
        <p:spPr>
          <a:xfrm flipV="1">
            <a:off x="5486400" y="3611880"/>
            <a:ext cx="0" cy="960120"/>
          </a:xfrm>
          <a:prstGeom prst="line">
            <a:avLst/>
          </a:prstGeom>
          <a:noFill/>
          <a:ln w="15875">
            <a:solidFill>
              <a:schemeClr val="accent4"/>
            </a:solidFill>
            <a:prstDash val="solid"/>
            <a:tailEnd type="triangle"/>
          </a:ln>
        </p:spPr>
      </p:sp>
      <p:sp>
        <p:nvSpPr>
          <p:cNvPr id="50" name="Text 48"/>
          <p:cNvSpPr txBox="1"/>
          <p:nvPr/>
        </p:nvSpPr>
        <p:spPr>
          <a:xfrm>
            <a:off x="5623560" y="4617720"/>
            <a:ext cx="1097280" cy="256032"/>
          </a:xfrm>
          <a:prstGeom prst="rect">
            <a:avLst/>
          </a:prstGeom>
          <a:noFill/>
          <a:ln/>
        </p:spPr>
        <p:txBody>
          <a:bodyPr wrap="square" lIns="0" tIns="0" rIns="0" bIns="0" rtlCol="0" anchor="t"/>
          <a:lstStyle/>
          <a:p>
            <a:pPr indent="0" marL="0">
              <a:buNone/>
            </a:pPr>
            <a:r>
              <a:rPr lang="en-US" sz="1100" dirty="0">
                <a:solidFill>
                  <a:schemeClr val="accent4"/>
                </a:solidFill>
              </a:rPr>
              <a:t>recovered</a:t>
            </a:r>
            <a:endParaRPr lang="en-US" sz="11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Each gap has a fix and a business outcome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77440"/>
                <a:gridCol w="5605272"/>
                <a:gridCol w="3108960"/>
              </a:tblGrid>
              <a:tr h="384048">
                <a:tc>
                  <a:txBody>
                    <a:bodyPr/>
                    <a:lstStyle/>
                    <a:p>
                      <a:pPr indent="0" marL="0">
                        <a:buNone/>
                      </a:pPr>
                      <a:r>
                        <a:rPr lang="en-US" sz="1200" b="1" dirty="0">
                          <a:solidFill>
                            <a:schemeClr val="bg1"/>
                          </a:solidFill>
                        </a:rPr>
                        <a:t>Area</a:t>
                      </a:r>
                      <a:endParaRPr lang="en-US" sz="1200" dirty="0"/>
                    </a:p>
                  </a:txBody>
                  <a:tcPr marL="109728" marR="109728"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What PatientCurve does</a:t>
                      </a:r>
                      <a:endParaRPr lang="en-US" sz="1200" dirty="0"/>
                    </a:p>
                  </a:txBody>
                  <a:tcPr marL="109728" marR="109728"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200" b="1" dirty="0">
                          <a:solidFill>
                            <a:schemeClr val="bg1"/>
                          </a:solidFill>
                        </a:rPr>
                        <a:t>Business outcome</a:t>
                      </a:r>
                      <a:endParaRPr lang="en-US" sz="1200" dirty="0"/>
                    </a:p>
                  </a:txBody>
                  <a:tcPr marL="109728" marR="109728" marT="54864" marB="54864">
                    <a:lnL w="0" cap="flat" cmpd="sng" algn="ctr">
                      <a:noFill/>
                    </a:lnL>
                    <a:lnR w="0" cap="flat" cmpd="sng" algn="ctr">
                      <a:noFill/>
                    </a:lnR>
                    <a:lnT w="0" cap="flat" cmpd="sng" algn="ctr">
                      <a:noFill/>
                    </a:lnT>
                    <a:lnB w="0" cap="flat" cmpd="sng" algn="ctr">
                      <a:noFill/>
                    </a:lnB>
                    <a:solidFill>
                      <a:schemeClr val="tx1"/>
                    </a:solidFill>
                  </a:tcPr>
                </a:tc>
              </a:tr>
              <a:tr h="548640">
                <a:tc>
                  <a:txBody>
                    <a:bodyPr/>
                    <a:lstStyle/>
                    <a:p>
                      <a:pPr indent="0" marL="0">
                        <a:buNone/>
                      </a:pPr>
                      <a:r>
                        <a:rPr lang="en-US" sz="1300" b="1" dirty="0">
                          <a:solidFill>
                            <a:schemeClr val="tx1"/>
                          </a:solidFill>
                        </a:rPr>
                        <a:t>Correct information</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Answers only from information the clinic approves; anything else goes to your team</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1"/>
                          </a:solidFill>
                        </a:rPr>
                        <a:t>No wrong fees or details reach patients</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300" b="1" dirty="0">
                          <a:solidFill>
                            <a:schemeClr val="tx1"/>
                          </a:solidFill>
                        </a:rPr>
                        <a:t>Lead qualification</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Name, phone, location and requirement collected from every enquiry</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1"/>
                          </a:solidFill>
                        </a:rPr>
                        <a:t>Every enquiry is complete and ready to act on</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b="1" dirty="0">
                          <a:solidFill>
                            <a:schemeClr val="tx1"/>
                          </a:solidFill>
                        </a:rPr>
                        <a:t>Consultation routing</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Local patients to offline consultation, other towns to video, each with its own fee</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1"/>
                          </a:solidFill>
                        </a:rPr>
                        <a:t>The right offer for each patient</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300" b="1" dirty="0">
                          <a:solidFill>
                            <a:schemeClr val="tx1"/>
                          </a:solidFill>
                        </a:rPr>
                        <a:t>Appointment conversion</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Patient picks a free time; booking goes into Google Calendar with reminders</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1"/>
                          </a:solidFill>
                        </a:rPr>
                        <a:t>Interest becomes a booking while it's high</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b="1" dirty="0">
                          <a:solidFill>
                            <a:schemeClr val="tx1"/>
                          </a:solidFill>
                        </a:rPr>
                        <a:t>Staff follow-up</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Non-bookers listed with their details and requirement; staff log each call</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1"/>
                          </a:solidFill>
                        </a:rPr>
                        <a:t>Nobody who enquired is forgotten</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300" b="1" dirty="0">
                          <a:solidFill>
                            <a:schemeClr val="tx1"/>
                          </a:solidFill>
                        </a:rPr>
                        <a:t>Patient recovery</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Patients stay on the list until booked or closed</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1"/>
                          </a:solidFill>
                        </a:rPr>
                        <a:t>Lost enquiries become appointments</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b="1" dirty="0">
                          <a:solidFill>
                            <a:schemeClr val="tx1"/>
                          </a:solidFill>
                        </a:rPr>
                        <a:t>Visibility</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Monthly report from enquiry to appointment</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1"/>
                          </a:solidFill>
                        </a:rPr>
                        <a:t>You see your conversion rate</a:t>
                      </a:r>
                      <a:endParaRPr lang="en-US" sz="13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You see your enquiry-to-appointment rate every month</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874520"/>
                <a:gridCol w="1463040"/>
                <a:gridCol w="1463040"/>
                <a:gridCol w="1600200"/>
                <a:gridCol w="1463040"/>
                <a:gridCol w="1856232"/>
                <a:gridCol w="1371600"/>
              </a:tblGrid>
              <a:tr h="457200">
                <a:tc>
                  <a:txBody>
                    <a:bodyPr/>
                    <a:lstStyle/>
                    <a:p>
                      <a:pPr algn="ctr" indent="0" marL="0">
                        <a:buNone/>
                      </a:pPr>
                      <a:r>
                        <a:rPr lang="en-US" sz="1200" b="1" dirty="0">
                          <a:solidFill>
                            <a:schemeClr val="bg1"/>
                          </a:solidFill>
                        </a:rPr>
                        <a:t>Campaign</a:t>
                      </a:r>
                      <a:endParaRPr lang="en-US" sz="1200" dirty="0"/>
                    </a:p>
                  </a:txBody>
                  <a:tcPr marL="73152" marR="73152"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Enquiries</a:t>
                      </a:r>
                      <a:endParaRPr lang="en-US" sz="1200" dirty="0"/>
                    </a:p>
                  </a:txBody>
                  <a:tcPr marL="73152" marR="73152"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Qualified</a:t>
                      </a:r>
                      <a:endParaRPr lang="en-US" sz="1200" dirty="0"/>
                    </a:p>
                  </a:txBody>
                  <a:tcPr marL="73152" marR="73152"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Booked offline</a:t>
                      </a:r>
                      <a:endParaRPr lang="en-US" sz="1200" dirty="0"/>
                    </a:p>
                  </a:txBody>
                  <a:tcPr marL="73152" marR="73152"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Booked video</a:t>
                      </a:r>
                      <a:endParaRPr lang="en-US" sz="1200" dirty="0"/>
                    </a:p>
                  </a:txBody>
                  <a:tcPr marL="73152" marR="73152"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Recovered by staff</a:t>
                      </a:r>
                      <a:endParaRPr lang="en-US" sz="1200" dirty="0"/>
                    </a:p>
                  </a:txBody>
                  <a:tcPr marL="73152" marR="73152" marT="54864" marB="54864">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Conversion</a:t>
                      </a:r>
                      <a:endParaRPr lang="en-US" sz="1200" dirty="0"/>
                    </a:p>
                  </a:txBody>
                  <a:tcPr marL="73152" marR="73152" marT="54864" marB="54864">
                    <a:lnL w="0" cap="flat" cmpd="sng" algn="ctr">
                      <a:noFill/>
                    </a:lnL>
                    <a:lnR w="0" cap="flat" cmpd="sng" algn="ctr">
                      <a:noFill/>
                    </a:lnR>
                    <a:lnT w="0" cap="flat" cmpd="sng" algn="ctr">
                      <a:noFill/>
                    </a:lnT>
                    <a:lnB w="0" cap="flat" cmpd="sng" algn="ctr">
                      <a:noFill/>
                    </a:lnB>
                    <a:solidFill>
                      <a:schemeClr val="tx1"/>
                    </a:solidFill>
                  </a:tcPr>
                </a:tc>
              </a:tr>
              <a:tr h="457200">
                <a:tc>
                  <a:txBody>
                    <a:bodyPr/>
                    <a:lstStyle/>
                    <a:p>
                      <a:pPr algn="l" indent="0" marL="0">
                        <a:buNone/>
                      </a:pPr>
                      <a:r>
                        <a:rPr lang="en-US" sz="1300" b="1" dirty="0">
                          <a:solidFill>
                            <a:schemeClr val="tx1"/>
                          </a:solidFill>
                        </a:rPr>
                        <a:t>Campaign 1</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300" b="1" dirty="0">
                          <a:solidFill>
                            <a:schemeClr val="tx1"/>
                          </a:solidFill>
                        </a:rPr>
                        <a:t>Campaign 2</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300" b="1" dirty="0">
                          <a:solidFill>
                            <a:schemeClr val="tx1"/>
                          </a:solidFill>
                        </a:rPr>
                        <a:t>Campaign 3</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300" dirty="0">
                          <a:solidFill>
                            <a:schemeClr val="accent4"/>
                          </a:solidFill>
                        </a:rPr>
                        <a:t>—</a:t>
                      </a:r>
                      <a:endParaRPr lang="en-US" sz="1300" dirty="0"/>
                    </a:p>
                  </a:txBody>
                  <a:tcPr marL="73152" marR="73152" marT="54864" marB="54864">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548640" y="3429000"/>
            <a:ext cx="7315200" cy="320040"/>
          </a:xfrm>
          <a:prstGeom prst="rect">
            <a:avLst/>
          </a:prstGeom>
          <a:noFill/>
          <a:ln/>
        </p:spPr>
        <p:txBody>
          <a:bodyPr wrap="square" lIns="0" tIns="0" rIns="0" bIns="0" rtlCol="0" anchor="t"/>
          <a:lstStyle/>
          <a:p>
            <a:pPr indent="0" marL="0">
              <a:buNone/>
            </a:pPr>
            <a:r>
              <a:rPr lang="en-US" sz="1100" dirty="0">
                <a:solidFill>
                  <a:schemeClr val="accent4"/>
                </a:solidFill>
              </a:rPr>
              <a:t>Report layout only. Figures fill in from your first month live.</a:t>
            </a:r>
            <a:endParaRPr lang="en-US" sz="1100" dirty="0"/>
          </a:p>
        </p:txBody>
      </p:sp>
      <p:sp>
        <p:nvSpPr>
          <p:cNvPr id="5" name="Shape 2"/>
          <p:cNvSpPr/>
          <p:nvPr/>
        </p:nvSpPr>
        <p:spPr>
          <a:xfrm>
            <a:off x="548640" y="411480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685800" y="4251960"/>
            <a:ext cx="274320" cy="274320"/>
          </a:xfrm>
          <a:prstGeom prst="rect">
            <a:avLst/>
          </a:prstGeom>
        </p:spPr>
      </p:pic>
      <p:sp>
        <p:nvSpPr>
          <p:cNvPr id="7" name="Text 3"/>
          <p:cNvSpPr txBox="1"/>
          <p:nvPr/>
        </p:nvSpPr>
        <p:spPr>
          <a:xfrm>
            <a:off x="1280160" y="4096512"/>
            <a:ext cx="2834640" cy="320040"/>
          </a:xfrm>
          <a:prstGeom prst="rect">
            <a:avLst/>
          </a:prstGeom>
          <a:noFill/>
          <a:ln/>
        </p:spPr>
        <p:txBody>
          <a:bodyPr wrap="square" lIns="0" tIns="0" rIns="0" bIns="0" rtlCol="0" anchor="t"/>
          <a:lstStyle/>
          <a:p>
            <a:pPr indent="0" marL="0">
              <a:buNone/>
            </a:pPr>
            <a:r>
              <a:rPr lang="en-US" sz="1500" b="1" dirty="0">
                <a:solidFill>
                  <a:schemeClr val="tx1"/>
                </a:solidFill>
              </a:rPr>
              <a:t>Conversion by campaign</a:t>
            </a:r>
            <a:endParaRPr lang="en-US" sz="1500" dirty="0"/>
          </a:p>
        </p:txBody>
      </p:sp>
      <p:sp>
        <p:nvSpPr>
          <p:cNvPr id="8" name="Text 4"/>
          <p:cNvSpPr txBox="1"/>
          <p:nvPr/>
        </p:nvSpPr>
        <p:spPr>
          <a:xfrm>
            <a:off x="1280160" y="4462272"/>
            <a:ext cx="2834640" cy="640080"/>
          </a:xfrm>
          <a:prstGeom prst="rect">
            <a:avLst/>
          </a:prstGeom>
          <a:noFill/>
          <a:ln/>
        </p:spPr>
        <p:txBody>
          <a:bodyPr wrap="square" lIns="0" tIns="0" rIns="0" bIns="0" rtlCol="0" anchor="t"/>
          <a:lstStyle/>
          <a:p>
            <a:pPr indent="0" marL="0">
              <a:buNone/>
            </a:pPr>
            <a:r>
              <a:rPr lang="en-US" sz="1300" dirty="0">
                <a:solidFill>
                  <a:schemeClr val="accent4"/>
                </a:solidFill>
              </a:rPr>
              <a:t>See which ads turn enquiries into appointments.</a:t>
            </a:r>
            <a:endParaRPr lang="en-US" sz="1300" dirty="0"/>
          </a:p>
        </p:txBody>
      </p:sp>
      <p:sp>
        <p:nvSpPr>
          <p:cNvPr id="9" name="Shape 5"/>
          <p:cNvSpPr/>
          <p:nvPr/>
        </p:nvSpPr>
        <p:spPr>
          <a:xfrm>
            <a:off x="4297680" y="4114800"/>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434840" y="4251960"/>
            <a:ext cx="274320" cy="274320"/>
          </a:xfrm>
          <a:prstGeom prst="rect">
            <a:avLst/>
          </a:prstGeom>
        </p:spPr>
      </p:pic>
      <p:sp>
        <p:nvSpPr>
          <p:cNvPr id="11" name="Text 6"/>
          <p:cNvSpPr txBox="1"/>
          <p:nvPr/>
        </p:nvSpPr>
        <p:spPr>
          <a:xfrm>
            <a:off x="5029200" y="4096512"/>
            <a:ext cx="2834640" cy="320040"/>
          </a:xfrm>
          <a:prstGeom prst="rect">
            <a:avLst/>
          </a:prstGeom>
          <a:noFill/>
          <a:ln/>
        </p:spPr>
        <p:txBody>
          <a:bodyPr wrap="square" lIns="0" tIns="0" rIns="0" bIns="0" rtlCol="0" anchor="t"/>
          <a:lstStyle/>
          <a:p>
            <a:pPr indent="0" marL="0">
              <a:buNone/>
            </a:pPr>
            <a:r>
              <a:rPr lang="en-US" sz="1500" b="1" dirty="0">
                <a:solidFill>
                  <a:schemeClr val="tx1"/>
                </a:solidFill>
              </a:rPr>
              <a:t>Staff recoveries</a:t>
            </a:r>
            <a:endParaRPr lang="en-US" sz="1500" dirty="0"/>
          </a:p>
        </p:txBody>
      </p:sp>
      <p:sp>
        <p:nvSpPr>
          <p:cNvPr id="12" name="Text 7"/>
          <p:cNvSpPr txBox="1"/>
          <p:nvPr/>
        </p:nvSpPr>
        <p:spPr>
          <a:xfrm>
            <a:off x="5029200" y="4462272"/>
            <a:ext cx="2834640" cy="640080"/>
          </a:xfrm>
          <a:prstGeom prst="rect">
            <a:avLst/>
          </a:prstGeom>
          <a:noFill/>
          <a:ln/>
        </p:spPr>
        <p:txBody>
          <a:bodyPr wrap="square" lIns="0" tIns="0" rIns="0" bIns="0" rtlCol="0" anchor="t"/>
          <a:lstStyle/>
          <a:p>
            <a:pPr indent="0" marL="0">
              <a:buNone/>
            </a:pPr>
            <a:r>
              <a:rPr lang="en-US" sz="1300" dirty="0">
                <a:solidFill>
                  <a:schemeClr val="accent4"/>
                </a:solidFill>
              </a:rPr>
              <a:t>See how many patients your team won back.</a:t>
            </a:r>
            <a:endParaRPr lang="en-US" sz="1300" dirty="0"/>
          </a:p>
        </p:txBody>
      </p:sp>
      <p:sp>
        <p:nvSpPr>
          <p:cNvPr id="13" name="Shape 8"/>
          <p:cNvSpPr/>
          <p:nvPr/>
        </p:nvSpPr>
        <p:spPr>
          <a:xfrm>
            <a:off x="8046720" y="4114800"/>
            <a:ext cx="548640" cy="54864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8183880" y="4251960"/>
            <a:ext cx="274320" cy="274320"/>
          </a:xfrm>
          <a:prstGeom prst="rect">
            <a:avLst/>
          </a:prstGeom>
        </p:spPr>
      </p:pic>
      <p:sp>
        <p:nvSpPr>
          <p:cNvPr id="15" name="Text 9"/>
          <p:cNvSpPr txBox="1"/>
          <p:nvPr/>
        </p:nvSpPr>
        <p:spPr>
          <a:xfrm>
            <a:off x="8778240" y="4096512"/>
            <a:ext cx="2834640" cy="320040"/>
          </a:xfrm>
          <a:prstGeom prst="rect">
            <a:avLst/>
          </a:prstGeom>
          <a:noFill/>
          <a:ln/>
        </p:spPr>
        <p:txBody>
          <a:bodyPr wrap="square" lIns="0" tIns="0" rIns="0" bIns="0" rtlCol="0" anchor="t"/>
          <a:lstStyle/>
          <a:p>
            <a:pPr indent="0" marL="0">
              <a:buNone/>
            </a:pPr>
            <a:r>
              <a:rPr lang="en-US" sz="1500" b="1" dirty="0">
                <a:solidFill>
                  <a:schemeClr val="tx1"/>
                </a:solidFill>
              </a:rPr>
              <a:t>Offline vs video</a:t>
            </a:r>
            <a:endParaRPr lang="en-US" sz="1500" dirty="0"/>
          </a:p>
        </p:txBody>
      </p:sp>
      <p:sp>
        <p:nvSpPr>
          <p:cNvPr id="16" name="Text 10"/>
          <p:cNvSpPr txBox="1"/>
          <p:nvPr/>
        </p:nvSpPr>
        <p:spPr>
          <a:xfrm>
            <a:off x="8778240" y="4462272"/>
            <a:ext cx="2834640" cy="640080"/>
          </a:xfrm>
          <a:prstGeom prst="rect">
            <a:avLst/>
          </a:prstGeom>
          <a:noFill/>
          <a:ln/>
        </p:spPr>
        <p:txBody>
          <a:bodyPr wrap="square" lIns="0" tIns="0" rIns="0" bIns="0" rtlCol="0" anchor="t"/>
          <a:lstStyle/>
          <a:p>
            <a:pPr indent="0" marL="0">
              <a:buNone/>
            </a:pPr>
            <a:r>
              <a:rPr lang="en-US" sz="1300" dirty="0">
                <a:solidFill>
                  <a:schemeClr val="accent4"/>
                </a:solidFill>
              </a:rPr>
              <a:t>See how patients choose to consult.</a:t>
            </a:r>
            <a:endParaRPr lang="en-US" sz="13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Works with the systems your clinic already uses</a:t>
            </a:r>
            <a:endParaRPr lang="en-US" sz="3000" dirty="0"/>
          </a:p>
        </p:txBody>
      </p:sp>
      <p:sp>
        <p:nvSpPr>
          <p:cNvPr id="3" name="integration-0"/>
          <p:cNvSpPr/>
          <p:nvPr/>
        </p:nvSpPr>
        <p:spPr>
          <a:xfrm>
            <a:off x="548640" y="1463040"/>
            <a:ext cx="5468112" cy="1691640"/>
          </a:xfrm>
          <a:prstGeom prst="roundRect">
            <a:avLst>
              <a:gd name="adj" fmla="val 4324"/>
            </a:avLst>
          </a:prstGeom>
          <a:solidFill>
            <a:schemeClr val="bg2"/>
          </a:solidFill>
          <a:ln/>
        </p:spPr>
      </p:sp>
      <p:sp>
        <p:nvSpPr>
          <p:cNvPr id="4" name="Shape 2"/>
          <p:cNvSpPr/>
          <p:nvPr/>
        </p:nvSpPr>
        <p:spPr>
          <a:xfrm>
            <a:off x="868680" y="178308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28700" y="1943100"/>
            <a:ext cx="320040" cy="320040"/>
          </a:xfrm>
          <a:prstGeom prst="rect">
            <a:avLst/>
          </a:prstGeom>
        </p:spPr>
      </p:pic>
      <p:sp>
        <p:nvSpPr>
          <p:cNvPr id="6" name="Text 3"/>
          <p:cNvSpPr txBox="1"/>
          <p:nvPr/>
        </p:nvSpPr>
        <p:spPr>
          <a:xfrm>
            <a:off x="1737360" y="1828800"/>
            <a:ext cx="4023360" cy="365760"/>
          </a:xfrm>
          <a:prstGeom prst="rect">
            <a:avLst/>
          </a:prstGeom>
          <a:noFill/>
          <a:ln/>
        </p:spPr>
        <p:txBody>
          <a:bodyPr wrap="square" lIns="0" tIns="0" rIns="0" bIns="0" rtlCol="0" anchor="t"/>
          <a:lstStyle/>
          <a:p>
            <a:pPr indent="0" marL="0">
              <a:buNone/>
            </a:pPr>
            <a:r>
              <a:rPr lang="en-US" sz="1800" b="1" dirty="0">
                <a:solidFill>
                  <a:schemeClr val="tx1"/>
                </a:solidFill>
              </a:rPr>
              <a:t>WhatsApp</a:t>
            </a:r>
            <a:endParaRPr lang="en-US" sz="1800" dirty="0"/>
          </a:p>
        </p:txBody>
      </p:sp>
      <p:sp>
        <p:nvSpPr>
          <p:cNvPr id="7" name="Text 4"/>
          <p:cNvSpPr txBox="1"/>
          <p:nvPr/>
        </p:nvSpPr>
        <p:spPr>
          <a:xfrm>
            <a:off x="1737360" y="2240280"/>
            <a:ext cx="4023360" cy="1051560"/>
          </a:xfrm>
          <a:prstGeom prst="rect">
            <a:avLst/>
          </a:prstGeom>
          <a:noFill/>
          <a:ln/>
        </p:spPr>
        <p:txBody>
          <a:bodyPr wrap="square" lIns="0" tIns="0" rIns="0" bIns="0" rtlCol="0" anchor="t"/>
          <a:lstStyle/>
          <a:p>
            <a:pPr indent="0" marL="0">
              <a:buNone/>
            </a:pPr>
            <a:r>
              <a:rPr lang="en-US" sz="1400" dirty="0">
                <a:solidFill>
                  <a:schemeClr val="accent4"/>
                </a:solidFill>
              </a:rPr>
              <a:t>Where every enquiry starts, on your clinic's number.</a:t>
            </a:r>
            <a:endParaRPr lang="en-US" sz="1400" dirty="0"/>
          </a:p>
        </p:txBody>
      </p:sp>
      <p:sp>
        <p:nvSpPr>
          <p:cNvPr id="8" name="integration-1"/>
          <p:cNvSpPr/>
          <p:nvPr/>
        </p:nvSpPr>
        <p:spPr>
          <a:xfrm>
            <a:off x="6172200" y="1463040"/>
            <a:ext cx="5468112" cy="1691640"/>
          </a:xfrm>
          <a:prstGeom prst="roundRect">
            <a:avLst>
              <a:gd name="adj" fmla="val 4324"/>
            </a:avLst>
          </a:prstGeom>
          <a:solidFill>
            <a:schemeClr val="bg2"/>
          </a:solidFill>
          <a:ln/>
        </p:spPr>
      </p:sp>
      <p:sp>
        <p:nvSpPr>
          <p:cNvPr id="9" name="Shape 6"/>
          <p:cNvSpPr/>
          <p:nvPr/>
        </p:nvSpPr>
        <p:spPr>
          <a:xfrm>
            <a:off x="6492240" y="1783080"/>
            <a:ext cx="640080" cy="6400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652260" y="1943100"/>
            <a:ext cx="320040" cy="320040"/>
          </a:xfrm>
          <a:prstGeom prst="rect">
            <a:avLst/>
          </a:prstGeom>
        </p:spPr>
      </p:pic>
      <p:sp>
        <p:nvSpPr>
          <p:cNvPr id="11" name="Text 7"/>
          <p:cNvSpPr txBox="1"/>
          <p:nvPr/>
        </p:nvSpPr>
        <p:spPr>
          <a:xfrm>
            <a:off x="7360920" y="1828800"/>
            <a:ext cx="4023360" cy="365760"/>
          </a:xfrm>
          <a:prstGeom prst="rect">
            <a:avLst/>
          </a:prstGeom>
          <a:noFill/>
          <a:ln/>
        </p:spPr>
        <p:txBody>
          <a:bodyPr wrap="square" lIns="0" tIns="0" rIns="0" bIns="0" rtlCol="0" anchor="t"/>
          <a:lstStyle/>
          <a:p>
            <a:pPr indent="0" marL="0">
              <a:buNone/>
            </a:pPr>
            <a:r>
              <a:rPr lang="en-US" sz="1800" b="1" dirty="0">
                <a:solidFill>
                  <a:schemeClr val="tx1"/>
                </a:solidFill>
              </a:rPr>
              <a:t>Google Calendar</a:t>
            </a:r>
            <a:endParaRPr lang="en-US" sz="1800" dirty="0"/>
          </a:p>
        </p:txBody>
      </p:sp>
      <p:sp>
        <p:nvSpPr>
          <p:cNvPr id="12" name="Text 8"/>
          <p:cNvSpPr txBox="1"/>
          <p:nvPr/>
        </p:nvSpPr>
        <p:spPr>
          <a:xfrm>
            <a:off x="7360920" y="2240280"/>
            <a:ext cx="4023360" cy="1051560"/>
          </a:xfrm>
          <a:prstGeom prst="rect">
            <a:avLst/>
          </a:prstGeom>
          <a:noFill/>
          <a:ln/>
        </p:spPr>
        <p:txBody>
          <a:bodyPr wrap="square" lIns="0" tIns="0" rIns="0" bIns="0" rtlCol="0" anchor="t"/>
          <a:lstStyle/>
          <a:p>
            <a:pPr indent="0" marL="0">
              <a:buNone/>
            </a:pPr>
            <a:r>
              <a:rPr lang="en-US" sz="1400" dirty="0">
                <a:solidFill>
                  <a:schemeClr val="accent4"/>
                </a:solidFill>
              </a:rPr>
              <a:t>Every offline and video booking lands in your calendar.</a:t>
            </a:r>
            <a:endParaRPr lang="en-US" sz="1400" dirty="0"/>
          </a:p>
        </p:txBody>
      </p:sp>
      <p:sp>
        <p:nvSpPr>
          <p:cNvPr id="13" name="integration-2"/>
          <p:cNvSpPr/>
          <p:nvPr/>
        </p:nvSpPr>
        <p:spPr>
          <a:xfrm>
            <a:off x="548640" y="3429000"/>
            <a:ext cx="5468112" cy="1691640"/>
          </a:xfrm>
          <a:prstGeom prst="roundRect">
            <a:avLst>
              <a:gd name="adj" fmla="val 4324"/>
            </a:avLst>
          </a:prstGeom>
          <a:solidFill>
            <a:schemeClr val="bg2"/>
          </a:solidFill>
          <a:ln/>
        </p:spPr>
      </p:sp>
      <p:sp>
        <p:nvSpPr>
          <p:cNvPr id="14" name="Shape 10"/>
          <p:cNvSpPr/>
          <p:nvPr/>
        </p:nvSpPr>
        <p:spPr>
          <a:xfrm>
            <a:off x="868680" y="3749040"/>
            <a:ext cx="640080" cy="64008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1028700" y="3909060"/>
            <a:ext cx="320040" cy="320040"/>
          </a:xfrm>
          <a:prstGeom prst="rect">
            <a:avLst/>
          </a:prstGeom>
        </p:spPr>
      </p:pic>
      <p:sp>
        <p:nvSpPr>
          <p:cNvPr id="16" name="Text 11"/>
          <p:cNvSpPr txBox="1"/>
          <p:nvPr/>
        </p:nvSpPr>
        <p:spPr>
          <a:xfrm>
            <a:off x="1737360" y="3794760"/>
            <a:ext cx="4023360" cy="365760"/>
          </a:xfrm>
          <a:prstGeom prst="rect">
            <a:avLst/>
          </a:prstGeom>
          <a:noFill/>
          <a:ln/>
        </p:spPr>
        <p:txBody>
          <a:bodyPr wrap="square" lIns="0" tIns="0" rIns="0" bIns="0" rtlCol="0" anchor="t"/>
          <a:lstStyle/>
          <a:p>
            <a:pPr indent="0" marL="0">
              <a:buNone/>
            </a:pPr>
            <a:r>
              <a:rPr lang="en-US" sz="1800" b="1" dirty="0">
                <a:solidFill>
                  <a:schemeClr val="tx1"/>
                </a:solidFill>
              </a:rPr>
              <a:t>Clinic PMS</a:t>
            </a:r>
            <a:endParaRPr lang="en-US" sz="1800" dirty="0"/>
          </a:p>
        </p:txBody>
      </p:sp>
      <p:sp>
        <p:nvSpPr>
          <p:cNvPr id="17" name="Text 12"/>
          <p:cNvSpPr txBox="1"/>
          <p:nvPr/>
        </p:nvSpPr>
        <p:spPr>
          <a:xfrm>
            <a:off x="1737360" y="4206240"/>
            <a:ext cx="4023360" cy="1051560"/>
          </a:xfrm>
          <a:prstGeom prst="rect">
            <a:avLst/>
          </a:prstGeom>
          <a:noFill/>
          <a:ln/>
        </p:spPr>
        <p:txBody>
          <a:bodyPr wrap="square" lIns="0" tIns="0" rIns="0" bIns="0" rtlCol="0" anchor="t"/>
          <a:lstStyle/>
          <a:p>
            <a:pPr indent="0" marL="0">
              <a:buNone/>
            </a:pPr>
            <a:r>
              <a:rPr lang="en-US" sz="1400" dirty="0">
                <a:solidFill>
                  <a:schemeClr val="accent4"/>
                </a:solidFill>
              </a:rPr>
              <a:t>Staff update the PMS after each call; PatientCurve tracks every follow-up. Automatic sync can be added if your PMS supports it.</a:t>
            </a:r>
            <a:endParaRPr lang="en-US" sz="1400" dirty="0"/>
          </a:p>
        </p:txBody>
      </p:sp>
      <p:sp>
        <p:nvSpPr>
          <p:cNvPr id="18" name="integration-3"/>
          <p:cNvSpPr/>
          <p:nvPr/>
        </p:nvSpPr>
        <p:spPr>
          <a:xfrm>
            <a:off x="6172200" y="3429000"/>
            <a:ext cx="5468112" cy="1691640"/>
          </a:xfrm>
          <a:prstGeom prst="roundRect">
            <a:avLst>
              <a:gd name="adj" fmla="val 4324"/>
            </a:avLst>
          </a:prstGeom>
          <a:solidFill>
            <a:schemeClr val="bg2"/>
          </a:solidFill>
          <a:ln/>
        </p:spPr>
      </p:sp>
      <p:sp>
        <p:nvSpPr>
          <p:cNvPr id="19" name="Shape 14"/>
          <p:cNvSpPr/>
          <p:nvPr/>
        </p:nvSpPr>
        <p:spPr>
          <a:xfrm>
            <a:off x="6492240" y="3749040"/>
            <a:ext cx="640080" cy="64008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6652260" y="3909060"/>
            <a:ext cx="320040" cy="320040"/>
          </a:xfrm>
          <a:prstGeom prst="rect">
            <a:avLst/>
          </a:prstGeom>
        </p:spPr>
      </p:pic>
      <p:sp>
        <p:nvSpPr>
          <p:cNvPr id="21" name="Text 15"/>
          <p:cNvSpPr txBox="1"/>
          <p:nvPr/>
        </p:nvSpPr>
        <p:spPr>
          <a:xfrm>
            <a:off x="7360920" y="3794760"/>
            <a:ext cx="4023360" cy="365760"/>
          </a:xfrm>
          <a:prstGeom prst="rect">
            <a:avLst/>
          </a:prstGeom>
          <a:noFill/>
          <a:ln/>
        </p:spPr>
        <p:txBody>
          <a:bodyPr wrap="square" lIns="0" tIns="0" rIns="0" bIns="0" rtlCol="0" anchor="t"/>
          <a:lstStyle/>
          <a:p>
            <a:pPr indent="0" marL="0">
              <a:buNone/>
            </a:pPr>
            <a:r>
              <a:rPr lang="en-US" sz="1800" b="1" dirty="0">
                <a:solidFill>
                  <a:schemeClr val="tx1"/>
                </a:solidFill>
              </a:rPr>
              <a:t>PatientCurve</a:t>
            </a:r>
            <a:endParaRPr lang="en-US" sz="1800" dirty="0"/>
          </a:p>
        </p:txBody>
      </p:sp>
      <p:sp>
        <p:nvSpPr>
          <p:cNvPr id="22" name="Text 16"/>
          <p:cNvSpPr txBox="1"/>
          <p:nvPr/>
        </p:nvSpPr>
        <p:spPr>
          <a:xfrm>
            <a:off x="7360920" y="4206240"/>
            <a:ext cx="4023360" cy="1051560"/>
          </a:xfrm>
          <a:prstGeom prst="rect">
            <a:avLst/>
          </a:prstGeom>
          <a:noFill/>
          <a:ln/>
        </p:spPr>
        <p:txBody>
          <a:bodyPr wrap="square" lIns="0" tIns="0" rIns="0" bIns="0" rtlCol="0" anchor="t"/>
          <a:lstStyle/>
          <a:p>
            <a:pPr indent="0" marL="0">
              <a:buNone/>
            </a:pPr>
            <a:r>
              <a:rPr lang="en-US" sz="1400" dirty="0">
                <a:solidFill>
                  <a:schemeClr val="accent4"/>
                </a:solidFill>
              </a:rPr>
              <a:t>Connects all three and holds the enquiry, routing, follow-up list and report.</a:t>
            </a:r>
            <a:endParaRPr lang="en-US" sz="14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Pilot pricing, for pilot customers only</a:t>
            </a:r>
            <a:endParaRPr lang="en-US" sz="3000" dirty="0"/>
          </a:p>
        </p:txBody>
      </p:sp>
      <p:sp>
        <p:nvSpPr>
          <p:cNvPr id="3" name="price-0"/>
          <p:cNvSpPr/>
          <p:nvPr/>
        </p:nvSpPr>
        <p:spPr>
          <a:xfrm>
            <a:off x="548640" y="1463040"/>
            <a:ext cx="5468112" cy="3200400"/>
          </a:xfrm>
          <a:prstGeom prst="roundRect">
            <a:avLst>
              <a:gd name="adj" fmla="val 2286"/>
            </a:avLst>
          </a:prstGeom>
          <a:solidFill>
            <a:schemeClr val="bg2"/>
          </a:solidFill>
          <a:ln/>
        </p:spPr>
      </p:sp>
      <p:sp>
        <p:nvSpPr>
          <p:cNvPr id="4" name="Text 2"/>
          <p:cNvSpPr txBox="1"/>
          <p:nvPr/>
        </p:nvSpPr>
        <p:spPr>
          <a:xfrm>
            <a:off x="960120" y="178308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ONE-TIME SETUP</a:t>
            </a:r>
            <a:endParaRPr lang="en-US" sz="1200" dirty="0"/>
          </a:p>
        </p:txBody>
      </p:sp>
      <p:sp>
        <p:nvSpPr>
          <p:cNvPr id="5" name="Text 3"/>
          <p:cNvSpPr txBox="1"/>
          <p:nvPr/>
        </p:nvSpPr>
        <p:spPr>
          <a:xfrm>
            <a:off x="960120" y="2148840"/>
            <a:ext cx="4754880" cy="1005840"/>
          </a:xfrm>
          <a:prstGeom prst="rect">
            <a:avLst/>
          </a:prstGeom>
          <a:noFill/>
          <a:ln/>
        </p:spPr>
        <p:txBody>
          <a:bodyPr wrap="square" lIns="0" tIns="0" rIns="0" bIns="0" rtlCol="0" anchor="b"/>
          <a:lstStyle/>
          <a:p>
            <a:pPr indent="0" marL="0">
              <a:buNone/>
            </a:pPr>
            <a:r>
              <a:rPr lang="en-US" sz="5400" b="1" dirty="0">
                <a:solidFill>
                  <a:schemeClr val="tx1"/>
                </a:solidFill>
                <a:latin typeface="Arial" pitchFamily="34" charset="0"/>
                <a:ea typeface="Arial" pitchFamily="34" charset="-122"/>
                <a:cs typeface="Arial" pitchFamily="34" charset="-120"/>
              </a:rPr>
              <a:t>₹5,000</a:t>
            </a:r>
            <a:pPr indent="0" marL="0">
              <a:buNone/>
            </a:pPr>
            <a:endParaRPr lang="en-US" sz="1400" dirty="0"/>
          </a:p>
        </p:txBody>
      </p:sp>
      <p:sp>
        <p:nvSpPr>
          <p:cNvPr id="6" name="Text 4"/>
          <p:cNvSpPr txBox="1"/>
          <p:nvPr/>
        </p:nvSpPr>
        <p:spPr>
          <a:xfrm>
            <a:off x="960120" y="3291840"/>
            <a:ext cx="4572000" cy="320040"/>
          </a:xfrm>
          <a:prstGeom prst="rect">
            <a:avLst/>
          </a:prstGeom>
          <a:noFill/>
          <a:ln/>
        </p:spPr>
        <p:txBody>
          <a:bodyPr wrap="square" lIns="0" tIns="0" rIns="0" bIns="0" rtlCol="0" anchor="t"/>
          <a:lstStyle/>
          <a:p>
            <a:pPr indent="0" marL="0">
              <a:buNone/>
            </a:pPr>
            <a:r>
              <a:rPr lang="en-US" sz="1400" strike="sngStrike" dirty="0">
                <a:solidFill>
                  <a:schemeClr val="accent4"/>
                </a:solidFill>
              </a:rPr>
              <a:t>Standard ₹7,500</a:t>
            </a:r>
            <a:endParaRPr lang="en-US" sz="1400" dirty="0"/>
          </a:p>
        </p:txBody>
      </p:sp>
      <p:sp>
        <p:nvSpPr>
          <p:cNvPr id="7" name="Text 5"/>
          <p:cNvSpPr txBox="1"/>
          <p:nvPr/>
        </p:nvSpPr>
        <p:spPr>
          <a:xfrm>
            <a:off x="960120" y="3749040"/>
            <a:ext cx="4572000" cy="365760"/>
          </a:xfrm>
          <a:prstGeom prst="rect">
            <a:avLst/>
          </a:prstGeom>
          <a:noFill/>
          <a:ln/>
        </p:spPr>
        <p:txBody>
          <a:bodyPr wrap="square" lIns="0" tIns="0" rIns="0" bIns="0" rtlCol="0" anchor="t"/>
          <a:lstStyle/>
          <a:p>
            <a:pPr indent="0" marL="0">
              <a:buNone/>
            </a:pPr>
            <a:r>
              <a:rPr lang="en-US" sz="1600" b="1" dirty="0">
                <a:solidFill>
                  <a:schemeClr val="accent1"/>
                </a:solidFill>
              </a:rPr>
              <a:t>You save ₹2,500</a:t>
            </a:r>
            <a:endParaRPr lang="en-US" sz="1600" dirty="0"/>
          </a:p>
        </p:txBody>
      </p:sp>
      <p:sp>
        <p:nvSpPr>
          <p:cNvPr id="8" name="price-1"/>
          <p:cNvSpPr/>
          <p:nvPr/>
        </p:nvSpPr>
        <p:spPr>
          <a:xfrm>
            <a:off x="6172200" y="1463040"/>
            <a:ext cx="5468112" cy="3200400"/>
          </a:xfrm>
          <a:prstGeom prst="roundRect">
            <a:avLst>
              <a:gd name="adj" fmla="val 2286"/>
            </a:avLst>
          </a:prstGeom>
          <a:solidFill>
            <a:schemeClr val="tx1"/>
          </a:solidFill>
          <a:ln/>
        </p:spPr>
      </p:sp>
      <p:sp>
        <p:nvSpPr>
          <p:cNvPr id="9" name="Text 7"/>
          <p:cNvSpPr txBox="1"/>
          <p:nvPr/>
        </p:nvSpPr>
        <p:spPr>
          <a:xfrm>
            <a:off x="6583680" y="178308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MONTHLY FEE</a:t>
            </a:r>
            <a:endParaRPr lang="en-US" sz="1200" dirty="0"/>
          </a:p>
        </p:txBody>
      </p:sp>
      <p:sp>
        <p:nvSpPr>
          <p:cNvPr id="10" name="Text 8"/>
          <p:cNvSpPr txBox="1"/>
          <p:nvPr/>
        </p:nvSpPr>
        <p:spPr>
          <a:xfrm>
            <a:off x="6583680" y="2148840"/>
            <a:ext cx="4754880" cy="1005840"/>
          </a:xfrm>
          <a:prstGeom prst="rect">
            <a:avLst/>
          </a:prstGeom>
          <a:noFill/>
          <a:ln/>
        </p:spPr>
        <p:txBody>
          <a:bodyPr wrap="square" lIns="0" tIns="0" rIns="0" bIns="0" rtlCol="0" anchor="b"/>
          <a:lstStyle/>
          <a:p>
            <a:pPr indent="0" marL="0">
              <a:buNone/>
            </a:pPr>
            <a:r>
              <a:rPr lang="en-US" sz="5400" b="1" dirty="0">
                <a:solidFill>
                  <a:schemeClr val="bg1"/>
                </a:solidFill>
                <a:latin typeface="Arial" pitchFamily="34" charset="0"/>
                <a:ea typeface="Arial" pitchFamily="34" charset="-122"/>
                <a:cs typeface="Arial" pitchFamily="34" charset="-120"/>
              </a:rPr>
              <a:t>₹2,999</a:t>
            </a:r>
            <a:pPr indent="0" marL="0">
              <a:buNone/>
            </a:pPr>
            <a:r>
              <a:rPr lang="en-US" sz="1800" dirty="0">
                <a:solidFill>
                  <a:schemeClr val="accent2"/>
                </a:solidFill>
                <a:latin typeface="Arial" pitchFamily="34" charset="0"/>
                <a:ea typeface="Arial" pitchFamily="34" charset="-122"/>
                <a:cs typeface="Arial" pitchFamily="34" charset="-120"/>
              </a:rPr>
              <a:t> a month</a:t>
            </a:r>
            <a:endParaRPr lang="en-US" sz="1400" dirty="0"/>
          </a:p>
        </p:txBody>
      </p:sp>
      <p:sp>
        <p:nvSpPr>
          <p:cNvPr id="11" name="Text 9"/>
          <p:cNvSpPr txBox="1"/>
          <p:nvPr/>
        </p:nvSpPr>
        <p:spPr>
          <a:xfrm>
            <a:off x="6583680" y="3291840"/>
            <a:ext cx="4572000" cy="320040"/>
          </a:xfrm>
          <a:prstGeom prst="rect">
            <a:avLst/>
          </a:prstGeom>
          <a:noFill/>
          <a:ln/>
        </p:spPr>
        <p:txBody>
          <a:bodyPr wrap="square" lIns="0" tIns="0" rIns="0" bIns="0" rtlCol="0" anchor="t"/>
          <a:lstStyle/>
          <a:p>
            <a:pPr indent="0" marL="0">
              <a:buNone/>
            </a:pPr>
            <a:r>
              <a:rPr lang="en-US" sz="1400" strike="sngStrike" dirty="0">
                <a:solidFill>
                  <a:schemeClr val="accent2"/>
                </a:solidFill>
              </a:rPr>
              <a:t>Standard ₹4,999 a month</a:t>
            </a:r>
            <a:endParaRPr lang="en-US" sz="1400" dirty="0"/>
          </a:p>
        </p:txBody>
      </p:sp>
      <p:sp>
        <p:nvSpPr>
          <p:cNvPr id="12" name="Text 10"/>
          <p:cNvSpPr txBox="1"/>
          <p:nvPr/>
        </p:nvSpPr>
        <p:spPr>
          <a:xfrm>
            <a:off x="6583680" y="3749040"/>
            <a:ext cx="4572000" cy="365760"/>
          </a:xfrm>
          <a:prstGeom prst="rect">
            <a:avLst/>
          </a:prstGeom>
          <a:noFill/>
          <a:ln/>
        </p:spPr>
        <p:txBody>
          <a:bodyPr wrap="square" lIns="0" tIns="0" rIns="0" bIns="0" rtlCol="0" anchor="t"/>
          <a:lstStyle/>
          <a:p>
            <a:pPr indent="0" marL="0">
              <a:buNone/>
            </a:pPr>
            <a:r>
              <a:rPr lang="en-US" sz="1600" b="1" dirty="0">
                <a:solidFill>
                  <a:schemeClr val="accent2"/>
                </a:solidFill>
              </a:rPr>
              <a:t>You save ₹2,000 every month</a:t>
            </a:r>
            <a:endParaRPr lang="en-US" sz="1600" dirty="0"/>
          </a:p>
        </p:txBody>
      </p:sp>
      <p:sp>
        <p:nvSpPr>
          <p:cNvPr id="13" name="Text 11"/>
          <p:cNvSpPr txBox="1"/>
          <p:nvPr/>
        </p:nvSpPr>
        <p:spPr>
          <a:xfrm>
            <a:off x="548640" y="4937760"/>
            <a:ext cx="11064240" cy="365760"/>
          </a:xfrm>
          <a:prstGeom prst="rect">
            <a:avLst/>
          </a:prstGeom>
          <a:noFill/>
          <a:ln/>
        </p:spPr>
        <p:txBody>
          <a:bodyPr wrap="square" lIns="0" tIns="0" rIns="0" bIns="0" rtlCol="0" anchor="t"/>
          <a:lstStyle/>
          <a:p>
            <a:pPr indent="0" marL="0">
              <a:buNone/>
            </a:pPr>
            <a:r>
              <a:rPr lang="en-US" sz="1400" dirty="0">
                <a:solidFill>
                  <a:schemeClr val="tx1"/>
                </a:solidFill>
              </a:rPr>
              <a:t>Pilot pricing is offered only to pilot customers. Clinics that join after the pilot pay the standard price.</a:t>
            </a:r>
            <a:endParaRPr lang="en-US" sz="1400" dirty="0"/>
          </a:p>
        </p:txBody>
      </p:sp>
      <p:sp>
        <p:nvSpPr>
          <p:cNvPr id="14" name="Text 12"/>
          <p:cNvSpPr txBox="1"/>
          <p:nvPr/>
        </p:nvSpPr>
        <p:spPr>
          <a:xfrm>
            <a:off x="548640" y="5394960"/>
            <a:ext cx="11064240" cy="365760"/>
          </a:xfrm>
          <a:prstGeom prst="rect">
            <a:avLst/>
          </a:prstGeom>
          <a:noFill/>
          <a:ln/>
        </p:spPr>
        <p:txBody>
          <a:bodyPr wrap="square" lIns="0" tIns="0" rIns="0" bIns="0" rtlCol="0" anchor="t"/>
          <a:lstStyle/>
          <a:p>
            <a:pPr indent="0" marL="0">
              <a:buNone/>
            </a:pPr>
            <a:r>
              <a:rPr lang="en-US" sz="1200" dirty="0">
                <a:solidFill>
                  <a:schemeClr val="accent4"/>
                </a:solidFill>
              </a:rPr>
              <a:t>Not included: WhatsApp message charges set by Meta · automatic PMS sync (quoted separately) · running your ad campaigns.</a:t>
            </a:r>
            <a:endParaRPr lang="en-US" sz="12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What's included in setup (₹5,000, one-time)</a:t>
            </a:r>
            <a:endParaRPr lang="en-US" sz="3000" dirty="0"/>
          </a:p>
        </p:txBody>
      </p:sp>
      <p:sp>
        <p:nvSpPr>
          <p:cNvPr id="3" name="setup-0"/>
          <p:cNvSpPr/>
          <p:nvPr/>
        </p:nvSpPr>
        <p:spPr>
          <a:xfrm>
            <a:off x="548640" y="1371600"/>
            <a:ext cx="3566160" cy="1417320"/>
          </a:xfrm>
          <a:prstGeom prst="roundRect">
            <a:avLst>
              <a:gd name="adj" fmla="val 5161"/>
            </a:avLst>
          </a:prstGeom>
          <a:solidFill>
            <a:schemeClr val="bg2"/>
          </a:solidFill>
          <a:ln/>
        </p:spPr>
      </p:sp>
      <p:sp>
        <p:nvSpPr>
          <p:cNvPr id="4" name="Shape 2"/>
          <p:cNvSpPr/>
          <p:nvPr/>
        </p:nvSpPr>
        <p:spPr>
          <a:xfrm>
            <a:off x="777240" y="1627632"/>
            <a:ext cx="502920" cy="5029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02970" y="1753362"/>
            <a:ext cx="251460" cy="251460"/>
          </a:xfrm>
          <a:prstGeom prst="rect">
            <a:avLst/>
          </a:prstGeom>
        </p:spPr>
      </p:pic>
      <p:sp>
        <p:nvSpPr>
          <p:cNvPr id="6" name="Text 3"/>
          <p:cNvSpPr txBox="1"/>
          <p:nvPr/>
        </p:nvSpPr>
        <p:spPr>
          <a:xfrm>
            <a:off x="1417320" y="16002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Onboarding call</a:t>
            </a:r>
            <a:endParaRPr lang="en-US" sz="1500" dirty="0"/>
          </a:p>
        </p:txBody>
      </p:sp>
      <p:sp>
        <p:nvSpPr>
          <p:cNvPr id="7" name="Text 4"/>
          <p:cNvSpPr txBox="1"/>
          <p:nvPr/>
        </p:nvSpPr>
        <p:spPr>
          <a:xfrm>
            <a:off x="1417320" y="19659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We agree consultation types, fees, timings, location and booking rules.</a:t>
            </a:r>
            <a:endParaRPr lang="en-US" sz="1300" dirty="0"/>
          </a:p>
        </p:txBody>
      </p:sp>
      <p:sp>
        <p:nvSpPr>
          <p:cNvPr id="8" name="setup-1"/>
          <p:cNvSpPr/>
          <p:nvPr/>
        </p:nvSpPr>
        <p:spPr>
          <a:xfrm>
            <a:off x="4297680" y="1371600"/>
            <a:ext cx="3566160" cy="1417320"/>
          </a:xfrm>
          <a:prstGeom prst="roundRect">
            <a:avLst>
              <a:gd name="adj" fmla="val 5161"/>
            </a:avLst>
          </a:prstGeom>
          <a:solidFill>
            <a:schemeClr val="bg2"/>
          </a:solidFill>
          <a:ln/>
        </p:spPr>
      </p:sp>
      <p:sp>
        <p:nvSpPr>
          <p:cNvPr id="9" name="Shape 6"/>
          <p:cNvSpPr/>
          <p:nvPr/>
        </p:nvSpPr>
        <p:spPr>
          <a:xfrm>
            <a:off x="4526280" y="1627632"/>
            <a:ext cx="502920" cy="5029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52010" y="1753362"/>
            <a:ext cx="251460" cy="251460"/>
          </a:xfrm>
          <a:prstGeom prst="rect">
            <a:avLst/>
          </a:prstGeom>
        </p:spPr>
      </p:pic>
      <p:sp>
        <p:nvSpPr>
          <p:cNvPr id="11" name="Text 7"/>
          <p:cNvSpPr txBox="1"/>
          <p:nvPr/>
        </p:nvSpPr>
        <p:spPr>
          <a:xfrm>
            <a:off x="5166360" y="16002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Approved answers</a:t>
            </a:r>
            <a:endParaRPr lang="en-US" sz="1500" dirty="0"/>
          </a:p>
        </p:txBody>
      </p:sp>
      <p:sp>
        <p:nvSpPr>
          <p:cNvPr id="12" name="Text 8"/>
          <p:cNvSpPr txBox="1"/>
          <p:nvPr/>
        </p:nvSpPr>
        <p:spPr>
          <a:xfrm>
            <a:off x="5166360" y="19659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We write what patients receive; you approve every word.</a:t>
            </a:r>
            <a:endParaRPr lang="en-US" sz="1300" dirty="0"/>
          </a:p>
        </p:txBody>
      </p:sp>
      <p:sp>
        <p:nvSpPr>
          <p:cNvPr id="13" name="setup-2"/>
          <p:cNvSpPr/>
          <p:nvPr/>
        </p:nvSpPr>
        <p:spPr>
          <a:xfrm>
            <a:off x="8046720" y="1371600"/>
            <a:ext cx="3566160" cy="1417320"/>
          </a:xfrm>
          <a:prstGeom prst="roundRect">
            <a:avLst>
              <a:gd name="adj" fmla="val 5161"/>
            </a:avLst>
          </a:prstGeom>
          <a:solidFill>
            <a:schemeClr val="bg2"/>
          </a:solidFill>
          <a:ln/>
        </p:spPr>
      </p:sp>
      <p:sp>
        <p:nvSpPr>
          <p:cNvPr id="14" name="Shape 10"/>
          <p:cNvSpPr/>
          <p:nvPr/>
        </p:nvSpPr>
        <p:spPr>
          <a:xfrm>
            <a:off x="8275320" y="1627632"/>
            <a:ext cx="502920" cy="5029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401050" y="1753362"/>
            <a:ext cx="251460" cy="251460"/>
          </a:xfrm>
          <a:prstGeom prst="rect">
            <a:avLst/>
          </a:prstGeom>
        </p:spPr>
      </p:pic>
      <p:sp>
        <p:nvSpPr>
          <p:cNvPr id="16" name="Text 11"/>
          <p:cNvSpPr txBox="1"/>
          <p:nvPr/>
        </p:nvSpPr>
        <p:spPr>
          <a:xfrm>
            <a:off x="8915400" y="16002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WhatsApp enquiry flow</a:t>
            </a:r>
            <a:endParaRPr lang="en-US" sz="1500" dirty="0"/>
          </a:p>
        </p:txBody>
      </p:sp>
      <p:sp>
        <p:nvSpPr>
          <p:cNvPr id="17" name="Text 12"/>
          <p:cNvSpPr txBox="1"/>
          <p:nvPr/>
        </p:nvSpPr>
        <p:spPr>
          <a:xfrm>
            <a:off x="8915400" y="19659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Collects name, phone, location and requirement.</a:t>
            </a:r>
            <a:endParaRPr lang="en-US" sz="1300" dirty="0"/>
          </a:p>
        </p:txBody>
      </p:sp>
      <p:sp>
        <p:nvSpPr>
          <p:cNvPr id="18" name="setup-3"/>
          <p:cNvSpPr/>
          <p:nvPr/>
        </p:nvSpPr>
        <p:spPr>
          <a:xfrm>
            <a:off x="548640" y="2971800"/>
            <a:ext cx="3566160" cy="1417320"/>
          </a:xfrm>
          <a:prstGeom prst="roundRect">
            <a:avLst>
              <a:gd name="adj" fmla="val 5161"/>
            </a:avLst>
          </a:prstGeom>
          <a:solidFill>
            <a:schemeClr val="bg2"/>
          </a:solidFill>
          <a:ln/>
        </p:spPr>
      </p:sp>
      <p:sp>
        <p:nvSpPr>
          <p:cNvPr id="19" name="Shape 14"/>
          <p:cNvSpPr/>
          <p:nvPr/>
        </p:nvSpPr>
        <p:spPr>
          <a:xfrm>
            <a:off x="777240" y="3227832"/>
            <a:ext cx="502920" cy="5029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02970" y="3353562"/>
            <a:ext cx="251460" cy="251460"/>
          </a:xfrm>
          <a:prstGeom prst="rect">
            <a:avLst/>
          </a:prstGeom>
        </p:spPr>
      </p:pic>
      <p:sp>
        <p:nvSpPr>
          <p:cNvPr id="21" name="Text 15"/>
          <p:cNvSpPr txBox="1"/>
          <p:nvPr/>
        </p:nvSpPr>
        <p:spPr>
          <a:xfrm>
            <a:off x="1417320" y="32004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Consultation routing</a:t>
            </a:r>
            <a:endParaRPr lang="en-US" sz="1500" dirty="0"/>
          </a:p>
        </p:txBody>
      </p:sp>
      <p:sp>
        <p:nvSpPr>
          <p:cNvPr id="22" name="Text 16"/>
          <p:cNvSpPr txBox="1"/>
          <p:nvPr/>
        </p:nvSpPr>
        <p:spPr>
          <a:xfrm>
            <a:off x="1417320" y="35661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Local to offline, other towns to video consultation.</a:t>
            </a:r>
            <a:endParaRPr lang="en-US" sz="1300" dirty="0"/>
          </a:p>
        </p:txBody>
      </p:sp>
      <p:sp>
        <p:nvSpPr>
          <p:cNvPr id="23" name="setup-4"/>
          <p:cNvSpPr/>
          <p:nvPr/>
        </p:nvSpPr>
        <p:spPr>
          <a:xfrm>
            <a:off x="4297680" y="2971800"/>
            <a:ext cx="3566160" cy="1417320"/>
          </a:xfrm>
          <a:prstGeom prst="roundRect">
            <a:avLst>
              <a:gd name="adj" fmla="val 5161"/>
            </a:avLst>
          </a:prstGeom>
          <a:solidFill>
            <a:schemeClr val="bg2"/>
          </a:solidFill>
          <a:ln/>
        </p:spPr>
      </p:sp>
      <p:sp>
        <p:nvSpPr>
          <p:cNvPr id="24" name="Shape 18"/>
          <p:cNvSpPr/>
          <p:nvPr/>
        </p:nvSpPr>
        <p:spPr>
          <a:xfrm>
            <a:off x="4526280" y="3227832"/>
            <a:ext cx="502920" cy="5029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4652010" y="3353562"/>
            <a:ext cx="251460" cy="251460"/>
          </a:xfrm>
          <a:prstGeom prst="rect">
            <a:avLst/>
          </a:prstGeom>
        </p:spPr>
      </p:pic>
      <p:sp>
        <p:nvSpPr>
          <p:cNvPr id="26" name="Text 19"/>
          <p:cNvSpPr txBox="1"/>
          <p:nvPr/>
        </p:nvSpPr>
        <p:spPr>
          <a:xfrm>
            <a:off x="5166360" y="32004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Google Calendar booking</a:t>
            </a:r>
            <a:endParaRPr lang="en-US" sz="1500" dirty="0"/>
          </a:p>
        </p:txBody>
      </p:sp>
      <p:sp>
        <p:nvSpPr>
          <p:cNvPr id="27" name="Text 20"/>
          <p:cNvSpPr txBox="1"/>
          <p:nvPr/>
        </p:nvSpPr>
        <p:spPr>
          <a:xfrm>
            <a:off x="5166360" y="35661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Patients pick a free time; it lands in your calendar.</a:t>
            </a:r>
            <a:endParaRPr lang="en-US" sz="1300" dirty="0"/>
          </a:p>
        </p:txBody>
      </p:sp>
      <p:sp>
        <p:nvSpPr>
          <p:cNvPr id="28" name="setup-5"/>
          <p:cNvSpPr/>
          <p:nvPr/>
        </p:nvSpPr>
        <p:spPr>
          <a:xfrm>
            <a:off x="8046720" y="2971800"/>
            <a:ext cx="3566160" cy="1417320"/>
          </a:xfrm>
          <a:prstGeom prst="roundRect">
            <a:avLst>
              <a:gd name="adj" fmla="val 5161"/>
            </a:avLst>
          </a:prstGeom>
          <a:solidFill>
            <a:schemeClr val="bg2"/>
          </a:solidFill>
          <a:ln/>
        </p:spPr>
      </p:sp>
      <p:sp>
        <p:nvSpPr>
          <p:cNvPr id="29" name="Shape 22"/>
          <p:cNvSpPr/>
          <p:nvPr/>
        </p:nvSpPr>
        <p:spPr>
          <a:xfrm>
            <a:off x="8275320" y="3227832"/>
            <a:ext cx="502920" cy="50292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8401050" y="3353562"/>
            <a:ext cx="251460" cy="251460"/>
          </a:xfrm>
          <a:prstGeom prst="rect">
            <a:avLst/>
          </a:prstGeom>
        </p:spPr>
      </p:pic>
      <p:sp>
        <p:nvSpPr>
          <p:cNvPr id="31" name="Text 23"/>
          <p:cNvSpPr txBox="1"/>
          <p:nvPr/>
        </p:nvSpPr>
        <p:spPr>
          <a:xfrm>
            <a:off x="8915400" y="32004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WhatsApp number</a:t>
            </a:r>
            <a:endParaRPr lang="en-US" sz="1500" dirty="0"/>
          </a:p>
        </p:txBody>
      </p:sp>
      <p:sp>
        <p:nvSpPr>
          <p:cNvPr id="32" name="Text 24"/>
          <p:cNvSpPr txBox="1"/>
          <p:nvPr/>
        </p:nvSpPr>
        <p:spPr>
          <a:xfrm>
            <a:off x="8915400" y="35661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Your number connected, replacing the Meta AI bot.</a:t>
            </a:r>
            <a:endParaRPr lang="en-US" sz="1300" dirty="0"/>
          </a:p>
        </p:txBody>
      </p:sp>
      <p:sp>
        <p:nvSpPr>
          <p:cNvPr id="33" name="setup-6"/>
          <p:cNvSpPr/>
          <p:nvPr/>
        </p:nvSpPr>
        <p:spPr>
          <a:xfrm>
            <a:off x="548640" y="4572000"/>
            <a:ext cx="3566160" cy="1417320"/>
          </a:xfrm>
          <a:prstGeom prst="roundRect">
            <a:avLst>
              <a:gd name="adj" fmla="val 5161"/>
            </a:avLst>
          </a:prstGeom>
          <a:solidFill>
            <a:schemeClr val="bg2"/>
          </a:solidFill>
          <a:ln/>
        </p:spPr>
      </p:sp>
      <p:sp>
        <p:nvSpPr>
          <p:cNvPr id="34" name="Shape 26"/>
          <p:cNvSpPr/>
          <p:nvPr/>
        </p:nvSpPr>
        <p:spPr>
          <a:xfrm>
            <a:off x="777240" y="4828032"/>
            <a:ext cx="502920" cy="502920"/>
          </a:xfrm>
          <a:prstGeom prst="ellipse">
            <a:avLst/>
          </a:prstGeom>
          <a:solidFill>
            <a:schemeClr val="accent1"/>
          </a:solidFill>
          <a:ln/>
        </p:spPr>
      </p:sp>
      <p:pic>
        <p:nvPicPr>
          <p:cNvPr id="35" name="Image 6" descr="preencoded.png">    </p:cNvPr>
          <p:cNvPicPr>
            <a:picLocks noChangeAspect="1"/>
          </p:cNvPicPr>
          <p:nvPr/>
        </p:nvPicPr>
        <p:blipFill>
          <a:blip r:embed="rId7"/>
          <a:stretch>
            <a:fillRect/>
          </a:stretch>
        </p:blipFill>
        <p:spPr>
          <a:xfrm>
            <a:off x="902970" y="4953762"/>
            <a:ext cx="251460" cy="251460"/>
          </a:xfrm>
          <a:prstGeom prst="rect">
            <a:avLst/>
          </a:prstGeom>
        </p:spPr>
      </p:pic>
      <p:sp>
        <p:nvSpPr>
          <p:cNvPr id="36" name="Text 27"/>
          <p:cNvSpPr txBox="1"/>
          <p:nvPr/>
        </p:nvSpPr>
        <p:spPr>
          <a:xfrm>
            <a:off x="1417320" y="48006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Staff follow-up list</a:t>
            </a:r>
            <a:endParaRPr lang="en-US" sz="1500" dirty="0"/>
          </a:p>
        </p:txBody>
      </p:sp>
      <p:sp>
        <p:nvSpPr>
          <p:cNvPr id="37" name="Text 28"/>
          <p:cNvSpPr txBox="1"/>
          <p:nvPr/>
        </p:nvSpPr>
        <p:spPr>
          <a:xfrm>
            <a:off x="1417320" y="51663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Every non-booker listed, with a staff chat to log calls.</a:t>
            </a:r>
            <a:endParaRPr lang="en-US" sz="1300" dirty="0"/>
          </a:p>
        </p:txBody>
      </p:sp>
      <p:sp>
        <p:nvSpPr>
          <p:cNvPr id="38" name="setup-7"/>
          <p:cNvSpPr/>
          <p:nvPr/>
        </p:nvSpPr>
        <p:spPr>
          <a:xfrm>
            <a:off x="4297680" y="4572000"/>
            <a:ext cx="3566160" cy="1417320"/>
          </a:xfrm>
          <a:prstGeom prst="roundRect">
            <a:avLst>
              <a:gd name="adj" fmla="val 5161"/>
            </a:avLst>
          </a:prstGeom>
          <a:solidFill>
            <a:schemeClr val="bg2"/>
          </a:solidFill>
          <a:ln/>
        </p:spPr>
      </p:sp>
      <p:sp>
        <p:nvSpPr>
          <p:cNvPr id="39" name="Shape 30"/>
          <p:cNvSpPr/>
          <p:nvPr/>
        </p:nvSpPr>
        <p:spPr>
          <a:xfrm>
            <a:off x="4526280" y="4828032"/>
            <a:ext cx="502920" cy="502920"/>
          </a:xfrm>
          <a:prstGeom prst="ellipse">
            <a:avLst/>
          </a:prstGeom>
          <a:solidFill>
            <a:schemeClr val="accent1"/>
          </a:solidFill>
          <a:ln/>
        </p:spPr>
      </p:sp>
      <p:pic>
        <p:nvPicPr>
          <p:cNvPr id="40" name="Image 7" descr="preencoded.png">    </p:cNvPr>
          <p:cNvPicPr>
            <a:picLocks noChangeAspect="1"/>
          </p:cNvPicPr>
          <p:nvPr/>
        </p:nvPicPr>
        <p:blipFill>
          <a:blip r:embed="rId8"/>
          <a:stretch>
            <a:fillRect/>
          </a:stretch>
        </p:blipFill>
        <p:spPr>
          <a:xfrm>
            <a:off x="4652010" y="4953762"/>
            <a:ext cx="251460" cy="251460"/>
          </a:xfrm>
          <a:prstGeom prst="rect">
            <a:avLst/>
          </a:prstGeom>
        </p:spPr>
      </p:pic>
      <p:sp>
        <p:nvSpPr>
          <p:cNvPr id="41" name="Text 31"/>
          <p:cNvSpPr txBox="1"/>
          <p:nvPr/>
        </p:nvSpPr>
        <p:spPr>
          <a:xfrm>
            <a:off x="5166360" y="48006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Staff training</a:t>
            </a:r>
            <a:endParaRPr lang="en-US" sz="1500" dirty="0"/>
          </a:p>
        </p:txBody>
      </p:sp>
      <p:sp>
        <p:nvSpPr>
          <p:cNvPr id="42" name="Text 32"/>
          <p:cNvSpPr txBox="1"/>
          <p:nvPr/>
        </p:nvSpPr>
        <p:spPr>
          <a:xfrm>
            <a:off x="5166360" y="51663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A walkthrough for your front desk.</a:t>
            </a:r>
            <a:endParaRPr lang="en-US" sz="1300" dirty="0"/>
          </a:p>
        </p:txBody>
      </p:sp>
      <p:sp>
        <p:nvSpPr>
          <p:cNvPr id="43" name="setup-8"/>
          <p:cNvSpPr/>
          <p:nvPr/>
        </p:nvSpPr>
        <p:spPr>
          <a:xfrm>
            <a:off x="8046720" y="4572000"/>
            <a:ext cx="3566160" cy="1417320"/>
          </a:xfrm>
          <a:prstGeom prst="roundRect">
            <a:avLst>
              <a:gd name="adj" fmla="val 5161"/>
            </a:avLst>
          </a:prstGeom>
          <a:solidFill>
            <a:schemeClr val="bg2"/>
          </a:solidFill>
          <a:ln/>
        </p:spPr>
      </p:sp>
      <p:sp>
        <p:nvSpPr>
          <p:cNvPr id="44" name="Shape 34"/>
          <p:cNvSpPr/>
          <p:nvPr/>
        </p:nvSpPr>
        <p:spPr>
          <a:xfrm>
            <a:off x="8275320" y="4828032"/>
            <a:ext cx="502920" cy="502920"/>
          </a:xfrm>
          <a:prstGeom prst="ellipse">
            <a:avLst/>
          </a:prstGeom>
          <a:solidFill>
            <a:schemeClr val="accent1"/>
          </a:solidFill>
          <a:ln/>
        </p:spPr>
      </p:sp>
      <p:pic>
        <p:nvPicPr>
          <p:cNvPr id="45" name="Image 8" descr="preencoded.png">    </p:cNvPr>
          <p:cNvPicPr>
            <a:picLocks noChangeAspect="1"/>
          </p:cNvPicPr>
          <p:nvPr/>
        </p:nvPicPr>
        <p:blipFill>
          <a:blip r:embed="rId9"/>
          <a:stretch>
            <a:fillRect/>
          </a:stretch>
        </p:blipFill>
        <p:spPr>
          <a:xfrm>
            <a:off x="8401050" y="4953762"/>
            <a:ext cx="251460" cy="251460"/>
          </a:xfrm>
          <a:prstGeom prst="rect">
            <a:avLst/>
          </a:prstGeom>
        </p:spPr>
      </p:pic>
      <p:sp>
        <p:nvSpPr>
          <p:cNvPr id="46" name="Text 35"/>
          <p:cNvSpPr txBox="1"/>
          <p:nvPr/>
        </p:nvSpPr>
        <p:spPr>
          <a:xfrm>
            <a:off x="8915400" y="4800600"/>
            <a:ext cx="2560320" cy="320040"/>
          </a:xfrm>
          <a:prstGeom prst="rect">
            <a:avLst/>
          </a:prstGeom>
          <a:noFill/>
          <a:ln/>
        </p:spPr>
        <p:txBody>
          <a:bodyPr wrap="square" lIns="0" tIns="0" rIns="0" bIns="0" rtlCol="0" anchor="t"/>
          <a:lstStyle/>
          <a:p>
            <a:pPr indent="0" marL="0">
              <a:buNone/>
            </a:pPr>
            <a:r>
              <a:rPr lang="en-US" sz="1500" b="1" dirty="0">
                <a:solidFill>
                  <a:schemeClr val="tx1"/>
                </a:solidFill>
              </a:rPr>
              <a:t>Testing</a:t>
            </a:r>
            <a:endParaRPr lang="en-US" sz="1500" dirty="0"/>
          </a:p>
        </p:txBody>
      </p:sp>
      <p:sp>
        <p:nvSpPr>
          <p:cNvPr id="47" name="Text 36"/>
          <p:cNvSpPr txBox="1"/>
          <p:nvPr/>
        </p:nvSpPr>
        <p:spPr>
          <a:xfrm>
            <a:off x="8915400" y="5166360"/>
            <a:ext cx="2560320" cy="731520"/>
          </a:xfrm>
          <a:prstGeom prst="rect">
            <a:avLst/>
          </a:prstGeom>
          <a:noFill/>
          <a:ln/>
        </p:spPr>
        <p:txBody>
          <a:bodyPr wrap="square" lIns="0" tIns="0" rIns="0" bIns="0" rtlCol="0" anchor="t"/>
          <a:lstStyle/>
          <a:p>
            <a:pPr indent="0" marL="0">
              <a:buNone/>
            </a:pPr>
            <a:r>
              <a:rPr lang="en-US" sz="1300" dirty="0">
                <a:solidFill>
                  <a:schemeClr val="accent4"/>
                </a:solidFill>
              </a:rPr>
              <a:t>An end-to-end test with your team before go-live.</a:t>
            </a:r>
            <a:endParaRPr lang="en-US" sz="13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What's included every month, and how we support you</a:t>
            </a:r>
            <a:endParaRPr lang="en-US" sz="3000" dirty="0"/>
          </a:p>
        </p:txBody>
      </p:sp>
      <p:sp>
        <p:nvSpPr>
          <p:cNvPr id="3" name="Shape 1"/>
          <p:cNvSpPr/>
          <p:nvPr/>
        </p:nvSpPr>
        <p:spPr>
          <a:xfrm>
            <a:off x="548640" y="1371600"/>
            <a:ext cx="457200" cy="45720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62940" y="1485900"/>
            <a:ext cx="228600" cy="228600"/>
          </a:xfrm>
          <a:prstGeom prst="rect">
            <a:avLst/>
          </a:prstGeom>
        </p:spPr>
      </p:pic>
      <p:sp>
        <p:nvSpPr>
          <p:cNvPr id="5" name="Text 2"/>
          <p:cNvSpPr txBox="1"/>
          <p:nvPr/>
        </p:nvSpPr>
        <p:spPr>
          <a:xfrm>
            <a:off x="1188720" y="1463040"/>
            <a:ext cx="4754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MONTHLY FEE (₹2,999 A MONTH)</a:t>
            </a:r>
            <a:endParaRPr lang="en-US" sz="1200" dirty="0"/>
          </a:p>
        </p:txBody>
      </p:sp>
      <p:sp>
        <p:nvSpPr>
          <p:cNvPr id="6" name="Text 3"/>
          <p:cNvSpPr txBox="1"/>
          <p:nvPr/>
        </p:nvSpPr>
        <p:spPr>
          <a:xfrm>
            <a:off x="548640" y="2057400"/>
            <a:ext cx="5394960" cy="3931920"/>
          </a:xfrm>
          <a:prstGeom prst="rect">
            <a:avLst/>
          </a:prstGeom>
          <a:noFill/>
          <a:ln/>
        </p:spPr>
        <p:txBody>
          <a:bodyPr wrap="square" lIns="0" tIns="0" rIns="0" bIns="0" rtlCol="0" anchor="t"/>
          <a:lstStyle/>
          <a:p>
            <a:pPr indent="0" marL="0">
              <a:buNone/>
            </a:pPr>
            <a:r>
              <a:rPr lang="en-US" sz="1400" b="1" dirty="0">
                <a:solidFill>
                  <a:schemeClr val="tx1"/>
                </a:solidFill>
              </a:rPr>
              <a:t>Enquiry handling  </a:t>
            </a:r>
            <a:pPr indent="0" marL="0">
              <a:spcAft>
                <a:spcPts val="900"/>
              </a:spcAft>
              <a:buNone/>
            </a:pPr>
            <a:r>
              <a:rPr lang="en-US" sz="1400" dirty="0">
                <a:solidFill>
                  <a:schemeClr val="accent4"/>
                </a:solidFill>
              </a:rPr>
              <a:t>Every enquiry answered, qualified and routed, at any hour.</a:t>
            </a:r>
            <a:endParaRPr lang="en-US" sz="1400" dirty="0"/>
          </a:p>
          <a:p>
            <a:pPr indent="0" marL="0">
              <a:buNone/>
            </a:pPr>
            <a:r>
              <a:rPr lang="en-US" sz="1400" b="1" dirty="0">
                <a:solidFill>
                  <a:schemeClr val="tx1"/>
                </a:solidFill>
              </a:rPr>
              <a:t>Booking and reminders  </a:t>
            </a:r>
            <a:pPr indent="0" marL="0">
              <a:spcAft>
                <a:spcPts val="900"/>
              </a:spcAft>
              <a:buNone/>
            </a:pPr>
            <a:r>
              <a:rPr lang="en-US" sz="1400" dirty="0">
                <a:solidFill>
                  <a:schemeClr val="accent4"/>
                </a:solidFill>
              </a:rPr>
              <a:t>Bookings into Google Calendar, reminders before each visit.</a:t>
            </a:r>
            <a:endParaRPr lang="en-US" sz="1400" dirty="0"/>
          </a:p>
          <a:p>
            <a:pPr indent="0" marL="0">
              <a:buNone/>
            </a:pPr>
            <a:r>
              <a:rPr lang="en-US" sz="1400" b="1" dirty="0">
                <a:solidFill>
                  <a:schemeClr val="tx1"/>
                </a:solidFill>
              </a:rPr>
              <a:t>Follow-up list  </a:t>
            </a:r>
            <a:pPr indent="0" marL="0">
              <a:spcAft>
                <a:spcPts val="900"/>
              </a:spcAft>
              <a:buNone/>
            </a:pPr>
            <a:r>
              <a:rPr lang="en-US" sz="1400" dirty="0">
                <a:solidFill>
                  <a:schemeClr val="accent4"/>
                </a:solidFill>
              </a:rPr>
              <a:t>Non-bookers stay listed until booked or closed.</a:t>
            </a:r>
            <a:endParaRPr lang="en-US" sz="1400" dirty="0"/>
          </a:p>
          <a:p>
            <a:pPr indent="0" marL="0">
              <a:buNone/>
            </a:pPr>
            <a:r>
              <a:rPr lang="en-US" sz="1400" b="1" dirty="0">
                <a:solidFill>
                  <a:schemeClr val="tx1"/>
                </a:solidFill>
              </a:rPr>
              <a:t>Monthly conversion report  </a:t>
            </a:r>
            <a:pPr indent="0" marL="0">
              <a:spcAft>
                <a:spcPts val="900"/>
              </a:spcAft>
              <a:buNone/>
            </a:pPr>
            <a:r>
              <a:rPr lang="en-US" sz="1400" dirty="0">
                <a:solidFill>
                  <a:schemeClr val="accent4"/>
                </a:solidFill>
              </a:rPr>
              <a:t>Enquiries, bookings, recoveries and conversion rate.</a:t>
            </a:r>
            <a:endParaRPr lang="en-US" sz="1400" dirty="0"/>
          </a:p>
          <a:p>
            <a:pPr indent="0" marL="0">
              <a:buNone/>
            </a:pPr>
            <a:r>
              <a:rPr lang="en-US" sz="1400" b="1" dirty="0">
                <a:solidFill>
                  <a:schemeClr val="tx1"/>
                </a:solidFill>
              </a:rPr>
              <a:t>Answer updates  </a:t>
            </a:r>
            <a:pPr indent="0" marL="0">
              <a:spcAft>
                <a:spcPts val="900"/>
              </a:spcAft>
              <a:buNone/>
            </a:pPr>
            <a:r>
              <a:rPr lang="en-US" sz="1400" dirty="0">
                <a:solidFill>
                  <a:schemeClr val="accent4"/>
                </a:solidFill>
              </a:rPr>
              <a:t>Fee, timing or information changes made for you.</a:t>
            </a:r>
            <a:endParaRPr lang="en-US" sz="1400" dirty="0"/>
          </a:p>
          <a:p>
            <a:pPr indent="0" marL="0">
              <a:buNone/>
            </a:pPr>
            <a:r>
              <a:rPr lang="en-US" sz="1400" b="1" dirty="0">
                <a:solidFill>
                  <a:schemeClr val="tx1"/>
                </a:solidFill>
              </a:rPr>
              <a:t>Running the system  </a:t>
            </a:r>
            <a:pPr indent="0" marL="0">
              <a:spcAft>
                <a:spcPts val="900"/>
              </a:spcAft>
              <a:buNone/>
            </a:pPr>
            <a:r>
              <a:rPr lang="en-US" sz="1400" dirty="0">
                <a:solidFill>
                  <a:schemeClr val="accent4"/>
                </a:solidFill>
              </a:rPr>
              <a:t>Hosting, monitoring and updates.</a:t>
            </a:r>
            <a:endParaRPr lang="en-US" sz="1400" dirty="0"/>
          </a:p>
        </p:txBody>
      </p:sp>
      <p:sp>
        <p:nvSpPr>
          <p:cNvPr id="7" name="Shape 4"/>
          <p:cNvSpPr/>
          <p:nvPr/>
        </p:nvSpPr>
        <p:spPr>
          <a:xfrm>
            <a:off x="6172200" y="1371600"/>
            <a:ext cx="457200" cy="45720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286500" y="1485900"/>
            <a:ext cx="228600" cy="228600"/>
          </a:xfrm>
          <a:prstGeom prst="rect">
            <a:avLst/>
          </a:prstGeom>
        </p:spPr>
      </p:pic>
      <p:sp>
        <p:nvSpPr>
          <p:cNvPr id="9" name="Text 5"/>
          <p:cNvSpPr txBox="1"/>
          <p:nvPr/>
        </p:nvSpPr>
        <p:spPr>
          <a:xfrm>
            <a:off x="6812280" y="1463040"/>
            <a:ext cx="4754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SUPPORT</a:t>
            </a:r>
            <a:endParaRPr lang="en-US" sz="1200" dirty="0"/>
          </a:p>
        </p:txBody>
      </p:sp>
      <p:sp>
        <p:nvSpPr>
          <p:cNvPr id="10" name="Text 6"/>
          <p:cNvSpPr txBox="1"/>
          <p:nvPr/>
        </p:nvSpPr>
        <p:spPr>
          <a:xfrm>
            <a:off x="6172200" y="2057400"/>
            <a:ext cx="5394960" cy="3931920"/>
          </a:xfrm>
          <a:prstGeom prst="rect">
            <a:avLst/>
          </a:prstGeom>
          <a:noFill/>
          <a:ln/>
        </p:spPr>
        <p:txBody>
          <a:bodyPr wrap="square" lIns="0" tIns="0" rIns="0" bIns="0" rtlCol="0" anchor="t"/>
          <a:lstStyle/>
          <a:p>
            <a:pPr indent="0" marL="0">
              <a:buNone/>
            </a:pPr>
            <a:r>
              <a:rPr lang="en-US" sz="1400" b="1" dirty="0">
                <a:solidFill>
                  <a:schemeClr val="tx1"/>
                </a:solidFill>
              </a:rPr>
              <a:t>Support for you and your team  </a:t>
            </a:r>
            <a:pPr indent="0" marL="0">
              <a:spcAft>
                <a:spcPts val="900"/>
              </a:spcAft>
              <a:buNone/>
            </a:pPr>
            <a:r>
              <a:rPr lang="en-US" sz="1400" dirty="0">
                <a:solidFill>
                  <a:schemeClr val="accent4"/>
                </a:solidFill>
              </a:rPr>
              <a:t>Help on WhatsApp and phone for the doctor and front desk.</a:t>
            </a:r>
            <a:endParaRPr lang="en-US" sz="1400" dirty="0"/>
          </a:p>
          <a:p>
            <a:pPr indent="0" marL="0">
              <a:buNone/>
            </a:pPr>
            <a:r>
              <a:rPr lang="en-US" sz="1400" b="1" dirty="0">
                <a:solidFill>
                  <a:schemeClr val="tx1"/>
                </a:solidFill>
              </a:rPr>
              <a:t>Problem fixing  </a:t>
            </a:r>
            <a:pPr indent="0" marL="0">
              <a:spcAft>
                <a:spcPts val="900"/>
              </a:spcAft>
              <a:buNone/>
            </a:pPr>
            <a:r>
              <a:rPr lang="en-US" sz="1400" dirty="0">
                <a:solidFill>
                  <a:schemeClr val="accent4"/>
                </a:solidFill>
              </a:rPr>
              <a:t>If something isn't working, we investigate and fix it.</a:t>
            </a:r>
            <a:endParaRPr lang="en-US" sz="1400" dirty="0"/>
          </a:p>
          <a:p>
            <a:pPr indent="0" marL="0">
              <a:buNone/>
            </a:pPr>
            <a:r>
              <a:rPr lang="en-US" sz="1400" b="1" dirty="0">
                <a:solidFill>
                  <a:schemeClr val="tx1"/>
                </a:solidFill>
              </a:rPr>
              <a:t>Changes on request  </a:t>
            </a:r>
            <a:pPr indent="0" marL="0">
              <a:spcAft>
                <a:spcPts val="900"/>
              </a:spcAft>
              <a:buNone/>
            </a:pPr>
            <a:r>
              <a:rPr lang="en-US" sz="1400" dirty="0">
                <a:solidFill>
                  <a:schemeClr val="accent4"/>
                </a:solidFill>
              </a:rPr>
              <a:t>New questions, answers or booking rules as needs change.</a:t>
            </a:r>
            <a:endParaRPr lang="en-US" sz="1400" dirty="0"/>
          </a:p>
          <a:p>
            <a:pPr indent="0" marL="0">
              <a:buNone/>
            </a:pPr>
            <a:r>
              <a:rPr lang="en-US" sz="1400" b="1" dirty="0">
                <a:solidFill>
                  <a:schemeClr val="tx1"/>
                </a:solidFill>
              </a:rPr>
              <a:t>Monthly review  </a:t>
            </a:r>
            <a:pPr indent="0" marL="0">
              <a:spcAft>
                <a:spcPts val="900"/>
              </a:spcAft>
              <a:buNone/>
            </a:pPr>
            <a:r>
              <a:rPr lang="en-US" sz="1400" dirty="0">
                <a:solidFill>
                  <a:schemeClr val="accent4"/>
                </a:solidFill>
              </a:rPr>
              <a:t>A short call on your report and agreed improvements.</a:t>
            </a:r>
            <a:endParaRPr lang="en-US" sz="1400" dirty="0"/>
          </a:p>
          <a:p>
            <a:pPr indent="0" marL="0">
              <a:buNone/>
            </a:pPr>
            <a:r>
              <a:rPr lang="en-US" sz="1400" b="1" dirty="0">
                <a:solidFill>
                  <a:schemeClr val="tx1"/>
                </a:solidFill>
              </a:rPr>
              <a:t>Pilot input  </a:t>
            </a:r>
            <a:pPr indent="0" marL="0">
              <a:spcAft>
                <a:spcPts val="900"/>
              </a:spcAft>
              <a:buNone/>
            </a:pPr>
            <a:r>
              <a:rPr lang="en-US" sz="1400" dirty="0">
                <a:solidFill>
                  <a:schemeClr val="accent4"/>
                </a:solidFill>
              </a:rPr>
              <a:t>Your feedback shapes how PatientCurve develops.</a:t>
            </a:r>
            <a:endParaRPr lang="en-US" sz="14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What's agreed, and what we set up together</a:t>
            </a:r>
            <a:endParaRPr lang="en-US" sz="3000" dirty="0"/>
          </a:p>
        </p:txBody>
      </p:sp>
      <p:sp>
        <p:nvSpPr>
          <p:cNvPr id="3" name="scope-agreed"/>
          <p:cNvSpPr/>
          <p:nvPr/>
        </p:nvSpPr>
        <p:spPr>
          <a:xfrm>
            <a:off x="548640" y="1371600"/>
            <a:ext cx="5468112" cy="3566160"/>
          </a:xfrm>
          <a:prstGeom prst="roundRect">
            <a:avLst>
              <a:gd name="adj" fmla="val 2051"/>
            </a:avLst>
          </a:prstGeom>
          <a:solidFill>
            <a:schemeClr val="bg2"/>
          </a:solidFill>
          <a:ln/>
        </p:spPr>
      </p:sp>
      <p:sp>
        <p:nvSpPr>
          <p:cNvPr id="4" name="Text 2"/>
          <p:cNvSpPr txBox="1"/>
          <p:nvPr/>
        </p:nvSpPr>
        <p:spPr>
          <a:xfrm>
            <a:off x="868680" y="164592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YOUR REQUIREMENTS</a:t>
            </a:r>
            <a:endParaRPr lang="en-US" sz="1200" dirty="0"/>
          </a:p>
        </p:txBody>
      </p:sp>
      <p:sp>
        <p:nvSpPr>
          <p:cNvPr id="5" name="Text 3"/>
          <p:cNvSpPr txBox="1"/>
          <p:nvPr/>
        </p:nvSpPr>
        <p:spPr>
          <a:xfrm>
            <a:off x="868680" y="2057400"/>
            <a:ext cx="4846320" cy="3749040"/>
          </a:xfrm>
          <a:prstGeom prst="rect">
            <a:avLst/>
          </a:prstGeom>
          <a:noFill/>
          <a:ln/>
        </p:spPr>
        <p:txBody>
          <a:bodyPr wrap="square" lIns="0" tIns="0" rIns="0" bIns="0" rtlCol="0" anchor="t"/>
          <a:lstStyle/>
          <a:p>
            <a:pPr indent="0" marL="0">
              <a:buNone/>
            </a:pPr>
            <a:r>
              <a:rPr lang="en-US" sz="1400" b="1" dirty="0">
                <a:solidFill>
                  <a:schemeClr val="tx1"/>
                </a:solidFill>
              </a:rPr>
              <a:t>Journey</a:t>
            </a:r>
            <a:endParaRPr lang="en-US" sz="1400" dirty="0"/>
          </a:p>
          <a:p>
            <a:pPr indent="0" marL="0">
              <a:spcAft>
                <a:spcPts val="1000"/>
              </a:spcAft>
              <a:buNone/>
            </a:pPr>
            <a:r>
              <a:rPr lang="en-US" sz="1400" dirty="0">
                <a:solidFill>
                  <a:schemeClr val="accent4"/>
                </a:solidFill>
              </a:rPr>
              <a:t>Ad → WhatsApp → details → location and need → correct information → routing → booking → Google Calendar.</a:t>
            </a:r>
            <a:endParaRPr lang="en-US" sz="1400" dirty="0"/>
          </a:p>
          <a:p>
            <a:pPr indent="0" marL="0">
              <a:buNone/>
            </a:pPr>
            <a:r>
              <a:rPr lang="en-US" sz="1400" b="1" dirty="0">
                <a:solidFill>
                  <a:schemeClr val="tx1"/>
                </a:solidFill>
              </a:rPr>
              <a:t>Two consultation types</a:t>
            </a:r>
            <a:endParaRPr lang="en-US" sz="1400" dirty="0"/>
          </a:p>
          <a:p>
            <a:pPr indent="0" marL="0">
              <a:spcAft>
                <a:spcPts val="1000"/>
              </a:spcAft>
              <a:buNone/>
            </a:pPr>
            <a:r>
              <a:rPr lang="en-US" sz="1400" dirty="0">
                <a:solidFill>
                  <a:schemeClr val="accent4"/>
                </a:solidFill>
              </a:rPr>
              <a:t>Offline for local patients, video for other towns such as Trichy.</a:t>
            </a:r>
            <a:endParaRPr lang="en-US" sz="1400" dirty="0"/>
          </a:p>
          <a:p>
            <a:pPr indent="0" marL="0">
              <a:buNone/>
            </a:pPr>
            <a:r>
              <a:rPr lang="en-US" sz="1400" b="1" dirty="0">
                <a:solidFill>
                  <a:schemeClr val="tx1"/>
                </a:solidFill>
              </a:rPr>
              <a:t>Staff follow-up</a:t>
            </a:r>
            <a:endParaRPr lang="en-US" sz="1400" dirty="0"/>
          </a:p>
          <a:p>
            <a:pPr indent="0" marL="0">
              <a:spcAft>
                <a:spcPts val="1000"/>
              </a:spcAft>
              <a:buNone/>
            </a:pPr>
            <a:r>
              <a:rPr lang="en-US" sz="1400" dirty="0">
                <a:solidFill>
                  <a:schemeClr val="accent4"/>
                </a:solidFill>
              </a:rPr>
              <a:t>Non-bookers listed; staff call, recover and update the PMS.</a:t>
            </a:r>
            <a:endParaRPr lang="en-US" sz="1400" dirty="0"/>
          </a:p>
          <a:p>
            <a:pPr indent="0" marL="0">
              <a:buNone/>
            </a:pPr>
            <a:r>
              <a:rPr lang="en-US" sz="1400" b="1" dirty="0">
                <a:solidFill>
                  <a:schemeClr val="tx1"/>
                </a:solidFill>
              </a:rPr>
              <a:t>Integrations</a:t>
            </a:r>
            <a:endParaRPr lang="en-US" sz="1400" dirty="0"/>
          </a:p>
          <a:p>
            <a:pPr indent="0" marL="0">
              <a:spcAft>
                <a:spcPts val="1000"/>
              </a:spcAft>
              <a:buNone/>
            </a:pPr>
            <a:r>
              <a:rPr lang="en-US" sz="1400" dirty="0">
                <a:solidFill>
                  <a:schemeClr val="accent4"/>
                </a:solidFill>
              </a:rPr>
              <a:t>WhatsApp, Google Calendar, the clinic PMS and PatientCurve.</a:t>
            </a:r>
            <a:endParaRPr lang="en-US" sz="1400" dirty="0"/>
          </a:p>
        </p:txBody>
      </p:sp>
      <p:sp>
        <p:nvSpPr>
          <p:cNvPr id="6" name="Text 4"/>
          <p:cNvSpPr txBox="1"/>
          <p:nvPr/>
        </p:nvSpPr>
        <p:spPr>
          <a:xfrm>
            <a:off x="6492240" y="1645920"/>
            <a:ext cx="5120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SET UP WITH YOU DURING ONBOARDING</a:t>
            </a:r>
            <a:endParaRPr lang="en-US" sz="1200" dirty="0"/>
          </a:p>
        </p:txBody>
      </p:sp>
      <p:sp>
        <p:nvSpPr>
          <p:cNvPr id="7" name="Text 5"/>
          <p:cNvSpPr txBox="1"/>
          <p:nvPr/>
        </p:nvSpPr>
        <p:spPr>
          <a:xfrm>
            <a:off x="6492240" y="2103120"/>
            <a:ext cx="5120640" cy="3749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Consultation fees and timings, offline and video</a:t>
            </a:r>
            <a:endParaRPr lang="en-US" sz="1500" dirty="0"/>
          </a:p>
          <a:p>
            <a:pPr marL="342900" indent="-342900">
              <a:spcAft>
                <a:spcPts val="600"/>
              </a:spcAft>
              <a:buSzPct val="100000"/>
              <a:buChar char="•"/>
            </a:pPr>
            <a:r>
              <a:rPr lang="en-US" sz="1500" dirty="0">
                <a:solidFill>
                  <a:schemeClr val="tx1"/>
                </a:solidFill>
              </a:rPr>
              <a:t>Which towns count as local</a:t>
            </a:r>
            <a:endParaRPr lang="en-US" sz="1500" dirty="0"/>
          </a:p>
          <a:p>
            <a:pPr marL="342900" indent="-342900">
              <a:spcAft>
                <a:spcPts val="600"/>
              </a:spcAft>
              <a:buSzPct val="100000"/>
              <a:buChar char="•"/>
            </a:pPr>
            <a:r>
              <a:rPr lang="en-US" sz="1500" dirty="0">
                <a:solidFill>
                  <a:schemeClr val="tx1"/>
                </a:solidFill>
              </a:rPr>
              <a:t>Booking rules: days, hours, slot length, notice</a:t>
            </a:r>
            <a:endParaRPr lang="en-US" sz="1500" dirty="0"/>
          </a:p>
          <a:p>
            <a:pPr marL="342900" indent="-342900">
              <a:spcAft>
                <a:spcPts val="600"/>
              </a:spcAft>
              <a:buSzPct val="100000"/>
              <a:buChar char="•"/>
            </a:pPr>
            <a:r>
              <a:rPr lang="en-US" sz="1500" dirty="0">
                <a:solidFill>
                  <a:schemeClr val="tx1"/>
                </a:solidFill>
              </a:rPr>
              <a:t>Approved answers for the WhatsApp flow</a:t>
            </a:r>
            <a:endParaRPr lang="en-US" sz="1500" dirty="0"/>
          </a:p>
          <a:p>
            <a:pPr marL="342900" indent="-342900">
              <a:spcAft>
                <a:spcPts val="600"/>
              </a:spcAft>
              <a:buSzPct val="100000"/>
              <a:buChar char="•"/>
            </a:pPr>
            <a:r>
              <a:rPr lang="en-US" sz="1500" dirty="0">
                <a:solidFill>
                  <a:schemeClr val="tx1"/>
                </a:solidFill>
              </a:rPr>
              <a:t>How patients receive and join video consultations</a:t>
            </a:r>
            <a:endParaRPr lang="en-US" sz="1500" dirty="0"/>
          </a:p>
          <a:p>
            <a:pPr marL="342900" indent="-342900">
              <a:spcAft>
                <a:spcPts val="600"/>
              </a:spcAft>
              <a:buSzPct val="100000"/>
              <a:buChar char="•"/>
            </a:pPr>
            <a:r>
              <a:rPr lang="en-US" sz="1500" dirty="0">
                <a:solidFill>
                  <a:schemeClr val="tx1"/>
                </a:solidFill>
              </a:rPr>
              <a:t>Moving your WhatsApp number from the Meta AI bot</a:t>
            </a:r>
            <a:endParaRPr lang="en-US" sz="15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bg1"/>
                </a:solidFill>
                <a:latin typeface="Arial" pitchFamily="34" charset="0"/>
                <a:ea typeface="Arial" pitchFamily="34" charset="-122"/>
                <a:cs typeface="Arial" pitchFamily="34" charset="-120"/>
              </a:rPr>
              <a:t>From approval to your first booked enquiry</a:t>
            </a:r>
            <a:endParaRPr lang="en-US" sz="3000" dirty="0"/>
          </a:p>
        </p:txBody>
      </p:sp>
      <p:sp>
        <p:nvSpPr>
          <p:cNvPr id="3" name="step-0"/>
          <p:cNvSpPr/>
          <p:nvPr/>
        </p:nvSpPr>
        <p:spPr>
          <a:xfrm>
            <a:off x="548640" y="1737360"/>
            <a:ext cx="2606040" cy="3291840"/>
          </a:xfrm>
          <a:prstGeom prst="roundRect">
            <a:avLst>
              <a:gd name="adj" fmla="val 2807"/>
            </a:avLst>
          </a:prstGeom>
          <a:solidFill>
            <a:schemeClr val="tx2"/>
          </a:solidFill>
          <a:ln/>
        </p:spPr>
      </p:sp>
      <p:sp>
        <p:nvSpPr>
          <p:cNvPr id="4" name="Shape 2"/>
          <p:cNvSpPr/>
          <p:nvPr/>
        </p:nvSpPr>
        <p:spPr>
          <a:xfrm>
            <a:off x="868680" y="2057400"/>
            <a:ext cx="640080" cy="640080"/>
          </a:xfrm>
          <a:prstGeom prst="ellipse">
            <a:avLst/>
          </a:prstGeom>
          <a:solidFill>
            <a:schemeClr val="accent2"/>
          </a:solidFill>
          <a:ln/>
        </p:spPr>
      </p:sp>
      <p:sp>
        <p:nvSpPr>
          <p:cNvPr id="5" name="Text 3"/>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6" name="Text 4"/>
          <p:cNvSpPr txBox="1"/>
          <p:nvPr/>
        </p:nvSpPr>
        <p:spPr>
          <a:xfrm>
            <a:off x="868680" y="3017520"/>
            <a:ext cx="2011680" cy="685800"/>
          </a:xfrm>
          <a:prstGeom prst="rect">
            <a:avLst/>
          </a:prstGeom>
          <a:noFill/>
          <a:ln/>
        </p:spPr>
        <p:txBody>
          <a:bodyPr wrap="square" lIns="0" tIns="0" rIns="0" bIns="0" rtlCol="0" anchor="t"/>
          <a:lstStyle/>
          <a:p>
            <a:pPr indent="0" marL="0">
              <a:buNone/>
            </a:pPr>
            <a:r>
              <a:rPr lang="en-US" sz="1800" b="1" dirty="0">
                <a:solidFill>
                  <a:schemeClr val="bg1"/>
                </a:solidFill>
              </a:rPr>
              <a:t>Approve the proposal</a:t>
            </a:r>
            <a:endParaRPr lang="en-US" sz="1800" dirty="0"/>
          </a:p>
        </p:txBody>
      </p:sp>
      <p:sp>
        <p:nvSpPr>
          <p:cNvPr id="7" name="Text 5"/>
          <p:cNvSpPr txBox="1"/>
          <p:nvPr/>
        </p:nvSpPr>
        <p:spPr>
          <a:xfrm>
            <a:off x="868680" y="3749040"/>
            <a:ext cx="2011680" cy="1097280"/>
          </a:xfrm>
          <a:prstGeom prst="rect">
            <a:avLst/>
          </a:prstGeom>
          <a:noFill/>
          <a:ln/>
        </p:spPr>
        <p:txBody>
          <a:bodyPr wrap="square" lIns="0" tIns="0" rIns="0" bIns="0" rtlCol="0" anchor="t"/>
          <a:lstStyle/>
          <a:p>
            <a:pPr indent="0" marL="0">
              <a:buNone/>
            </a:pPr>
            <a:r>
              <a:rPr lang="en-US" sz="1400" dirty="0">
                <a:solidFill>
                  <a:schemeClr val="accent2"/>
                </a:solidFill>
              </a:rPr>
              <a:t>Pay the ₹5,000 pilot setup fee to begin.</a:t>
            </a:r>
            <a:endParaRPr lang="en-US" sz="1400" dirty="0"/>
          </a:p>
        </p:txBody>
      </p:sp>
      <p:sp>
        <p:nvSpPr>
          <p:cNvPr id="8" name="step-1"/>
          <p:cNvSpPr/>
          <p:nvPr/>
        </p:nvSpPr>
        <p:spPr>
          <a:xfrm>
            <a:off x="3383280" y="1737360"/>
            <a:ext cx="2606040" cy="3291840"/>
          </a:xfrm>
          <a:prstGeom prst="roundRect">
            <a:avLst>
              <a:gd name="adj" fmla="val 2807"/>
            </a:avLst>
          </a:prstGeom>
          <a:solidFill>
            <a:schemeClr val="tx2"/>
          </a:solidFill>
          <a:ln/>
        </p:spPr>
      </p:sp>
      <p:sp>
        <p:nvSpPr>
          <p:cNvPr id="9" name="Shape 7"/>
          <p:cNvSpPr/>
          <p:nvPr/>
        </p:nvSpPr>
        <p:spPr>
          <a:xfrm>
            <a:off x="3703320" y="2057400"/>
            <a:ext cx="640080" cy="640080"/>
          </a:xfrm>
          <a:prstGeom prst="ellipse">
            <a:avLst/>
          </a:prstGeom>
          <a:solidFill>
            <a:schemeClr val="accent2"/>
          </a:solidFill>
          <a:ln/>
        </p:spPr>
      </p:sp>
      <p:sp>
        <p:nvSpPr>
          <p:cNvPr id="10" name="Text 8"/>
          <p:cNvSpPr txBox="1"/>
          <p:nvPr/>
        </p:nvSpPr>
        <p:spPr>
          <a:xfrm>
            <a:off x="3703320"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1" name="Text 9"/>
          <p:cNvSpPr txBox="1"/>
          <p:nvPr/>
        </p:nvSpPr>
        <p:spPr>
          <a:xfrm>
            <a:off x="3703320" y="3017520"/>
            <a:ext cx="2011680" cy="685800"/>
          </a:xfrm>
          <a:prstGeom prst="rect">
            <a:avLst/>
          </a:prstGeom>
          <a:noFill/>
          <a:ln/>
        </p:spPr>
        <p:txBody>
          <a:bodyPr wrap="square" lIns="0" tIns="0" rIns="0" bIns="0" rtlCol="0" anchor="t"/>
          <a:lstStyle/>
          <a:p>
            <a:pPr indent="0" marL="0">
              <a:buNone/>
            </a:pPr>
            <a:r>
              <a:rPr lang="en-US" sz="1800" b="1" dirty="0">
                <a:solidFill>
                  <a:schemeClr val="bg1"/>
                </a:solidFill>
              </a:rPr>
              <a:t>Onboarding call</a:t>
            </a:r>
            <a:endParaRPr lang="en-US" sz="1800" dirty="0"/>
          </a:p>
        </p:txBody>
      </p:sp>
      <p:sp>
        <p:nvSpPr>
          <p:cNvPr id="12" name="Text 10"/>
          <p:cNvSpPr txBox="1"/>
          <p:nvPr/>
        </p:nvSpPr>
        <p:spPr>
          <a:xfrm>
            <a:off x="3703320" y="3749040"/>
            <a:ext cx="2011680" cy="1097280"/>
          </a:xfrm>
          <a:prstGeom prst="rect">
            <a:avLst/>
          </a:prstGeom>
          <a:noFill/>
          <a:ln/>
        </p:spPr>
        <p:txBody>
          <a:bodyPr wrap="square" lIns="0" tIns="0" rIns="0" bIns="0" rtlCol="0" anchor="t"/>
          <a:lstStyle/>
          <a:p>
            <a:pPr indent="0" marL="0">
              <a:buNone/>
            </a:pPr>
            <a:r>
              <a:rPr lang="en-US" sz="1400" dirty="0">
                <a:solidFill>
                  <a:schemeClr val="accent2"/>
                </a:solidFill>
              </a:rPr>
              <a:t>Agree fees, routing, booking rules and approved answers.</a:t>
            </a:r>
            <a:endParaRPr lang="en-US" sz="1400" dirty="0"/>
          </a:p>
        </p:txBody>
      </p:sp>
      <p:sp>
        <p:nvSpPr>
          <p:cNvPr id="13" name="step-2"/>
          <p:cNvSpPr/>
          <p:nvPr/>
        </p:nvSpPr>
        <p:spPr>
          <a:xfrm>
            <a:off x="6217920" y="1737360"/>
            <a:ext cx="2606040" cy="3291840"/>
          </a:xfrm>
          <a:prstGeom prst="roundRect">
            <a:avLst>
              <a:gd name="adj" fmla="val 2807"/>
            </a:avLst>
          </a:prstGeom>
          <a:solidFill>
            <a:schemeClr val="tx2"/>
          </a:solidFill>
          <a:ln/>
        </p:spPr>
      </p:sp>
      <p:sp>
        <p:nvSpPr>
          <p:cNvPr id="14" name="Shape 12"/>
          <p:cNvSpPr/>
          <p:nvPr/>
        </p:nvSpPr>
        <p:spPr>
          <a:xfrm>
            <a:off x="6537960" y="2057400"/>
            <a:ext cx="640080" cy="640080"/>
          </a:xfrm>
          <a:prstGeom prst="ellipse">
            <a:avLst/>
          </a:prstGeom>
          <a:solidFill>
            <a:schemeClr val="accent2"/>
          </a:solidFill>
          <a:ln/>
        </p:spPr>
      </p:sp>
      <p:sp>
        <p:nvSpPr>
          <p:cNvPr id="15" name="Text 13"/>
          <p:cNvSpPr txBox="1"/>
          <p:nvPr/>
        </p:nvSpPr>
        <p:spPr>
          <a:xfrm>
            <a:off x="6537960"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6" name="Text 14"/>
          <p:cNvSpPr txBox="1"/>
          <p:nvPr/>
        </p:nvSpPr>
        <p:spPr>
          <a:xfrm>
            <a:off x="6537960" y="3017520"/>
            <a:ext cx="2011680" cy="685800"/>
          </a:xfrm>
          <a:prstGeom prst="rect">
            <a:avLst/>
          </a:prstGeom>
          <a:noFill/>
          <a:ln/>
        </p:spPr>
        <p:txBody>
          <a:bodyPr wrap="square" lIns="0" tIns="0" rIns="0" bIns="0" rtlCol="0" anchor="t"/>
          <a:lstStyle/>
          <a:p>
            <a:pPr indent="0" marL="0">
              <a:buNone/>
            </a:pPr>
            <a:r>
              <a:rPr lang="en-US" sz="1800" b="1" dirty="0">
                <a:solidFill>
                  <a:schemeClr val="bg1"/>
                </a:solidFill>
              </a:rPr>
              <a:t>Set up and test</a:t>
            </a:r>
            <a:endParaRPr lang="en-US" sz="1800" dirty="0"/>
          </a:p>
        </p:txBody>
      </p:sp>
      <p:sp>
        <p:nvSpPr>
          <p:cNvPr id="17" name="Text 15"/>
          <p:cNvSpPr txBox="1"/>
          <p:nvPr/>
        </p:nvSpPr>
        <p:spPr>
          <a:xfrm>
            <a:off x="6537960" y="3749040"/>
            <a:ext cx="2011680" cy="1097280"/>
          </a:xfrm>
          <a:prstGeom prst="rect">
            <a:avLst/>
          </a:prstGeom>
          <a:noFill/>
          <a:ln/>
        </p:spPr>
        <p:txBody>
          <a:bodyPr wrap="square" lIns="0" tIns="0" rIns="0" bIns="0" rtlCol="0" anchor="t"/>
          <a:lstStyle/>
          <a:p>
            <a:pPr indent="0" marL="0">
              <a:buNone/>
            </a:pPr>
            <a:r>
              <a:rPr lang="en-US" sz="1400" dirty="0">
                <a:solidFill>
                  <a:schemeClr val="accent2"/>
                </a:solidFill>
              </a:rPr>
              <a:t>We build it and test it with your team.</a:t>
            </a:r>
            <a:endParaRPr lang="en-US" sz="1400" dirty="0"/>
          </a:p>
        </p:txBody>
      </p:sp>
      <p:sp>
        <p:nvSpPr>
          <p:cNvPr id="18" name="step-3"/>
          <p:cNvSpPr/>
          <p:nvPr/>
        </p:nvSpPr>
        <p:spPr>
          <a:xfrm>
            <a:off x="9052560" y="1737360"/>
            <a:ext cx="2606040" cy="3291840"/>
          </a:xfrm>
          <a:prstGeom prst="roundRect">
            <a:avLst>
              <a:gd name="adj" fmla="val 2807"/>
            </a:avLst>
          </a:prstGeom>
          <a:solidFill>
            <a:schemeClr val="tx2"/>
          </a:solidFill>
          <a:ln/>
        </p:spPr>
      </p:sp>
      <p:sp>
        <p:nvSpPr>
          <p:cNvPr id="19" name="Shape 17"/>
          <p:cNvSpPr/>
          <p:nvPr/>
        </p:nvSpPr>
        <p:spPr>
          <a:xfrm>
            <a:off x="9372600" y="2057400"/>
            <a:ext cx="640080" cy="640080"/>
          </a:xfrm>
          <a:prstGeom prst="ellipse">
            <a:avLst/>
          </a:prstGeom>
          <a:solidFill>
            <a:schemeClr val="accent2"/>
          </a:solidFill>
          <a:ln/>
        </p:spPr>
      </p:sp>
      <p:sp>
        <p:nvSpPr>
          <p:cNvPr id="20" name="Text 18"/>
          <p:cNvSpPr txBox="1"/>
          <p:nvPr/>
        </p:nvSpPr>
        <p:spPr>
          <a:xfrm>
            <a:off x="9372600"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21" name="Text 19"/>
          <p:cNvSpPr txBox="1"/>
          <p:nvPr/>
        </p:nvSpPr>
        <p:spPr>
          <a:xfrm>
            <a:off x="9372600" y="3017520"/>
            <a:ext cx="2011680" cy="685800"/>
          </a:xfrm>
          <a:prstGeom prst="rect">
            <a:avLst/>
          </a:prstGeom>
          <a:noFill/>
          <a:ln/>
        </p:spPr>
        <p:txBody>
          <a:bodyPr wrap="square" lIns="0" tIns="0" rIns="0" bIns="0" rtlCol="0" anchor="t"/>
          <a:lstStyle/>
          <a:p>
            <a:pPr indent="0" marL="0">
              <a:buNone/>
            </a:pPr>
            <a:r>
              <a:rPr lang="en-US" sz="1800" b="1" dirty="0">
                <a:solidFill>
                  <a:schemeClr val="bg1"/>
                </a:solidFill>
              </a:rPr>
              <a:t>Go live</a:t>
            </a:r>
            <a:endParaRPr lang="en-US" sz="1800" dirty="0"/>
          </a:p>
        </p:txBody>
      </p:sp>
      <p:sp>
        <p:nvSpPr>
          <p:cNvPr id="22" name="Text 20"/>
          <p:cNvSpPr txBox="1"/>
          <p:nvPr/>
        </p:nvSpPr>
        <p:spPr>
          <a:xfrm>
            <a:off x="9372600" y="3749040"/>
            <a:ext cx="2011680" cy="1097280"/>
          </a:xfrm>
          <a:prstGeom prst="rect">
            <a:avLst/>
          </a:prstGeom>
          <a:noFill/>
          <a:ln/>
        </p:spPr>
        <p:txBody>
          <a:bodyPr wrap="square" lIns="0" tIns="0" rIns="0" bIns="0" rtlCol="0" anchor="t"/>
          <a:lstStyle/>
          <a:p>
            <a:pPr indent="0" marL="0">
              <a:buNone/>
            </a:pPr>
            <a:r>
              <a:rPr lang="en-US" sz="1400" dirty="0">
                <a:solidFill>
                  <a:schemeClr val="accent2"/>
                </a:solidFill>
              </a:rPr>
              <a:t>Your next campaign's enquiries run through PatientCurve.</a:t>
            </a:r>
            <a:endParaRPr lang="en-US" sz="1400" dirty="0"/>
          </a:p>
        </p:txBody>
      </p:sp>
      <p:sp>
        <p:nvSpPr>
          <p:cNvPr id="23" name="Text 21"/>
          <p:cNvSpPr txBox="1"/>
          <p:nvPr/>
        </p:nvSpPr>
        <p:spPr>
          <a:xfrm>
            <a:off x="548640" y="5440680"/>
            <a:ext cx="10972800" cy="365760"/>
          </a:xfrm>
          <a:prstGeom prst="rect">
            <a:avLst/>
          </a:prstGeom>
          <a:noFill/>
          <a:ln/>
        </p:spPr>
        <p:txBody>
          <a:bodyPr wrap="square" lIns="0" tIns="0" rIns="0" bIns="0" rtlCol="0" anchor="t"/>
          <a:lstStyle/>
          <a:p>
            <a:pPr indent="0" marL="0">
              <a:buNone/>
            </a:pPr>
            <a:r>
              <a:rPr lang="en-US" sz="1400" dirty="0">
                <a:solidFill>
                  <a:schemeClr val="bg1"/>
                </a:solidFill>
              </a:rPr>
              <a:t>Pilot pricing: ₹5,000 setup · ₹2,999 a month · for pilot customers only</a:t>
            </a:r>
            <a:endParaRPr lang="en-US" sz="1400" dirty="0"/>
          </a:p>
        </p:txBody>
      </p:sp>
      <p:sp>
        <p:nvSpPr>
          <p:cNvPr id="25" name="Slide Number Placeholder 0"/>
          <p:cNvSpPr>
            <a:spLocks noGrp="1"/>
          </p:cNvSpPr>
          <p:nvPr>
            <p:ph type="sldNum" sz="quarter" idx="4294967295"/>
          </p:nvPr>
        </p:nvSpPr>
        <p:spPr>
          <a:xfrm>
            <a:off x="106070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atientCurve">
  <a:themeElements>
    <a:clrScheme name="PatientCurve">
      <a:dk1>
        <a:srgbClr val="0A1D27"/>
      </a:dk1>
      <a:lt1>
        <a:srgbClr val="FFFFFF"/>
      </a:lt1>
      <a:dk2>
        <a:srgbClr val="14303C"/>
      </a:dk2>
      <a:lt2>
        <a:srgbClr val="F1F4F4"/>
      </a:lt2>
      <a:accent1>
        <a:srgbClr val="0B8A7C"/>
      </a:accent1>
      <a:accent2>
        <a:srgbClr val="5FE0BD"/>
      </a:accent2>
      <a:accent3>
        <a:srgbClr val="C24F35"/>
      </a:accent3>
      <a:accent4>
        <a:srgbClr val="55666E"/>
      </a:accent4>
      <a:accent5>
        <a:srgbClr val="DFF7EF"/>
      </a:accent5>
      <a:accent6>
        <a:srgbClr val="FBE7E2"/>
      </a:accent6>
      <a:hlink>
        <a:srgbClr val="0B8A7C"/>
      </a:hlink>
      <a:folHlink>
        <a:srgbClr val="076B60"/>
      </a:folHlink>
    </a:clrScheme>
    <a:fontScheme name="PatientCur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PatientCurve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PatientCurve proposal for Dr. Mohanapriya</dc:title>
  <dc:subject>PptxGenJS Presentation</dc:subject>
  <dc:creator>PatientCurve</dc:creator>
  <cp:lastModifiedBy>PatientCurve</cp:lastModifiedBy>
  <cp:revision>1</cp:revision>
  <dcterms:created xsi:type="dcterms:W3CDTF">2026-10-09T08:41:07Z</dcterms:created>
  <dcterms:modified xsi:type="dcterms:W3CDTF">2026-10-09T08:41:07Z</dcterms:modified>
</cp:coreProperties>
</file>