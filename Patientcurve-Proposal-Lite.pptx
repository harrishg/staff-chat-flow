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30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 ·  THE PROBLEM AND THE SOLUTION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deserves a next step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6437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 </a:t>
            </a:r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</a:t>
            </a:r>
            <a:pPr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Date  </a:t>
            </a:r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6437376"/>
            <a:ext cx="323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proposal  ·  1 / 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14232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6459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FC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1938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don't leave. They slip away between conversations.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51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wait for a reply after hours or on busy days</a:t>
            </a:r>
            <a:endParaRPr lang="en-US" sz="11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who don't book on the first reply never hear back</a:t>
            </a:r>
            <a:endParaRPr lang="en-US" sz="115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visits and recalls depend on someone remembering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1417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PATIENTCURVE DOES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169164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WhatsApp follow-ups on the clinic's own number, using clinic-approved messages.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89120" y="2103120"/>
            <a:ext cx="22960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17720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818" y="228600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617720" y="2697480"/>
            <a:ext cx="1838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3063240"/>
            <a:ext cx="1884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is answered and recorded with the patient's need, day or night.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868058" y="2103120"/>
            <a:ext cx="229605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96658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757" y="2286000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096658" y="2697480"/>
            <a:ext cx="1838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096658" y="3063240"/>
            <a:ext cx="1884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follow-ups and reminders until the patient books or opts out.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346997" y="2103120"/>
            <a:ext cx="2296058" cy="1828800"/>
          </a:xfrm>
          <a:prstGeom prst="roundRect">
            <a:avLst>
              <a:gd name="adj" fmla="val 6000"/>
            </a:avLst>
          </a:prstGeom>
          <a:solidFill>
            <a:srgbClr val="DCEFEA"/>
          </a:solidFill>
          <a:ln w="9525">
            <a:solidFill>
              <a:srgbClr val="0E7C6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575597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8695" y="228600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575597" y="2697480"/>
            <a:ext cx="1838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575597" y="3063240"/>
            <a:ext cx="1884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visits and past patients are invited back; staff step in when needed.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4160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8640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58368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messages on WhatsApp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2584643" y="4718304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2822387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2932115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answers and a few questions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858390" y="4718304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5096134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205862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 if not booked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132137" y="4718304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>
            <a:off x="7369881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479609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link or staff call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9405884" y="4718304"/>
            <a:ext cx="201168" cy="0"/>
          </a:xfrm>
          <a:prstGeom prst="line">
            <a:avLst/>
          </a:prstGeom>
          <a:noFill/>
          <a:ln w="19050">
            <a:solidFill>
              <a:srgbClr val="0E7C6B"/>
            </a:solidFill>
            <a:prstDash val="solid"/>
            <a:tailEnd type="triangle"/>
          </a:ln>
        </p:spPr>
      </p:sp>
      <p:sp>
        <p:nvSpPr>
          <p:cNvPr id="42" name="Shape 36"/>
          <p:cNvSpPr/>
          <p:nvPr/>
        </p:nvSpPr>
        <p:spPr>
          <a:xfrm>
            <a:off x="9643628" y="4434840"/>
            <a:ext cx="1999427" cy="566928"/>
          </a:xfrm>
          <a:prstGeom prst="roundRect">
            <a:avLst>
              <a:gd name="adj" fmla="val 19355"/>
            </a:avLst>
          </a:prstGeom>
          <a:solidFill>
            <a:srgbClr val="14232B"/>
          </a:solidFill>
          <a:ln w="9525">
            <a:solidFill>
              <a:srgbClr val="14232B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9753356" y="4434840"/>
            <a:ext cx="177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tracked for every enquiry</a:t>
            </a:r>
            <a:endParaRPr lang="en-US" sz="1150" dirty="0"/>
          </a:p>
        </p:txBody>
      </p:sp>
      <p:sp>
        <p:nvSpPr>
          <p:cNvPr id="44" name="Text 38"/>
          <p:cNvSpPr txBox="1"/>
          <p:nvPr/>
        </p:nvSpPr>
        <p:spPr>
          <a:xfrm>
            <a:off x="548640" y="52303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CLINIC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548640" y="5504688"/>
            <a:ext cx="2636444" cy="640080"/>
          </a:xfrm>
          <a:prstGeom prst="roundRect">
            <a:avLst>
              <a:gd name="adj" fmla="val 17143"/>
            </a:avLst>
          </a:prstGeom>
          <a:solidFill>
            <a:srgbClr val="DCEFEA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69280"/>
            <a:ext cx="310896" cy="310896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170432" y="5504688"/>
            <a:ext cx="18592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enquiry goes unanswered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3367964" y="5504688"/>
            <a:ext cx="2636444" cy="640080"/>
          </a:xfrm>
          <a:prstGeom prst="roundRect">
            <a:avLst>
              <a:gd name="adj" fmla="val 17143"/>
            </a:avLst>
          </a:prstGeom>
          <a:solidFill>
            <a:srgbClr val="DCEFEA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844" y="5669280"/>
            <a:ext cx="310896" cy="310896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3989756" y="5504688"/>
            <a:ext cx="18592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happens without staff chasing</a:t>
            </a:r>
            <a:endParaRPr lang="en-US" sz="1200" dirty="0"/>
          </a:p>
        </p:txBody>
      </p:sp>
      <p:sp>
        <p:nvSpPr>
          <p:cNvPr id="51" name="Shape 43"/>
          <p:cNvSpPr/>
          <p:nvPr/>
        </p:nvSpPr>
        <p:spPr>
          <a:xfrm>
            <a:off x="6187288" y="5504688"/>
            <a:ext cx="2636444" cy="640080"/>
          </a:xfrm>
          <a:prstGeom prst="roundRect">
            <a:avLst>
              <a:gd name="adj" fmla="val 17143"/>
            </a:avLst>
          </a:prstGeom>
          <a:solidFill>
            <a:srgbClr val="DCEFEA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168" y="5669280"/>
            <a:ext cx="310896" cy="310896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809080" y="5504688"/>
            <a:ext cx="18592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missed bookings left unrecovered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9006611" y="5504688"/>
            <a:ext cx="2636444" cy="640080"/>
          </a:xfrm>
          <a:prstGeom prst="roundRect">
            <a:avLst>
              <a:gd name="adj" fmla="val 17143"/>
            </a:avLst>
          </a:prstGeom>
          <a:solidFill>
            <a:srgbClr val="DCEFEA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491" y="5669280"/>
            <a:ext cx="310896" cy="31089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9628403" y="5504688"/>
            <a:ext cx="18592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view of every patient's status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384048"/>
            <a:ext cx="1600200" cy="30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 ·  PRICING AND NEXT STEPS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pricing, clear scope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6437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 </a:t>
            </a:r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</a:t>
            </a:r>
            <a:pPr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Date  </a:t>
            </a:r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6437376"/>
            <a:ext cx="323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Patientcurve proposal  ·  2 / 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3545738" cy="365760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54480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SETUP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17830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₹7,500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377440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clinics: ₹5,000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697480"/>
            <a:ext cx="2997098" cy="0"/>
          </a:xfrm>
          <a:prstGeom prst="line">
            <a:avLst/>
          </a:prstGeom>
          <a:noFill/>
          <a:ln w="9525">
            <a:solidFill>
              <a:srgbClr val="D5DE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807208"/>
            <a:ext cx="304281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call to agree workflows and timings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answers, written by us, signed off by you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Enquiry, follow-up and reminder workflows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WhatsApp Business number connected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notifications for calls and handoffs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walkthrough and end-to-end testing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22978" y="1325880"/>
            <a:ext cx="3545738" cy="3657600"/>
          </a:xfrm>
          <a:prstGeom prst="roundRect">
            <a:avLst>
              <a:gd name="adj" fmla="val 3095"/>
            </a:avLst>
          </a:prstGeom>
          <a:solidFill>
            <a:srgbClr val="14232B"/>
          </a:solidFill>
          <a:ln w="9525">
            <a:solidFill>
              <a:srgbClr val="142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97298" y="1554480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FC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FEE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97298" y="17830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₹4,999</a:t>
            </a:r>
            <a:pPr indent="0" marL="0">
              <a:buNone/>
            </a:pPr>
            <a:r>
              <a:rPr lang="en-US" sz="1300" dirty="0">
                <a:solidFill>
                  <a:srgbClr val="C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month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97298" y="2377440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C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clinics: ₹2,999 a month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97298" y="2697480"/>
            <a:ext cx="2997098" cy="0"/>
          </a:xfrm>
          <a:prstGeom prst="line">
            <a:avLst/>
          </a:prstGeom>
          <a:noFill/>
          <a:ln w="9525">
            <a:solidFill>
              <a:srgbClr val="2E4A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97298" y="2807208"/>
            <a:ext cx="304281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answered and followed up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 and missed-visit follow-up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and review requests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enquiry-to-appointment report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updates when fees or timings change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Hosting, monitoring and updates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7317" y="1325880"/>
            <a:ext cx="354573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637" y="152704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783117" y="1563624"/>
            <a:ext cx="2631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INCLUDED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8371637" y="1947672"/>
            <a:ext cx="30428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on WhatsApp and phone for the doctor and team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investigated and fixed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to approved answers and rules on request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097317" y="3337560"/>
            <a:ext cx="3545738" cy="1645920"/>
          </a:xfrm>
          <a:prstGeom prst="roundRect">
            <a:avLst>
              <a:gd name="adj" fmla="val 6667"/>
            </a:avLst>
          </a:prstGeom>
          <a:solidFill>
            <a:srgbClr val="FBF3E6"/>
          </a:solidFill>
          <a:ln w="9525">
            <a:solidFill>
              <a:srgbClr val="8F5A0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637" y="35204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783117" y="3538728"/>
            <a:ext cx="2631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5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INCLUDED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8371637" y="3886200"/>
            <a:ext cx="30428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charges set by Meta, billed at actual cost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integrations, quoted separately</a:t>
            </a:r>
            <a:endParaRPr lang="en-US" sz="11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ad campaigns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07492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pricing applies to pilot clinics only. Taxes as applicable. Setup is payable on approval; the monthly fee is payable in advance.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53218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STARTED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48640" y="5596128"/>
            <a:ext cx="2636444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31520" y="5742432"/>
            <a:ext cx="329184" cy="329184"/>
          </a:xfrm>
          <a:prstGeom prst="ellipse">
            <a:avLst/>
          </a:prstGeom>
          <a:solidFill>
            <a:srgbClr val="DCEFE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31520" y="5742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1188720" y="5596128"/>
            <a:ext cx="18592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this proposal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3367964" y="5596128"/>
            <a:ext cx="2636444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550844" y="5742432"/>
            <a:ext cx="329184" cy="329184"/>
          </a:xfrm>
          <a:prstGeom prst="ellipse">
            <a:avLst/>
          </a:prstGeom>
          <a:solidFill>
            <a:srgbClr val="DCEFE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3550844" y="5742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4008044" y="5596128"/>
            <a:ext cx="18592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WhatsApp access and clinic details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187288" y="5596128"/>
            <a:ext cx="2636444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5DEDB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370168" y="5742432"/>
            <a:ext cx="329184" cy="329184"/>
          </a:xfrm>
          <a:prstGeom prst="ellipse">
            <a:avLst/>
          </a:prstGeom>
          <a:solidFill>
            <a:srgbClr val="DCEFEA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6370168" y="5742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6827368" y="5596128"/>
            <a:ext cx="18592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configure and test with your team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9006611" y="5596128"/>
            <a:ext cx="2636444" cy="621792"/>
          </a:xfrm>
          <a:prstGeom prst="roundRect">
            <a:avLst>
              <a:gd name="adj" fmla="val 17647"/>
            </a:avLst>
          </a:prstGeom>
          <a:solidFill>
            <a:srgbClr val="0E7C6B"/>
          </a:solidFill>
          <a:ln w="9525">
            <a:solidFill>
              <a:srgbClr val="0E7C6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189491" y="574243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9189491" y="5742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9646691" y="5596128"/>
            <a:ext cx="18592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live, with support from day 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Patientcurve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Patientcurve proposal (lite)</dc:title>
  <dc:subject>PptxGenJS Presentation</dc:subject>
  <dc:creator>Patientcurve</dc:creator>
  <cp:lastModifiedBy>Patientcurve</cp:lastModifiedBy>
  <cp:revision>1</cp:revision>
  <dcterms:created xsi:type="dcterms:W3CDTF">2026-10-10T11:06:20Z</dcterms:created>
  <dcterms:modified xsi:type="dcterms:W3CDTF">2026-10-10T11:06:20Z</dcterms:modified>
</cp:coreProperties>
</file>