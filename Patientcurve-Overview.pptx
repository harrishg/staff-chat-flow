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</p:sldIdLst>
  <p:notesMasterIdLst>
    <p:notesMasterId r:id="rId17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notesMaster" Target="notesMasters/notesMaster1.xml"/><Relationship Id="rId18" Type="http://schemas.openxmlformats.org/officeDocument/2006/relationships/presProps" Target="presProps.xml"/><Relationship Id="rId19" Type="http://schemas.openxmlformats.org/officeDocument/2006/relationships/viewProps" Target="viewProps.xml"/><Relationship Id="rId20" Type="http://schemas.openxmlformats.org/officeDocument/2006/relationships/theme" Target="theme/theme1.xml"/><Relationship Id="rId21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image" Target="../media/image-1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image" Target="../media/image-2-2.png"/><Relationship Id="rId3" Type="http://schemas.openxmlformats.org/officeDocument/2006/relationships/image" Target="../media/image-2-3.png"/><Relationship Id="rId4" Type="http://schemas.openxmlformats.org/officeDocument/2006/relationships/image" Target="../media/image-2-4.png"/><Relationship Id="rId5" Type="http://schemas.openxmlformats.org/officeDocument/2006/relationships/image" Target="../media/image-2-5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image" Target="../media/image-3-2.png"/><Relationship Id="rId3" Type="http://schemas.openxmlformats.org/officeDocument/2006/relationships/image" Target="../media/image-3-3.png"/><Relationship Id="rId4" Type="http://schemas.openxmlformats.org/officeDocument/2006/relationships/image" Target="../media/image-3-4.png"/><Relationship Id="rId5" Type="http://schemas.openxmlformats.org/officeDocument/2006/relationships/image" Target="../media/image-3-5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image" Target="../media/image-4-2.png"/><Relationship Id="rId3" Type="http://schemas.openxmlformats.org/officeDocument/2006/relationships/image" Target="../media/image-4-3.png"/><Relationship Id="rId4" Type="http://schemas.openxmlformats.org/officeDocument/2006/relationships/image" Target="../media/image-4-4.png"/><Relationship Id="rId5" Type="http://schemas.openxmlformats.org/officeDocument/2006/relationships/image" Target="../media/image-4-5.png"/><Relationship Id="rId6" Type="http://schemas.openxmlformats.org/officeDocument/2006/relationships/image" Target="../media/image-4-6.png"/><Relationship Id="rId7" Type="http://schemas.openxmlformats.org/officeDocument/2006/relationships/image" Target="../media/image-4-7.png"/><Relationship Id="rId8" Type="http://schemas.openxmlformats.org/officeDocument/2006/relationships/slideLayout" Target="../slideLayouts/slideLayout1.xml"/><Relationship Id="rId9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image" Target="../media/image-5-2.png"/><Relationship Id="rId3" Type="http://schemas.openxmlformats.org/officeDocument/2006/relationships/image" Target="../media/image-5-3.png"/><Relationship Id="rId4" Type="http://schemas.openxmlformats.org/officeDocument/2006/relationships/image" Target="../media/image-5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image" Target="../media/image-6-2.png"/><Relationship Id="rId3" Type="http://schemas.openxmlformats.org/officeDocument/2006/relationships/image" Target="../media/image-6-3.png"/><Relationship Id="rId4" Type="http://schemas.openxmlformats.org/officeDocument/2006/relationships/image" Target="../media/image-6-4.png"/><Relationship Id="rId5" Type="http://schemas.openxmlformats.org/officeDocument/2006/relationships/image" Target="../media/image-6-5.png"/><Relationship Id="rId6" Type="http://schemas.openxmlformats.org/officeDocument/2006/relationships/image" Target="../media/image-6-6.png"/><Relationship Id="rId7" Type="http://schemas.openxmlformats.org/officeDocument/2006/relationships/slideLayout" Target="../slideLayouts/slideLayout1.xml"/><Relationship Id="rId8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image" Target="../media/image-7-2.png"/><Relationship Id="rId3" Type="http://schemas.openxmlformats.org/officeDocument/2006/relationships/image" Target="../media/image-7-3.png"/><Relationship Id="rId4" Type="http://schemas.openxmlformats.org/officeDocument/2006/relationships/image" Target="../media/image-7-4.png"/><Relationship Id="rId5" Type="http://schemas.openxmlformats.org/officeDocument/2006/relationships/image" Target="../media/image-7-5.png"/><Relationship Id="rId6" Type="http://schemas.openxmlformats.org/officeDocument/2006/relationships/image" Target="../media/image-7-6.png"/><Relationship Id="rId7" Type="http://schemas.openxmlformats.org/officeDocument/2006/relationships/image" Target="../media/image-7-7.png"/><Relationship Id="rId8" Type="http://schemas.openxmlformats.org/officeDocument/2006/relationships/slideLayout" Target="../slideLayouts/slideLayout1.xml"/><Relationship Id="rId9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image" Target="../media/image-8-2.png"/><Relationship Id="rId3" Type="http://schemas.openxmlformats.org/officeDocument/2006/relationships/image" Target="../media/image-8-3.png"/><Relationship Id="rId4" Type="http://schemas.openxmlformats.org/officeDocument/2006/relationships/image" Target="../media/image-8-4.png"/><Relationship Id="rId5" Type="http://schemas.openxmlformats.org/officeDocument/2006/relationships/image" Target="../media/image-8-5.png"/><Relationship Id="rId6" Type="http://schemas.openxmlformats.org/officeDocument/2006/relationships/image" Target="../media/image-8-6.png"/><Relationship Id="rId7" Type="http://schemas.openxmlformats.org/officeDocument/2006/relationships/slideLayout" Target="../slideLayouts/slideLayout1.xml"/><Relationship Id="rId8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image" Target="../media/image-10-2.png"/><Relationship Id="rId3" Type="http://schemas.openxmlformats.org/officeDocument/2006/relationships/image" Target="../media/image-10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1-1.png"/><Relationship Id="rId2" Type="http://schemas.openxmlformats.org/officeDocument/2006/relationships/image" Target="../media/image-11-2.png"/><Relationship Id="rId3" Type="http://schemas.openxmlformats.org/officeDocument/2006/relationships/image" Target="../media/image-11-3.png"/><Relationship Id="rId4" Type="http://schemas.openxmlformats.org/officeDocument/2006/relationships/image" Target="../media/image-11-4.png"/><Relationship Id="rId5" Type="http://schemas.openxmlformats.org/officeDocument/2006/relationships/image" Target="../media/image-11-5.png"/><Relationship Id="rId6" Type="http://schemas.openxmlformats.org/officeDocument/2006/relationships/image" Target="../media/image-11-6.png"/><Relationship Id="rId7" Type="http://schemas.openxmlformats.org/officeDocument/2006/relationships/image" Target="../media/image-11-7.png"/><Relationship Id="rId8" Type="http://schemas.openxmlformats.org/officeDocument/2006/relationships/slideLayout" Target="../slideLayouts/slideLayout1.xml"/><Relationship Id="rId9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2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3-1.png"/><Relationship Id="rId2" Type="http://schemas.openxmlformats.org/officeDocument/2006/relationships/image" Target="../media/image-13-2.png"/><Relationship Id="rId3" Type="http://schemas.openxmlformats.org/officeDocument/2006/relationships/image" Target="../media/image-13-3.png"/><Relationship Id="rId4" Type="http://schemas.openxmlformats.org/officeDocument/2006/relationships/image" Target="../media/image-13-4.png"/><Relationship Id="rId5" Type="http://schemas.openxmlformats.org/officeDocument/2006/relationships/image" Target="../media/image-13-5.png"/><Relationship Id="rId6" Type="http://schemas.openxmlformats.org/officeDocument/2006/relationships/image" Target="../media/image-13-6.png"/><Relationship Id="rId7" Type="http://schemas.openxmlformats.org/officeDocument/2006/relationships/image" Target="../media/image-13-7.png"/><Relationship Id="rId8" Type="http://schemas.openxmlformats.org/officeDocument/2006/relationships/slideLayout" Target="../slideLayouts/slideLayout1.xml"/><Relationship Id="rId9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4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5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4232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982712" y="0"/>
            <a:ext cx="4208983" cy="6858000"/>
          </a:xfrm>
          <a:prstGeom prst="rect">
            <a:avLst/>
          </a:prstGeom>
          <a:solidFill>
            <a:srgbClr val="0E7C6B"/>
          </a:solidFill>
          <a:ln/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275320" y="1234440"/>
            <a:ext cx="3611880" cy="3611880"/>
          </a:xfrm>
          <a:prstGeom prst="rect">
            <a:avLst/>
          </a:prstGeom>
        </p:spPr>
      </p:pic>
      <p:pic>
        <p:nvPicPr>
          <p:cNvPr id="4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1520" y="731520"/>
            <a:ext cx="2377440" cy="452846"/>
          </a:xfrm>
          <a:prstGeom prst="rect">
            <a:avLst/>
          </a:prstGeom>
        </p:spPr>
      </p:pic>
      <p:sp>
        <p:nvSpPr>
          <p:cNvPr id="5" name="Text 1"/>
          <p:cNvSpPr txBox="1"/>
          <p:nvPr/>
        </p:nvSpPr>
        <p:spPr>
          <a:xfrm>
            <a:off x="731520" y="2240280"/>
            <a:ext cx="69494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spc="150" kern="0" dirty="0">
                <a:solidFill>
                  <a:srgbClr val="3FC0A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PATIENT JOURNEY AUTOMATION FOR DENTAL CLINICS</a:t>
            </a:r>
            <a:endParaRPr lang="en-US" sz="1200" dirty="0"/>
          </a:p>
        </p:txBody>
      </p:sp>
      <p:sp>
        <p:nvSpPr>
          <p:cNvPr id="6" name="Text 2"/>
          <p:cNvSpPr txBox="1"/>
          <p:nvPr/>
        </p:nvSpPr>
        <p:spPr>
          <a:xfrm>
            <a:off x="731520" y="2651760"/>
            <a:ext cx="685800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4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Every enquiry deserves a next step.</a:t>
            </a:r>
            <a:endParaRPr lang="en-US" sz="4400" dirty="0"/>
          </a:p>
        </p:txBody>
      </p:sp>
      <p:sp>
        <p:nvSpPr>
          <p:cNvPr id="7" name="Text 3"/>
          <p:cNvSpPr txBox="1"/>
          <p:nvPr/>
        </p:nvSpPr>
        <p:spPr>
          <a:xfrm>
            <a:off x="731520" y="4434840"/>
            <a:ext cx="66751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dirty="0">
                <a:solidFill>
                  <a:srgbClr val="C9D6D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How structured WhatsApp follow-ups help clinics capture enquiries, follow up consistently and bring patients back.</a:t>
            </a:r>
            <a:endParaRPr lang="en-US" sz="1700" dirty="0"/>
          </a:p>
        </p:txBody>
      </p:sp>
      <p:sp>
        <p:nvSpPr>
          <p:cNvPr id="8" name="Text 4"/>
          <p:cNvSpPr txBox="1"/>
          <p:nvPr/>
        </p:nvSpPr>
        <p:spPr>
          <a:xfrm>
            <a:off x="731520" y="5989320"/>
            <a:ext cx="67665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patientcurve.com</a:t>
            </a:r>
            <a:endParaRPr lang="en-US" sz="1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6F8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84048"/>
            <a:ext cx="11094415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spc="150" kern="0" dirty="0">
                <a:solidFill>
                  <a:srgbClr val="0E7C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PROBLEM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76656"/>
            <a:ext cx="11094415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000" b="1" dirty="0">
                <a:solidFill>
                  <a:srgbClr val="1423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Patients rarely leave. They slip away.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6263640"/>
            <a:ext cx="11094415" cy="0"/>
          </a:xfrm>
          <a:prstGeom prst="line">
            <a:avLst/>
          </a:prstGeom>
          <a:noFill/>
          <a:ln w="9525">
            <a:solidFill>
              <a:srgbClr val="D5DEDB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548640" y="6373368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B6B7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Patientcurve  ·  Patient journey automation for dental clinics</a:t>
            </a:r>
            <a:endParaRPr lang="en-US" sz="1000" dirty="0"/>
          </a:p>
        </p:txBody>
      </p:sp>
      <p:sp>
        <p:nvSpPr>
          <p:cNvPr id="6" name="Text 4"/>
          <p:cNvSpPr txBox="1"/>
          <p:nvPr/>
        </p:nvSpPr>
        <p:spPr>
          <a:xfrm>
            <a:off x="8778240" y="6373368"/>
            <a:ext cx="1280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B6B7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 / 15</a:t>
            </a:r>
            <a:endParaRPr lang="en-US" sz="1000" dirty="0"/>
          </a:p>
        </p:txBody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360152" y="6382512"/>
            <a:ext cx="1280160" cy="243840"/>
          </a:xfrm>
          <a:prstGeom prst="rect">
            <a:avLst/>
          </a:prstGeom>
        </p:spPr>
      </p:pic>
      <p:sp>
        <p:nvSpPr>
          <p:cNvPr id="8" name="Text 5"/>
          <p:cNvSpPr txBox="1"/>
          <p:nvPr/>
        </p:nvSpPr>
        <p:spPr>
          <a:xfrm>
            <a:off x="548640" y="1463040"/>
            <a:ext cx="1109441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5B6B7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Most clinics don't lose patients to a bad experience. They lose them in the gaps between conversations.</a:t>
            </a:r>
            <a:endParaRPr lang="en-US" sz="1500" dirty="0"/>
          </a:p>
        </p:txBody>
      </p:sp>
      <p:sp>
        <p:nvSpPr>
          <p:cNvPr id="9" name="Shape 6"/>
          <p:cNvSpPr/>
          <p:nvPr/>
        </p:nvSpPr>
        <p:spPr>
          <a:xfrm>
            <a:off x="548640" y="2103120"/>
            <a:ext cx="2602154" cy="2971800"/>
          </a:xfrm>
          <a:prstGeom prst="roundRect">
            <a:avLst>
              <a:gd name="adj" fmla="val 4217"/>
            </a:avLst>
          </a:prstGeom>
          <a:solidFill>
            <a:srgbClr val="FFFFFF"/>
          </a:solidFill>
          <a:ln w="9525">
            <a:solidFill>
              <a:srgbClr val="D5DEDB"/>
            </a:solidFill>
            <a:prstDash val="solid"/>
          </a:ln>
        </p:spPr>
      </p:sp>
      <p:pic>
        <p:nvPicPr>
          <p:cNvPr id="10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22960" y="2377440"/>
            <a:ext cx="457200" cy="457200"/>
          </a:xfrm>
          <a:prstGeom prst="rect">
            <a:avLst/>
          </a:prstGeom>
        </p:spPr>
      </p:pic>
      <p:sp>
        <p:nvSpPr>
          <p:cNvPr id="11" name="Text 7"/>
          <p:cNvSpPr txBox="1"/>
          <p:nvPr/>
        </p:nvSpPr>
        <p:spPr>
          <a:xfrm>
            <a:off x="822960" y="3017520"/>
            <a:ext cx="2053514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rgbClr val="1423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Late or missed replies</a:t>
            </a:r>
            <a:endParaRPr lang="en-US" sz="1800" dirty="0"/>
          </a:p>
        </p:txBody>
      </p:sp>
      <p:sp>
        <p:nvSpPr>
          <p:cNvPr id="12" name="Text 8"/>
          <p:cNvSpPr txBox="1"/>
          <p:nvPr/>
        </p:nvSpPr>
        <p:spPr>
          <a:xfrm>
            <a:off x="822960" y="3703320"/>
            <a:ext cx="2053514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5B6B7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Enquiries that arrive after hours or on busy days wait, and the patient moves on to the next clinic.</a:t>
            </a:r>
            <a:endParaRPr lang="en-US" sz="1400" dirty="0"/>
          </a:p>
        </p:txBody>
      </p:sp>
      <p:sp>
        <p:nvSpPr>
          <p:cNvPr id="13" name="Shape 9"/>
          <p:cNvSpPr/>
          <p:nvPr/>
        </p:nvSpPr>
        <p:spPr>
          <a:xfrm>
            <a:off x="3379394" y="2103120"/>
            <a:ext cx="2602154" cy="2971800"/>
          </a:xfrm>
          <a:prstGeom prst="roundRect">
            <a:avLst>
              <a:gd name="adj" fmla="val 4217"/>
            </a:avLst>
          </a:prstGeom>
          <a:solidFill>
            <a:srgbClr val="FFFFFF"/>
          </a:solidFill>
          <a:ln w="9525">
            <a:solidFill>
              <a:srgbClr val="D5DEDB"/>
            </a:solidFill>
            <a:prstDash val="solid"/>
          </a:ln>
        </p:spPr>
      </p:sp>
      <p:pic>
        <p:nvPicPr>
          <p:cNvPr id="14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653714" y="2377440"/>
            <a:ext cx="457200" cy="457200"/>
          </a:xfrm>
          <a:prstGeom prst="rect">
            <a:avLst/>
          </a:prstGeom>
        </p:spPr>
      </p:pic>
      <p:sp>
        <p:nvSpPr>
          <p:cNvPr id="15" name="Text 10"/>
          <p:cNvSpPr txBox="1"/>
          <p:nvPr/>
        </p:nvSpPr>
        <p:spPr>
          <a:xfrm>
            <a:off x="3653714" y="3017520"/>
            <a:ext cx="2053514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rgbClr val="1423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 second message</a:t>
            </a:r>
            <a:endParaRPr lang="en-US" sz="1800" dirty="0"/>
          </a:p>
        </p:txBody>
      </p:sp>
      <p:sp>
        <p:nvSpPr>
          <p:cNvPr id="16" name="Text 11"/>
          <p:cNvSpPr txBox="1"/>
          <p:nvPr/>
        </p:nvSpPr>
        <p:spPr>
          <a:xfrm>
            <a:off x="3653714" y="3703320"/>
            <a:ext cx="2053514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5B6B7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patient asks about aligners or implants, doesn't book on the first reply, and is never contacted again.</a:t>
            </a:r>
            <a:endParaRPr lang="en-US" sz="1400" dirty="0"/>
          </a:p>
        </p:txBody>
      </p:sp>
      <p:sp>
        <p:nvSpPr>
          <p:cNvPr id="17" name="Shape 12"/>
          <p:cNvSpPr/>
          <p:nvPr/>
        </p:nvSpPr>
        <p:spPr>
          <a:xfrm>
            <a:off x="6210148" y="2103120"/>
            <a:ext cx="2602154" cy="2971800"/>
          </a:xfrm>
          <a:prstGeom prst="roundRect">
            <a:avLst>
              <a:gd name="adj" fmla="val 4217"/>
            </a:avLst>
          </a:prstGeom>
          <a:solidFill>
            <a:srgbClr val="FFFFFF"/>
          </a:solidFill>
          <a:ln w="9525">
            <a:solidFill>
              <a:srgbClr val="D5DEDB"/>
            </a:solidFill>
            <a:prstDash val="solid"/>
          </a:ln>
        </p:spPr>
      </p:sp>
      <p:pic>
        <p:nvPicPr>
          <p:cNvPr id="18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484468" y="2377440"/>
            <a:ext cx="457200" cy="457200"/>
          </a:xfrm>
          <a:prstGeom prst="rect">
            <a:avLst/>
          </a:prstGeom>
        </p:spPr>
      </p:pic>
      <p:sp>
        <p:nvSpPr>
          <p:cNvPr id="19" name="Text 13"/>
          <p:cNvSpPr txBox="1"/>
          <p:nvPr/>
        </p:nvSpPr>
        <p:spPr>
          <a:xfrm>
            <a:off x="6484468" y="3017520"/>
            <a:ext cx="2053514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rgbClr val="1423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Missed visits stay missed</a:t>
            </a:r>
            <a:endParaRPr lang="en-US" sz="1800" dirty="0"/>
          </a:p>
        </p:txBody>
      </p:sp>
      <p:sp>
        <p:nvSpPr>
          <p:cNvPr id="20" name="Text 14"/>
          <p:cNvSpPr txBox="1"/>
          <p:nvPr/>
        </p:nvSpPr>
        <p:spPr>
          <a:xfrm>
            <a:off x="6484468" y="3703320"/>
            <a:ext cx="2053514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5B6B7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no-show is noted, but nobody has the time to call and offer a new slot.</a:t>
            </a:r>
            <a:endParaRPr lang="en-US" sz="1400" dirty="0"/>
          </a:p>
        </p:txBody>
      </p:sp>
      <p:sp>
        <p:nvSpPr>
          <p:cNvPr id="21" name="Shape 15"/>
          <p:cNvSpPr/>
          <p:nvPr/>
        </p:nvSpPr>
        <p:spPr>
          <a:xfrm>
            <a:off x="9040901" y="2103120"/>
            <a:ext cx="2602154" cy="2971800"/>
          </a:xfrm>
          <a:prstGeom prst="roundRect">
            <a:avLst>
              <a:gd name="adj" fmla="val 4217"/>
            </a:avLst>
          </a:prstGeom>
          <a:solidFill>
            <a:srgbClr val="FFFFFF"/>
          </a:solidFill>
          <a:ln w="9525">
            <a:solidFill>
              <a:srgbClr val="D5DEDB"/>
            </a:solidFill>
            <a:prstDash val="solid"/>
          </a:ln>
        </p:spPr>
      </p:sp>
      <p:pic>
        <p:nvPicPr>
          <p:cNvPr id="22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315221" y="2377440"/>
            <a:ext cx="457200" cy="457200"/>
          </a:xfrm>
          <a:prstGeom prst="rect">
            <a:avLst/>
          </a:prstGeom>
        </p:spPr>
      </p:pic>
      <p:sp>
        <p:nvSpPr>
          <p:cNvPr id="23" name="Text 16"/>
          <p:cNvSpPr txBox="1"/>
          <p:nvPr/>
        </p:nvSpPr>
        <p:spPr>
          <a:xfrm>
            <a:off x="9315221" y="3017520"/>
            <a:ext cx="2053514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rgbClr val="1423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Past patients drift</a:t>
            </a:r>
            <a:endParaRPr lang="en-US" sz="1800" dirty="0"/>
          </a:p>
        </p:txBody>
      </p:sp>
      <p:sp>
        <p:nvSpPr>
          <p:cNvPr id="24" name="Text 17"/>
          <p:cNvSpPr txBox="1"/>
          <p:nvPr/>
        </p:nvSpPr>
        <p:spPr>
          <a:xfrm>
            <a:off x="9315221" y="3703320"/>
            <a:ext cx="2053514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5B6B7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Recall visits, check-ups and unfinished treatment plans depend on the patient remembering.</a:t>
            </a:r>
            <a:endParaRPr lang="en-US" sz="1400" dirty="0"/>
          </a:p>
        </p:txBody>
      </p:sp>
      <p:sp>
        <p:nvSpPr>
          <p:cNvPr id="25" name="Shape 18"/>
          <p:cNvSpPr/>
          <p:nvPr/>
        </p:nvSpPr>
        <p:spPr>
          <a:xfrm>
            <a:off x="548640" y="5303520"/>
            <a:ext cx="11094415" cy="731520"/>
          </a:xfrm>
          <a:prstGeom prst="roundRect">
            <a:avLst>
              <a:gd name="adj" fmla="val 15000"/>
            </a:avLst>
          </a:prstGeom>
          <a:solidFill>
            <a:srgbClr val="DCEFEA"/>
          </a:solidFill>
          <a:ln/>
        </p:spPr>
      </p:sp>
      <p:sp>
        <p:nvSpPr>
          <p:cNvPr id="26" name="Text 19"/>
          <p:cNvSpPr txBox="1"/>
          <p:nvPr/>
        </p:nvSpPr>
        <p:spPr>
          <a:xfrm>
            <a:off x="868680" y="5303520"/>
            <a:ext cx="10454335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423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None of this is a staff failure. It's what happens when follow-up depends on memory and a busy front desk.</a:t>
            </a:r>
            <a:endParaRPr lang="en-US" sz="15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6F8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84048"/>
            <a:ext cx="11094415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spc="150" kern="0" dirty="0">
                <a:solidFill>
                  <a:srgbClr val="0E7C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WHY IT KEEPS HAPPENING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76656"/>
            <a:ext cx="11094415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000" b="1" dirty="0">
                <a:solidFill>
                  <a:srgbClr val="1423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Follow-up has no owner and no system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6263640"/>
            <a:ext cx="11094415" cy="0"/>
          </a:xfrm>
          <a:prstGeom prst="line">
            <a:avLst/>
          </a:prstGeom>
          <a:noFill/>
          <a:ln w="9525">
            <a:solidFill>
              <a:srgbClr val="D5DEDB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548640" y="6373368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B6B7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Patientcurve  ·  Patient journey automation for dental clinics</a:t>
            </a:r>
            <a:endParaRPr lang="en-US" sz="1000" dirty="0"/>
          </a:p>
        </p:txBody>
      </p:sp>
      <p:sp>
        <p:nvSpPr>
          <p:cNvPr id="6" name="Text 4"/>
          <p:cNvSpPr txBox="1"/>
          <p:nvPr/>
        </p:nvSpPr>
        <p:spPr>
          <a:xfrm>
            <a:off x="8778240" y="6373368"/>
            <a:ext cx="1280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B6B7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 / 15</a:t>
            </a:r>
            <a:endParaRPr lang="en-US" sz="1000" dirty="0"/>
          </a:p>
        </p:txBody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360152" y="6382512"/>
            <a:ext cx="1280160" cy="243840"/>
          </a:xfrm>
          <a:prstGeom prst="rect">
            <a:avLst/>
          </a:prstGeom>
        </p:spPr>
      </p:pic>
      <p:sp>
        <p:nvSpPr>
          <p:cNvPr id="8" name="Text 5"/>
          <p:cNvSpPr txBox="1"/>
          <p:nvPr/>
        </p:nvSpPr>
        <p:spPr>
          <a:xfrm>
            <a:off x="548640" y="1463040"/>
            <a:ext cx="1109441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5B6B7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front desk is doing several jobs at once. Follow-up is the one that quietly gets dropped.</a:t>
            </a:r>
            <a:endParaRPr lang="en-US" sz="1500" dirty="0"/>
          </a:p>
        </p:txBody>
      </p:sp>
      <p:sp>
        <p:nvSpPr>
          <p:cNvPr id="9" name="Shape 6"/>
          <p:cNvSpPr/>
          <p:nvPr/>
        </p:nvSpPr>
        <p:spPr>
          <a:xfrm>
            <a:off x="548640" y="2103120"/>
            <a:ext cx="5432908" cy="1783080"/>
          </a:xfrm>
          <a:prstGeom prst="roundRect">
            <a:avLst>
              <a:gd name="adj" fmla="val 6154"/>
            </a:avLst>
          </a:prstGeom>
          <a:solidFill>
            <a:srgbClr val="FFFFFF"/>
          </a:solidFill>
          <a:ln w="9525">
            <a:solidFill>
              <a:srgbClr val="D5DEDB"/>
            </a:solidFill>
            <a:prstDash val="solid"/>
          </a:ln>
        </p:spPr>
      </p:sp>
      <p:pic>
        <p:nvPicPr>
          <p:cNvPr id="10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68680" y="2423160"/>
            <a:ext cx="457200" cy="457200"/>
          </a:xfrm>
          <a:prstGeom prst="rect">
            <a:avLst/>
          </a:prstGeom>
        </p:spPr>
      </p:pic>
      <p:sp>
        <p:nvSpPr>
          <p:cNvPr id="11" name="Text 7"/>
          <p:cNvSpPr txBox="1"/>
          <p:nvPr/>
        </p:nvSpPr>
        <p:spPr>
          <a:xfrm>
            <a:off x="1600200" y="2395728"/>
            <a:ext cx="406130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rgbClr val="1423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desk is juggling</a:t>
            </a:r>
            <a:endParaRPr lang="en-US" sz="1800" dirty="0"/>
          </a:p>
        </p:txBody>
      </p:sp>
      <p:sp>
        <p:nvSpPr>
          <p:cNvPr id="12" name="Text 8"/>
          <p:cNvSpPr txBox="1"/>
          <p:nvPr/>
        </p:nvSpPr>
        <p:spPr>
          <a:xfrm>
            <a:off x="1600200" y="2880360"/>
            <a:ext cx="4061308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dirty="0">
                <a:solidFill>
                  <a:srgbClr val="5B6B7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Calls, walk-ins, billing and WhatsApp all arrive at the same time. The patient in front of you wins.</a:t>
            </a:r>
            <a:endParaRPr lang="en-US" sz="1350" dirty="0"/>
          </a:p>
        </p:txBody>
      </p:sp>
      <p:sp>
        <p:nvSpPr>
          <p:cNvPr id="13" name="Shape 9"/>
          <p:cNvSpPr/>
          <p:nvPr/>
        </p:nvSpPr>
        <p:spPr>
          <a:xfrm>
            <a:off x="6210148" y="2103120"/>
            <a:ext cx="5432908" cy="1783080"/>
          </a:xfrm>
          <a:prstGeom prst="roundRect">
            <a:avLst>
              <a:gd name="adj" fmla="val 6154"/>
            </a:avLst>
          </a:prstGeom>
          <a:solidFill>
            <a:srgbClr val="FFFFFF"/>
          </a:solidFill>
          <a:ln w="9525">
            <a:solidFill>
              <a:srgbClr val="D5DEDB"/>
            </a:solidFill>
            <a:prstDash val="solid"/>
          </a:ln>
        </p:spPr>
      </p:sp>
      <p:pic>
        <p:nvPicPr>
          <p:cNvPr id="14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530188" y="2423160"/>
            <a:ext cx="457200" cy="457200"/>
          </a:xfrm>
          <a:prstGeom prst="rect">
            <a:avLst/>
          </a:prstGeom>
        </p:spPr>
      </p:pic>
      <p:sp>
        <p:nvSpPr>
          <p:cNvPr id="15" name="Text 10"/>
          <p:cNvSpPr txBox="1"/>
          <p:nvPr/>
        </p:nvSpPr>
        <p:spPr>
          <a:xfrm>
            <a:off x="7261708" y="2395728"/>
            <a:ext cx="406130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rgbClr val="1423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Conversations live in a phone</a:t>
            </a:r>
            <a:endParaRPr lang="en-US" sz="1800" dirty="0"/>
          </a:p>
        </p:txBody>
      </p:sp>
      <p:sp>
        <p:nvSpPr>
          <p:cNvPr id="16" name="Text 11"/>
          <p:cNvSpPr txBox="1"/>
          <p:nvPr/>
        </p:nvSpPr>
        <p:spPr>
          <a:xfrm>
            <a:off x="7261708" y="2880360"/>
            <a:ext cx="4061308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dirty="0">
                <a:solidFill>
                  <a:srgbClr val="5B6B7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Enquiries sit in one WhatsApp inbox, mixed with personal chats and old threads, with no status.</a:t>
            </a:r>
            <a:endParaRPr lang="en-US" sz="1350" dirty="0"/>
          </a:p>
        </p:txBody>
      </p:sp>
      <p:sp>
        <p:nvSpPr>
          <p:cNvPr id="17" name="Shape 12"/>
          <p:cNvSpPr/>
          <p:nvPr/>
        </p:nvSpPr>
        <p:spPr>
          <a:xfrm>
            <a:off x="548640" y="4069080"/>
            <a:ext cx="5432908" cy="1783080"/>
          </a:xfrm>
          <a:prstGeom prst="roundRect">
            <a:avLst>
              <a:gd name="adj" fmla="val 6154"/>
            </a:avLst>
          </a:prstGeom>
          <a:solidFill>
            <a:srgbClr val="FFFFFF"/>
          </a:solidFill>
          <a:ln w="9525">
            <a:solidFill>
              <a:srgbClr val="D5DEDB"/>
            </a:solidFill>
            <a:prstDash val="solid"/>
          </a:ln>
        </p:spPr>
      </p:sp>
      <p:pic>
        <p:nvPicPr>
          <p:cNvPr id="18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68680" y="4389120"/>
            <a:ext cx="457200" cy="457200"/>
          </a:xfrm>
          <a:prstGeom prst="rect">
            <a:avLst/>
          </a:prstGeom>
        </p:spPr>
      </p:pic>
      <p:sp>
        <p:nvSpPr>
          <p:cNvPr id="19" name="Text 13"/>
          <p:cNvSpPr txBox="1"/>
          <p:nvPr/>
        </p:nvSpPr>
        <p:spPr>
          <a:xfrm>
            <a:off x="1600200" y="4361688"/>
            <a:ext cx="406130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rgbClr val="1423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 list of who needs what</a:t>
            </a:r>
            <a:endParaRPr lang="en-US" sz="1800" dirty="0"/>
          </a:p>
        </p:txBody>
      </p:sp>
      <p:sp>
        <p:nvSpPr>
          <p:cNvPr id="20" name="Text 14"/>
          <p:cNvSpPr txBox="1"/>
          <p:nvPr/>
        </p:nvSpPr>
        <p:spPr>
          <a:xfrm>
            <a:off x="1600200" y="4846320"/>
            <a:ext cx="4061308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dirty="0">
                <a:solidFill>
                  <a:srgbClr val="5B6B7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Nobody can see which enquiries are waiting, who hasn't booked, or who missed a visit last week.</a:t>
            </a:r>
            <a:endParaRPr lang="en-US" sz="1350" dirty="0"/>
          </a:p>
        </p:txBody>
      </p:sp>
      <p:sp>
        <p:nvSpPr>
          <p:cNvPr id="21" name="Shape 15"/>
          <p:cNvSpPr/>
          <p:nvPr/>
        </p:nvSpPr>
        <p:spPr>
          <a:xfrm>
            <a:off x="6210148" y="4069080"/>
            <a:ext cx="5432908" cy="1783080"/>
          </a:xfrm>
          <a:prstGeom prst="roundRect">
            <a:avLst>
              <a:gd name="adj" fmla="val 6154"/>
            </a:avLst>
          </a:prstGeom>
          <a:solidFill>
            <a:srgbClr val="FFFFFF"/>
          </a:solidFill>
          <a:ln w="9525">
            <a:solidFill>
              <a:srgbClr val="D5DEDB"/>
            </a:solidFill>
            <a:prstDash val="solid"/>
          </a:ln>
        </p:spPr>
      </p:sp>
      <p:pic>
        <p:nvPicPr>
          <p:cNvPr id="22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530188" y="4389120"/>
            <a:ext cx="457200" cy="457200"/>
          </a:xfrm>
          <a:prstGeom prst="rect">
            <a:avLst/>
          </a:prstGeom>
        </p:spPr>
      </p:pic>
      <p:sp>
        <p:nvSpPr>
          <p:cNvPr id="23" name="Text 16"/>
          <p:cNvSpPr txBox="1"/>
          <p:nvPr/>
        </p:nvSpPr>
        <p:spPr>
          <a:xfrm>
            <a:off x="7261708" y="4361688"/>
            <a:ext cx="406130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rgbClr val="1423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 visibility for the doctor</a:t>
            </a:r>
            <a:endParaRPr lang="en-US" sz="1800" dirty="0"/>
          </a:p>
        </p:txBody>
      </p:sp>
      <p:sp>
        <p:nvSpPr>
          <p:cNvPr id="24" name="Text 17"/>
          <p:cNvSpPr txBox="1"/>
          <p:nvPr/>
        </p:nvSpPr>
        <p:spPr>
          <a:xfrm>
            <a:off x="7261708" y="4846320"/>
            <a:ext cx="4061308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dirty="0">
                <a:solidFill>
                  <a:srgbClr val="5B6B7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Without numbers, it's hard to know where patients are being lost or whether ad spend is turning into visits.</a:t>
            </a:r>
            <a:endParaRPr lang="en-US" sz="13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6F8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84048"/>
            <a:ext cx="11094415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spc="150" kern="0" dirty="0">
                <a:solidFill>
                  <a:srgbClr val="0E7C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PATIENT JOURNEY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76656"/>
            <a:ext cx="11094415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000" b="1" dirty="0">
                <a:solidFill>
                  <a:srgbClr val="1423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Where patients are lost along the way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6263640"/>
            <a:ext cx="11094415" cy="0"/>
          </a:xfrm>
          <a:prstGeom prst="line">
            <a:avLst/>
          </a:prstGeom>
          <a:noFill/>
          <a:ln w="9525">
            <a:solidFill>
              <a:srgbClr val="D5DEDB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548640" y="6373368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B6B7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Patientcurve  ·  Patient journey automation for dental clinics</a:t>
            </a:r>
            <a:endParaRPr lang="en-US" sz="1000" dirty="0"/>
          </a:p>
        </p:txBody>
      </p:sp>
      <p:sp>
        <p:nvSpPr>
          <p:cNvPr id="6" name="Text 4"/>
          <p:cNvSpPr txBox="1"/>
          <p:nvPr/>
        </p:nvSpPr>
        <p:spPr>
          <a:xfrm>
            <a:off x="8778240" y="6373368"/>
            <a:ext cx="1280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B6B7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 / 15</a:t>
            </a:r>
            <a:endParaRPr lang="en-US" sz="1000" dirty="0"/>
          </a:p>
        </p:txBody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360152" y="6382512"/>
            <a:ext cx="1280160" cy="243840"/>
          </a:xfrm>
          <a:prstGeom prst="rect">
            <a:avLst/>
          </a:prstGeom>
        </p:spPr>
      </p:pic>
      <p:sp>
        <p:nvSpPr>
          <p:cNvPr id="8" name="Text 5"/>
          <p:cNvSpPr txBox="1"/>
          <p:nvPr/>
        </p:nvSpPr>
        <p:spPr>
          <a:xfrm>
            <a:off x="548640" y="1463040"/>
            <a:ext cx="1109441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5B6B7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Every stage of the journey has a hand-off. Each hand-off is a place a patient can quietly drop out.</a:t>
            </a:r>
            <a:endParaRPr lang="en-US" sz="1500" dirty="0"/>
          </a:p>
        </p:txBody>
      </p:sp>
      <p:sp>
        <p:nvSpPr>
          <p:cNvPr id="9" name="Shape 6"/>
          <p:cNvSpPr/>
          <p:nvPr/>
        </p:nvSpPr>
        <p:spPr>
          <a:xfrm>
            <a:off x="548640" y="2377440"/>
            <a:ext cx="1554480" cy="868680"/>
          </a:xfrm>
          <a:prstGeom prst="roundRect">
            <a:avLst>
              <a:gd name="adj" fmla="val 12632"/>
            </a:avLst>
          </a:prstGeom>
          <a:solidFill>
            <a:srgbClr val="FFFFFF"/>
          </a:solidFill>
          <a:ln w="9525">
            <a:solidFill>
              <a:srgbClr val="D5DEDB"/>
            </a:solidFill>
            <a:prstDash val="solid"/>
          </a:ln>
        </p:spPr>
      </p:sp>
      <p:sp>
        <p:nvSpPr>
          <p:cNvPr id="10" name="Text 7"/>
          <p:cNvSpPr txBox="1"/>
          <p:nvPr/>
        </p:nvSpPr>
        <p:spPr>
          <a:xfrm>
            <a:off x="548640" y="2377440"/>
            <a:ext cx="155448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423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Enquiry</a:t>
            </a:r>
            <a:endParaRPr lang="en-US" sz="1600" dirty="0"/>
          </a:p>
        </p:txBody>
      </p:sp>
      <p:sp>
        <p:nvSpPr>
          <p:cNvPr id="11" name="Shape 8"/>
          <p:cNvSpPr/>
          <p:nvPr/>
        </p:nvSpPr>
        <p:spPr>
          <a:xfrm>
            <a:off x="2176272" y="2811780"/>
            <a:ext cx="207203" cy="0"/>
          </a:xfrm>
          <a:prstGeom prst="line">
            <a:avLst/>
          </a:prstGeom>
          <a:noFill/>
          <a:ln w="19050">
            <a:solidFill>
              <a:srgbClr val="0E7C6B"/>
            </a:solidFill>
            <a:prstDash val="solid"/>
            <a:tailEnd type="triangle"/>
          </a:ln>
        </p:spPr>
      </p:sp>
      <p:sp>
        <p:nvSpPr>
          <p:cNvPr id="12" name="Shape 9"/>
          <p:cNvSpPr/>
          <p:nvPr/>
        </p:nvSpPr>
        <p:spPr>
          <a:xfrm>
            <a:off x="2279874" y="2880360"/>
            <a:ext cx="0" cy="914400"/>
          </a:xfrm>
          <a:prstGeom prst="line">
            <a:avLst/>
          </a:prstGeom>
          <a:noFill/>
          <a:ln w="12700">
            <a:solidFill>
              <a:srgbClr val="8F5A0E"/>
            </a:solidFill>
            <a:prstDash val="dash"/>
          </a:ln>
        </p:spPr>
      </p:sp>
      <p:pic>
        <p:nvPicPr>
          <p:cNvPr id="13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124426" y="3840480"/>
            <a:ext cx="310896" cy="310896"/>
          </a:xfrm>
          <a:prstGeom prst="rect">
            <a:avLst/>
          </a:prstGeom>
        </p:spPr>
      </p:pic>
      <p:sp>
        <p:nvSpPr>
          <p:cNvPr id="14" name="Text 10"/>
          <p:cNvSpPr txBox="1"/>
          <p:nvPr/>
        </p:nvSpPr>
        <p:spPr>
          <a:xfrm>
            <a:off x="1411194" y="4206240"/>
            <a:ext cx="17373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8F5A0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Late reply</a:t>
            </a:r>
            <a:endParaRPr lang="en-US" sz="1250" dirty="0"/>
          </a:p>
        </p:txBody>
      </p:sp>
      <p:sp>
        <p:nvSpPr>
          <p:cNvPr id="15" name="Shape 11"/>
          <p:cNvSpPr/>
          <p:nvPr/>
        </p:nvSpPr>
        <p:spPr>
          <a:xfrm>
            <a:off x="2456627" y="2377440"/>
            <a:ext cx="1554480" cy="868680"/>
          </a:xfrm>
          <a:prstGeom prst="roundRect">
            <a:avLst>
              <a:gd name="adj" fmla="val 12632"/>
            </a:avLst>
          </a:prstGeom>
          <a:solidFill>
            <a:srgbClr val="FFFFFF"/>
          </a:solidFill>
          <a:ln w="9525">
            <a:solidFill>
              <a:srgbClr val="D5DEDB"/>
            </a:solidFill>
            <a:prstDash val="solid"/>
          </a:ln>
        </p:spPr>
      </p:sp>
      <p:sp>
        <p:nvSpPr>
          <p:cNvPr id="16" name="Text 12"/>
          <p:cNvSpPr txBox="1"/>
          <p:nvPr/>
        </p:nvSpPr>
        <p:spPr>
          <a:xfrm>
            <a:off x="2456627" y="2377440"/>
            <a:ext cx="155448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423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Reply</a:t>
            </a:r>
            <a:endParaRPr lang="en-US" sz="1600" dirty="0"/>
          </a:p>
        </p:txBody>
      </p:sp>
      <p:sp>
        <p:nvSpPr>
          <p:cNvPr id="17" name="Shape 13"/>
          <p:cNvSpPr/>
          <p:nvPr/>
        </p:nvSpPr>
        <p:spPr>
          <a:xfrm>
            <a:off x="4084259" y="2811780"/>
            <a:ext cx="207203" cy="0"/>
          </a:xfrm>
          <a:prstGeom prst="line">
            <a:avLst/>
          </a:prstGeom>
          <a:noFill/>
          <a:ln w="19050">
            <a:solidFill>
              <a:srgbClr val="0E7C6B"/>
            </a:solidFill>
            <a:prstDash val="solid"/>
            <a:tailEnd type="triangle"/>
          </a:ln>
        </p:spPr>
      </p:sp>
      <p:sp>
        <p:nvSpPr>
          <p:cNvPr id="18" name="Shape 14"/>
          <p:cNvSpPr/>
          <p:nvPr/>
        </p:nvSpPr>
        <p:spPr>
          <a:xfrm>
            <a:off x="4187861" y="2880360"/>
            <a:ext cx="0" cy="914400"/>
          </a:xfrm>
          <a:prstGeom prst="line">
            <a:avLst/>
          </a:prstGeom>
          <a:noFill/>
          <a:ln w="12700">
            <a:solidFill>
              <a:srgbClr val="8F5A0E"/>
            </a:solidFill>
            <a:prstDash val="dash"/>
          </a:ln>
        </p:spPr>
      </p:sp>
      <p:pic>
        <p:nvPicPr>
          <p:cNvPr id="19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032413" y="3840480"/>
            <a:ext cx="310896" cy="310896"/>
          </a:xfrm>
          <a:prstGeom prst="rect">
            <a:avLst/>
          </a:prstGeom>
        </p:spPr>
      </p:pic>
      <p:sp>
        <p:nvSpPr>
          <p:cNvPr id="20" name="Text 15"/>
          <p:cNvSpPr txBox="1"/>
          <p:nvPr/>
        </p:nvSpPr>
        <p:spPr>
          <a:xfrm>
            <a:off x="3319181" y="4206240"/>
            <a:ext cx="17373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8F5A0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 follow-up</a:t>
            </a:r>
            <a:endParaRPr lang="en-US" sz="1250" dirty="0"/>
          </a:p>
        </p:txBody>
      </p:sp>
      <p:sp>
        <p:nvSpPr>
          <p:cNvPr id="21" name="Shape 16"/>
          <p:cNvSpPr/>
          <p:nvPr/>
        </p:nvSpPr>
        <p:spPr>
          <a:xfrm>
            <a:off x="4364614" y="2377440"/>
            <a:ext cx="1554480" cy="868680"/>
          </a:xfrm>
          <a:prstGeom prst="roundRect">
            <a:avLst>
              <a:gd name="adj" fmla="val 12632"/>
            </a:avLst>
          </a:prstGeom>
          <a:solidFill>
            <a:srgbClr val="FFFFFF"/>
          </a:solidFill>
          <a:ln w="9525">
            <a:solidFill>
              <a:srgbClr val="D5DEDB"/>
            </a:solidFill>
            <a:prstDash val="solid"/>
          </a:ln>
        </p:spPr>
      </p:sp>
      <p:sp>
        <p:nvSpPr>
          <p:cNvPr id="22" name="Text 17"/>
          <p:cNvSpPr txBox="1"/>
          <p:nvPr/>
        </p:nvSpPr>
        <p:spPr>
          <a:xfrm>
            <a:off x="4364614" y="2377440"/>
            <a:ext cx="155448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423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Booking</a:t>
            </a:r>
            <a:endParaRPr lang="en-US" sz="1600" dirty="0"/>
          </a:p>
        </p:txBody>
      </p:sp>
      <p:sp>
        <p:nvSpPr>
          <p:cNvPr id="23" name="Shape 18"/>
          <p:cNvSpPr/>
          <p:nvPr/>
        </p:nvSpPr>
        <p:spPr>
          <a:xfrm>
            <a:off x="5992246" y="2811780"/>
            <a:ext cx="207203" cy="0"/>
          </a:xfrm>
          <a:prstGeom prst="line">
            <a:avLst/>
          </a:prstGeom>
          <a:noFill/>
          <a:ln w="19050">
            <a:solidFill>
              <a:srgbClr val="0E7C6B"/>
            </a:solidFill>
            <a:prstDash val="solid"/>
            <a:tailEnd type="triangle"/>
          </a:ln>
        </p:spPr>
      </p:sp>
      <p:sp>
        <p:nvSpPr>
          <p:cNvPr id="24" name="Shape 19"/>
          <p:cNvSpPr/>
          <p:nvPr/>
        </p:nvSpPr>
        <p:spPr>
          <a:xfrm>
            <a:off x="6095848" y="2880360"/>
            <a:ext cx="0" cy="914400"/>
          </a:xfrm>
          <a:prstGeom prst="line">
            <a:avLst/>
          </a:prstGeom>
          <a:noFill/>
          <a:ln w="12700">
            <a:solidFill>
              <a:srgbClr val="8F5A0E"/>
            </a:solidFill>
            <a:prstDash val="dash"/>
          </a:ln>
        </p:spPr>
      </p:sp>
      <p:pic>
        <p:nvPicPr>
          <p:cNvPr id="25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940400" y="3840480"/>
            <a:ext cx="310896" cy="310896"/>
          </a:xfrm>
          <a:prstGeom prst="rect">
            <a:avLst/>
          </a:prstGeom>
        </p:spPr>
      </p:pic>
      <p:sp>
        <p:nvSpPr>
          <p:cNvPr id="26" name="Text 20"/>
          <p:cNvSpPr txBox="1"/>
          <p:nvPr/>
        </p:nvSpPr>
        <p:spPr>
          <a:xfrm>
            <a:off x="5227168" y="4206240"/>
            <a:ext cx="17373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8F5A0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No-show</a:t>
            </a:r>
            <a:endParaRPr lang="en-US" sz="1250" dirty="0"/>
          </a:p>
        </p:txBody>
      </p:sp>
      <p:sp>
        <p:nvSpPr>
          <p:cNvPr id="27" name="Shape 21"/>
          <p:cNvSpPr/>
          <p:nvPr/>
        </p:nvSpPr>
        <p:spPr>
          <a:xfrm>
            <a:off x="6272601" y="2377440"/>
            <a:ext cx="1554480" cy="868680"/>
          </a:xfrm>
          <a:prstGeom prst="roundRect">
            <a:avLst>
              <a:gd name="adj" fmla="val 12632"/>
            </a:avLst>
          </a:prstGeom>
          <a:solidFill>
            <a:srgbClr val="FFFFFF"/>
          </a:solidFill>
          <a:ln w="9525">
            <a:solidFill>
              <a:srgbClr val="D5DEDB"/>
            </a:solidFill>
            <a:prstDash val="solid"/>
          </a:ln>
        </p:spPr>
      </p:sp>
      <p:sp>
        <p:nvSpPr>
          <p:cNvPr id="28" name="Text 22"/>
          <p:cNvSpPr txBox="1"/>
          <p:nvPr/>
        </p:nvSpPr>
        <p:spPr>
          <a:xfrm>
            <a:off x="6272601" y="2377440"/>
            <a:ext cx="155448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423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Visit</a:t>
            </a:r>
            <a:endParaRPr lang="en-US" sz="1600" dirty="0"/>
          </a:p>
        </p:txBody>
      </p:sp>
      <p:sp>
        <p:nvSpPr>
          <p:cNvPr id="29" name="Shape 23"/>
          <p:cNvSpPr/>
          <p:nvPr/>
        </p:nvSpPr>
        <p:spPr>
          <a:xfrm>
            <a:off x="7900233" y="2811780"/>
            <a:ext cx="207203" cy="0"/>
          </a:xfrm>
          <a:prstGeom prst="line">
            <a:avLst/>
          </a:prstGeom>
          <a:noFill/>
          <a:ln w="19050">
            <a:solidFill>
              <a:srgbClr val="0E7C6B"/>
            </a:solidFill>
            <a:prstDash val="solid"/>
            <a:tailEnd type="triangle"/>
          </a:ln>
        </p:spPr>
      </p:sp>
      <p:sp>
        <p:nvSpPr>
          <p:cNvPr id="30" name="Shape 24"/>
          <p:cNvSpPr/>
          <p:nvPr/>
        </p:nvSpPr>
        <p:spPr>
          <a:xfrm>
            <a:off x="8003835" y="2880360"/>
            <a:ext cx="0" cy="914400"/>
          </a:xfrm>
          <a:prstGeom prst="line">
            <a:avLst/>
          </a:prstGeom>
          <a:noFill/>
          <a:ln w="12700">
            <a:solidFill>
              <a:srgbClr val="8F5A0E"/>
            </a:solidFill>
            <a:prstDash val="dash"/>
          </a:ln>
        </p:spPr>
      </p:sp>
      <p:pic>
        <p:nvPicPr>
          <p:cNvPr id="31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848387" y="3840480"/>
            <a:ext cx="310896" cy="310896"/>
          </a:xfrm>
          <a:prstGeom prst="rect">
            <a:avLst/>
          </a:prstGeom>
        </p:spPr>
      </p:pic>
      <p:sp>
        <p:nvSpPr>
          <p:cNvPr id="32" name="Text 25"/>
          <p:cNvSpPr txBox="1"/>
          <p:nvPr/>
        </p:nvSpPr>
        <p:spPr>
          <a:xfrm>
            <a:off x="7135155" y="4206240"/>
            <a:ext cx="17373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8F5A0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Plan not finished</a:t>
            </a:r>
            <a:endParaRPr lang="en-US" sz="1250" dirty="0"/>
          </a:p>
        </p:txBody>
      </p:sp>
      <p:sp>
        <p:nvSpPr>
          <p:cNvPr id="33" name="Shape 26"/>
          <p:cNvSpPr/>
          <p:nvPr/>
        </p:nvSpPr>
        <p:spPr>
          <a:xfrm>
            <a:off x="8180588" y="2377440"/>
            <a:ext cx="1554480" cy="868680"/>
          </a:xfrm>
          <a:prstGeom prst="roundRect">
            <a:avLst>
              <a:gd name="adj" fmla="val 12632"/>
            </a:avLst>
          </a:prstGeom>
          <a:solidFill>
            <a:srgbClr val="FFFFFF"/>
          </a:solidFill>
          <a:ln w="9525">
            <a:solidFill>
              <a:srgbClr val="D5DEDB"/>
            </a:solidFill>
            <a:prstDash val="solid"/>
          </a:ln>
        </p:spPr>
      </p:sp>
      <p:sp>
        <p:nvSpPr>
          <p:cNvPr id="34" name="Text 27"/>
          <p:cNvSpPr txBox="1"/>
          <p:nvPr/>
        </p:nvSpPr>
        <p:spPr>
          <a:xfrm>
            <a:off x="8180588" y="2377440"/>
            <a:ext cx="155448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423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Treatment</a:t>
            </a:r>
            <a:endParaRPr lang="en-US" sz="1600" dirty="0"/>
          </a:p>
        </p:txBody>
      </p:sp>
      <p:sp>
        <p:nvSpPr>
          <p:cNvPr id="35" name="Shape 28"/>
          <p:cNvSpPr/>
          <p:nvPr/>
        </p:nvSpPr>
        <p:spPr>
          <a:xfrm>
            <a:off x="9808220" y="2811780"/>
            <a:ext cx="207203" cy="0"/>
          </a:xfrm>
          <a:prstGeom prst="line">
            <a:avLst/>
          </a:prstGeom>
          <a:noFill/>
          <a:ln w="19050">
            <a:solidFill>
              <a:srgbClr val="0E7C6B"/>
            </a:solidFill>
            <a:prstDash val="solid"/>
            <a:tailEnd type="triangle"/>
          </a:ln>
        </p:spPr>
      </p:sp>
      <p:sp>
        <p:nvSpPr>
          <p:cNvPr id="36" name="Shape 29"/>
          <p:cNvSpPr/>
          <p:nvPr/>
        </p:nvSpPr>
        <p:spPr>
          <a:xfrm>
            <a:off x="9911822" y="2880360"/>
            <a:ext cx="0" cy="914400"/>
          </a:xfrm>
          <a:prstGeom prst="line">
            <a:avLst/>
          </a:prstGeom>
          <a:noFill/>
          <a:ln w="12700">
            <a:solidFill>
              <a:srgbClr val="8F5A0E"/>
            </a:solidFill>
            <a:prstDash val="dash"/>
          </a:ln>
        </p:spPr>
      </p:sp>
      <p:pic>
        <p:nvPicPr>
          <p:cNvPr id="37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9756374" y="3840480"/>
            <a:ext cx="310896" cy="310896"/>
          </a:xfrm>
          <a:prstGeom prst="rect">
            <a:avLst/>
          </a:prstGeom>
        </p:spPr>
      </p:pic>
      <p:sp>
        <p:nvSpPr>
          <p:cNvPr id="38" name="Text 30"/>
          <p:cNvSpPr txBox="1"/>
          <p:nvPr/>
        </p:nvSpPr>
        <p:spPr>
          <a:xfrm>
            <a:off x="9043142" y="4206240"/>
            <a:ext cx="17373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8F5A0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 recall</a:t>
            </a:r>
            <a:endParaRPr lang="en-US" sz="1250" dirty="0"/>
          </a:p>
        </p:txBody>
      </p:sp>
      <p:sp>
        <p:nvSpPr>
          <p:cNvPr id="39" name="Shape 31"/>
          <p:cNvSpPr/>
          <p:nvPr/>
        </p:nvSpPr>
        <p:spPr>
          <a:xfrm>
            <a:off x="10088575" y="2377440"/>
            <a:ext cx="1554480" cy="868680"/>
          </a:xfrm>
          <a:prstGeom prst="roundRect">
            <a:avLst>
              <a:gd name="adj" fmla="val 12632"/>
            </a:avLst>
          </a:prstGeom>
          <a:solidFill>
            <a:srgbClr val="DCEFEA"/>
          </a:solidFill>
          <a:ln w="12700">
            <a:solidFill>
              <a:srgbClr val="0E7C6B"/>
            </a:solidFill>
            <a:prstDash val="solid"/>
          </a:ln>
        </p:spPr>
      </p:sp>
      <p:sp>
        <p:nvSpPr>
          <p:cNvPr id="40" name="Text 32"/>
          <p:cNvSpPr txBox="1"/>
          <p:nvPr/>
        </p:nvSpPr>
        <p:spPr>
          <a:xfrm>
            <a:off x="10088575" y="2377440"/>
            <a:ext cx="155448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423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Return</a:t>
            </a:r>
            <a:endParaRPr lang="en-US" sz="1600" dirty="0"/>
          </a:p>
        </p:txBody>
      </p:sp>
      <p:sp>
        <p:nvSpPr>
          <p:cNvPr id="41" name="Shape 33"/>
          <p:cNvSpPr/>
          <p:nvPr/>
        </p:nvSpPr>
        <p:spPr>
          <a:xfrm>
            <a:off x="548640" y="5074920"/>
            <a:ext cx="11094415" cy="960120"/>
          </a:xfrm>
          <a:prstGeom prst="roundRect">
            <a:avLst>
              <a:gd name="adj" fmla="val 11429"/>
            </a:avLst>
          </a:prstGeom>
          <a:solidFill>
            <a:srgbClr val="FFFFFF"/>
          </a:solidFill>
          <a:ln w="9525">
            <a:solidFill>
              <a:srgbClr val="D5DEDB"/>
            </a:solidFill>
            <a:prstDash val="solid"/>
          </a:ln>
        </p:spPr>
      </p:sp>
      <p:pic>
        <p:nvPicPr>
          <p:cNvPr id="42" name="Image 6" descr="preencoded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868680" y="5330952"/>
            <a:ext cx="438912" cy="438912"/>
          </a:xfrm>
          <a:prstGeom prst="rect">
            <a:avLst/>
          </a:prstGeom>
        </p:spPr>
      </p:pic>
      <p:sp>
        <p:nvSpPr>
          <p:cNvPr id="43" name="Text 34"/>
          <p:cNvSpPr txBox="1"/>
          <p:nvPr/>
        </p:nvSpPr>
        <p:spPr>
          <a:xfrm>
            <a:off x="1554480" y="5074920"/>
            <a:ext cx="9814255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423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fix isn't more effort from staff. </a:t>
            </a:r>
            <a:pPr indent="0" marL="0">
              <a:buNone/>
            </a:pPr>
            <a:r>
              <a:rPr lang="en-US" sz="1500" dirty="0">
                <a:solidFill>
                  <a:srgbClr val="1423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It's a consistent, automatic next step at every hand-off, with a person stepping in only when needed.</a:t>
            </a:r>
            <a:endParaRPr lang="en-US" sz="15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6F8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84048"/>
            <a:ext cx="11094415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spc="150" kern="0" dirty="0">
                <a:solidFill>
                  <a:srgbClr val="0E7C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SOLUTION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76656"/>
            <a:ext cx="11094415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000" b="1" dirty="0">
                <a:solidFill>
                  <a:srgbClr val="1423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Patientcurve: the 3-step patient recovery system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6263640"/>
            <a:ext cx="11094415" cy="0"/>
          </a:xfrm>
          <a:prstGeom prst="line">
            <a:avLst/>
          </a:prstGeom>
          <a:noFill/>
          <a:ln w="9525">
            <a:solidFill>
              <a:srgbClr val="D5DEDB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548640" y="6373368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B6B7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Patientcurve  ·  Patient journey automation for dental clinics</a:t>
            </a:r>
            <a:endParaRPr lang="en-US" sz="1000" dirty="0"/>
          </a:p>
        </p:txBody>
      </p:sp>
      <p:sp>
        <p:nvSpPr>
          <p:cNvPr id="6" name="Text 4"/>
          <p:cNvSpPr txBox="1"/>
          <p:nvPr/>
        </p:nvSpPr>
        <p:spPr>
          <a:xfrm>
            <a:off x="8778240" y="6373368"/>
            <a:ext cx="1280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B6B7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 / 15</a:t>
            </a:r>
            <a:endParaRPr lang="en-US" sz="1000" dirty="0"/>
          </a:p>
        </p:txBody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360152" y="6382512"/>
            <a:ext cx="1280160" cy="243840"/>
          </a:xfrm>
          <a:prstGeom prst="rect">
            <a:avLst/>
          </a:prstGeom>
        </p:spPr>
      </p:pic>
      <p:sp>
        <p:nvSpPr>
          <p:cNvPr id="8" name="Text 5"/>
          <p:cNvSpPr txBox="1"/>
          <p:nvPr/>
        </p:nvSpPr>
        <p:spPr>
          <a:xfrm>
            <a:off x="548640" y="1463040"/>
            <a:ext cx="1109441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5B6B7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Patientcurve runs structured WhatsApp workflows on the clinic's own number, so every patient gets a timely, approved next step.</a:t>
            </a:r>
            <a:endParaRPr lang="en-US" sz="1500" dirty="0"/>
          </a:p>
        </p:txBody>
      </p:sp>
      <p:sp>
        <p:nvSpPr>
          <p:cNvPr id="9" name="Shape 6"/>
          <p:cNvSpPr/>
          <p:nvPr/>
        </p:nvSpPr>
        <p:spPr>
          <a:xfrm>
            <a:off x="548640" y="2148840"/>
            <a:ext cx="3515258" cy="3291840"/>
          </a:xfrm>
          <a:prstGeom prst="roundRect">
            <a:avLst>
              <a:gd name="adj" fmla="val 3333"/>
            </a:avLst>
          </a:prstGeom>
          <a:solidFill>
            <a:srgbClr val="FFFFFF"/>
          </a:solidFill>
          <a:ln w="9525">
            <a:solidFill>
              <a:srgbClr val="D5DEDB"/>
            </a:solidFill>
            <a:prstDash val="solid"/>
          </a:ln>
        </p:spPr>
      </p:sp>
      <p:sp>
        <p:nvSpPr>
          <p:cNvPr id="10" name="Text 7"/>
          <p:cNvSpPr txBox="1"/>
          <p:nvPr/>
        </p:nvSpPr>
        <p:spPr>
          <a:xfrm>
            <a:off x="914400" y="2468880"/>
            <a:ext cx="9144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4000" b="1" dirty="0">
                <a:solidFill>
                  <a:srgbClr val="0E7C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4000" dirty="0"/>
          </a:p>
        </p:txBody>
      </p:sp>
      <p:pic>
        <p:nvPicPr>
          <p:cNvPr id="11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195218" y="2560320"/>
            <a:ext cx="502920" cy="502920"/>
          </a:xfrm>
          <a:prstGeom prst="rect">
            <a:avLst/>
          </a:prstGeom>
        </p:spPr>
      </p:pic>
      <p:sp>
        <p:nvSpPr>
          <p:cNvPr id="12" name="Text 8"/>
          <p:cNvSpPr txBox="1"/>
          <p:nvPr/>
        </p:nvSpPr>
        <p:spPr>
          <a:xfrm>
            <a:off x="914400" y="3337560"/>
            <a:ext cx="2783738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400" b="1" dirty="0">
                <a:solidFill>
                  <a:srgbClr val="1423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Capture</a:t>
            </a:r>
            <a:endParaRPr lang="en-US" sz="2400" dirty="0"/>
          </a:p>
        </p:txBody>
      </p:sp>
      <p:sp>
        <p:nvSpPr>
          <p:cNvPr id="13" name="Text 9"/>
          <p:cNvSpPr txBox="1"/>
          <p:nvPr/>
        </p:nvSpPr>
        <p:spPr>
          <a:xfrm>
            <a:off x="914400" y="3931920"/>
            <a:ext cx="2783738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5B6B7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Record every enquiry and what the patient needs, at any hour, so nothing sits unanswered or unrecorded.</a:t>
            </a:r>
            <a:endParaRPr lang="en-US" sz="1400" dirty="0"/>
          </a:p>
        </p:txBody>
      </p:sp>
      <p:sp>
        <p:nvSpPr>
          <p:cNvPr id="14" name="Shape 10"/>
          <p:cNvSpPr/>
          <p:nvPr/>
        </p:nvSpPr>
        <p:spPr>
          <a:xfrm>
            <a:off x="4091330" y="3794760"/>
            <a:ext cx="219456" cy="0"/>
          </a:xfrm>
          <a:prstGeom prst="line">
            <a:avLst/>
          </a:prstGeom>
          <a:noFill/>
          <a:ln w="19050">
            <a:solidFill>
              <a:srgbClr val="0E7C6B"/>
            </a:solidFill>
            <a:prstDash val="solid"/>
            <a:tailEnd type="triangle"/>
          </a:ln>
        </p:spPr>
      </p:sp>
      <p:sp>
        <p:nvSpPr>
          <p:cNvPr id="15" name="Shape 11"/>
          <p:cNvSpPr/>
          <p:nvPr/>
        </p:nvSpPr>
        <p:spPr>
          <a:xfrm>
            <a:off x="4338218" y="2148840"/>
            <a:ext cx="3515258" cy="3291840"/>
          </a:xfrm>
          <a:prstGeom prst="roundRect">
            <a:avLst>
              <a:gd name="adj" fmla="val 3333"/>
            </a:avLst>
          </a:prstGeom>
          <a:solidFill>
            <a:srgbClr val="FFFFFF"/>
          </a:solidFill>
          <a:ln w="9525">
            <a:solidFill>
              <a:srgbClr val="D5DEDB"/>
            </a:solidFill>
            <a:prstDash val="solid"/>
          </a:ln>
        </p:spPr>
      </p:sp>
      <p:sp>
        <p:nvSpPr>
          <p:cNvPr id="16" name="Text 12"/>
          <p:cNvSpPr txBox="1"/>
          <p:nvPr/>
        </p:nvSpPr>
        <p:spPr>
          <a:xfrm>
            <a:off x="4703978" y="2468880"/>
            <a:ext cx="9144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4000" b="1" dirty="0">
                <a:solidFill>
                  <a:srgbClr val="0E7C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4000" dirty="0"/>
          </a:p>
        </p:txBody>
      </p:sp>
      <p:pic>
        <p:nvPicPr>
          <p:cNvPr id="17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984797" y="2560320"/>
            <a:ext cx="502920" cy="502920"/>
          </a:xfrm>
          <a:prstGeom prst="rect">
            <a:avLst/>
          </a:prstGeom>
        </p:spPr>
      </p:pic>
      <p:sp>
        <p:nvSpPr>
          <p:cNvPr id="18" name="Text 13"/>
          <p:cNvSpPr txBox="1"/>
          <p:nvPr/>
        </p:nvSpPr>
        <p:spPr>
          <a:xfrm>
            <a:off x="4703978" y="3337560"/>
            <a:ext cx="2783738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400" b="1" dirty="0">
                <a:solidFill>
                  <a:srgbClr val="1423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Follow up</a:t>
            </a:r>
            <a:endParaRPr lang="en-US" sz="2400" dirty="0"/>
          </a:p>
        </p:txBody>
      </p:sp>
      <p:sp>
        <p:nvSpPr>
          <p:cNvPr id="19" name="Text 14"/>
          <p:cNvSpPr txBox="1"/>
          <p:nvPr/>
        </p:nvSpPr>
        <p:spPr>
          <a:xfrm>
            <a:off x="4703978" y="3931920"/>
            <a:ext cx="2783738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5B6B7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Send configured WhatsApp follow-ups based on agreed rules, until the patient books or says no.</a:t>
            </a:r>
            <a:endParaRPr lang="en-US" sz="1400" dirty="0"/>
          </a:p>
        </p:txBody>
      </p:sp>
      <p:sp>
        <p:nvSpPr>
          <p:cNvPr id="20" name="Shape 15"/>
          <p:cNvSpPr/>
          <p:nvPr/>
        </p:nvSpPr>
        <p:spPr>
          <a:xfrm>
            <a:off x="7880909" y="3794760"/>
            <a:ext cx="219456" cy="0"/>
          </a:xfrm>
          <a:prstGeom prst="line">
            <a:avLst/>
          </a:prstGeom>
          <a:noFill/>
          <a:ln w="19050">
            <a:solidFill>
              <a:srgbClr val="0E7C6B"/>
            </a:solidFill>
            <a:prstDash val="solid"/>
            <a:tailEnd type="triangle"/>
          </a:ln>
        </p:spPr>
      </p:sp>
      <p:sp>
        <p:nvSpPr>
          <p:cNvPr id="21" name="Shape 16"/>
          <p:cNvSpPr/>
          <p:nvPr/>
        </p:nvSpPr>
        <p:spPr>
          <a:xfrm>
            <a:off x="8127797" y="2148840"/>
            <a:ext cx="3515258" cy="3291840"/>
          </a:xfrm>
          <a:prstGeom prst="roundRect">
            <a:avLst>
              <a:gd name="adj" fmla="val 3333"/>
            </a:avLst>
          </a:prstGeom>
          <a:solidFill>
            <a:srgbClr val="14232B"/>
          </a:solidFill>
          <a:ln w="9525">
            <a:solidFill>
              <a:srgbClr val="14232B"/>
            </a:solidFill>
            <a:prstDash val="solid"/>
          </a:ln>
        </p:spPr>
      </p:sp>
      <p:sp>
        <p:nvSpPr>
          <p:cNvPr id="22" name="Text 17"/>
          <p:cNvSpPr txBox="1"/>
          <p:nvPr/>
        </p:nvSpPr>
        <p:spPr>
          <a:xfrm>
            <a:off x="8493557" y="2468880"/>
            <a:ext cx="9144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4000" b="1" dirty="0">
                <a:solidFill>
                  <a:srgbClr val="3FC0A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4000" dirty="0"/>
          </a:p>
        </p:txBody>
      </p:sp>
      <p:pic>
        <p:nvPicPr>
          <p:cNvPr id="23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774375" y="2560320"/>
            <a:ext cx="502920" cy="502920"/>
          </a:xfrm>
          <a:prstGeom prst="rect">
            <a:avLst/>
          </a:prstGeom>
        </p:spPr>
      </p:pic>
      <p:sp>
        <p:nvSpPr>
          <p:cNvPr id="24" name="Text 18"/>
          <p:cNvSpPr txBox="1"/>
          <p:nvPr/>
        </p:nvSpPr>
        <p:spPr>
          <a:xfrm>
            <a:off x="8493557" y="3337560"/>
            <a:ext cx="2783738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Recover</a:t>
            </a:r>
            <a:endParaRPr lang="en-US" sz="2400" dirty="0"/>
          </a:p>
        </p:txBody>
      </p:sp>
      <p:sp>
        <p:nvSpPr>
          <p:cNvPr id="25" name="Text 19"/>
          <p:cNvSpPr txBox="1"/>
          <p:nvPr/>
        </p:nvSpPr>
        <p:spPr>
          <a:xfrm>
            <a:off x="8493557" y="3931920"/>
            <a:ext cx="2783738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C9D6D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Bring back patients who missed a visit or haven't returned, and hand over to staff when a person is needed.</a:t>
            </a:r>
            <a:endParaRPr lang="en-US" sz="1400" dirty="0"/>
          </a:p>
        </p:txBody>
      </p:sp>
      <p:sp>
        <p:nvSpPr>
          <p:cNvPr id="26" name="Text 20"/>
          <p:cNvSpPr txBox="1"/>
          <p:nvPr/>
        </p:nvSpPr>
        <p:spPr>
          <a:xfrm>
            <a:off x="548640" y="5623560"/>
            <a:ext cx="11094415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b="1" dirty="0">
                <a:solidFill>
                  <a:srgbClr val="0E7C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Not a chatbot that guesses. Every message is clinic-approved, and anything outside the agreed answers goes to your team.</a:t>
            </a:r>
            <a:endParaRPr lang="en-US" sz="13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6F8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84048"/>
            <a:ext cx="11094415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spc="150" kern="0" dirty="0">
                <a:solidFill>
                  <a:srgbClr val="0E7C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HOW IT WORKS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76656"/>
            <a:ext cx="11094415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000" b="1" dirty="0">
                <a:solidFill>
                  <a:srgbClr val="1423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From first message to booked appointment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6263640"/>
            <a:ext cx="11094415" cy="0"/>
          </a:xfrm>
          <a:prstGeom prst="line">
            <a:avLst/>
          </a:prstGeom>
          <a:noFill/>
          <a:ln w="9525">
            <a:solidFill>
              <a:srgbClr val="D5DEDB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548640" y="6373368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B6B7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Patientcurve  ·  Patient journey automation for dental clinics</a:t>
            </a:r>
            <a:endParaRPr lang="en-US" sz="1000" dirty="0"/>
          </a:p>
        </p:txBody>
      </p:sp>
      <p:sp>
        <p:nvSpPr>
          <p:cNvPr id="6" name="Text 4"/>
          <p:cNvSpPr txBox="1"/>
          <p:nvPr/>
        </p:nvSpPr>
        <p:spPr>
          <a:xfrm>
            <a:off x="8778240" y="6373368"/>
            <a:ext cx="1280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B6B7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 / 15</a:t>
            </a:r>
            <a:endParaRPr lang="en-US" sz="1000" dirty="0"/>
          </a:p>
        </p:txBody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360152" y="6382512"/>
            <a:ext cx="1280160" cy="243840"/>
          </a:xfrm>
          <a:prstGeom prst="rect">
            <a:avLst/>
          </a:prstGeom>
        </p:spPr>
      </p:pic>
      <p:sp>
        <p:nvSpPr>
          <p:cNvPr id="8" name="Text 5"/>
          <p:cNvSpPr txBox="1"/>
          <p:nvPr/>
        </p:nvSpPr>
        <p:spPr>
          <a:xfrm>
            <a:off x="548640" y="1463040"/>
            <a:ext cx="1109441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5B6B7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simple, rule-based flow. The clinic approves the content and rules; Patientcurve runs them.</a:t>
            </a:r>
            <a:endParaRPr lang="en-US" sz="1500" dirty="0"/>
          </a:p>
        </p:txBody>
      </p:sp>
      <p:sp>
        <p:nvSpPr>
          <p:cNvPr id="9" name="Shape 6"/>
          <p:cNvSpPr/>
          <p:nvPr/>
        </p:nvSpPr>
        <p:spPr>
          <a:xfrm>
            <a:off x="548640" y="2148840"/>
            <a:ext cx="1984797" cy="2651760"/>
          </a:xfrm>
          <a:prstGeom prst="roundRect">
            <a:avLst>
              <a:gd name="adj" fmla="val 5528"/>
            </a:avLst>
          </a:prstGeom>
          <a:solidFill>
            <a:srgbClr val="FFFFFF"/>
          </a:solidFill>
          <a:ln w="9525">
            <a:solidFill>
              <a:srgbClr val="D5DEDB"/>
            </a:solidFill>
            <a:prstDash val="solid"/>
          </a:ln>
        </p:spPr>
      </p:sp>
      <p:pic>
        <p:nvPicPr>
          <p:cNvPr id="10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22960" y="2423160"/>
            <a:ext cx="457200" cy="457200"/>
          </a:xfrm>
          <a:prstGeom prst="rect">
            <a:avLst/>
          </a:prstGeom>
        </p:spPr>
      </p:pic>
      <p:sp>
        <p:nvSpPr>
          <p:cNvPr id="11" name="Text 7"/>
          <p:cNvSpPr txBox="1"/>
          <p:nvPr/>
        </p:nvSpPr>
        <p:spPr>
          <a:xfrm>
            <a:off x="822960" y="3063240"/>
            <a:ext cx="1527597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rgbClr val="1423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Patient enquiry</a:t>
            </a:r>
            <a:endParaRPr lang="en-US" sz="1600" dirty="0"/>
          </a:p>
        </p:txBody>
      </p:sp>
      <p:sp>
        <p:nvSpPr>
          <p:cNvPr id="12" name="Text 8"/>
          <p:cNvSpPr txBox="1"/>
          <p:nvPr/>
        </p:nvSpPr>
        <p:spPr>
          <a:xfrm>
            <a:off x="822960" y="3749040"/>
            <a:ext cx="1527597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5B6B7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patient messages the clinic's WhatsApp number.</a:t>
            </a:r>
            <a:endParaRPr lang="en-US" sz="1250" dirty="0"/>
          </a:p>
        </p:txBody>
      </p:sp>
      <p:sp>
        <p:nvSpPr>
          <p:cNvPr id="13" name="Shape 9"/>
          <p:cNvSpPr/>
          <p:nvPr/>
        </p:nvSpPr>
        <p:spPr>
          <a:xfrm>
            <a:off x="2579157" y="3474720"/>
            <a:ext cx="201168" cy="0"/>
          </a:xfrm>
          <a:prstGeom prst="line">
            <a:avLst/>
          </a:prstGeom>
          <a:noFill/>
          <a:ln w="19050">
            <a:solidFill>
              <a:srgbClr val="0E7C6B"/>
            </a:solidFill>
            <a:prstDash val="solid"/>
            <a:tailEnd type="triangle"/>
          </a:ln>
        </p:spPr>
      </p:sp>
      <p:sp>
        <p:nvSpPr>
          <p:cNvPr id="14" name="Shape 10"/>
          <p:cNvSpPr/>
          <p:nvPr/>
        </p:nvSpPr>
        <p:spPr>
          <a:xfrm>
            <a:off x="2826045" y="2148840"/>
            <a:ext cx="1984797" cy="2651760"/>
          </a:xfrm>
          <a:prstGeom prst="roundRect">
            <a:avLst>
              <a:gd name="adj" fmla="val 5528"/>
            </a:avLst>
          </a:prstGeom>
          <a:solidFill>
            <a:srgbClr val="FFFFFF"/>
          </a:solidFill>
          <a:ln w="9525">
            <a:solidFill>
              <a:srgbClr val="D5DEDB"/>
            </a:solidFill>
            <a:prstDash val="solid"/>
          </a:ln>
        </p:spPr>
      </p:sp>
      <p:pic>
        <p:nvPicPr>
          <p:cNvPr id="15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100365" y="2423160"/>
            <a:ext cx="457200" cy="457200"/>
          </a:xfrm>
          <a:prstGeom prst="rect">
            <a:avLst/>
          </a:prstGeom>
        </p:spPr>
      </p:pic>
      <p:sp>
        <p:nvSpPr>
          <p:cNvPr id="16" name="Text 11"/>
          <p:cNvSpPr txBox="1"/>
          <p:nvPr/>
        </p:nvSpPr>
        <p:spPr>
          <a:xfrm>
            <a:off x="3100365" y="3063240"/>
            <a:ext cx="1527597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rgbClr val="1423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WhatsApp workflow</a:t>
            </a:r>
            <a:endParaRPr lang="en-US" sz="1600" dirty="0"/>
          </a:p>
        </p:txBody>
      </p:sp>
      <p:sp>
        <p:nvSpPr>
          <p:cNvPr id="17" name="Text 12"/>
          <p:cNvSpPr txBox="1"/>
          <p:nvPr/>
        </p:nvSpPr>
        <p:spPr>
          <a:xfrm>
            <a:off x="3100365" y="3749040"/>
            <a:ext cx="1527597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5B6B7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Approved answers and a few short questions.</a:t>
            </a:r>
            <a:endParaRPr lang="en-US" sz="1250" dirty="0"/>
          </a:p>
        </p:txBody>
      </p:sp>
      <p:sp>
        <p:nvSpPr>
          <p:cNvPr id="18" name="Shape 13"/>
          <p:cNvSpPr/>
          <p:nvPr/>
        </p:nvSpPr>
        <p:spPr>
          <a:xfrm>
            <a:off x="4856561" y="3474720"/>
            <a:ext cx="201168" cy="0"/>
          </a:xfrm>
          <a:prstGeom prst="line">
            <a:avLst/>
          </a:prstGeom>
          <a:noFill/>
          <a:ln w="19050">
            <a:solidFill>
              <a:srgbClr val="0E7C6B"/>
            </a:solidFill>
            <a:prstDash val="solid"/>
            <a:tailEnd type="triangle"/>
          </a:ln>
        </p:spPr>
      </p:sp>
      <p:sp>
        <p:nvSpPr>
          <p:cNvPr id="19" name="Shape 14"/>
          <p:cNvSpPr/>
          <p:nvPr/>
        </p:nvSpPr>
        <p:spPr>
          <a:xfrm>
            <a:off x="5103449" y="2148840"/>
            <a:ext cx="1984797" cy="2651760"/>
          </a:xfrm>
          <a:prstGeom prst="roundRect">
            <a:avLst>
              <a:gd name="adj" fmla="val 5528"/>
            </a:avLst>
          </a:prstGeom>
          <a:solidFill>
            <a:srgbClr val="FFFFFF"/>
          </a:solidFill>
          <a:ln w="9525">
            <a:solidFill>
              <a:srgbClr val="D5DEDB"/>
            </a:solidFill>
            <a:prstDash val="solid"/>
          </a:ln>
        </p:spPr>
      </p:sp>
      <p:pic>
        <p:nvPicPr>
          <p:cNvPr id="20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377769" y="2423160"/>
            <a:ext cx="457200" cy="457200"/>
          </a:xfrm>
          <a:prstGeom prst="rect">
            <a:avLst/>
          </a:prstGeom>
        </p:spPr>
      </p:pic>
      <p:sp>
        <p:nvSpPr>
          <p:cNvPr id="21" name="Text 15"/>
          <p:cNvSpPr txBox="1"/>
          <p:nvPr/>
        </p:nvSpPr>
        <p:spPr>
          <a:xfrm>
            <a:off x="5377769" y="3063240"/>
            <a:ext cx="1527597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rgbClr val="1423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Follow-up logic</a:t>
            </a:r>
            <a:endParaRPr lang="en-US" sz="1600" dirty="0"/>
          </a:p>
        </p:txBody>
      </p:sp>
      <p:sp>
        <p:nvSpPr>
          <p:cNvPr id="22" name="Text 16"/>
          <p:cNvSpPr txBox="1"/>
          <p:nvPr/>
        </p:nvSpPr>
        <p:spPr>
          <a:xfrm>
            <a:off x="5377769" y="3749040"/>
            <a:ext cx="1527597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5B6B7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Timed reminders if the patient hasn't booked.</a:t>
            </a:r>
            <a:endParaRPr lang="en-US" sz="1250" dirty="0"/>
          </a:p>
        </p:txBody>
      </p:sp>
      <p:sp>
        <p:nvSpPr>
          <p:cNvPr id="23" name="Shape 17"/>
          <p:cNvSpPr/>
          <p:nvPr/>
        </p:nvSpPr>
        <p:spPr>
          <a:xfrm>
            <a:off x="7133966" y="3474720"/>
            <a:ext cx="201168" cy="0"/>
          </a:xfrm>
          <a:prstGeom prst="line">
            <a:avLst/>
          </a:prstGeom>
          <a:noFill/>
          <a:ln w="19050">
            <a:solidFill>
              <a:srgbClr val="0E7C6B"/>
            </a:solidFill>
            <a:prstDash val="solid"/>
            <a:tailEnd type="triangle"/>
          </a:ln>
        </p:spPr>
      </p:sp>
      <p:sp>
        <p:nvSpPr>
          <p:cNvPr id="24" name="Shape 18"/>
          <p:cNvSpPr/>
          <p:nvPr/>
        </p:nvSpPr>
        <p:spPr>
          <a:xfrm>
            <a:off x="7380854" y="2148840"/>
            <a:ext cx="1984797" cy="2651760"/>
          </a:xfrm>
          <a:prstGeom prst="roundRect">
            <a:avLst>
              <a:gd name="adj" fmla="val 5528"/>
            </a:avLst>
          </a:prstGeom>
          <a:solidFill>
            <a:srgbClr val="FFFFFF"/>
          </a:solidFill>
          <a:ln w="9525">
            <a:solidFill>
              <a:srgbClr val="D5DEDB"/>
            </a:solidFill>
            <a:prstDash val="solid"/>
          </a:ln>
        </p:spPr>
      </p:sp>
      <p:pic>
        <p:nvPicPr>
          <p:cNvPr id="25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655174" y="2423160"/>
            <a:ext cx="457200" cy="457200"/>
          </a:xfrm>
          <a:prstGeom prst="rect">
            <a:avLst/>
          </a:prstGeom>
        </p:spPr>
      </p:pic>
      <p:sp>
        <p:nvSpPr>
          <p:cNvPr id="26" name="Text 19"/>
          <p:cNvSpPr txBox="1"/>
          <p:nvPr/>
        </p:nvSpPr>
        <p:spPr>
          <a:xfrm>
            <a:off x="7655174" y="3063240"/>
            <a:ext cx="1527597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rgbClr val="1423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Booking or handoff</a:t>
            </a:r>
            <a:endParaRPr lang="en-US" sz="1600" dirty="0"/>
          </a:p>
        </p:txBody>
      </p:sp>
      <p:sp>
        <p:nvSpPr>
          <p:cNvPr id="27" name="Text 20"/>
          <p:cNvSpPr txBox="1"/>
          <p:nvPr/>
        </p:nvSpPr>
        <p:spPr>
          <a:xfrm>
            <a:off x="7655174" y="3749040"/>
            <a:ext cx="1527597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5B6B7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booking link, or a staff alert for a call.</a:t>
            </a:r>
            <a:endParaRPr lang="en-US" sz="1250" dirty="0"/>
          </a:p>
        </p:txBody>
      </p:sp>
      <p:sp>
        <p:nvSpPr>
          <p:cNvPr id="28" name="Shape 21"/>
          <p:cNvSpPr/>
          <p:nvPr/>
        </p:nvSpPr>
        <p:spPr>
          <a:xfrm>
            <a:off x="9411371" y="3474720"/>
            <a:ext cx="201168" cy="0"/>
          </a:xfrm>
          <a:prstGeom prst="line">
            <a:avLst/>
          </a:prstGeom>
          <a:noFill/>
          <a:ln w="19050">
            <a:solidFill>
              <a:srgbClr val="0E7C6B"/>
            </a:solidFill>
            <a:prstDash val="solid"/>
            <a:tailEnd type="triangle"/>
          </a:ln>
        </p:spPr>
      </p:sp>
      <p:sp>
        <p:nvSpPr>
          <p:cNvPr id="29" name="Shape 22"/>
          <p:cNvSpPr/>
          <p:nvPr/>
        </p:nvSpPr>
        <p:spPr>
          <a:xfrm>
            <a:off x="9658259" y="2148840"/>
            <a:ext cx="1984797" cy="2651760"/>
          </a:xfrm>
          <a:prstGeom prst="roundRect">
            <a:avLst>
              <a:gd name="adj" fmla="val 5528"/>
            </a:avLst>
          </a:prstGeom>
          <a:solidFill>
            <a:srgbClr val="DCEFEA"/>
          </a:solidFill>
          <a:ln w="12700">
            <a:solidFill>
              <a:srgbClr val="0E7C6B"/>
            </a:solidFill>
            <a:prstDash val="solid"/>
          </a:ln>
        </p:spPr>
      </p:sp>
      <p:pic>
        <p:nvPicPr>
          <p:cNvPr id="30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9932579" y="2423160"/>
            <a:ext cx="457200" cy="457200"/>
          </a:xfrm>
          <a:prstGeom prst="rect">
            <a:avLst/>
          </a:prstGeom>
        </p:spPr>
      </p:pic>
      <p:sp>
        <p:nvSpPr>
          <p:cNvPr id="31" name="Text 23"/>
          <p:cNvSpPr txBox="1"/>
          <p:nvPr/>
        </p:nvSpPr>
        <p:spPr>
          <a:xfrm>
            <a:off x="9932579" y="3063240"/>
            <a:ext cx="1527597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rgbClr val="1423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Status tracking</a:t>
            </a:r>
            <a:endParaRPr lang="en-US" sz="1600" dirty="0"/>
          </a:p>
        </p:txBody>
      </p:sp>
      <p:sp>
        <p:nvSpPr>
          <p:cNvPr id="32" name="Text 24"/>
          <p:cNvSpPr txBox="1"/>
          <p:nvPr/>
        </p:nvSpPr>
        <p:spPr>
          <a:xfrm>
            <a:off x="9932579" y="3749040"/>
            <a:ext cx="1527597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5B6B7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Every enquiry has a status the clinic can see.</a:t>
            </a:r>
            <a:endParaRPr lang="en-US" sz="1250" dirty="0"/>
          </a:p>
        </p:txBody>
      </p:sp>
      <p:sp>
        <p:nvSpPr>
          <p:cNvPr id="33" name="Shape 25"/>
          <p:cNvSpPr/>
          <p:nvPr/>
        </p:nvSpPr>
        <p:spPr>
          <a:xfrm>
            <a:off x="548640" y="5029200"/>
            <a:ext cx="11094415" cy="1005840"/>
          </a:xfrm>
          <a:prstGeom prst="roundRect">
            <a:avLst>
              <a:gd name="adj" fmla="val 10909"/>
            </a:avLst>
          </a:prstGeom>
          <a:solidFill>
            <a:srgbClr val="FFFFFF"/>
          </a:solidFill>
          <a:ln w="9525">
            <a:solidFill>
              <a:srgbClr val="D5DEDB"/>
            </a:solidFill>
            <a:prstDash val="solid"/>
          </a:ln>
        </p:spPr>
      </p:sp>
      <p:sp>
        <p:nvSpPr>
          <p:cNvPr id="34" name="Text 26"/>
          <p:cNvSpPr txBox="1"/>
          <p:nvPr/>
        </p:nvSpPr>
        <p:spPr>
          <a:xfrm>
            <a:off x="868680" y="5029200"/>
            <a:ext cx="10454335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423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Works with what the clinic already uses. </a:t>
            </a:r>
            <a:pPr indent="0" marL="0">
              <a:buNone/>
            </a:pPr>
            <a:r>
              <a:rPr lang="en-US" sz="1400" dirty="0">
                <a:solidFill>
                  <a:srgbClr val="1423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Workflows run on the clinic's WhatsApp Business number. Calendar or software connections are added only where they are configured and tested for that clinic.</a:t>
            </a:r>
            <a:endParaRPr lang="en-US" sz="14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6F8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84048"/>
            <a:ext cx="11094415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spc="150" kern="0" dirty="0">
                <a:solidFill>
                  <a:srgbClr val="0E7C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FEATURES  ·  CAPTURE AND FOLLOW UP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76656"/>
            <a:ext cx="11094415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000" b="1" dirty="0">
                <a:solidFill>
                  <a:srgbClr val="1423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Turn more enquiries into appointments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6263640"/>
            <a:ext cx="11094415" cy="0"/>
          </a:xfrm>
          <a:prstGeom prst="line">
            <a:avLst/>
          </a:prstGeom>
          <a:noFill/>
          <a:ln w="9525">
            <a:solidFill>
              <a:srgbClr val="D5DEDB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548640" y="6373368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B6B7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Patientcurve  ·  Patient journey automation for dental clinics</a:t>
            </a:r>
            <a:endParaRPr lang="en-US" sz="1000" dirty="0"/>
          </a:p>
        </p:txBody>
      </p:sp>
      <p:sp>
        <p:nvSpPr>
          <p:cNvPr id="6" name="Text 4"/>
          <p:cNvSpPr txBox="1"/>
          <p:nvPr/>
        </p:nvSpPr>
        <p:spPr>
          <a:xfrm>
            <a:off x="8778240" y="6373368"/>
            <a:ext cx="1280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B6B7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7 / 15</a:t>
            </a:r>
            <a:endParaRPr lang="en-US" sz="1000" dirty="0"/>
          </a:p>
        </p:txBody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360152" y="6382512"/>
            <a:ext cx="1280160" cy="243840"/>
          </a:xfrm>
          <a:prstGeom prst="rect">
            <a:avLst/>
          </a:prstGeom>
        </p:spPr>
      </p:pic>
      <p:sp>
        <p:nvSpPr>
          <p:cNvPr id="8" name="Shape 5"/>
          <p:cNvSpPr/>
          <p:nvPr/>
        </p:nvSpPr>
        <p:spPr>
          <a:xfrm>
            <a:off x="548640" y="1600200"/>
            <a:ext cx="3545738" cy="1874520"/>
          </a:xfrm>
          <a:prstGeom prst="roundRect">
            <a:avLst>
              <a:gd name="adj" fmla="val 5854"/>
            </a:avLst>
          </a:prstGeom>
          <a:solidFill>
            <a:srgbClr val="FFFFFF"/>
          </a:solidFill>
          <a:ln w="9525">
            <a:solidFill>
              <a:srgbClr val="D5DEDB"/>
            </a:solidFill>
            <a:prstDash val="solid"/>
          </a:ln>
        </p:spPr>
      </p:sp>
      <p:pic>
        <p:nvPicPr>
          <p:cNvPr id="9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22960" y="1874520"/>
            <a:ext cx="411480" cy="411480"/>
          </a:xfrm>
          <a:prstGeom prst="rect">
            <a:avLst/>
          </a:prstGeom>
        </p:spPr>
      </p:pic>
      <p:sp>
        <p:nvSpPr>
          <p:cNvPr id="10" name="Text 6"/>
          <p:cNvSpPr txBox="1"/>
          <p:nvPr/>
        </p:nvSpPr>
        <p:spPr>
          <a:xfrm>
            <a:off x="1417320" y="1874520"/>
            <a:ext cx="244845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423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New enquiry capture</a:t>
            </a:r>
            <a:endParaRPr lang="en-US" sz="1600" dirty="0"/>
          </a:p>
        </p:txBody>
      </p:sp>
      <p:sp>
        <p:nvSpPr>
          <p:cNvPr id="11" name="Text 7"/>
          <p:cNvSpPr txBox="1"/>
          <p:nvPr/>
        </p:nvSpPr>
        <p:spPr>
          <a:xfrm>
            <a:off x="822960" y="2468880"/>
            <a:ext cx="2997098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5B6B7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Every WhatsApp enquiry is recorded with the patient's name, number and stated need.</a:t>
            </a:r>
            <a:endParaRPr lang="en-US" sz="1300" dirty="0"/>
          </a:p>
        </p:txBody>
      </p:sp>
      <p:sp>
        <p:nvSpPr>
          <p:cNvPr id="12" name="Shape 8"/>
          <p:cNvSpPr/>
          <p:nvPr/>
        </p:nvSpPr>
        <p:spPr>
          <a:xfrm>
            <a:off x="4322978" y="1600200"/>
            <a:ext cx="3545738" cy="1874520"/>
          </a:xfrm>
          <a:prstGeom prst="roundRect">
            <a:avLst>
              <a:gd name="adj" fmla="val 5854"/>
            </a:avLst>
          </a:prstGeom>
          <a:solidFill>
            <a:srgbClr val="FFFFFF"/>
          </a:solidFill>
          <a:ln w="9525">
            <a:solidFill>
              <a:srgbClr val="D5DEDB"/>
            </a:solidFill>
            <a:prstDash val="solid"/>
          </a:ln>
        </p:spPr>
      </p:sp>
      <p:pic>
        <p:nvPicPr>
          <p:cNvPr id="13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97298" y="1874520"/>
            <a:ext cx="411480" cy="411480"/>
          </a:xfrm>
          <a:prstGeom prst="rect">
            <a:avLst/>
          </a:prstGeom>
        </p:spPr>
      </p:pic>
      <p:sp>
        <p:nvSpPr>
          <p:cNvPr id="14" name="Text 9"/>
          <p:cNvSpPr txBox="1"/>
          <p:nvPr/>
        </p:nvSpPr>
        <p:spPr>
          <a:xfrm>
            <a:off x="5191658" y="1874520"/>
            <a:ext cx="244845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423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Automated FAQ answers</a:t>
            </a:r>
            <a:endParaRPr lang="en-US" sz="1600" dirty="0"/>
          </a:p>
        </p:txBody>
      </p:sp>
      <p:sp>
        <p:nvSpPr>
          <p:cNvPr id="15" name="Text 10"/>
          <p:cNvSpPr txBox="1"/>
          <p:nvPr/>
        </p:nvSpPr>
        <p:spPr>
          <a:xfrm>
            <a:off x="4597298" y="2468880"/>
            <a:ext cx="2997098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5B6B7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Timings, location, consultation process and more, answered instantly with clinic-approved content.</a:t>
            </a:r>
            <a:endParaRPr lang="en-US" sz="1300" dirty="0"/>
          </a:p>
        </p:txBody>
      </p:sp>
      <p:sp>
        <p:nvSpPr>
          <p:cNvPr id="16" name="Shape 11"/>
          <p:cNvSpPr/>
          <p:nvPr/>
        </p:nvSpPr>
        <p:spPr>
          <a:xfrm>
            <a:off x="8097317" y="1600200"/>
            <a:ext cx="3545738" cy="1874520"/>
          </a:xfrm>
          <a:prstGeom prst="roundRect">
            <a:avLst>
              <a:gd name="adj" fmla="val 5854"/>
            </a:avLst>
          </a:prstGeom>
          <a:solidFill>
            <a:srgbClr val="FFFFFF"/>
          </a:solidFill>
          <a:ln w="9525">
            <a:solidFill>
              <a:srgbClr val="D5DEDB"/>
            </a:solidFill>
            <a:prstDash val="solid"/>
          </a:ln>
        </p:spPr>
      </p:sp>
      <p:pic>
        <p:nvPicPr>
          <p:cNvPr id="17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371637" y="1874520"/>
            <a:ext cx="411480" cy="411480"/>
          </a:xfrm>
          <a:prstGeom prst="rect">
            <a:avLst/>
          </a:prstGeom>
        </p:spPr>
      </p:pic>
      <p:sp>
        <p:nvSpPr>
          <p:cNvPr id="18" name="Text 12"/>
          <p:cNvSpPr txBox="1"/>
          <p:nvPr/>
        </p:nvSpPr>
        <p:spPr>
          <a:xfrm>
            <a:off x="8965997" y="1874520"/>
            <a:ext cx="244845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423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Lead qualification</a:t>
            </a:r>
            <a:endParaRPr lang="en-US" sz="1600" dirty="0"/>
          </a:p>
        </p:txBody>
      </p:sp>
      <p:sp>
        <p:nvSpPr>
          <p:cNvPr id="19" name="Text 13"/>
          <p:cNvSpPr txBox="1"/>
          <p:nvPr/>
        </p:nvSpPr>
        <p:spPr>
          <a:xfrm>
            <a:off x="8371637" y="2468880"/>
            <a:ext cx="2997098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5B6B7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few short questions to understand the treatment interest, so the right next step is offered.</a:t>
            </a:r>
            <a:endParaRPr lang="en-US" sz="1300" dirty="0"/>
          </a:p>
        </p:txBody>
      </p:sp>
      <p:sp>
        <p:nvSpPr>
          <p:cNvPr id="20" name="Shape 14"/>
          <p:cNvSpPr/>
          <p:nvPr/>
        </p:nvSpPr>
        <p:spPr>
          <a:xfrm>
            <a:off x="548640" y="3675888"/>
            <a:ext cx="3545738" cy="1874520"/>
          </a:xfrm>
          <a:prstGeom prst="roundRect">
            <a:avLst>
              <a:gd name="adj" fmla="val 5854"/>
            </a:avLst>
          </a:prstGeom>
          <a:solidFill>
            <a:srgbClr val="FFFFFF"/>
          </a:solidFill>
          <a:ln w="9525">
            <a:solidFill>
              <a:srgbClr val="D5DEDB"/>
            </a:solidFill>
            <a:prstDash val="solid"/>
          </a:ln>
        </p:spPr>
      </p:sp>
      <p:pic>
        <p:nvPicPr>
          <p:cNvPr id="21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22960" y="3950208"/>
            <a:ext cx="411480" cy="411480"/>
          </a:xfrm>
          <a:prstGeom prst="rect">
            <a:avLst/>
          </a:prstGeom>
        </p:spPr>
      </p:pic>
      <p:sp>
        <p:nvSpPr>
          <p:cNvPr id="22" name="Text 15"/>
          <p:cNvSpPr txBox="1"/>
          <p:nvPr/>
        </p:nvSpPr>
        <p:spPr>
          <a:xfrm>
            <a:off x="1417320" y="3950208"/>
            <a:ext cx="244845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423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Follow-up for unbooked enquiries</a:t>
            </a:r>
            <a:endParaRPr lang="en-US" sz="1600" dirty="0"/>
          </a:p>
        </p:txBody>
      </p:sp>
      <p:sp>
        <p:nvSpPr>
          <p:cNvPr id="23" name="Text 16"/>
          <p:cNvSpPr txBox="1"/>
          <p:nvPr/>
        </p:nvSpPr>
        <p:spPr>
          <a:xfrm>
            <a:off x="822960" y="4544568"/>
            <a:ext cx="2997098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5B6B7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Timed, polite follow-ups for patients who asked but didn't book, until they book or opt out.</a:t>
            </a:r>
            <a:endParaRPr lang="en-US" sz="1300" dirty="0"/>
          </a:p>
        </p:txBody>
      </p:sp>
      <p:sp>
        <p:nvSpPr>
          <p:cNvPr id="24" name="Shape 17"/>
          <p:cNvSpPr/>
          <p:nvPr/>
        </p:nvSpPr>
        <p:spPr>
          <a:xfrm>
            <a:off x="4322978" y="3675888"/>
            <a:ext cx="3545738" cy="1874520"/>
          </a:xfrm>
          <a:prstGeom prst="roundRect">
            <a:avLst>
              <a:gd name="adj" fmla="val 5854"/>
            </a:avLst>
          </a:prstGeom>
          <a:solidFill>
            <a:srgbClr val="FFFFFF"/>
          </a:solidFill>
          <a:ln w="9525">
            <a:solidFill>
              <a:srgbClr val="D5DEDB"/>
            </a:solidFill>
            <a:prstDash val="solid"/>
          </a:ln>
        </p:spPr>
      </p:sp>
      <p:pic>
        <p:nvPicPr>
          <p:cNvPr id="25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597298" y="3950208"/>
            <a:ext cx="411480" cy="411480"/>
          </a:xfrm>
          <a:prstGeom prst="rect">
            <a:avLst/>
          </a:prstGeom>
        </p:spPr>
      </p:pic>
      <p:sp>
        <p:nvSpPr>
          <p:cNvPr id="26" name="Text 18"/>
          <p:cNvSpPr txBox="1"/>
          <p:nvPr/>
        </p:nvSpPr>
        <p:spPr>
          <a:xfrm>
            <a:off x="5191658" y="3950208"/>
            <a:ext cx="244845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423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Appointment reminders</a:t>
            </a:r>
            <a:endParaRPr lang="en-US" sz="1600" dirty="0"/>
          </a:p>
        </p:txBody>
      </p:sp>
      <p:sp>
        <p:nvSpPr>
          <p:cNvPr id="27" name="Text 19"/>
          <p:cNvSpPr txBox="1"/>
          <p:nvPr/>
        </p:nvSpPr>
        <p:spPr>
          <a:xfrm>
            <a:off x="4597298" y="4544568"/>
            <a:ext cx="2997098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5B6B7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Reminders before each visit, with an easy way to confirm or ask to reschedule.</a:t>
            </a:r>
            <a:endParaRPr lang="en-US" sz="1300" dirty="0"/>
          </a:p>
        </p:txBody>
      </p:sp>
      <p:sp>
        <p:nvSpPr>
          <p:cNvPr id="28" name="Shape 20"/>
          <p:cNvSpPr/>
          <p:nvPr/>
        </p:nvSpPr>
        <p:spPr>
          <a:xfrm>
            <a:off x="8097317" y="3675888"/>
            <a:ext cx="3545738" cy="1874520"/>
          </a:xfrm>
          <a:prstGeom prst="roundRect">
            <a:avLst>
              <a:gd name="adj" fmla="val 5854"/>
            </a:avLst>
          </a:prstGeom>
          <a:solidFill>
            <a:srgbClr val="FFFFFF"/>
          </a:solidFill>
          <a:ln w="9525">
            <a:solidFill>
              <a:srgbClr val="D5DEDB"/>
            </a:solidFill>
            <a:prstDash val="solid"/>
          </a:ln>
        </p:spPr>
      </p:sp>
      <p:pic>
        <p:nvPicPr>
          <p:cNvPr id="29" name="Image 6" descr="preencoded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8371637" y="3950208"/>
            <a:ext cx="411480" cy="411480"/>
          </a:xfrm>
          <a:prstGeom prst="rect">
            <a:avLst/>
          </a:prstGeom>
        </p:spPr>
      </p:pic>
      <p:sp>
        <p:nvSpPr>
          <p:cNvPr id="30" name="Text 21"/>
          <p:cNvSpPr txBox="1"/>
          <p:nvPr/>
        </p:nvSpPr>
        <p:spPr>
          <a:xfrm>
            <a:off x="8965997" y="3950208"/>
            <a:ext cx="244845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423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Missed appointment follow-up</a:t>
            </a:r>
            <a:endParaRPr lang="en-US" sz="1600" dirty="0"/>
          </a:p>
        </p:txBody>
      </p:sp>
      <p:sp>
        <p:nvSpPr>
          <p:cNvPr id="31" name="Text 22"/>
          <p:cNvSpPr txBox="1"/>
          <p:nvPr/>
        </p:nvSpPr>
        <p:spPr>
          <a:xfrm>
            <a:off x="8371637" y="4544568"/>
            <a:ext cx="2997098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5B6B7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Patients who miss a visit are invited to rebook, and staff are told when a call is needed.</a:t>
            </a:r>
            <a:endParaRPr lang="en-US" sz="13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6F8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84048"/>
            <a:ext cx="11094415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spc="150" kern="0" dirty="0">
                <a:solidFill>
                  <a:srgbClr val="0E7C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FEATURES  ·  RECOVER AND REVIEW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76656"/>
            <a:ext cx="11094415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000" b="1" dirty="0">
                <a:solidFill>
                  <a:srgbClr val="1423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Bring patients back and see what's working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6263640"/>
            <a:ext cx="11094415" cy="0"/>
          </a:xfrm>
          <a:prstGeom prst="line">
            <a:avLst/>
          </a:prstGeom>
          <a:noFill/>
          <a:ln w="9525">
            <a:solidFill>
              <a:srgbClr val="D5DEDB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548640" y="6373368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B6B7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Patientcurve  ·  Patient journey automation for dental clinics</a:t>
            </a:r>
            <a:endParaRPr lang="en-US" sz="1000" dirty="0"/>
          </a:p>
        </p:txBody>
      </p:sp>
      <p:sp>
        <p:nvSpPr>
          <p:cNvPr id="6" name="Text 4"/>
          <p:cNvSpPr txBox="1"/>
          <p:nvPr/>
        </p:nvSpPr>
        <p:spPr>
          <a:xfrm>
            <a:off x="8778240" y="6373368"/>
            <a:ext cx="1280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B6B7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8 / 15</a:t>
            </a:r>
            <a:endParaRPr lang="en-US" sz="1000" dirty="0"/>
          </a:p>
        </p:txBody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360152" y="6382512"/>
            <a:ext cx="1280160" cy="243840"/>
          </a:xfrm>
          <a:prstGeom prst="rect">
            <a:avLst/>
          </a:prstGeom>
        </p:spPr>
      </p:pic>
      <p:sp>
        <p:nvSpPr>
          <p:cNvPr id="8" name="Shape 5"/>
          <p:cNvSpPr/>
          <p:nvPr/>
        </p:nvSpPr>
        <p:spPr>
          <a:xfrm>
            <a:off x="548640" y="1600200"/>
            <a:ext cx="3545738" cy="1874520"/>
          </a:xfrm>
          <a:prstGeom prst="roundRect">
            <a:avLst>
              <a:gd name="adj" fmla="val 5854"/>
            </a:avLst>
          </a:prstGeom>
          <a:solidFill>
            <a:srgbClr val="FFFFFF"/>
          </a:solidFill>
          <a:ln w="9525">
            <a:solidFill>
              <a:srgbClr val="D5DEDB"/>
            </a:solidFill>
            <a:prstDash val="solid"/>
          </a:ln>
        </p:spPr>
      </p:sp>
      <p:pic>
        <p:nvPicPr>
          <p:cNvPr id="9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22960" y="1874520"/>
            <a:ext cx="411480" cy="411480"/>
          </a:xfrm>
          <a:prstGeom prst="rect">
            <a:avLst/>
          </a:prstGeom>
        </p:spPr>
      </p:pic>
      <p:sp>
        <p:nvSpPr>
          <p:cNvPr id="10" name="Text 6"/>
          <p:cNvSpPr txBox="1"/>
          <p:nvPr/>
        </p:nvSpPr>
        <p:spPr>
          <a:xfrm>
            <a:off x="1417320" y="1874520"/>
            <a:ext cx="244845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423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Patient reactivation</a:t>
            </a:r>
            <a:endParaRPr lang="en-US" sz="1600" dirty="0"/>
          </a:p>
        </p:txBody>
      </p:sp>
      <p:sp>
        <p:nvSpPr>
          <p:cNvPr id="11" name="Text 7"/>
          <p:cNvSpPr txBox="1"/>
          <p:nvPr/>
        </p:nvSpPr>
        <p:spPr>
          <a:xfrm>
            <a:off x="822960" y="2468880"/>
            <a:ext cx="2997098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5B6B7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Check-ins for patients who haven't visited in a while, with an easy way to book a routine visit.</a:t>
            </a:r>
            <a:endParaRPr lang="en-US" sz="1300" dirty="0"/>
          </a:p>
        </p:txBody>
      </p:sp>
      <p:sp>
        <p:nvSpPr>
          <p:cNvPr id="12" name="Shape 8"/>
          <p:cNvSpPr/>
          <p:nvPr/>
        </p:nvSpPr>
        <p:spPr>
          <a:xfrm>
            <a:off x="4322978" y="1600200"/>
            <a:ext cx="3545738" cy="1874520"/>
          </a:xfrm>
          <a:prstGeom prst="roundRect">
            <a:avLst>
              <a:gd name="adj" fmla="val 5854"/>
            </a:avLst>
          </a:prstGeom>
          <a:solidFill>
            <a:srgbClr val="FFFFFF"/>
          </a:solidFill>
          <a:ln w="9525">
            <a:solidFill>
              <a:srgbClr val="D5DEDB"/>
            </a:solidFill>
            <a:prstDash val="solid"/>
          </a:ln>
        </p:spPr>
      </p:sp>
      <p:pic>
        <p:nvPicPr>
          <p:cNvPr id="13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97298" y="1874520"/>
            <a:ext cx="411480" cy="411480"/>
          </a:xfrm>
          <a:prstGeom prst="rect">
            <a:avLst/>
          </a:prstGeom>
        </p:spPr>
      </p:pic>
      <p:sp>
        <p:nvSpPr>
          <p:cNvPr id="14" name="Text 9"/>
          <p:cNvSpPr txBox="1"/>
          <p:nvPr/>
        </p:nvSpPr>
        <p:spPr>
          <a:xfrm>
            <a:off x="5191658" y="1874520"/>
            <a:ext cx="244845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423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Post-treatment follow-up</a:t>
            </a:r>
            <a:endParaRPr lang="en-US" sz="1600" dirty="0"/>
          </a:p>
        </p:txBody>
      </p:sp>
      <p:sp>
        <p:nvSpPr>
          <p:cNvPr id="15" name="Text 10"/>
          <p:cNvSpPr txBox="1"/>
          <p:nvPr/>
        </p:nvSpPr>
        <p:spPr>
          <a:xfrm>
            <a:off x="4597298" y="2468880"/>
            <a:ext cx="2997098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5B6B7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Care messages after treatment, and a prompt to continue plans or book the next stage.</a:t>
            </a:r>
            <a:endParaRPr lang="en-US" sz="1300" dirty="0"/>
          </a:p>
        </p:txBody>
      </p:sp>
      <p:sp>
        <p:nvSpPr>
          <p:cNvPr id="16" name="Shape 11"/>
          <p:cNvSpPr/>
          <p:nvPr/>
        </p:nvSpPr>
        <p:spPr>
          <a:xfrm>
            <a:off x="8097317" y="1600200"/>
            <a:ext cx="3545738" cy="1874520"/>
          </a:xfrm>
          <a:prstGeom prst="roundRect">
            <a:avLst>
              <a:gd name="adj" fmla="val 5854"/>
            </a:avLst>
          </a:prstGeom>
          <a:solidFill>
            <a:srgbClr val="FFFFFF"/>
          </a:solidFill>
          <a:ln w="9525">
            <a:solidFill>
              <a:srgbClr val="D5DEDB"/>
            </a:solidFill>
            <a:prstDash val="solid"/>
          </a:ln>
        </p:spPr>
      </p:sp>
      <p:pic>
        <p:nvPicPr>
          <p:cNvPr id="17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371637" y="1874520"/>
            <a:ext cx="411480" cy="411480"/>
          </a:xfrm>
          <a:prstGeom prst="rect">
            <a:avLst/>
          </a:prstGeom>
        </p:spPr>
      </p:pic>
      <p:sp>
        <p:nvSpPr>
          <p:cNvPr id="18" name="Text 12"/>
          <p:cNvSpPr txBox="1"/>
          <p:nvPr/>
        </p:nvSpPr>
        <p:spPr>
          <a:xfrm>
            <a:off x="8965997" y="1874520"/>
            <a:ext cx="244845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423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Review requests</a:t>
            </a:r>
            <a:endParaRPr lang="en-US" sz="1600" dirty="0"/>
          </a:p>
        </p:txBody>
      </p:sp>
      <p:sp>
        <p:nvSpPr>
          <p:cNvPr id="19" name="Text 13"/>
          <p:cNvSpPr txBox="1"/>
          <p:nvPr/>
        </p:nvSpPr>
        <p:spPr>
          <a:xfrm>
            <a:off x="8371637" y="2468880"/>
            <a:ext cx="2997098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5B6B7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Asks patients for feedback after a visit and shares the clinic's Google review link. Concerns are flagged to the clinic.</a:t>
            </a:r>
            <a:endParaRPr lang="en-US" sz="1300" dirty="0"/>
          </a:p>
        </p:txBody>
      </p:sp>
      <p:sp>
        <p:nvSpPr>
          <p:cNvPr id="20" name="Shape 14"/>
          <p:cNvSpPr/>
          <p:nvPr/>
        </p:nvSpPr>
        <p:spPr>
          <a:xfrm>
            <a:off x="548640" y="3675888"/>
            <a:ext cx="3545738" cy="1874520"/>
          </a:xfrm>
          <a:prstGeom prst="roundRect">
            <a:avLst>
              <a:gd name="adj" fmla="val 5854"/>
            </a:avLst>
          </a:prstGeom>
          <a:solidFill>
            <a:srgbClr val="FFFFFF"/>
          </a:solidFill>
          <a:ln w="9525">
            <a:solidFill>
              <a:srgbClr val="D5DEDB"/>
            </a:solidFill>
            <a:prstDash val="solid"/>
          </a:ln>
        </p:spPr>
      </p:sp>
      <p:pic>
        <p:nvPicPr>
          <p:cNvPr id="21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22960" y="3950208"/>
            <a:ext cx="411480" cy="411480"/>
          </a:xfrm>
          <a:prstGeom prst="rect">
            <a:avLst/>
          </a:prstGeom>
        </p:spPr>
      </p:pic>
      <p:sp>
        <p:nvSpPr>
          <p:cNvPr id="22" name="Text 15"/>
          <p:cNvSpPr txBox="1"/>
          <p:nvPr/>
        </p:nvSpPr>
        <p:spPr>
          <a:xfrm>
            <a:off x="1417320" y="3950208"/>
            <a:ext cx="244845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423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Staff notifications</a:t>
            </a:r>
            <a:endParaRPr lang="en-US" sz="1600" dirty="0"/>
          </a:p>
        </p:txBody>
      </p:sp>
      <p:sp>
        <p:nvSpPr>
          <p:cNvPr id="23" name="Text 16"/>
          <p:cNvSpPr txBox="1"/>
          <p:nvPr/>
        </p:nvSpPr>
        <p:spPr>
          <a:xfrm>
            <a:off x="822960" y="4544568"/>
            <a:ext cx="2997098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5B6B7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Your team is alerted when a patient asks for a call, raises a concern, or needs a person.</a:t>
            </a:r>
            <a:endParaRPr lang="en-US" sz="1300" dirty="0"/>
          </a:p>
        </p:txBody>
      </p:sp>
      <p:sp>
        <p:nvSpPr>
          <p:cNvPr id="24" name="Shape 17"/>
          <p:cNvSpPr/>
          <p:nvPr/>
        </p:nvSpPr>
        <p:spPr>
          <a:xfrm>
            <a:off x="4322978" y="3675888"/>
            <a:ext cx="3545738" cy="1874520"/>
          </a:xfrm>
          <a:prstGeom prst="roundRect">
            <a:avLst>
              <a:gd name="adj" fmla="val 5854"/>
            </a:avLst>
          </a:prstGeom>
          <a:solidFill>
            <a:srgbClr val="FFFFFF"/>
          </a:solidFill>
          <a:ln w="9525">
            <a:solidFill>
              <a:srgbClr val="D5DEDB"/>
            </a:solidFill>
            <a:prstDash val="solid"/>
          </a:ln>
        </p:spPr>
      </p:sp>
      <p:pic>
        <p:nvPicPr>
          <p:cNvPr id="25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597298" y="3950208"/>
            <a:ext cx="411480" cy="411480"/>
          </a:xfrm>
          <a:prstGeom prst="rect">
            <a:avLst/>
          </a:prstGeom>
        </p:spPr>
      </p:pic>
      <p:sp>
        <p:nvSpPr>
          <p:cNvPr id="26" name="Text 18"/>
          <p:cNvSpPr txBox="1"/>
          <p:nvPr/>
        </p:nvSpPr>
        <p:spPr>
          <a:xfrm>
            <a:off x="5191658" y="3950208"/>
            <a:ext cx="244845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423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Enquiry and follow-up reporting</a:t>
            </a:r>
            <a:endParaRPr lang="en-US" sz="1600" dirty="0"/>
          </a:p>
        </p:txBody>
      </p:sp>
      <p:sp>
        <p:nvSpPr>
          <p:cNvPr id="27" name="Text 19"/>
          <p:cNvSpPr txBox="1"/>
          <p:nvPr/>
        </p:nvSpPr>
        <p:spPr>
          <a:xfrm>
            <a:off x="4597298" y="4544568"/>
            <a:ext cx="2997098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5B6B7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See enquiries, follow-ups, bookings and missed visits for the period, in one simple summary.</a:t>
            </a:r>
            <a:endParaRPr lang="en-US" sz="1300" dirty="0"/>
          </a:p>
        </p:txBody>
      </p:sp>
      <p:sp>
        <p:nvSpPr>
          <p:cNvPr id="28" name="Shape 20"/>
          <p:cNvSpPr/>
          <p:nvPr/>
        </p:nvSpPr>
        <p:spPr>
          <a:xfrm>
            <a:off x="8097317" y="3675888"/>
            <a:ext cx="3545738" cy="1874520"/>
          </a:xfrm>
          <a:prstGeom prst="roundRect">
            <a:avLst>
              <a:gd name="adj" fmla="val 5854"/>
            </a:avLst>
          </a:prstGeom>
          <a:solidFill>
            <a:srgbClr val="DCEFEA"/>
          </a:solidFill>
          <a:ln/>
        </p:spPr>
      </p:sp>
      <p:sp>
        <p:nvSpPr>
          <p:cNvPr id="29" name="Text 21"/>
          <p:cNvSpPr txBox="1"/>
          <p:nvPr/>
        </p:nvSpPr>
        <p:spPr>
          <a:xfrm>
            <a:off x="8371637" y="3950208"/>
            <a:ext cx="299709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rgbClr val="0E7C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Choose what fits</a:t>
            </a:r>
            <a:endParaRPr lang="en-US" sz="1600" dirty="0"/>
          </a:p>
        </p:txBody>
      </p:sp>
      <p:sp>
        <p:nvSpPr>
          <p:cNvPr id="30" name="Text 22"/>
          <p:cNvSpPr txBox="1"/>
          <p:nvPr/>
        </p:nvSpPr>
        <p:spPr>
          <a:xfrm>
            <a:off x="8371637" y="4453128"/>
            <a:ext cx="2997098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1423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Clinics start with the workflows that matter most and add more later. Nothing is switched on without approval.</a:t>
            </a:r>
            <a:endParaRPr lang="en-US" sz="13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6F8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84048"/>
            <a:ext cx="11094415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spc="150" kern="0" dirty="0">
                <a:solidFill>
                  <a:srgbClr val="0E7C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PATIENT'S JOURNEY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76656"/>
            <a:ext cx="11094415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000" b="1" dirty="0">
                <a:solidFill>
                  <a:srgbClr val="1423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What it looks like for a patient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6263640"/>
            <a:ext cx="11094415" cy="0"/>
          </a:xfrm>
          <a:prstGeom prst="line">
            <a:avLst/>
          </a:prstGeom>
          <a:noFill/>
          <a:ln w="9525">
            <a:solidFill>
              <a:srgbClr val="D5DEDB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548640" y="6373368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B6B7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Patientcurve  ·  Patient journey automation for dental clinics</a:t>
            </a:r>
            <a:endParaRPr lang="en-US" sz="1000" dirty="0"/>
          </a:p>
        </p:txBody>
      </p:sp>
      <p:sp>
        <p:nvSpPr>
          <p:cNvPr id="6" name="Text 4"/>
          <p:cNvSpPr txBox="1"/>
          <p:nvPr/>
        </p:nvSpPr>
        <p:spPr>
          <a:xfrm>
            <a:off x="8778240" y="6373368"/>
            <a:ext cx="1280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B6B7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9 / 15</a:t>
            </a:r>
            <a:endParaRPr lang="en-US" sz="1000" dirty="0"/>
          </a:p>
        </p:txBody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360152" y="6382512"/>
            <a:ext cx="1280160" cy="243840"/>
          </a:xfrm>
          <a:prstGeom prst="rect">
            <a:avLst/>
          </a:prstGeom>
        </p:spPr>
      </p:pic>
      <p:sp>
        <p:nvSpPr>
          <p:cNvPr id="8" name="Shape 5"/>
          <p:cNvSpPr/>
          <p:nvPr/>
        </p:nvSpPr>
        <p:spPr>
          <a:xfrm>
            <a:off x="10774375" y="384048"/>
            <a:ext cx="868680" cy="256032"/>
          </a:xfrm>
          <a:prstGeom prst="roundRect">
            <a:avLst>
              <a:gd name="adj" fmla="val 21429"/>
            </a:avLst>
          </a:prstGeom>
          <a:solidFill>
            <a:srgbClr val="FBF3E6"/>
          </a:solidFill>
          <a:ln w="9525">
            <a:solidFill>
              <a:srgbClr val="8F5A0E"/>
            </a:solidFill>
            <a:prstDash val="solid"/>
          </a:ln>
        </p:spPr>
      </p:sp>
      <p:sp>
        <p:nvSpPr>
          <p:cNvPr id="9" name="Text 6"/>
          <p:cNvSpPr txBox="1"/>
          <p:nvPr/>
        </p:nvSpPr>
        <p:spPr>
          <a:xfrm>
            <a:off x="10774375" y="384048"/>
            <a:ext cx="868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spc="100" kern="0" dirty="0">
                <a:solidFill>
                  <a:srgbClr val="8F5A0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EXAMPLE</a:t>
            </a:r>
            <a:endParaRPr lang="en-US" sz="900" dirty="0"/>
          </a:p>
        </p:txBody>
      </p:sp>
      <p:sp>
        <p:nvSpPr>
          <p:cNvPr id="10" name="Text 7"/>
          <p:cNvSpPr txBox="1"/>
          <p:nvPr/>
        </p:nvSpPr>
        <p:spPr>
          <a:xfrm>
            <a:off x="548640" y="1463040"/>
            <a:ext cx="1109441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5B6B7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An illustrative journey for a patient enquiring about aligners. Timings and messages are set by each clinic.</a:t>
            </a:r>
            <a:endParaRPr lang="en-US" sz="1500" dirty="0"/>
          </a:p>
        </p:txBody>
      </p:sp>
      <p:sp>
        <p:nvSpPr>
          <p:cNvPr id="11" name="Shape 8"/>
          <p:cNvSpPr/>
          <p:nvPr/>
        </p:nvSpPr>
        <p:spPr>
          <a:xfrm>
            <a:off x="731520" y="2514600"/>
            <a:ext cx="10728655" cy="0"/>
          </a:xfrm>
          <a:prstGeom prst="line">
            <a:avLst/>
          </a:prstGeom>
          <a:noFill/>
          <a:ln w="19050">
            <a:solidFill>
              <a:srgbClr val="0E7C6B"/>
            </a:solidFill>
            <a:prstDash val="solid"/>
          </a:ln>
        </p:spPr>
      </p:sp>
      <p:sp>
        <p:nvSpPr>
          <p:cNvPr id="12" name="Shape 9"/>
          <p:cNvSpPr/>
          <p:nvPr/>
        </p:nvSpPr>
        <p:spPr>
          <a:xfrm>
            <a:off x="594360" y="2386584"/>
            <a:ext cx="256032" cy="256032"/>
          </a:xfrm>
          <a:prstGeom prst="ellipse">
            <a:avLst/>
          </a:prstGeom>
          <a:solidFill>
            <a:srgbClr val="FFFFFF"/>
          </a:solidFill>
          <a:ln w="19050">
            <a:solidFill>
              <a:srgbClr val="0E7C6B"/>
            </a:solidFill>
            <a:prstDash val="solid"/>
          </a:ln>
        </p:spPr>
      </p:sp>
      <p:sp>
        <p:nvSpPr>
          <p:cNvPr id="13" name="Text 10"/>
          <p:cNvSpPr txBox="1"/>
          <p:nvPr/>
        </p:nvSpPr>
        <p:spPr>
          <a:xfrm>
            <a:off x="548640" y="2788920"/>
            <a:ext cx="1711909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rgbClr val="0E7C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Day 1, 9:40 pm</a:t>
            </a:r>
            <a:endParaRPr lang="en-US" sz="1100" dirty="0"/>
          </a:p>
        </p:txBody>
      </p:sp>
      <p:sp>
        <p:nvSpPr>
          <p:cNvPr id="14" name="Shape 11"/>
          <p:cNvSpPr/>
          <p:nvPr/>
        </p:nvSpPr>
        <p:spPr>
          <a:xfrm>
            <a:off x="548640" y="3154680"/>
            <a:ext cx="1711909" cy="1783080"/>
          </a:xfrm>
          <a:prstGeom prst="roundRect">
            <a:avLst>
              <a:gd name="adj" fmla="val 6410"/>
            </a:avLst>
          </a:prstGeom>
          <a:solidFill>
            <a:srgbClr val="FFFFFF"/>
          </a:solidFill>
          <a:ln w="9525">
            <a:solidFill>
              <a:srgbClr val="D5DEDB"/>
            </a:solidFill>
            <a:prstDash val="solid"/>
          </a:ln>
        </p:spPr>
      </p:sp>
      <p:sp>
        <p:nvSpPr>
          <p:cNvPr id="15" name="Text 12"/>
          <p:cNvSpPr txBox="1"/>
          <p:nvPr/>
        </p:nvSpPr>
        <p:spPr>
          <a:xfrm>
            <a:off x="731520" y="3337560"/>
            <a:ext cx="1346149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1423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Enquiry</a:t>
            </a:r>
            <a:endParaRPr lang="en-US" sz="1500" dirty="0"/>
          </a:p>
        </p:txBody>
      </p:sp>
      <p:sp>
        <p:nvSpPr>
          <p:cNvPr id="16" name="Text 13"/>
          <p:cNvSpPr txBox="1"/>
          <p:nvPr/>
        </p:nvSpPr>
        <p:spPr>
          <a:xfrm>
            <a:off x="731520" y="3749040"/>
            <a:ext cx="1346149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5B6B7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Patient asks about aligners on WhatsApp after seeing an ad.</a:t>
            </a:r>
            <a:endParaRPr lang="en-US" sz="1300" dirty="0"/>
          </a:p>
        </p:txBody>
      </p:sp>
      <p:sp>
        <p:nvSpPr>
          <p:cNvPr id="17" name="Shape 14"/>
          <p:cNvSpPr/>
          <p:nvPr/>
        </p:nvSpPr>
        <p:spPr>
          <a:xfrm>
            <a:off x="2470861" y="2386584"/>
            <a:ext cx="256032" cy="256032"/>
          </a:xfrm>
          <a:prstGeom prst="ellipse">
            <a:avLst/>
          </a:prstGeom>
          <a:solidFill>
            <a:srgbClr val="FFFFFF"/>
          </a:solidFill>
          <a:ln w="19050">
            <a:solidFill>
              <a:srgbClr val="0E7C6B"/>
            </a:solidFill>
            <a:prstDash val="solid"/>
          </a:ln>
        </p:spPr>
      </p:sp>
      <p:sp>
        <p:nvSpPr>
          <p:cNvPr id="18" name="Text 15"/>
          <p:cNvSpPr txBox="1"/>
          <p:nvPr/>
        </p:nvSpPr>
        <p:spPr>
          <a:xfrm>
            <a:off x="2425141" y="2788920"/>
            <a:ext cx="1711909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rgbClr val="0E7C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Day 1, 9:40 pm</a:t>
            </a:r>
            <a:endParaRPr lang="en-US" sz="1100" dirty="0"/>
          </a:p>
        </p:txBody>
      </p:sp>
      <p:sp>
        <p:nvSpPr>
          <p:cNvPr id="19" name="Shape 16"/>
          <p:cNvSpPr/>
          <p:nvPr/>
        </p:nvSpPr>
        <p:spPr>
          <a:xfrm>
            <a:off x="2425141" y="3154680"/>
            <a:ext cx="1711909" cy="1783080"/>
          </a:xfrm>
          <a:prstGeom prst="roundRect">
            <a:avLst>
              <a:gd name="adj" fmla="val 6410"/>
            </a:avLst>
          </a:prstGeom>
          <a:solidFill>
            <a:srgbClr val="FFFFFF"/>
          </a:solidFill>
          <a:ln w="9525">
            <a:solidFill>
              <a:srgbClr val="D5DEDB"/>
            </a:solidFill>
            <a:prstDash val="solid"/>
          </a:ln>
        </p:spPr>
      </p:sp>
      <p:sp>
        <p:nvSpPr>
          <p:cNvPr id="20" name="Text 17"/>
          <p:cNvSpPr txBox="1"/>
          <p:nvPr/>
        </p:nvSpPr>
        <p:spPr>
          <a:xfrm>
            <a:off x="2608021" y="3337560"/>
            <a:ext cx="1346149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1423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Instant reply</a:t>
            </a:r>
            <a:endParaRPr lang="en-US" sz="1500" dirty="0"/>
          </a:p>
        </p:txBody>
      </p:sp>
      <p:sp>
        <p:nvSpPr>
          <p:cNvPr id="21" name="Text 18"/>
          <p:cNvSpPr txBox="1"/>
          <p:nvPr/>
        </p:nvSpPr>
        <p:spPr>
          <a:xfrm>
            <a:off x="2608021" y="3749040"/>
            <a:ext cx="1346149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5B6B7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Approved answer, two short questions and a booking link.</a:t>
            </a:r>
            <a:endParaRPr lang="en-US" sz="1300" dirty="0"/>
          </a:p>
        </p:txBody>
      </p:sp>
      <p:sp>
        <p:nvSpPr>
          <p:cNvPr id="22" name="Shape 19"/>
          <p:cNvSpPr/>
          <p:nvPr/>
        </p:nvSpPr>
        <p:spPr>
          <a:xfrm>
            <a:off x="4347362" y="2386584"/>
            <a:ext cx="256032" cy="256032"/>
          </a:xfrm>
          <a:prstGeom prst="ellipse">
            <a:avLst/>
          </a:prstGeom>
          <a:solidFill>
            <a:srgbClr val="FFFFFF"/>
          </a:solidFill>
          <a:ln w="19050">
            <a:solidFill>
              <a:srgbClr val="0E7C6B"/>
            </a:solidFill>
            <a:prstDash val="solid"/>
          </a:ln>
        </p:spPr>
      </p:sp>
      <p:sp>
        <p:nvSpPr>
          <p:cNvPr id="23" name="Text 20"/>
          <p:cNvSpPr txBox="1"/>
          <p:nvPr/>
        </p:nvSpPr>
        <p:spPr>
          <a:xfrm>
            <a:off x="4301642" y="2788920"/>
            <a:ext cx="1711909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rgbClr val="0E7C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Day 2, 11:00 am</a:t>
            </a:r>
            <a:endParaRPr lang="en-US" sz="1100" dirty="0"/>
          </a:p>
        </p:txBody>
      </p:sp>
      <p:sp>
        <p:nvSpPr>
          <p:cNvPr id="24" name="Shape 21"/>
          <p:cNvSpPr/>
          <p:nvPr/>
        </p:nvSpPr>
        <p:spPr>
          <a:xfrm>
            <a:off x="4301642" y="3154680"/>
            <a:ext cx="1711909" cy="1783080"/>
          </a:xfrm>
          <a:prstGeom prst="roundRect">
            <a:avLst>
              <a:gd name="adj" fmla="val 6410"/>
            </a:avLst>
          </a:prstGeom>
          <a:solidFill>
            <a:srgbClr val="FFFFFF"/>
          </a:solidFill>
          <a:ln w="9525">
            <a:solidFill>
              <a:srgbClr val="D5DEDB"/>
            </a:solidFill>
            <a:prstDash val="solid"/>
          </a:ln>
        </p:spPr>
      </p:sp>
      <p:sp>
        <p:nvSpPr>
          <p:cNvPr id="25" name="Text 22"/>
          <p:cNvSpPr txBox="1"/>
          <p:nvPr/>
        </p:nvSpPr>
        <p:spPr>
          <a:xfrm>
            <a:off x="4484522" y="3337560"/>
            <a:ext cx="1346149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1423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Follow-up</a:t>
            </a:r>
            <a:endParaRPr lang="en-US" sz="1500" dirty="0"/>
          </a:p>
        </p:txBody>
      </p:sp>
      <p:sp>
        <p:nvSpPr>
          <p:cNvPr id="26" name="Text 23"/>
          <p:cNvSpPr txBox="1"/>
          <p:nvPr/>
        </p:nvSpPr>
        <p:spPr>
          <a:xfrm>
            <a:off x="4484522" y="3749040"/>
            <a:ext cx="1346149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5B6B7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 booking yet, so a polite reminder with the link is sent.</a:t>
            </a:r>
            <a:endParaRPr lang="en-US" sz="1300" dirty="0"/>
          </a:p>
        </p:txBody>
      </p:sp>
      <p:sp>
        <p:nvSpPr>
          <p:cNvPr id="27" name="Shape 24"/>
          <p:cNvSpPr/>
          <p:nvPr/>
        </p:nvSpPr>
        <p:spPr>
          <a:xfrm>
            <a:off x="6223864" y="2386584"/>
            <a:ext cx="256032" cy="256032"/>
          </a:xfrm>
          <a:prstGeom prst="ellipse">
            <a:avLst/>
          </a:prstGeom>
          <a:solidFill>
            <a:srgbClr val="0E7C6B"/>
          </a:solidFill>
          <a:ln w="19050">
            <a:solidFill>
              <a:srgbClr val="0E7C6B"/>
            </a:solidFill>
            <a:prstDash val="solid"/>
          </a:ln>
        </p:spPr>
      </p:sp>
      <p:sp>
        <p:nvSpPr>
          <p:cNvPr id="28" name="Text 25"/>
          <p:cNvSpPr txBox="1"/>
          <p:nvPr/>
        </p:nvSpPr>
        <p:spPr>
          <a:xfrm>
            <a:off x="6178144" y="2788920"/>
            <a:ext cx="1711909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rgbClr val="0E7C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Day 2, 4:15 pm</a:t>
            </a:r>
            <a:endParaRPr lang="en-US" sz="1100" dirty="0"/>
          </a:p>
        </p:txBody>
      </p:sp>
      <p:sp>
        <p:nvSpPr>
          <p:cNvPr id="29" name="Shape 26"/>
          <p:cNvSpPr/>
          <p:nvPr/>
        </p:nvSpPr>
        <p:spPr>
          <a:xfrm>
            <a:off x="6178144" y="3154680"/>
            <a:ext cx="1711909" cy="1783080"/>
          </a:xfrm>
          <a:prstGeom prst="roundRect">
            <a:avLst>
              <a:gd name="adj" fmla="val 6410"/>
            </a:avLst>
          </a:prstGeom>
          <a:solidFill>
            <a:srgbClr val="DCEFEA"/>
          </a:solidFill>
          <a:ln w="9525">
            <a:solidFill>
              <a:srgbClr val="0E7C6B"/>
            </a:solidFill>
            <a:prstDash val="solid"/>
          </a:ln>
        </p:spPr>
      </p:sp>
      <p:sp>
        <p:nvSpPr>
          <p:cNvPr id="30" name="Text 27"/>
          <p:cNvSpPr txBox="1"/>
          <p:nvPr/>
        </p:nvSpPr>
        <p:spPr>
          <a:xfrm>
            <a:off x="6361024" y="3337560"/>
            <a:ext cx="1346149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1423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Booked</a:t>
            </a:r>
            <a:endParaRPr lang="en-US" sz="1500" dirty="0"/>
          </a:p>
        </p:txBody>
      </p:sp>
      <p:sp>
        <p:nvSpPr>
          <p:cNvPr id="31" name="Text 28"/>
          <p:cNvSpPr txBox="1"/>
          <p:nvPr/>
        </p:nvSpPr>
        <p:spPr>
          <a:xfrm>
            <a:off x="6361024" y="3749040"/>
            <a:ext cx="1346149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5B6B7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Patient books a consultation; the clinic sees the status.</a:t>
            </a:r>
            <a:endParaRPr lang="en-US" sz="1300" dirty="0"/>
          </a:p>
        </p:txBody>
      </p:sp>
      <p:sp>
        <p:nvSpPr>
          <p:cNvPr id="32" name="Shape 29"/>
          <p:cNvSpPr/>
          <p:nvPr/>
        </p:nvSpPr>
        <p:spPr>
          <a:xfrm>
            <a:off x="8100365" y="2386584"/>
            <a:ext cx="256032" cy="256032"/>
          </a:xfrm>
          <a:prstGeom prst="ellipse">
            <a:avLst/>
          </a:prstGeom>
          <a:solidFill>
            <a:srgbClr val="FFFFFF"/>
          </a:solidFill>
          <a:ln w="19050">
            <a:solidFill>
              <a:srgbClr val="0E7C6B"/>
            </a:solidFill>
            <a:prstDash val="solid"/>
          </a:ln>
        </p:spPr>
      </p:sp>
      <p:sp>
        <p:nvSpPr>
          <p:cNvPr id="33" name="Text 30"/>
          <p:cNvSpPr txBox="1"/>
          <p:nvPr/>
        </p:nvSpPr>
        <p:spPr>
          <a:xfrm>
            <a:off x="8054645" y="2788920"/>
            <a:ext cx="1711909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rgbClr val="0E7C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Day 6, 6:00 pm</a:t>
            </a:r>
            <a:endParaRPr lang="en-US" sz="1100" dirty="0"/>
          </a:p>
        </p:txBody>
      </p:sp>
      <p:sp>
        <p:nvSpPr>
          <p:cNvPr id="34" name="Shape 31"/>
          <p:cNvSpPr/>
          <p:nvPr/>
        </p:nvSpPr>
        <p:spPr>
          <a:xfrm>
            <a:off x="8054645" y="3154680"/>
            <a:ext cx="1711909" cy="1783080"/>
          </a:xfrm>
          <a:prstGeom prst="roundRect">
            <a:avLst>
              <a:gd name="adj" fmla="val 6410"/>
            </a:avLst>
          </a:prstGeom>
          <a:solidFill>
            <a:srgbClr val="FFFFFF"/>
          </a:solidFill>
          <a:ln w="9525">
            <a:solidFill>
              <a:srgbClr val="D5DEDB"/>
            </a:solidFill>
            <a:prstDash val="solid"/>
          </a:ln>
        </p:spPr>
      </p:sp>
      <p:sp>
        <p:nvSpPr>
          <p:cNvPr id="35" name="Text 32"/>
          <p:cNvSpPr txBox="1"/>
          <p:nvPr/>
        </p:nvSpPr>
        <p:spPr>
          <a:xfrm>
            <a:off x="8237525" y="3337560"/>
            <a:ext cx="1346149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1423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Reminder</a:t>
            </a:r>
            <a:endParaRPr lang="en-US" sz="1500" dirty="0"/>
          </a:p>
        </p:txBody>
      </p:sp>
      <p:sp>
        <p:nvSpPr>
          <p:cNvPr id="36" name="Text 33"/>
          <p:cNvSpPr txBox="1"/>
          <p:nvPr/>
        </p:nvSpPr>
        <p:spPr>
          <a:xfrm>
            <a:off x="8237525" y="3749040"/>
            <a:ext cx="1346149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5B6B7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reminder the day before, with an easy way to reschedule.</a:t>
            </a:r>
            <a:endParaRPr lang="en-US" sz="1300" dirty="0"/>
          </a:p>
        </p:txBody>
      </p:sp>
      <p:sp>
        <p:nvSpPr>
          <p:cNvPr id="37" name="Shape 34"/>
          <p:cNvSpPr/>
          <p:nvPr/>
        </p:nvSpPr>
        <p:spPr>
          <a:xfrm>
            <a:off x="9976866" y="2386584"/>
            <a:ext cx="256032" cy="256032"/>
          </a:xfrm>
          <a:prstGeom prst="ellipse">
            <a:avLst/>
          </a:prstGeom>
          <a:solidFill>
            <a:srgbClr val="FFFFFF"/>
          </a:solidFill>
          <a:ln w="19050">
            <a:solidFill>
              <a:srgbClr val="0E7C6B"/>
            </a:solidFill>
            <a:prstDash val="solid"/>
          </a:ln>
        </p:spPr>
      </p:sp>
      <p:sp>
        <p:nvSpPr>
          <p:cNvPr id="38" name="Text 35"/>
          <p:cNvSpPr txBox="1"/>
          <p:nvPr/>
        </p:nvSpPr>
        <p:spPr>
          <a:xfrm>
            <a:off x="9931146" y="2788920"/>
            <a:ext cx="1711909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rgbClr val="0E7C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Day 7, after visit</a:t>
            </a:r>
            <a:endParaRPr lang="en-US" sz="1100" dirty="0"/>
          </a:p>
        </p:txBody>
      </p:sp>
      <p:sp>
        <p:nvSpPr>
          <p:cNvPr id="39" name="Shape 36"/>
          <p:cNvSpPr/>
          <p:nvPr/>
        </p:nvSpPr>
        <p:spPr>
          <a:xfrm>
            <a:off x="9931146" y="3154680"/>
            <a:ext cx="1711909" cy="1783080"/>
          </a:xfrm>
          <a:prstGeom prst="roundRect">
            <a:avLst>
              <a:gd name="adj" fmla="val 6410"/>
            </a:avLst>
          </a:prstGeom>
          <a:solidFill>
            <a:srgbClr val="FFFFFF"/>
          </a:solidFill>
          <a:ln w="9525">
            <a:solidFill>
              <a:srgbClr val="D5DEDB"/>
            </a:solidFill>
            <a:prstDash val="solid"/>
          </a:ln>
        </p:spPr>
      </p:sp>
      <p:sp>
        <p:nvSpPr>
          <p:cNvPr id="40" name="Text 37"/>
          <p:cNvSpPr txBox="1"/>
          <p:nvPr/>
        </p:nvSpPr>
        <p:spPr>
          <a:xfrm>
            <a:off x="10114026" y="3337560"/>
            <a:ext cx="1346149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1423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Thank you</a:t>
            </a:r>
            <a:endParaRPr lang="en-US" sz="1500" dirty="0"/>
          </a:p>
        </p:txBody>
      </p:sp>
      <p:sp>
        <p:nvSpPr>
          <p:cNvPr id="41" name="Text 38"/>
          <p:cNvSpPr txBox="1"/>
          <p:nvPr/>
        </p:nvSpPr>
        <p:spPr>
          <a:xfrm>
            <a:off x="10114026" y="3749040"/>
            <a:ext cx="1346149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5B6B7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care message and a request for feedback.</a:t>
            </a:r>
            <a:endParaRPr lang="en-US" sz="1300" dirty="0"/>
          </a:p>
        </p:txBody>
      </p:sp>
      <p:sp>
        <p:nvSpPr>
          <p:cNvPr id="42" name="Text 39"/>
          <p:cNvSpPr txBox="1"/>
          <p:nvPr/>
        </p:nvSpPr>
        <p:spPr>
          <a:xfrm>
            <a:off x="548640" y="5257800"/>
            <a:ext cx="11094415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0E7C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front desk only stepped in once: to welcome the patient at the visit.</a:t>
            </a:r>
            <a:endParaRPr lang="en-US" sz="15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6F8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84048"/>
            <a:ext cx="11094415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spc="150" kern="0" dirty="0">
                <a:solidFill>
                  <a:srgbClr val="0E7C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PEOPLE STAY IN CHARGE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76656"/>
            <a:ext cx="11094415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000" b="1" dirty="0">
                <a:solidFill>
                  <a:srgbClr val="1423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Automation handles the routine. Your team handles people.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6263640"/>
            <a:ext cx="11094415" cy="0"/>
          </a:xfrm>
          <a:prstGeom prst="line">
            <a:avLst/>
          </a:prstGeom>
          <a:noFill/>
          <a:ln w="9525">
            <a:solidFill>
              <a:srgbClr val="D5DEDB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548640" y="6373368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B6B7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Patientcurve  ·  Patient journey automation for dental clinics</a:t>
            </a:r>
            <a:endParaRPr lang="en-US" sz="1000" dirty="0"/>
          </a:p>
        </p:txBody>
      </p:sp>
      <p:sp>
        <p:nvSpPr>
          <p:cNvPr id="6" name="Text 4"/>
          <p:cNvSpPr txBox="1"/>
          <p:nvPr/>
        </p:nvSpPr>
        <p:spPr>
          <a:xfrm>
            <a:off x="8778240" y="6373368"/>
            <a:ext cx="1280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B6B7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 / 15</a:t>
            </a:r>
            <a:endParaRPr lang="en-US" sz="1000" dirty="0"/>
          </a:p>
        </p:txBody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360152" y="6382512"/>
            <a:ext cx="1280160" cy="243840"/>
          </a:xfrm>
          <a:prstGeom prst="rect">
            <a:avLst/>
          </a:prstGeom>
        </p:spPr>
      </p:pic>
      <p:sp>
        <p:nvSpPr>
          <p:cNvPr id="8" name="Shape 5"/>
          <p:cNvSpPr/>
          <p:nvPr/>
        </p:nvSpPr>
        <p:spPr>
          <a:xfrm>
            <a:off x="548640" y="1600200"/>
            <a:ext cx="5410048" cy="4434840"/>
          </a:xfrm>
          <a:prstGeom prst="roundRect">
            <a:avLst>
              <a:gd name="adj" fmla="val 2474"/>
            </a:avLst>
          </a:prstGeom>
          <a:solidFill>
            <a:srgbClr val="FFFFFF"/>
          </a:solidFill>
          <a:ln w="9525">
            <a:solidFill>
              <a:srgbClr val="D5DEDB"/>
            </a:solidFill>
            <a:prstDash val="solid"/>
          </a:ln>
        </p:spPr>
      </p:sp>
      <p:pic>
        <p:nvPicPr>
          <p:cNvPr id="9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14400" y="1874520"/>
            <a:ext cx="457200" cy="457200"/>
          </a:xfrm>
          <a:prstGeom prst="rect">
            <a:avLst/>
          </a:prstGeom>
        </p:spPr>
      </p:pic>
      <p:sp>
        <p:nvSpPr>
          <p:cNvPr id="10" name="Text 6"/>
          <p:cNvSpPr txBox="1"/>
          <p:nvPr/>
        </p:nvSpPr>
        <p:spPr>
          <a:xfrm>
            <a:off x="1554480" y="1874520"/>
            <a:ext cx="403844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1423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Patientcurve handles</a:t>
            </a:r>
            <a:endParaRPr lang="en-US" sz="2000" dirty="0"/>
          </a:p>
        </p:txBody>
      </p:sp>
      <p:sp>
        <p:nvSpPr>
          <p:cNvPr id="11" name="Text 7"/>
          <p:cNvSpPr txBox="1"/>
          <p:nvPr/>
        </p:nvSpPr>
        <p:spPr>
          <a:xfrm>
            <a:off x="914400" y="2606040"/>
            <a:ext cx="4678528" cy="3291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28600" indent="-228600">
              <a:spcAft>
                <a:spcPts val="900"/>
              </a:spcAft>
              <a:buSzPct val="100000"/>
              <a:buChar char="•"/>
            </a:pPr>
            <a:r>
              <a:rPr lang="en-US" sz="1500" dirty="0">
                <a:solidFill>
                  <a:srgbClr val="1423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Replying to new enquiries, day or night</a:t>
            </a:r>
            <a:endParaRPr lang="en-US" sz="1500" dirty="0"/>
          </a:p>
          <a:p>
            <a:pPr marL="228600" indent="-228600">
              <a:spcAft>
                <a:spcPts val="900"/>
              </a:spcAft>
              <a:buSzPct val="100000"/>
              <a:buChar char="•"/>
            </a:pPr>
            <a:r>
              <a:rPr lang="en-US" sz="1500" dirty="0">
                <a:solidFill>
                  <a:srgbClr val="1423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Answering common questions with approved content</a:t>
            </a:r>
            <a:endParaRPr lang="en-US" sz="1500" dirty="0"/>
          </a:p>
          <a:p>
            <a:pPr marL="228600" indent="-228600">
              <a:spcAft>
                <a:spcPts val="900"/>
              </a:spcAft>
              <a:buSzPct val="100000"/>
              <a:buChar char="•"/>
            </a:pPr>
            <a:r>
              <a:rPr lang="en-US" sz="1500" dirty="0">
                <a:solidFill>
                  <a:srgbClr val="1423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Sending follow-ups and appointment reminders</a:t>
            </a:r>
            <a:endParaRPr lang="en-US" sz="1500" dirty="0"/>
          </a:p>
          <a:p>
            <a:pPr marL="228600" indent="-228600">
              <a:spcAft>
                <a:spcPts val="900"/>
              </a:spcAft>
              <a:buSzPct val="100000"/>
              <a:buChar char="•"/>
            </a:pPr>
            <a:r>
              <a:rPr lang="en-US" sz="1500" dirty="0">
                <a:solidFill>
                  <a:srgbClr val="1423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Inviting patients who missed a visit to rebook</a:t>
            </a:r>
            <a:endParaRPr lang="en-US" sz="1500" dirty="0"/>
          </a:p>
          <a:p>
            <a:pPr marL="228600" indent="-228600">
              <a:spcAft>
                <a:spcPts val="900"/>
              </a:spcAft>
              <a:buSzPct val="100000"/>
              <a:buChar char="•"/>
            </a:pPr>
            <a:r>
              <a:rPr lang="en-US" sz="1500" dirty="0">
                <a:solidFill>
                  <a:srgbClr val="1423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Recall and review requests</a:t>
            </a:r>
            <a:endParaRPr lang="en-US" sz="1500" dirty="0"/>
          </a:p>
          <a:p>
            <a:pPr marL="228600" indent="-228600">
              <a:spcAft>
                <a:spcPts val="900"/>
              </a:spcAft>
              <a:buSzPct val="100000"/>
              <a:buChar char="•"/>
            </a:pPr>
            <a:r>
              <a:rPr lang="en-US" sz="1500" dirty="0">
                <a:solidFill>
                  <a:srgbClr val="1423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Keeping a status for every enquiry</a:t>
            </a:r>
            <a:endParaRPr lang="en-US" sz="1500" dirty="0"/>
          </a:p>
        </p:txBody>
      </p:sp>
      <p:sp>
        <p:nvSpPr>
          <p:cNvPr id="12" name="Shape 8"/>
          <p:cNvSpPr/>
          <p:nvPr/>
        </p:nvSpPr>
        <p:spPr>
          <a:xfrm>
            <a:off x="6233008" y="1600200"/>
            <a:ext cx="5410048" cy="4434840"/>
          </a:xfrm>
          <a:prstGeom prst="roundRect">
            <a:avLst>
              <a:gd name="adj" fmla="val 2474"/>
            </a:avLst>
          </a:prstGeom>
          <a:solidFill>
            <a:srgbClr val="DCEFEA"/>
          </a:solidFill>
          <a:ln/>
        </p:spPr>
      </p:sp>
      <p:pic>
        <p:nvPicPr>
          <p:cNvPr id="13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598768" y="1874520"/>
            <a:ext cx="457200" cy="457200"/>
          </a:xfrm>
          <a:prstGeom prst="rect">
            <a:avLst/>
          </a:prstGeom>
        </p:spPr>
      </p:pic>
      <p:sp>
        <p:nvSpPr>
          <p:cNvPr id="14" name="Text 9"/>
          <p:cNvSpPr txBox="1"/>
          <p:nvPr/>
        </p:nvSpPr>
        <p:spPr>
          <a:xfrm>
            <a:off x="7238848" y="1874520"/>
            <a:ext cx="403844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1423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Your team handles</a:t>
            </a:r>
            <a:endParaRPr lang="en-US" sz="2000" dirty="0"/>
          </a:p>
        </p:txBody>
      </p:sp>
      <p:sp>
        <p:nvSpPr>
          <p:cNvPr id="15" name="Text 10"/>
          <p:cNvSpPr txBox="1"/>
          <p:nvPr/>
        </p:nvSpPr>
        <p:spPr>
          <a:xfrm>
            <a:off x="6598768" y="2606040"/>
            <a:ext cx="4678528" cy="3291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28600" indent="-228600">
              <a:spcAft>
                <a:spcPts val="900"/>
              </a:spcAft>
              <a:buSzPct val="100000"/>
              <a:buChar char="•"/>
            </a:pPr>
            <a:r>
              <a:rPr lang="en-US" sz="1500" dirty="0">
                <a:solidFill>
                  <a:srgbClr val="1423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Clinical questions and treatment advice</a:t>
            </a:r>
            <a:endParaRPr lang="en-US" sz="1500" dirty="0"/>
          </a:p>
          <a:p>
            <a:pPr marL="228600" indent="-228600">
              <a:spcAft>
                <a:spcPts val="900"/>
              </a:spcAft>
              <a:buSzPct val="100000"/>
              <a:buChar char="•"/>
            </a:pPr>
            <a:r>
              <a:rPr lang="en-US" sz="1500" dirty="0">
                <a:solidFill>
                  <a:srgbClr val="1423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Pricing discussions and treatment plans</a:t>
            </a:r>
            <a:endParaRPr lang="en-US" sz="1500" dirty="0"/>
          </a:p>
          <a:p>
            <a:pPr marL="228600" indent="-228600">
              <a:spcAft>
                <a:spcPts val="900"/>
              </a:spcAft>
              <a:buSzPct val="100000"/>
              <a:buChar char="•"/>
            </a:pPr>
            <a:r>
              <a:rPr lang="en-US" sz="1500" dirty="0">
                <a:solidFill>
                  <a:srgbClr val="1423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Concerns, complaints and urgent cases</a:t>
            </a:r>
            <a:endParaRPr lang="en-US" sz="1500" dirty="0"/>
          </a:p>
          <a:p>
            <a:pPr marL="228600" indent="-228600">
              <a:spcAft>
                <a:spcPts val="900"/>
              </a:spcAft>
              <a:buSzPct val="100000"/>
              <a:buChar char="•"/>
            </a:pPr>
            <a:r>
              <a:rPr lang="en-US" sz="1500" dirty="0">
                <a:solidFill>
                  <a:srgbClr val="1423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Patients who ask to speak to a person</a:t>
            </a:r>
            <a:endParaRPr lang="en-US" sz="1500" dirty="0"/>
          </a:p>
          <a:p>
            <a:pPr marL="228600" indent="-228600">
              <a:spcAft>
                <a:spcPts val="900"/>
              </a:spcAft>
              <a:buSzPct val="100000"/>
              <a:buChar char="•"/>
            </a:pPr>
            <a:r>
              <a:rPr lang="en-US" sz="1500" dirty="0">
                <a:solidFill>
                  <a:srgbClr val="1423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Final say on every message and rule</a:t>
            </a:r>
            <a:endParaRPr lang="en-US" sz="1500" dirty="0"/>
          </a:p>
          <a:p>
            <a:pPr marL="228600" indent="-228600">
              <a:spcAft>
                <a:spcPts val="900"/>
              </a:spcAft>
              <a:buSzPct val="100000"/>
              <a:buChar char="•"/>
            </a:pPr>
            <a:r>
              <a:rPr lang="en-US" sz="1500" dirty="0">
                <a:solidFill>
                  <a:srgbClr val="1423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welcome and care at the clinic</a:t>
            </a:r>
            <a:endParaRPr lang="en-US" sz="15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6F8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84048"/>
            <a:ext cx="11094415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spc="150" kern="0" dirty="0">
                <a:solidFill>
                  <a:srgbClr val="0E7C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VISIBILITY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76656"/>
            <a:ext cx="11094415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000" b="1" dirty="0">
                <a:solidFill>
                  <a:srgbClr val="1423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Know where every patient stands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6263640"/>
            <a:ext cx="11094415" cy="0"/>
          </a:xfrm>
          <a:prstGeom prst="line">
            <a:avLst/>
          </a:prstGeom>
          <a:noFill/>
          <a:ln w="9525">
            <a:solidFill>
              <a:srgbClr val="D5DEDB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548640" y="6373368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B6B7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Patientcurve  ·  Patient journey automation for dental clinics</a:t>
            </a:r>
            <a:endParaRPr lang="en-US" sz="1000" dirty="0"/>
          </a:p>
        </p:txBody>
      </p:sp>
      <p:sp>
        <p:nvSpPr>
          <p:cNvPr id="6" name="Text 4"/>
          <p:cNvSpPr txBox="1"/>
          <p:nvPr/>
        </p:nvSpPr>
        <p:spPr>
          <a:xfrm>
            <a:off x="8778240" y="6373368"/>
            <a:ext cx="1280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B6B7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11 / 15</a:t>
            </a:r>
            <a:endParaRPr lang="en-US" sz="1000" dirty="0"/>
          </a:p>
        </p:txBody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360152" y="6382512"/>
            <a:ext cx="1280160" cy="243840"/>
          </a:xfrm>
          <a:prstGeom prst="rect">
            <a:avLst/>
          </a:prstGeom>
        </p:spPr>
      </p:pic>
      <p:sp>
        <p:nvSpPr>
          <p:cNvPr id="8" name="Text 5"/>
          <p:cNvSpPr txBox="1"/>
          <p:nvPr/>
        </p:nvSpPr>
        <p:spPr>
          <a:xfrm>
            <a:off x="548640" y="1463040"/>
            <a:ext cx="1109441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5B6B7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simple view of the patient pipeline, so the clinic can see what's working and where patients are still being lost.</a:t>
            </a:r>
            <a:endParaRPr lang="en-US" sz="1500" dirty="0"/>
          </a:p>
        </p:txBody>
      </p:sp>
      <p:sp>
        <p:nvSpPr>
          <p:cNvPr id="9" name="Shape 6"/>
          <p:cNvSpPr/>
          <p:nvPr/>
        </p:nvSpPr>
        <p:spPr>
          <a:xfrm>
            <a:off x="10774375" y="384048"/>
            <a:ext cx="868680" cy="256032"/>
          </a:xfrm>
          <a:prstGeom prst="roundRect">
            <a:avLst>
              <a:gd name="adj" fmla="val 21429"/>
            </a:avLst>
          </a:prstGeom>
          <a:solidFill>
            <a:srgbClr val="FBF3E6"/>
          </a:solidFill>
          <a:ln w="9525">
            <a:solidFill>
              <a:srgbClr val="8F5A0E"/>
            </a:solidFill>
            <a:prstDash val="solid"/>
          </a:ln>
        </p:spPr>
      </p:sp>
      <p:sp>
        <p:nvSpPr>
          <p:cNvPr id="10" name="Text 7"/>
          <p:cNvSpPr txBox="1"/>
          <p:nvPr/>
        </p:nvSpPr>
        <p:spPr>
          <a:xfrm>
            <a:off x="10774375" y="384048"/>
            <a:ext cx="868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spc="100" kern="0" dirty="0">
                <a:solidFill>
                  <a:srgbClr val="8F5A0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EXAMPLE</a:t>
            </a:r>
            <a:endParaRPr lang="en-US" sz="900" dirty="0"/>
          </a:p>
        </p:txBody>
      </p:sp>
      <p:sp>
        <p:nvSpPr>
          <p:cNvPr id="11" name="Shape 8"/>
          <p:cNvSpPr/>
          <p:nvPr/>
        </p:nvSpPr>
        <p:spPr>
          <a:xfrm>
            <a:off x="548640" y="2103120"/>
            <a:ext cx="3545738" cy="1325880"/>
          </a:xfrm>
          <a:prstGeom prst="roundRect">
            <a:avLst>
              <a:gd name="adj" fmla="val 8276"/>
            </a:avLst>
          </a:prstGeom>
          <a:solidFill>
            <a:srgbClr val="FFFFFF"/>
          </a:solidFill>
          <a:ln w="9525">
            <a:solidFill>
              <a:srgbClr val="D5DEDB"/>
            </a:solidFill>
            <a:prstDash val="solid"/>
          </a:ln>
        </p:spPr>
      </p:sp>
      <p:pic>
        <p:nvPicPr>
          <p:cNvPr id="12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22960" y="2377440"/>
            <a:ext cx="384048" cy="384048"/>
          </a:xfrm>
          <a:prstGeom prst="rect">
            <a:avLst/>
          </a:prstGeom>
        </p:spPr>
      </p:pic>
      <p:sp>
        <p:nvSpPr>
          <p:cNvPr id="13" name="Text 9"/>
          <p:cNvSpPr txBox="1"/>
          <p:nvPr/>
        </p:nvSpPr>
        <p:spPr>
          <a:xfrm>
            <a:off x="1371600" y="2350008"/>
            <a:ext cx="244845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423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New enquiries</a:t>
            </a:r>
            <a:endParaRPr lang="en-US" sz="1600" dirty="0"/>
          </a:p>
        </p:txBody>
      </p:sp>
      <p:sp>
        <p:nvSpPr>
          <p:cNvPr id="14" name="Text 10"/>
          <p:cNvSpPr txBox="1"/>
          <p:nvPr/>
        </p:nvSpPr>
        <p:spPr>
          <a:xfrm>
            <a:off x="1371600" y="2788920"/>
            <a:ext cx="244845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5B6B7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Captured this period, by source where available</a:t>
            </a:r>
            <a:endParaRPr lang="en-US" sz="1250" dirty="0"/>
          </a:p>
        </p:txBody>
      </p:sp>
      <p:sp>
        <p:nvSpPr>
          <p:cNvPr id="15" name="Shape 11"/>
          <p:cNvSpPr/>
          <p:nvPr/>
        </p:nvSpPr>
        <p:spPr>
          <a:xfrm>
            <a:off x="4322978" y="2103120"/>
            <a:ext cx="3545738" cy="1325880"/>
          </a:xfrm>
          <a:prstGeom prst="roundRect">
            <a:avLst>
              <a:gd name="adj" fmla="val 8276"/>
            </a:avLst>
          </a:prstGeom>
          <a:solidFill>
            <a:srgbClr val="FFFFFF"/>
          </a:solidFill>
          <a:ln w="9525">
            <a:solidFill>
              <a:srgbClr val="D5DEDB"/>
            </a:solidFill>
            <a:prstDash val="solid"/>
          </a:ln>
        </p:spPr>
      </p:sp>
      <p:pic>
        <p:nvPicPr>
          <p:cNvPr id="16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97298" y="2377440"/>
            <a:ext cx="384048" cy="384048"/>
          </a:xfrm>
          <a:prstGeom prst="rect">
            <a:avLst/>
          </a:prstGeom>
        </p:spPr>
      </p:pic>
      <p:sp>
        <p:nvSpPr>
          <p:cNvPr id="17" name="Text 12"/>
          <p:cNvSpPr txBox="1"/>
          <p:nvPr/>
        </p:nvSpPr>
        <p:spPr>
          <a:xfrm>
            <a:off x="5145938" y="2350008"/>
            <a:ext cx="244845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423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Awaiting follow-up</a:t>
            </a:r>
            <a:endParaRPr lang="en-US" sz="1600" dirty="0"/>
          </a:p>
        </p:txBody>
      </p:sp>
      <p:sp>
        <p:nvSpPr>
          <p:cNvPr id="18" name="Text 13"/>
          <p:cNvSpPr txBox="1"/>
          <p:nvPr/>
        </p:nvSpPr>
        <p:spPr>
          <a:xfrm>
            <a:off x="5145938" y="2788920"/>
            <a:ext cx="244845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5B6B7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Patients who asked but haven't booked yet</a:t>
            </a:r>
            <a:endParaRPr lang="en-US" sz="1250" dirty="0"/>
          </a:p>
        </p:txBody>
      </p:sp>
      <p:sp>
        <p:nvSpPr>
          <p:cNvPr id="19" name="Shape 14"/>
          <p:cNvSpPr/>
          <p:nvPr/>
        </p:nvSpPr>
        <p:spPr>
          <a:xfrm>
            <a:off x="8097317" y="2103120"/>
            <a:ext cx="3545738" cy="1325880"/>
          </a:xfrm>
          <a:prstGeom prst="roundRect">
            <a:avLst>
              <a:gd name="adj" fmla="val 8276"/>
            </a:avLst>
          </a:prstGeom>
          <a:solidFill>
            <a:srgbClr val="FFFFFF"/>
          </a:solidFill>
          <a:ln w="9525">
            <a:solidFill>
              <a:srgbClr val="D5DEDB"/>
            </a:solidFill>
            <a:prstDash val="solid"/>
          </a:ln>
        </p:spPr>
      </p:sp>
      <p:pic>
        <p:nvPicPr>
          <p:cNvPr id="20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371637" y="2377440"/>
            <a:ext cx="384048" cy="384048"/>
          </a:xfrm>
          <a:prstGeom prst="rect">
            <a:avLst/>
          </a:prstGeom>
        </p:spPr>
      </p:pic>
      <p:sp>
        <p:nvSpPr>
          <p:cNvPr id="21" name="Text 15"/>
          <p:cNvSpPr txBox="1"/>
          <p:nvPr/>
        </p:nvSpPr>
        <p:spPr>
          <a:xfrm>
            <a:off x="8920277" y="2350008"/>
            <a:ext cx="244845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423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Booked</a:t>
            </a:r>
            <a:endParaRPr lang="en-US" sz="1600" dirty="0"/>
          </a:p>
        </p:txBody>
      </p:sp>
      <p:sp>
        <p:nvSpPr>
          <p:cNvPr id="22" name="Text 16"/>
          <p:cNvSpPr txBox="1"/>
          <p:nvPr/>
        </p:nvSpPr>
        <p:spPr>
          <a:xfrm>
            <a:off x="8920277" y="2788920"/>
            <a:ext cx="244845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5B6B7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Enquiries that became appointments</a:t>
            </a:r>
            <a:endParaRPr lang="en-US" sz="1250" dirty="0"/>
          </a:p>
        </p:txBody>
      </p:sp>
      <p:sp>
        <p:nvSpPr>
          <p:cNvPr id="23" name="Shape 17"/>
          <p:cNvSpPr/>
          <p:nvPr/>
        </p:nvSpPr>
        <p:spPr>
          <a:xfrm>
            <a:off x="548640" y="3611880"/>
            <a:ext cx="3545738" cy="1325880"/>
          </a:xfrm>
          <a:prstGeom prst="roundRect">
            <a:avLst>
              <a:gd name="adj" fmla="val 8276"/>
            </a:avLst>
          </a:prstGeom>
          <a:solidFill>
            <a:srgbClr val="FFFFFF"/>
          </a:solidFill>
          <a:ln w="9525">
            <a:solidFill>
              <a:srgbClr val="D5DEDB"/>
            </a:solidFill>
            <a:prstDash val="solid"/>
          </a:ln>
        </p:spPr>
      </p:sp>
      <p:pic>
        <p:nvPicPr>
          <p:cNvPr id="24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22960" y="3886200"/>
            <a:ext cx="384048" cy="384048"/>
          </a:xfrm>
          <a:prstGeom prst="rect">
            <a:avLst/>
          </a:prstGeom>
        </p:spPr>
      </p:pic>
      <p:sp>
        <p:nvSpPr>
          <p:cNvPr id="25" name="Text 18"/>
          <p:cNvSpPr txBox="1"/>
          <p:nvPr/>
        </p:nvSpPr>
        <p:spPr>
          <a:xfrm>
            <a:off x="1371600" y="3858768"/>
            <a:ext cx="244845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423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Missed visits</a:t>
            </a:r>
            <a:endParaRPr lang="en-US" sz="1600" dirty="0"/>
          </a:p>
        </p:txBody>
      </p:sp>
      <p:sp>
        <p:nvSpPr>
          <p:cNvPr id="26" name="Text 19"/>
          <p:cNvSpPr txBox="1"/>
          <p:nvPr/>
        </p:nvSpPr>
        <p:spPr>
          <a:xfrm>
            <a:off x="1371600" y="4297680"/>
            <a:ext cx="244845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5B6B7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No-shows and whether they rebooked</a:t>
            </a:r>
            <a:endParaRPr lang="en-US" sz="1250" dirty="0"/>
          </a:p>
        </p:txBody>
      </p:sp>
      <p:sp>
        <p:nvSpPr>
          <p:cNvPr id="27" name="Shape 20"/>
          <p:cNvSpPr/>
          <p:nvPr/>
        </p:nvSpPr>
        <p:spPr>
          <a:xfrm>
            <a:off x="4322978" y="3611880"/>
            <a:ext cx="3545738" cy="1325880"/>
          </a:xfrm>
          <a:prstGeom prst="roundRect">
            <a:avLst>
              <a:gd name="adj" fmla="val 8276"/>
            </a:avLst>
          </a:prstGeom>
          <a:solidFill>
            <a:srgbClr val="FFFFFF"/>
          </a:solidFill>
          <a:ln w="9525">
            <a:solidFill>
              <a:srgbClr val="D5DEDB"/>
            </a:solidFill>
            <a:prstDash val="solid"/>
          </a:ln>
        </p:spPr>
      </p:sp>
      <p:pic>
        <p:nvPicPr>
          <p:cNvPr id="28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597298" y="3886200"/>
            <a:ext cx="384048" cy="384048"/>
          </a:xfrm>
          <a:prstGeom prst="rect">
            <a:avLst/>
          </a:prstGeom>
        </p:spPr>
      </p:pic>
      <p:sp>
        <p:nvSpPr>
          <p:cNvPr id="29" name="Text 21"/>
          <p:cNvSpPr txBox="1"/>
          <p:nvPr/>
        </p:nvSpPr>
        <p:spPr>
          <a:xfrm>
            <a:off x="5145938" y="3858768"/>
            <a:ext cx="244845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423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Returning patients</a:t>
            </a:r>
            <a:endParaRPr lang="en-US" sz="1600" dirty="0"/>
          </a:p>
        </p:txBody>
      </p:sp>
      <p:sp>
        <p:nvSpPr>
          <p:cNvPr id="30" name="Text 22"/>
          <p:cNvSpPr txBox="1"/>
          <p:nvPr/>
        </p:nvSpPr>
        <p:spPr>
          <a:xfrm>
            <a:off x="5145938" y="4297680"/>
            <a:ext cx="244845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5B6B7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Patients brought back through recall</a:t>
            </a:r>
            <a:endParaRPr lang="en-US" sz="1250" dirty="0"/>
          </a:p>
        </p:txBody>
      </p:sp>
      <p:sp>
        <p:nvSpPr>
          <p:cNvPr id="31" name="Shape 23"/>
          <p:cNvSpPr/>
          <p:nvPr/>
        </p:nvSpPr>
        <p:spPr>
          <a:xfrm>
            <a:off x="8097317" y="3611880"/>
            <a:ext cx="3545738" cy="1325880"/>
          </a:xfrm>
          <a:prstGeom prst="roundRect">
            <a:avLst>
              <a:gd name="adj" fmla="val 8276"/>
            </a:avLst>
          </a:prstGeom>
          <a:solidFill>
            <a:srgbClr val="FFFFFF"/>
          </a:solidFill>
          <a:ln w="9525">
            <a:solidFill>
              <a:srgbClr val="D5DEDB"/>
            </a:solidFill>
            <a:prstDash val="solid"/>
          </a:ln>
        </p:spPr>
      </p:sp>
      <p:pic>
        <p:nvPicPr>
          <p:cNvPr id="32" name="Image 6" descr="preencoded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8371637" y="3886200"/>
            <a:ext cx="384048" cy="384048"/>
          </a:xfrm>
          <a:prstGeom prst="rect">
            <a:avLst/>
          </a:prstGeom>
        </p:spPr>
      </p:pic>
      <p:sp>
        <p:nvSpPr>
          <p:cNvPr id="33" name="Text 24"/>
          <p:cNvSpPr txBox="1"/>
          <p:nvPr/>
        </p:nvSpPr>
        <p:spPr>
          <a:xfrm>
            <a:off x="8920277" y="3858768"/>
            <a:ext cx="244845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423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Feedback</a:t>
            </a:r>
            <a:endParaRPr lang="en-US" sz="1600" dirty="0"/>
          </a:p>
        </p:txBody>
      </p:sp>
      <p:sp>
        <p:nvSpPr>
          <p:cNvPr id="34" name="Text 25"/>
          <p:cNvSpPr txBox="1"/>
          <p:nvPr/>
        </p:nvSpPr>
        <p:spPr>
          <a:xfrm>
            <a:off x="8920277" y="4297680"/>
            <a:ext cx="244845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5B6B7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Review requests sent and concerns raised</a:t>
            </a:r>
            <a:endParaRPr lang="en-US" sz="1250" dirty="0"/>
          </a:p>
        </p:txBody>
      </p:sp>
      <p:sp>
        <p:nvSpPr>
          <p:cNvPr id="35" name="Text 26"/>
          <p:cNvSpPr txBox="1"/>
          <p:nvPr/>
        </p:nvSpPr>
        <p:spPr>
          <a:xfrm>
            <a:off x="548640" y="5257800"/>
            <a:ext cx="1109441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5B6B7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Reports cover what the configured workflows can see. Data from other tools appears only where it is connected.</a:t>
            </a:r>
            <a:endParaRPr lang="en-US" sz="125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6F8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84048"/>
            <a:ext cx="11094415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spc="150" kern="0" dirty="0">
                <a:solidFill>
                  <a:srgbClr val="0E7C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GETTING STARTED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76656"/>
            <a:ext cx="11094415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000" b="1" dirty="0">
                <a:solidFill>
                  <a:srgbClr val="1423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Live in four simple stages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6263640"/>
            <a:ext cx="11094415" cy="0"/>
          </a:xfrm>
          <a:prstGeom prst="line">
            <a:avLst/>
          </a:prstGeom>
          <a:noFill/>
          <a:ln w="9525">
            <a:solidFill>
              <a:srgbClr val="D5DEDB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548640" y="6373368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B6B7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Patientcurve  ·  Patient journey automation for dental clinics</a:t>
            </a:r>
            <a:endParaRPr lang="en-US" sz="1000" dirty="0"/>
          </a:p>
        </p:txBody>
      </p:sp>
      <p:sp>
        <p:nvSpPr>
          <p:cNvPr id="6" name="Text 4"/>
          <p:cNvSpPr txBox="1"/>
          <p:nvPr/>
        </p:nvSpPr>
        <p:spPr>
          <a:xfrm>
            <a:off x="8778240" y="6373368"/>
            <a:ext cx="1280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B6B7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12 / 15</a:t>
            </a:r>
            <a:endParaRPr lang="en-US" sz="1000" dirty="0"/>
          </a:p>
        </p:txBody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360152" y="6382512"/>
            <a:ext cx="1280160" cy="243840"/>
          </a:xfrm>
          <a:prstGeom prst="rect">
            <a:avLst/>
          </a:prstGeom>
        </p:spPr>
      </p:pic>
      <p:sp>
        <p:nvSpPr>
          <p:cNvPr id="8" name="Shape 5"/>
          <p:cNvSpPr/>
          <p:nvPr/>
        </p:nvSpPr>
        <p:spPr>
          <a:xfrm>
            <a:off x="777240" y="1828800"/>
            <a:ext cx="8320811" cy="0"/>
          </a:xfrm>
          <a:prstGeom prst="line">
            <a:avLst/>
          </a:prstGeom>
          <a:noFill/>
          <a:ln w="19050">
            <a:solidFill>
              <a:srgbClr val="D5DEDB"/>
            </a:solidFill>
            <a:prstDash val="solid"/>
          </a:ln>
        </p:spPr>
      </p:sp>
      <p:sp>
        <p:nvSpPr>
          <p:cNvPr id="9" name="Shape 6"/>
          <p:cNvSpPr/>
          <p:nvPr/>
        </p:nvSpPr>
        <p:spPr>
          <a:xfrm>
            <a:off x="548640" y="1600200"/>
            <a:ext cx="457200" cy="457200"/>
          </a:xfrm>
          <a:prstGeom prst="ellipse">
            <a:avLst/>
          </a:prstGeom>
          <a:solidFill>
            <a:srgbClr val="FFFFFF"/>
          </a:solidFill>
          <a:ln w="19050">
            <a:solidFill>
              <a:srgbClr val="0E7C6B"/>
            </a:solidFill>
            <a:prstDash val="solid"/>
          </a:ln>
        </p:spPr>
      </p:sp>
      <p:sp>
        <p:nvSpPr>
          <p:cNvPr id="10" name="Text 7"/>
          <p:cNvSpPr txBox="1"/>
          <p:nvPr/>
        </p:nvSpPr>
        <p:spPr>
          <a:xfrm>
            <a:off x="548640" y="160020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0E7C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1500" dirty="0"/>
          </a:p>
        </p:txBody>
      </p:sp>
      <p:sp>
        <p:nvSpPr>
          <p:cNvPr id="11" name="Text 8"/>
          <p:cNvSpPr txBox="1"/>
          <p:nvPr/>
        </p:nvSpPr>
        <p:spPr>
          <a:xfrm>
            <a:off x="548640" y="2240280"/>
            <a:ext cx="2453564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b="1" dirty="0">
                <a:solidFill>
                  <a:srgbClr val="1423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Confirm scope</a:t>
            </a:r>
            <a:endParaRPr lang="en-US" sz="1700" dirty="0"/>
          </a:p>
        </p:txBody>
      </p:sp>
      <p:sp>
        <p:nvSpPr>
          <p:cNvPr id="12" name="Text 9"/>
          <p:cNvSpPr txBox="1"/>
          <p:nvPr/>
        </p:nvSpPr>
        <p:spPr>
          <a:xfrm>
            <a:off x="548640" y="2697480"/>
            <a:ext cx="2453564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5B6B7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Agree the workflows, timings and commercial terms.</a:t>
            </a:r>
            <a:endParaRPr lang="en-US" sz="1300" dirty="0"/>
          </a:p>
        </p:txBody>
      </p:sp>
      <p:sp>
        <p:nvSpPr>
          <p:cNvPr id="13" name="Shape 10"/>
          <p:cNvSpPr/>
          <p:nvPr/>
        </p:nvSpPr>
        <p:spPr>
          <a:xfrm>
            <a:off x="3322244" y="1600200"/>
            <a:ext cx="457200" cy="457200"/>
          </a:xfrm>
          <a:prstGeom prst="ellipse">
            <a:avLst/>
          </a:prstGeom>
          <a:solidFill>
            <a:srgbClr val="FFFFFF"/>
          </a:solidFill>
          <a:ln w="19050">
            <a:solidFill>
              <a:srgbClr val="0E7C6B"/>
            </a:solidFill>
            <a:prstDash val="solid"/>
          </a:ln>
        </p:spPr>
      </p:sp>
      <p:sp>
        <p:nvSpPr>
          <p:cNvPr id="14" name="Text 11"/>
          <p:cNvSpPr txBox="1"/>
          <p:nvPr/>
        </p:nvSpPr>
        <p:spPr>
          <a:xfrm>
            <a:off x="3322244" y="160020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0E7C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1500" dirty="0"/>
          </a:p>
        </p:txBody>
      </p:sp>
      <p:sp>
        <p:nvSpPr>
          <p:cNvPr id="15" name="Text 12"/>
          <p:cNvSpPr txBox="1"/>
          <p:nvPr/>
        </p:nvSpPr>
        <p:spPr>
          <a:xfrm>
            <a:off x="3322244" y="2240280"/>
            <a:ext cx="2453564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b="1" dirty="0">
                <a:solidFill>
                  <a:srgbClr val="1423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Collect details</a:t>
            </a:r>
            <a:endParaRPr lang="en-US" sz="1700" dirty="0"/>
          </a:p>
        </p:txBody>
      </p:sp>
      <p:sp>
        <p:nvSpPr>
          <p:cNvPr id="16" name="Text 13"/>
          <p:cNvSpPr txBox="1"/>
          <p:nvPr/>
        </p:nvSpPr>
        <p:spPr>
          <a:xfrm>
            <a:off x="3322244" y="2697480"/>
            <a:ext cx="2453564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5B6B7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WhatsApp access, approved message content and clinic information.</a:t>
            </a:r>
            <a:endParaRPr lang="en-US" sz="1300" dirty="0"/>
          </a:p>
        </p:txBody>
      </p:sp>
      <p:sp>
        <p:nvSpPr>
          <p:cNvPr id="17" name="Shape 14"/>
          <p:cNvSpPr/>
          <p:nvPr/>
        </p:nvSpPr>
        <p:spPr>
          <a:xfrm>
            <a:off x="6095848" y="1600200"/>
            <a:ext cx="457200" cy="457200"/>
          </a:xfrm>
          <a:prstGeom prst="ellipse">
            <a:avLst/>
          </a:prstGeom>
          <a:solidFill>
            <a:srgbClr val="FFFFFF"/>
          </a:solidFill>
          <a:ln w="19050">
            <a:solidFill>
              <a:srgbClr val="0E7C6B"/>
            </a:solidFill>
            <a:prstDash val="solid"/>
          </a:ln>
        </p:spPr>
      </p:sp>
      <p:sp>
        <p:nvSpPr>
          <p:cNvPr id="18" name="Text 15"/>
          <p:cNvSpPr txBox="1"/>
          <p:nvPr/>
        </p:nvSpPr>
        <p:spPr>
          <a:xfrm>
            <a:off x="6095848" y="160020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0E7C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1500" dirty="0"/>
          </a:p>
        </p:txBody>
      </p:sp>
      <p:sp>
        <p:nvSpPr>
          <p:cNvPr id="19" name="Text 16"/>
          <p:cNvSpPr txBox="1"/>
          <p:nvPr/>
        </p:nvSpPr>
        <p:spPr>
          <a:xfrm>
            <a:off x="6095848" y="2240280"/>
            <a:ext cx="2453564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b="1" dirty="0">
                <a:solidFill>
                  <a:srgbClr val="1423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Configure and test</a:t>
            </a:r>
            <a:endParaRPr lang="en-US" sz="1700" dirty="0"/>
          </a:p>
        </p:txBody>
      </p:sp>
      <p:sp>
        <p:nvSpPr>
          <p:cNvPr id="20" name="Text 17"/>
          <p:cNvSpPr txBox="1"/>
          <p:nvPr/>
        </p:nvSpPr>
        <p:spPr>
          <a:xfrm>
            <a:off x="6095848" y="2697480"/>
            <a:ext cx="2453564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5B6B7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Set up the agreed workflows and test each one end to end with your team.</a:t>
            </a:r>
            <a:endParaRPr lang="en-US" sz="1300" dirty="0"/>
          </a:p>
        </p:txBody>
      </p:sp>
      <p:sp>
        <p:nvSpPr>
          <p:cNvPr id="21" name="Shape 18"/>
          <p:cNvSpPr/>
          <p:nvPr/>
        </p:nvSpPr>
        <p:spPr>
          <a:xfrm>
            <a:off x="8869451" y="1600200"/>
            <a:ext cx="457200" cy="457200"/>
          </a:xfrm>
          <a:prstGeom prst="ellipse">
            <a:avLst/>
          </a:prstGeom>
          <a:solidFill>
            <a:srgbClr val="0E7C6B"/>
          </a:solidFill>
          <a:ln w="19050">
            <a:solidFill>
              <a:srgbClr val="0E7C6B"/>
            </a:solidFill>
            <a:prstDash val="solid"/>
          </a:ln>
        </p:spPr>
      </p:sp>
      <p:sp>
        <p:nvSpPr>
          <p:cNvPr id="22" name="Text 19"/>
          <p:cNvSpPr txBox="1"/>
          <p:nvPr/>
        </p:nvSpPr>
        <p:spPr>
          <a:xfrm>
            <a:off x="8869451" y="160020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en-US" sz="1500" dirty="0"/>
          </a:p>
        </p:txBody>
      </p:sp>
      <p:sp>
        <p:nvSpPr>
          <p:cNvPr id="23" name="Text 20"/>
          <p:cNvSpPr txBox="1"/>
          <p:nvPr/>
        </p:nvSpPr>
        <p:spPr>
          <a:xfrm>
            <a:off x="8869451" y="2240280"/>
            <a:ext cx="2453564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b="1" dirty="0">
                <a:solidFill>
                  <a:srgbClr val="1423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Go live and review</a:t>
            </a:r>
            <a:endParaRPr lang="en-US" sz="1700" dirty="0"/>
          </a:p>
        </p:txBody>
      </p:sp>
      <p:sp>
        <p:nvSpPr>
          <p:cNvPr id="24" name="Text 21"/>
          <p:cNvSpPr txBox="1"/>
          <p:nvPr/>
        </p:nvSpPr>
        <p:spPr>
          <a:xfrm>
            <a:off x="8869451" y="2697480"/>
            <a:ext cx="2453564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5B6B7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Hand over, monitor and adjust the workflows within the agreed scope.</a:t>
            </a:r>
            <a:endParaRPr lang="en-US" sz="1300" dirty="0"/>
          </a:p>
        </p:txBody>
      </p:sp>
      <p:sp>
        <p:nvSpPr>
          <p:cNvPr id="25" name="Shape 22"/>
          <p:cNvSpPr/>
          <p:nvPr/>
        </p:nvSpPr>
        <p:spPr>
          <a:xfrm>
            <a:off x="548640" y="3794760"/>
            <a:ext cx="11094415" cy="2240280"/>
          </a:xfrm>
          <a:prstGeom prst="roundRect">
            <a:avLst>
              <a:gd name="adj" fmla="val 4898"/>
            </a:avLst>
          </a:prstGeom>
          <a:solidFill>
            <a:srgbClr val="FFFFFF"/>
          </a:solidFill>
          <a:ln w="9525">
            <a:solidFill>
              <a:srgbClr val="D5DEDB"/>
            </a:solidFill>
            <a:prstDash val="solid"/>
          </a:ln>
        </p:spPr>
      </p:sp>
      <p:sp>
        <p:nvSpPr>
          <p:cNvPr id="26" name="Text 23"/>
          <p:cNvSpPr txBox="1"/>
          <p:nvPr/>
        </p:nvSpPr>
        <p:spPr>
          <a:xfrm>
            <a:off x="914400" y="4023360"/>
            <a:ext cx="1036289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spc="150" kern="0" dirty="0">
                <a:solidFill>
                  <a:srgbClr val="0E7C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WHAT A CLINIC NEEDS TO PROVIDE</a:t>
            </a:r>
            <a:endParaRPr lang="en-US" sz="1100" dirty="0"/>
          </a:p>
        </p:txBody>
      </p:sp>
      <p:sp>
        <p:nvSpPr>
          <p:cNvPr id="27" name="Text 24"/>
          <p:cNvSpPr txBox="1"/>
          <p:nvPr/>
        </p:nvSpPr>
        <p:spPr>
          <a:xfrm>
            <a:off x="914400" y="4434840"/>
            <a:ext cx="4907128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28600" indent="-2286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1423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WhatsApp Business number the clinic controls</a:t>
            </a:r>
            <a:endParaRPr lang="en-US" sz="1400" dirty="0"/>
          </a:p>
          <a:p>
            <a:pPr marL="228600" indent="-2286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1423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Clinic information: timings, services, location</a:t>
            </a:r>
            <a:endParaRPr lang="en-US" sz="1400" dirty="0"/>
          </a:p>
          <a:p>
            <a:pPr marL="228600" indent="-2286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1423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Approval of message content before go-live</a:t>
            </a:r>
            <a:endParaRPr lang="en-US" sz="1400" dirty="0"/>
          </a:p>
        </p:txBody>
      </p:sp>
      <p:sp>
        <p:nvSpPr>
          <p:cNvPr id="28" name="Text 25"/>
          <p:cNvSpPr txBox="1"/>
          <p:nvPr/>
        </p:nvSpPr>
        <p:spPr>
          <a:xfrm>
            <a:off x="6461608" y="4434840"/>
            <a:ext cx="4907128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28600" indent="-2286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1423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Staff contacts for notifications and handoffs</a:t>
            </a:r>
            <a:endParaRPr lang="en-US" sz="1400" dirty="0"/>
          </a:p>
          <a:p>
            <a:pPr marL="228600" indent="-2286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1423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Appointment status kept up to date where workflows rely on it</a:t>
            </a:r>
            <a:endParaRPr lang="en-US" sz="1400" dirty="0"/>
          </a:p>
          <a:p>
            <a:pPr marL="228600" indent="-2286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1423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Patients' agreement to receive WhatsApp messages</a:t>
            </a:r>
            <a:endParaRPr lang="en-US" sz="14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6F8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84048"/>
            <a:ext cx="11094415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spc="150" kern="0" dirty="0">
                <a:solidFill>
                  <a:srgbClr val="0E7C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HOW WE WORK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76656"/>
            <a:ext cx="11094415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000" b="1" dirty="0">
                <a:solidFill>
                  <a:srgbClr val="1423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Built to be trusted by clinics and patients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6263640"/>
            <a:ext cx="11094415" cy="0"/>
          </a:xfrm>
          <a:prstGeom prst="line">
            <a:avLst/>
          </a:prstGeom>
          <a:noFill/>
          <a:ln w="9525">
            <a:solidFill>
              <a:srgbClr val="D5DEDB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548640" y="6373368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B6B7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Patientcurve  ·  Patient journey automation for dental clinics</a:t>
            </a:r>
            <a:endParaRPr lang="en-US" sz="1000" dirty="0"/>
          </a:p>
        </p:txBody>
      </p:sp>
      <p:sp>
        <p:nvSpPr>
          <p:cNvPr id="6" name="Text 4"/>
          <p:cNvSpPr txBox="1"/>
          <p:nvPr/>
        </p:nvSpPr>
        <p:spPr>
          <a:xfrm>
            <a:off x="8778240" y="6373368"/>
            <a:ext cx="1280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B6B7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13 / 15</a:t>
            </a:r>
            <a:endParaRPr lang="en-US" sz="1000" dirty="0"/>
          </a:p>
        </p:txBody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360152" y="6382512"/>
            <a:ext cx="1280160" cy="243840"/>
          </a:xfrm>
          <a:prstGeom prst="rect">
            <a:avLst/>
          </a:prstGeom>
        </p:spPr>
      </p:pic>
      <p:sp>
        <p:nvSpPr>
          <p:cNvPr id="8" name="Shape 5"/>
          <p:cNvSpPr/>
          <p:nvPr/>
        </p:nvSpPr>
        <p:spPr>
          <a:xfrm>
            <a:off x="548640" y="1600200"/>
            <a:ext cx="3545738" cy="2057400"/>
          </a:xfrm>
          <a:prstGeom prst="roundRect">
            <a:avLst>
              <a:gd name="adj" fmla="val 5333"/>
            </a:avLst>
          </a:prstGeom>
          <a:solidFill>
            <a:srgbClr val="FFFFFF"/>
          </a:solidFill>
          <a:ln w="9525">
            <a:solidFill>
              <a:srgbClr val="D5DEDB"/>
            </a:solidFill>
            <a:prstDash val="solid"/>
          </a:ln>
        </p:spPr>
      </p:sp>
      <p:pic>
        <p:nvPicPr>
          <p:cNvPr id="9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22960" y="1874520"/>
            <a:ext cx="411480" cy="411480"/>
          </a:xfrm>
          <a:prstGeom prst="rect">
            <a:avLst/>
          </a:prstGeom>
        </p:spPr>
      </p:pic>
      <p:sp>
        <p:nvSpPr>
          <p:cNvPr id="10" name="Text 6"/>
          <p:cNvSpPr txBox="1"/>
          <p:nvPr/>
        </p:nvSpPr>
        <p:spPr>
          <a:xfrm>
            <a:off x="822960" y="2423160"/>
            <a:ext cx="299709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rgbClr val="1423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Clinic-approved content</a:t>
            </a:r>
            <a:endParaRPr lang="en-US" sz="1600" dirty="0"/>
          </a:p>
        </p:txBody>
      </p:sp>
      <p:sp>
        <p:nvSpPr>
          <p:cNvPr id="11" name="Text 7"/>
          <p:cNvSpPr txBox="1"/>
          <p:nvPr/>
        </p:nvSpPr>
        <p:spPr>
          <a:xfrm>
            <a:off x="822960" y="2834640"/>
            <a:ext cx="2997098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5B6B7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Every message and rule is approved by the clinic before it goes live, and can be changed at any time.</a:t>
            </a:r>
            <a:endParaRPr lang="en-US" sz="1250" dirty="0"/>
          </a:p>
        </p:txBody>
      </p:sp>
      <p:sp>
        <p:nvSpPr>
          <p:cNvPr id="12" name="Shape 8"/>
          <p:cNvSpPr/>
          <p:nvPr/>
        </p:nvSpPr>
        <p:spPr>
          <a:xfrm>
            <a:off x="4322978" y="1600200"/>
            <a:ext cx="3545738" cy="2057400"/>
          </a:xfrm>
          <a:prstGeom prst="roundRect">
            <a:avLst>
              <a:gd name="adj" fmla="val 5333"/>
            </a:avLst>
          </a:prstGeom>
          <a:solidFill>
            <a:srgbClr val="FFFFFF"/>
          </a:solidFill>
          <a:ln w="9525">
            <a:solidFill>
              <a:srgbClr val="D5DEDB"/>
            </a:solidFill>
            <a:prstDash val="solid"/>
          </a:ln>
        </p:spPr>
      </p:sp>
      <p:pic>
        <p:nvPicPr>
          <p:cNvPr id="13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97298" y="1874520"/>
            <a:ext cx="411480" cy="411480"/>
          </a:xfrm>
          <a:prstGeom prst="rect">
            <a:avLst/>
          </a:prstGeom>
        </p:spPr>
      </p:pic>
      <p:sp>
        <p:nvSpPr>
          <p:cNvPr id="14" name="Text 9"/>
          <p:cNvSpPr txBox="1"/>
          <p:nvPr/>
        </p:nvSpPr>
        <p:spPr>
          <a:xfrm>
            <a:off x="4597298" y="2423160"/>
            <a:ext cx="299709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rgbClr val="1423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Minimal data</a:t>
            </a:r>
            <a:endParaRPr lang="en-US" sz="1600" dirty="0"/>
          </a:p>
        </p:txBody>
      </p:sp>
      <p:sp>
        <p:nvSpPr>
          <p:cNvPr id="15" name="Text 10"/>
          <p:cNvSpPr txBox="1"/>
          <p:nvPr/>
        </p:nvSpPr>
        <p:spPr>
          <a:xfrm>
            <a:off x="4597298" y="2834640"/>
            <a:ext cx="2997098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5B6B7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Only the information needed to run the agreed workflows is used, and only for the clinic's own patients.</a:t>
            </a:r>
            <a:endParaRPr lang="en-US" sz="1250" dirty="0"/>
          </a:p>
        </p:txBody>
      </p:sp>
      <p:sp>
        <p:nvSpPr>
          <p:cNvPr id="16" name="Shape 11"/>
          <p:cNvSpPr/>
          <p:nvPr/>
        </p:nvSpPr>
        <p:spPr>
          <a:xfrm>
            <a:off x="8097317" y="1600200"/>
            <a:ext cx="3545738" cy="2057400"/>
          </a:xfrm>
          <a:prstGeom prst="roundRect">
            <a:avLst>
              <a:gd name="adj" fmla="val 5333"/>
            </a:avLst>
          </a:prstGeom>
          <a:solidFill>
            <a:srgbClr val="FFFFFF"/>
          </a:solidFill>
          <a:ln w="9525">
            <a:solidFill>
              <a:srgbClr val="D5DEDB"/>
            </a:solidFill>
            <a:prstDash val="solid"/>
          </a:ln>
        </p:spPr>
      </p:sp>
      <p:pic>
        <p:nvPicPr>
          <p:cNvPr id="17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371637" y="1874520"/>
            <a:ext cx="411480" cy="411480"/>
          </a:xfrm>
          <a:prstGeom prst="rect">
            <a:avLst/>
          </a:prstGeom>
        </p:spPr>
      </p:pic>
      <p:sp>
        <p:nvSpPr>
          <p:cNvPr id="18" name="Text 12"/>
          <p:cNvSpPr txBox="1"/>
          <p:nvPr/>
        </p:nvSpPr>
        <p:spPr>
          <a:xfrm>
            <a:off x="8371637" y="2423160"/>
            <a:ext cx="299709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rgbClr val="1423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Consent first</a:t>
            </a:r>
            <a:endParaRPr lang="en-US" sz="1600" dirty="0"/>
          </a:p>
        </p:txBody>
      </p:sp>
      <p:sp>
        <p:nvSpPr>
          <p:cNvPr id="19" name="Text 13"/>
          <p:cNvSpPr txBox="1"/>
          <p:nvPr/>
        </p:nvSpPr>
        <p:spPr>
          <a:xfrm>
            <a:off x="8371637" y="2834640"/>
            <a:ext cx="2997098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5B6B7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Messages go to patients who have agreed to hear from the clinic, and they can opt out easily.</a:t>
            </a:r>
            <a:endParaRPr lang="en-US" sz="1250" dirty="0"/>
          </a:p>
        </p:txBody>
      </p:sp>
      <p:sp>
        <p:nvSpPr>
          <p:cNvPr id="20" name="Shape 14"/>
          <p:cNvSpPr/>
          <p:nvPr/>
        </p:nvSpPr>
        <p:spPr>
          <a:xfrm>
            <a:off x="548640" y="3840480"/>
            <a:ext cx="3545738" cy="2057400"/>
          </a:xfrm>
          <a:prstGeom prst="roundRect">
            <a:avLst>
              <a:gd name="adj" fmla="val 5333"/>
            </a:avLst>
          </a:prstGeom>
          <a:solidFill>
            <a:srgbClr val="FFFFFF"/>
          </a:solidFill>
          <a:ln w="9525">
            <a:solidFill>
              <a:srgbClr val="D5DEDB"/>
            </a:solidFill>
            <a:prstDash val="solid"/>
          </a:ln>
        </p:spPr>
      </p:sp>
      <p:pic>
        <p:nvPicPr>
          <p:cNvPr id="21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22960" y="4114800"/>
            <a:ext cx="411480" cy="411480"/>
          </a:xfrm>
          <a:prstGeom prst="rect">
            <a:avLst/>
          </a:prstGeom>
        </p:spPr>
      </p:pic>
      <p:sp>
        <p:nvSpPr>
          <p:cNvPr id="22" name="Text 15"/>
          <p:cNvSpPr txBox="1"/>
          <p:nvPr/>
        </p:nvSpPr>
        <p:spPr>
          <a:xfrm>
            <a:off x="822960" y="4663440"/>
            <a:ext cx="299709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rgbClr val="1423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Honest integrations</a:t>
            </a:r>
            <a:endParaRPr lang="en-US" sz="1600" dirty="0"/>
          </a:p>
        </p:txBody>
      </p:sp>
      <p:sp>
        <p:nvSpPr>
          <p:cNvPr id="23" name="Text 16"/>
          <p:cNvSpPr txBox="1"/>
          <p:nvPr/>
        </p:nvSpPr>
        <p:spPr>
          <a:xfrm>
            <a:off x="822960" y="5074920"/>
            <a:ext cx="2997098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5B6B7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Calendar and software connections are included only when they are configured and tested.</a:t>
            </a:r>
            <a:endParaRPr lang="en-US" sz="1250" dirty="0"/>
          </a:p>
        </p:txBody>
      </p:sp>
      <p:sp>
        <p:nvSpPr>
          <p:cNvPr id="24" name="Shape 17"/>
          <p:cNvSpPr/>
          <p:nvPr/>
        </p:nvSpPr>
        <p:spPr>
          <a:xfrm>
            <a:off x="4322978" y="3840480"/>
            <a:ext cx="3545738" cy="2057400"/>
          </a:xfrm>
          <a:prstGeom prst="roundRect">
            <a:avLst>
              <a:gd name="adj" fmla="val 5333"/>
            </a:avLst>
          </a:prstGeom>
          <a:solidFill>
            <a:srgbClr val="FFFFFF"/>
          </a:solidFill>
          <a:ln w="9525">
            <a:solidFill>
              <a:srgbClr val="D5DEDB"/>
            </a:solidFill>
            <a:prstDash val="solid"/>
          </a:ln>
        </p:spPr>
      </p:sp>
      <p:pic>
        <p:nvPicPr>
          <p:cNvPr id="25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597298" y="4114800"/>
            <a:ext cx="411480" cy="411480"/>
          </a:xfrm>
          <a:prstGeom prst="rect">
            <a:avLst/>
          </a:prstGeom>
        </p:spPr>
      </p:pic>
      <p:sp>
        <p:nvSpPr>
          <p:cNvPr id="26" name="Text 18"/>
          <p:cNvSpPr txBox="1"/>
          <p:nvPr/>
        </p:nvSpPr>
        <p:spPr>
          <a:xfrm>
            <a:off x="4597298" y="4663440"/>
            <a:ext cx="299709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rgbClr val="1423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Clear costs</a:t>
            </a:r>
            <a:endParaRPr lang="en-US" sz="1600" dirty="0"/>
          </a:p>
        </p:txBody>
      </p:sp>
      <p:sp>
        <p:nvSpPr>
          <p:cNvPr id="27" name="Text 19"/>
          <p:cNvSpPr txBox="1"/>
          <p:nvPr/>
        </p:nvSpPr>
        <p:spPr>
          <a:xfrm>
            <a:off x="4597298" y="5074920"/>
            <a:ext cx="2997098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5B6B7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Setup and monthly fees are separate. WhatsApp charges set by Meta are shown clearly, not hidden.</a:t>
            </a:r>
            <a:endParaRPr lang="en-US" sz="1250" dirty="0"/>
          </a:p>
        </p:txBody>
      </p:sp>
      <p:sp>
        <p:nvSpPr>
          <p:cNvPr id="28" name="Shape 20"/>
          <p:cNvSpPr/>
          <p:nvPr/>
        </p:nvSpPr>
        <p:spPr>
          <a:xfrm>
            <a:off x="8097317" y="3840480"/>
            <a:ext cx="3545738" cy="2057400"/>
          </a:xfrm>
          <a:prstGeom prst="roundRect">
            <a:avLst>
              <a:gd name="adj" fmla="val 5333"/>
            </a:avLst>
          </a:prstGeom>
          <a:solidFill>
            <a:srgbClr val="FFFFFF"/>
          </a:solidFill>
          <a:ln w="9525">
            <a:solidFill>
              <a:srgbClr val="D5DEDB"/>
            </a:solidFill>
            <a:prstDash val="solid"/>
          </a:ln>
        </p:spPr>
      </p:sp>
      <p:pic>
        <p:nvPicPr>
          <p:cNvPr id="29" name="Image 6" descr="preencoded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8371637" y="4114800"/>
            <a:ext cx="411480" cy="411480"/>
          </a:xfrm>
          <a:prstGeom prst="rect">
            <a:avLst/>
          </a:prstGeom>
        </p:spPr>
      </p:pic>
      <p:sp>
        <p:nvSpPr>
          <p:cNvPr id="30" name="Text 21"/>
          <p:cNvSpPr txBox="1"/>
          <p:nvPr/>
        </p:nvSpPr>
        <p:spPr>
          <a:xfrm>
            <a:off x="8371637" y="4663440"/>
            <a:ext cx="299709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rgbClr val="1423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 promised numbers</a:t>
            </a:r>
            <a:endParaRPr lang="en-US" sz="1600" dirty="0"/>
          </a:p>
        </p:txBody>
      </p:sp>
      <p:sp>
        <p:nvSpPr>
          <p:cNvPr id="31" name="Text 22"/>
          <p:cNvSpPr txBox="1"/>
          <p:nvPr/>
        </p:nvSpPr>
        <p:spPr>
          <a:xfrm>
            <a:off x="8371637" y="5074920"/>
            <a:ext cx="2997098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5B6B7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We set clear objectives, not guaranteed results. Outcomes depend on each clinic and its patients.</a:t>
            </a:r>
            <a:endParaRPr lang="en-US" sz="125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6F8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84048"/>
            <a:ext cx="11094415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spc="150" kern="0" dirty="0">
                <a:solidFill>
                  <a:srgbClr val="0E7C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COMMON QUESTIONS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76656"/>
            <a:ext cx="11094415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000" b="1" dirty="0">
                <a:solidFill>
                  <a:srgbClr val="1423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Questions clinics usually ask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6263640"/>
            <a:ext cx="11094415" cy="0"/>
          </a:xfrm>
          <a:prstGeom prst="line">
            <a:avLst/>
          </a:prstGeom>
          <a:noFill/>
          <a:ln w="9525">
            <a:solidFill>
              <a:srgbClr val="D5DEDB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548640" y="6373368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B6B7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Patientcurve  ·  Patient journey automation for dental clinics</a:t>
            </a:r>
            <a:endParaRPr lang="en-US" sz="1000" dirty="0"/>
          </a:p>
        </p:txBody>
      </p:sp>
      <p:sp>
        <p:nvSpPr>
          <p:cNvPr id="6" name="Text 4"/>
          <p:cNvSpPr txBox="1"/>
          <p:nvPr/>
        </p:nvSpPr>
        <p:spPr>
          <a:xfrm>
            <a:off x="8778240" y="6373368"/>
            <a:ext cx="1280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B6B7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14 / 15</a:t>
            </a:r>
            <a:endParaRPr lang="en-US" sz="1000" dirty="0"/>
          </a:p>
        </p:txBody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360152" y="6382512"/>
            <a:ext cx="1280160" cy="243840"/>
          </a:xfrm>
          <a:prstGeom prst="rect">
            <a:avLst/>
          </a:prstGeom>
        </p:spPr>
      </p:pic>
      <p:sp>
        <p:nvSpPr>
          <p:cNvPr id="8" name="Shape 5"/>
          <p:cNvSpPr/>
          <p:nvPr/>
        </p:nvSpPr>
        <p:spPr>
          <a:xfrm>
            <a:off x="548640" y="1554480"/>
            <a:ext cx="5364328" cy="0"/>
          </a:xfrm>
          <a:prstGeom prst="line">
            <a:avLst/>
          </a:prstGeom>
          <a:noFill/>
          <a:ln w="9525">
            <a:solidFill>
              <a:srgbClr val="D5DEDB"/>
            </a:solidFill>
            <a:prstDash val="solid"/>
          </a:ln>
        </p:spPr>
      </p:sp>
      <p:sp>
        <p:nvSpPr>
          <p:cNvPr id="9" name="Text 6"/>
          <p:cNvSpPr txBox="1"/>
          <p:nvPr/>
        </p:nvSpPr>
        <p:spPr>
          <a:xfrm>
            <a:off x="548640" y="1719072"/>
            <a:ext cx="536432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50" b="1" dirty="0">
                <a:solidFill>
                  <a:srgbClr val="1423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Does this replace my receptionist?</a:t>
            </a:r>
            <a:endParaRPr lang="en-US" sz="1550" dirty="0"/>
          </a:p>
        </p:txBody>
      </p:sp>
      <p:sp>
        <p:nvSpPr>
          <p:cNvPr id="10" name="Text 7"/>
          <p:cNvSpPr txBox="1"/>
          <p:nvPr/>
        </p:nvSpPr>
        <p:spPr>
          <a:xfrm>
            <a:off x="548640" y="2121408"/>
            <a:ext cx="5364328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5B6B7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No. It takes routine replies and reminders off the desk so your team can focus on patients in front of them.</a:t>
            </a:r>
            <a:endParaRPr lang="en-US" sz="1300" dirty="0"/>
          </a:p>
        </p:txBody>
      </p:sp>
      <p:sp>
        <p:nvSpPr>
          <p:cNvPr id="11" name="Shape 8"/>
          <p:cNvSpPr/>
          <p:nvPr/>
        </p:nvSpPr>
        <p:spPr>
          <a:xfrm>
            <a:off x="6278728" y="1554480"/>
            <a:ext cx="5364328" cy="0"/>
          </a:xfrm>
          <a:prstGeom prst="line">
            <a:avLst/>
          </a:prstGeom>
          <a:noFill/>
          <a:ln w="9525">
            <a:solidFill>
              <a:srgbClr val="D5DEDB"/>
            </a:solidFill>
            <a:prstDash val="solid"/>
          </a:ln>
        </p:spPr>
      </p:sp>
      <p:sp>
        <p:nvSpPr>
          <p:cNvPr id="12" name="Text 9"/>
          <p:cNvSpPr txBox="1"/>
          <p:nvPr/>
        </p:nvSpPr>
        <p:spPr>
          <a:xfrm>
            <a:off x="6278728" y="1719072"/>
            <a:ext cx="536432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50" b="1" dirty="0">
                <a:solidFill>
                  <a:srgbClr val="1423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Do we need new software?</a:t>
            </a:r>
            <a:endParaRPr lang="en-US" sz="1550" dirty="0"/>
          </a:p>
        </p:txBody>
      </p:sp>
      <p:sp>
        <p:nvSpPr>
          <p:cNvPr id="13" name="Text 10"/>
          <p:cNvSpPr txBox="1"/>
          <p:nvPr/>
        </p:nvSpPr>
        <p:spPr>
          <a:xfrm>
            <a:off x="6278728" y="2121408"/>
            <a:ext cx="5364328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5B6B7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No. Workflows run on your WhatsApp Business number. Other tools are connected only where it's agreed.</a:t>
            </a:r>
            <a:endParaRPr lang="en-US" sz="1300" dirty="0"/>
          </a:p>
        </p:txBody>
      </p:sp>
      <p:sp>
        <p:nvSpPr>
          <p:cNvPr id="14" name="Shape 11"/>
          <p:cNvSpPr/>
          <p:nvPr/>
        </p:nvSpPr>
        <p:spPr>
          <a:xfrm>
            <a:off x="548640" y="3090672"/>
            <a:ext cx="5364328" cy="0"/>
          </a:xfrm>
          <a:prstGeom prst="line">
            <a:avLst/>
          </a:prstGeom>
          <a:noFill/>
          <a:ln w="9525">
            <a:solidFill>
              <a:srgbClr val="D5DEDB"/>
            </a:solidFill>
            <a:prstDash val="solid"/>
          </a:ln>
        </p:spPr>
      </p:sp>
      <p:sp>
        <p:nvSpPr>
          <p:cNvPr id="15" name="Text 12"/>
          <p:cNvSpPr txBox="1"/>
          <p:nvPr/>
        </p:nvSpPr>
        <p:spPr>
          <a:xfrm>
            <a:off x="548640" y="3255264"/>
            <a:ext cx="536432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50" b="1" dirty="0">
                <a:solidFill>
                  <a:srgbClr val="1423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Can we control what patients receive?</a:t>
            </a:r>
            <a:endParaRPr lang="en-US" sz="1550" dirty="0"/>
          </a:p>
        </p:txBody>
      </p:sp>
      <p:sp>
        <p:nvSpPr>
          <p:cNvPr id="16" name="Text 13"/>
          <p:cNvSpPr txBox="1"/>
          <p:nvPr/>
        </p:nvSpPr>
        <p:spPr>
          <a:xfrm>
            <a:off x="548640" y="3657600"/>
            <a:ext cx="5364328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5B6B7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Yes. You approve every message before go-live and can ask for changes at any time.</a:t>
            </a:r>
            <a:endParaRPr lang="en-US" sz="1300" dirty="0"/>
          </a:p>
        </p:txBody>
      </p:sp>
      <p:sp>
        <p:nvSpPr>
          <p:cNvPr id="17" name="Shape 14"/>
          <p:cNvSpPr/>
          <p:nvPr/>
        </p:nvSpPr>
        <p:spPr>
          <a:xfrm>
            <a:off x="6278728" y="3090672"/>
            <a:ext cx="5364328" cy="0"/>
          </a:xfrm>
          <a:prstGeom prst="line">
            <a:avLst/>
          </a:prstGeom>
          <a:noFill/>
          <a:ln w="9525">
            <a:solidFill>
              <a:srgbClr val="D5DEDB"/>
            </a:solidFill>
            <a:prstDash val="solid"/>
          </a:ln>
        </p:spPr>
      </p:sp>
      <p:sp>
        <p:nvSpPr>
          <p:cNvPr id="18" name="Text 15"/>
          <p:cNvSpPr txBox="1"/>
          <p:nvPr/>
        </p:nvSpPr>
        <p:spPr>
          <a:xfrm>
            <a:off x="6278728" y="3255264"/>
            <a:ext cx="536432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50" b="1" dirty="0">
                <a:solidFill>
                  <a:srgbClr val="1423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What happens when a patient needs a person?</a:t>
            </a:r>
            <a:endParaRPr lang="en-US" sz="1550" dirty="0"/>
          </a:p>
        </p:txBody>
      </p:sp>
      <p:sp>
        <p:nvSpPr>
          <p:cNvPr id="19" name="Text 16"/>
          <p:cNvSpPr txBox="1"/>
          <p:nvPr/>
        </p:nvSpPr>
        <p:spPr>
          <a:xfrm>
            <a:off x="6278728" y="3657600"/>
            <a:ext cx="5364328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5B6B7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patient is told someone will reach out, and your team is notified with the details.</a:t>
            </a:r>
            <a:endParaRPr lang="en-US" sz="1300" dirty="0"/>
          </a:p>
        </p:txBody>
      </p:sp>
      <p:sp>
        <p:nvSpPr>
          <p:cNvPr id="20" name="Shape 17"/>
          <p:cNvSpPr/>
          <p:nvPr/>
        </p:nvSpPr>
        <p:spPr>
          <a:xfrm>
            <a:off x="548640" y="4626864"/>
            <a:ext cx="5364328" cy="0"/>
          </a:xfrm>
          <a:prstGeom prst="line">
            <a:avLst/>
          </a:prstGeom>
          <a:noFill/>
          <a:ln w="9525">
            <a:solidFill>
              <a:srgbClr val="D5DEDB"/>
            </a:solidFill>
            <a:prstDash val="solid"/>
          </a:ln>
        </p:spPr>
      </p:sp>
      <p:sp>
        <p:nvSpPr>
          <p:cNvPr id="21" name="Text 18"/>
          <p:cNvSpPr txBox="1"/>
          <p:nvPr/>
        </p:nvSpPr>
        <p:spPr>
          <a:xfrm>
            <a:off x="548640" y="4791456"/>
            <a:ext cx="536432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50" b="1" dirty="0">
                <a:solidFill>
                  <a:srgbClr val="1423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Are WhatsApp charges included?</a:t>
            </a:r>
            <a:endParaRPr lang="en-US" sz="1550" dirty="0"/>
          </a:p>
        </p:txBody>
      </p:sp>
      <p:sp>
        <p:nvSpPr>
          <p:cNvPr id="22" name="Text 19"/>
          <p:cNvSpPr txBox="1"/>
          <p:nvPr/>
        </p:nvSpPr>
        <p:spPr>
          <a:xfrm>
            <a:off x="548640" y="5193792"/>
            <a:ext cx="5364328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5B6B7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Meta's WhatsApp conversation charges are billed separately at actual cost unless stated otherwise.</a:t>
            </a:r>
            <a:endParaRPr lang="en-US" sz="1300" dirty="0"/>
          </a:p>
        </p:txBody>
      </p:sp>
      <p:sp>
        <p:nvSpPr>
          <p:cNvPr id="23" name="Shape 20"/>
          <p:cNvSpPr/>
          <p:nvPr/>
        </p:nvSpPr>
        <p:spPr>
          <a:xfrm>
            <a:off x="6278728" y="4626864"/>
            <a:ext cx="5364328" cy="0"/>
          </a:xfrm>
          <a:prstGeom prst="line">
            <a:avLst/>
          </a:prstGeom>
          <a:noFill/>
          <a:ln w="9525">
            <a:solidFill>
              <a:srgbClr val="D5DEDB"/>
            </a:solidFill>
            <a:prstDash val="solid"/>
          </a:ln>
        </p:spPr>
      </p:sp>
      <p:sp>
        <p:nvSpPr>
          <p:cNvPr id="24" name="Text 21"/>
          <p:cNvSpPr txBox="1"/>
          <p:nvPr/>
        </p:nvSpPr>
        <p:spPr>
          <a:xfrm>
            <a:off x="6278728" y="4791456"/>
            <a:ext cx="536432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50" b="1" dirty="0">
                <a:solidFill>
                  <a:srgbClr val="1423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Will it work for my clinic?</a:t>
            </a:r>
            <a:endParaRPr lang="en-US" sz="1550" dirty="0"/>
          </a:p>
        </p:txBody>
      </p:sp>
      <p:sp>
        <p:nvSpPr>
          <p:cNvPr id="25" name="Text 22"/>
          <p:cNvSpPr txBox="1"/>
          <p:nvPr/>
        </p:nvSpPr>
        <p:spPr>
          <a:xfrm>
            <a:off x="6278728" y="5193792"/>
            <a:ext cx="5364328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5B6B7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We start with a discovery call to understand your enquiries and process, then propose only what fits.</a:t>
            </a:r>
            <a:endParaRPr lang="en-US" sz="13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14232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31520" y="731520"/>
            <a:ext cx="2194560" cy="418011"/>
          </a:xfrm>
          <a:prstGeom prst="rect">
            <a:avLst/>
          </a:prstGeom>
        </p:spPr>
      </p:pic>
      <p:sp>
        <p:nvSpPr>
          <p:cNvPr id="3" name="Text 0"/>
          <p:cNvSpPr txBox="1"/>
          <p:nvPr/>
        </p:nvSpPr>
        <p:spPr>
          <a:xfrm>
            <a:off x="731520" y="210312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spc="150" kern="0" dirty="0">
                <a:solidFill>
                  <a:srgbClr val="3FC0A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NEXT STEP</a:t>
            </a:r>
            <a:endParaRPr lang="en-US" sz="1200" dirty="0"/>
          </a:p>
        </p:txBody>
      </p:sp>
      <p:sp>
        <p:nvSpPr>
          <p:cNvPr id="4" name="Text 1"/>
          <p:cNvSpPr txBox="1"/>
          <p:nvPr/>
        </p:nvSpPr>
        <p:spPr>
          <a:xfrm>
            <a:off x="731520" y="2468880"/>
            <a:ext cx="1005840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Let's make patient follow-up more consistent.</a:t>
            </a:r>
            <a:endParaRPr lang="en-US" sz="4000" dirty="0"/>
          </a:p>
        </p:txBody>
      </p:sp>
      <p:sp>
        <p:nvSpPr>
          <p:cNvPr id="5" name="Text 2"/>
          <p:cNvSpPr txBox="1"/>
          <p:nvPr/>
        </p:nvSpPr>
        <p:spPr>
          <a:xfrm>
            <a:off x="731520" y="3840480"/>
            <a:ext cx="86868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dirty="0">
                <a:solidFill>
                  <a:srgbClr val="C9D6D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Book a short discovery call. We'll map how enquiries reach your clinic today and show where structured follow-up could help.</a:t>
            </a:r>
            <a:endParaRPr lang="en-US" sz="1700" dirty="0"/>
          </a:p>
        </p:txBody>
      </p:sp>
      <p:sp>
        <p:nvSpPr>
          <p:cNvPr id="6" name="Shape 3"/>
          <p:cNvSpPr/>
          <p:nvPr/>
        </p:nvSpPr>
        <p:spPr>
          <a:xfrm>
            <a:off x="731520" y="5239512"/>
            <a:ext cx="146304" cy="146304"/>
          </a:xfrm>
          <a:prstGeom prst="ellipse">
            <a:avLst/>
          </a:prstGeom>
          <a:solidFill>
            <a:srgbClr val="E2607A"/>
          </a:solidFill>
          <a:ln/>
        </p:spPr>
      </p:sp>
      <p:sp>
        <p:nvSpPr>
          <p:cNvPr id="7" name="Text 4"/>
          <p:cNvSpPr txBox="1"/>
          <p:nvPr/>
        </p:nvSpPr>
        <p:spPr>
          <a:xfrm>
            <a:off x="1005840" y="5120640"/>
            <a:ext cx="54864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patientcurve.com</a:t>
            </a:r>
            <a:endParaRPr lang="en-US" sz="18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rial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15</Slides>
  <Notes>15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15</vt:i4>
      </vt:variant>
    </vt:vector>
  </HeadingPairs>
  <TitlesOfParts>
    <vt:vector size="18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</vt:vector>
  </TitlesOfParts>
  <Company>Patientcurve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Patientcurve: patient journey automation for dental clinics</dc:title>
  <dc:subject>PptxGenJS Presentation</dc:subject>
  <dc:creator>Patientcurve</dc:creator>
  <cp:lastModifiedBy>Patientcurve</cp:lastModifiedBy>
  <cp:revision>1</cp:revision>
  <dcterms:created xsi:type="dcterms:W3CDTF">2026-10-10T10:57:33Z</dcterms:created>
  <dcterms:modified xsi:type="dcterms:W3CDTF">2026-10-10T10:57:33Z</dcterms:modified>
</cp:coreProperties>
</file>