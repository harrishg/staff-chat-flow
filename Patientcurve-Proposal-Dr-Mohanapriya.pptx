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3663388-2a2e-7c52-6e98-1522b8d6ed61}">
          <p14:sldIdLst>
            <p14:sldId id="256"/>
          </p14:sldIdLst>
        </p14:section>
        <p14:section name="The opportunity" id="{05c7b7f5-c2e4-2506-09b2-411a18096757}">
          <p14:sldIdLst>
            <p14:sldId id="257"/>
          </p14:sldIdLst>
        </p14:section>
        <p14:section name="The solution" id="{d477de28-a426-97e2-357d-4de0930143c2}">
          <p14:sldIdLst>
            <p14:sldId id="258"/>
            <p14:sldId id="259"/>
          </p14:sldIdLst>
        </p14:section>
        <p14:section name="Investment" id="{d4f04f5b-8984-3277-715a-6e4c6f9679e4}">
          <p14:sldIdLst>
            <p14:sldId id="260"/>
            <p14:sldId id="261"/>
            <p14:sldId id="262"/>
          </p14:sldIdLst>
        </p14:section>
        <p14:section name="The decision" id="{9875e509-3cdc-f43f-1fbe-ac72727b6939}">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Dr. Mohanapriya for her time. This proposal shows how Patientcurve manages every WhatsApp enquiry from her ads until it becomes a booked consultation, and how her team brings back patients who don't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clinic's own figures: around three campaigns and a hundred enquiries a month, mostly on WhatsApp, and a Meta AI bot that has sometimes given wrong information. Some enquiries never book, and today nobody can say how many. These are the four points where they are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path: ad, WhatsApp enquiry, details, location and need, then an approved answer. Local patients are offered offline consultation, other towns video. Booked patients land in Google Calendar. After the visit, your receptionist marks it done and the patient gets a review request: 4 or 5 stars are invited to post on Google, 1 to 3 stars stay private and come to your inbox. Anyone who doesn't book goes on the call list; the receptionist calls, brings the patient back or closes them, and updates the PMS.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one system. Enquiry: approved answers and complete details. Booking: the right consultation, into Google Calendar. Follow-up: a call list for every non-booker. It works with WhatsApp, Google Calendar and the PMS, and the clinic sees a monthly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pilot customer: setup ₹5,000 instead of ₹7,500, and ₹2,999 a month instead of ₹4,999. Everything needed to go live is in setup; the monthly fee runs the service and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this is an illustrative scenario, not a forecast: actual results depend on patient conversion, treatment uptake and average treatment value. Only the 100 enquiries comes from the clinic. The other inputs are examples to replace with her real numbers. At these figures, 60 enquiries a month don't book; bringing back 20% of them is 12 patients, about ₹96,000 a month, and a single patient brought back covers the ₹2,999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for the doctor and receptionist is part of the monthly fee. The onboarding items are settled together before go-live. Meta's WhatsApp charges, automatic PMS sync and ad campaigns are outside this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a more consistent path from enquiry to care. Ask for approval to start onboarding at pilot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32B"/>
        </a:solidFill>
      </p:bgPr>
    </p:bg>
    <p:spTree>
      <p:nvGrpSpPr>
        <p:cNvPr id="1" name=""/>
        <p:cNvGrpSpPr/>
        <p:nvPr/>
      </p:nvGrpSpPr>
      <p:grpSpPr>
        <a:xfrm>
          <a:off x="0" y="0"/>
          <a:ext cx="0" cy="0"/>
          <a:chOff x="0" y="0"/>
          <a:chExt cx="0" cy="0"/>
        </a:xfrm>
      </p:grpSpPr>
      <p:sp>
        <p:nvSpPr>
          <p:cNvPr id="2" name="Shape 0"/>
          <p:cNvSpPr/>
          <p:nvPr/>
        </p:nvSpPr>
        <p:spPr>
          <a:xfrm>
            <a:off x="7982712" y="0"/>
            <a:ext cx="4206240" cy="68580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8275320" y="1234440"/>
            <a:ext cx="3611880" cy="3611880"/>
          </a:xfrm>
          <a:prstGeom prst="rect">
            <a:avLst/>
          </a:prstGeom>
        </p:spPr>
      </p:pic>
      <p:pic>
        <p:nvPicPr>
          <p:cNvPr id="4" name="Image 1" descr="preencoded.png">    </p:cNvPr>
          <p:cNvPicPr>
            <a:picLocks noChangeAspect="1"/>
          </p:cNvPicPr>
          <p:nvPr/>
        </p:nvPicPr>
        <p:blipFill>
          <a:blip r:embed="rId2"/>
          <a:stretch>
            <a:fillRect/>
          </a:stretch>
        </p:blipFill>
        <p:spPr>
          <a:xfrm>
            <a:off x="731520" y="731520"/>
            <a:ext cx="2377440" cy="452846"/>
          </a:xfrm>
          <a:prstGeom prst="rect">
            <a:avLst/>
          </a:prstGeom>
        </p:spPr>
      </p:pic>
      <p:sp>
        <p:nvSpPr>
          <p:cNvPr id="5" name="Text 1"/>
          <p:cNvSpPr/>
          <p:nvPr/>
        </p:nvSpPr>
        <p:spPr>
          <a:xfrm>
            <a:off x="731520" y="2331720"/>
            <a:ext cx="6583680" cy="320040"/>
          </a:xfrm>
          <a:prstGeom prst="rect">
            <a:avLst/>
          </a:prstGeom>
          <a:noFill/>
          <a:ln/>
        </p:spPr>
        <p:txBody>
          <a:bodyPr wrap="square" lIns="0" tIns="0" rIns="0" bIns="0" rtlCol="0" anchor="ctr"/>
          <a:lstStyle/>
          <a:p>
            <a:pPr indent="0" marL="0">
              <a:buNone/>
            </a:pPr>
            <a:r>
              <a:rPr lang="en-US" sz="1200" b="1" spc="150" kern="0" dirty="0">
                <a:solidFill>
                  <a:schemeClr val="accent2"/>
                </a:solidFill>
              </a:rPr>
              <a:t>PILOT CUSTOMER PROPOSAL</a:t>
            </a:r>
            <a:endParaRPr lang="en-US" sz="1200" dirty="0"/>
          </a:p>
        </p:txBody>
      </p:sp>
      <p:sp>
        <p:nvSpPr>
          <p:cNvPr id="6" name="Text 2"/>
          <p:cNvSpPr/>
          <p:nvPr>
            <p:ph idx="104" type="title" hasCustomPrompt="1"/>
          </p:nvPr>
        </p:nvSpPr>
        <p:spPr>
          <a:xfrm>
            <a:off x="731520" y="2743200"/>
            <a:ext cx="67665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2"/>
          <p:cNvSpPr/>
          <p:nvPr>
            <p:ph idx="105" type="body" hasCustomPrompt="1"/>
          </p:nvPr>
        </p:nvSpPr>
        <p:spPr>
          <a:xfrm>
            <a:off x="731520" y="4572000"/>
            <a:ext cx="6766560" cy="822960"/>
          </a:xfrm>
          <a:prstGeom prst="rect">
            <a:avLst/>
          </a:prstGeom>
          <a:noFill/>
          <a:ln/>
        </p:spPr>
        <p:txBody>
          <a:bodyPr wrap="square" rtlCol="0"/>
          <a:lstStyle>
            <a:lvl1pPr algn="l" indent="0" marL="0">
              <a:buNone/>
              <a:defRPr lang="en-US" sz="1800" dirty="0">
                <a:solidFill>
                  <a:schemeClr val="accent2"/>
                </a:solidFill>
              </a:defRPr>
            </a:lvl1pPr>
          </a:lstStyle>
          <a:p>
            <a:pPr algn="l" indent="0" marL="0">
              <a:buNone/>
            </a:pPr>
            <a:endParaRPr lang="en-US" sz="1800" dirty="0"/>
          </a:p>
        </p:txBody>
      </p:sp>
      <p:sp>
        <p:nvSpPr>
          <p:cNvPr id="8" name="Text 2"/>
          <p:cNvSpPr/>
          <p:nvPr/>
        </p:nvSpPr>
        <p:spPr>
          <a:xfrm>
            <a:off x="731520" y="5989320"/>
            <a:ext cx="6766560" cy="320040"/>
          </a:xfrm>
          <a:prstGeom prst="rect">
            <a:avLst/>
          </a:prstGeom>
          <a:noFill/>
          <a:ln/>
        </p:spPr>
        <p:txBody>
          <a:bodyPr wrap="square" lIns="0" tIns="0" rIns="0" bIns="0" rtlCol="0" anchor="ctr"/>
          <a:lstStyle/>
          <a:p>
            <a:pPr indent="0" marL="0">
              <a:buNone/>
            </a:pPr>
            <a:r>
              <a:rPr lang="en-US" sz="1200" dirty="0">
                <a:solidFill>
                  <a:schemeClr val="bg1"/>
                </a:solidFill>
              </a:rPr>
              <a:t>Bring back the patients who didn't return.</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8F7"/>
        </a:solidFill>
      </p:bgPr>
    </p:bg>
    <p:spTree>
      <p:nvGrpSpPr>
        <p:cNvPr id="1" name=""/>
        <p:cNvGrpSpPr/>
        <p:nvPr/>
      </p:nvGrpSpPr>
      <p:grpSpPr>
        <a:xfrm>
          <a:off x="0" y="0"/>
          <a:ext cx="0" cy="0"/>
          <a:chOff x="0" y="0"/>
          <a:chExt cx="0" cy="0"/>
        </a:xfrm>
      </p:grpSpPr>
      <p:sp>
        <p:nvSpPr>
          <p:cNvPr id="2" name="Shape 0"/>
          <p:cNvSpPr/>
          <p:nvPr/>
        </p:nvSpPr>
        <p:spPr>
          <a:xfrm>
            <a:off x="548640" y="6263640"/>
            <a:ext cx="11091672" cy="0"/>
          </a:xfrm>
          <a:prstGeom prst="line">
            <a:avLst/>
          </a:prstGeom>
          <a:noFill/>
          <a:ln w="9525">
            <a:solidFill>
              <a:srgbClr val="D5DEDB"/>
            </a:solidFill>
            <a:prstDash val="solid"/>
          </a:ln>
        </p:spPr>
      </p:sp>
      <p:pic>
        <p:nvPicPr>
          <p:cNvPr id="3" name="Image 0" descr="preencoded.png">    </p:cNvPr>
          <p:cNvPicPr>
            <a:picLocks noChangeAspect="1"/>
          </p:cNvPicPr>
          <p:nvPr/>
        </p:nvPicPr>
        <p:blipFill>
          <a:blip r:embed="rId1"/>
          <a:stretch>
            <a:fillRect/>
          </a:stretch>
        </p:blipFill>
        <p:spPr>
          <a:xfrm>
            <a:off x="10360152" y="6382512"/>
            <a:ext cx="1280160" cy="243840"/>
          </a:xfrm>
          <a:prstGeom prst="rect">
            <a:avLst/>
          </a:prstGeom>
        </p:spPr>
      </p:pic>
      <p:sp>
        <p:nvSpPr>
          <p:cNvPr id="4" name="Text 1"/>
          <p:cNvSpPr/>
          <p:nvPr/>
        </p:nvSpPr>
        <p:spPr>
          <a:xfrm>
            <a:off x="548640" y="6355080"/>
            <a:ext cx="7315200" cy="292608"/>
          </a:xfrm>
          <a:prstGeom prst="rect">
            <a:avLst/>
          </a:prstGeom>
          <a:noFill/>
          <a:ln/>
        </p:spPr>
        <p:txBody>
          <a:bodyPr wrap="square" lIns="0" tIns="0" rIns="0" bIns="0" rtlCol="0" anchor="ctr"/>
          <a:lstStyle/>
          <a:p>
            <a:pPr indent="0" marL="0">
              <a:buNone/>
            </a:pPr>
            <a:r>
              <a:rPr lang="en-US" sz="1000" dirty="0">
                <a:solidFill>
                  <a:schemeClr val="tx2"/>
                </a:solidFill>
              </a:rPr>
              <a:t>Patientcurve  ·  Proposal for Dr. Mohanapriya  ·  Pilot customer</a:t>
            </a:r>
            <a:endParaRPr lang="en-US" sz="1000" dirty="0"/>
          </a:p>
        </p:txBody>
      </p:sp>
      <p:sp>
        <p:nvSpPr>
          <p:cNvPr id="5" name="Text 2"/>
          <p:cNvSpPr/>
          <p:nvPr>
            <p:ph idx="103" type="body" hasCustomPrompt="1"/>
          </p:nvPr>
        </p:nvSpPr>
        <p:spPr>
          <a:xfrm>
            <a:off x="548640" y="384048"/>
            <a:ext cx="11064240" cy="274320"/>
          </a:xfrm>
          <a:prstGeom prst="rect">
            <a:avLst/>
          </a:prstGeom>
          <a:noFill/>
          <a:ln/>
        </p:spPr>
        <p:txBody>
          <a:bodyPr wrap="square" rtlCol="0"/>
          <a:lstStyle>
            <a:lvl1pPr algn="l" indent="0" marL="0">
              <a:buNone/>
              <a:defRPr lang="en-US" sz="1100" b="1" spc="150" kern="0" dirty="0">
                <a:solidFill>
                  <a:schemeClr val="accent1"/>
                </a:solidFill>
              </a:defRPr>
            </a:lvl1pPr>
          </a:lstStyle>
          <a:p>
            <a:pPr algn="l" indent="0" marL="0">
              <a:buNone/>
            </a:pPr>
            <a:endParaRPr lang="en-US" sz="1100" dirty="0"/>
          </a:p>
        </p:txBody>
      </p:sp>
      <p:sp>
        <p:nvSpPr>
          <p:cNvPr id="6" name="Text 2"/>
          <p:cNvSpPr/>
          <p:nvPr>
            <p:ph idx="104" type="title" hasCustomPrompt="1"/>
          </p:nvPr>
        </p:nvSpPr>
        <p:spPr>
          <a:xfrm>
            <a:off x="548640" y="685800"/>
            <a:ext cx="1106424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9509760" y="6355080"/>
            <a:ext cx="6400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cision">
    <p:bg>
      <p:bgPr>
        <a:solidFill>
          <a:srgbClr val="142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40080"/>
            <a:ext cx="2011680" cy="383177"/>
          </a:xfrm>
          <a:prstGeom prst="rect">
            <a:avLst/>
          </a:prstGeom>
        </p:spPr>
      </p:pic>
      <p:sp>
        <p:nvSpPr>
          <p:cNvPr id="3" name="Text 0"/>
          <p:cNvSpPr/>
          <p:nvPr/>
        </p:nvSpPr>
        <p:spPr>
          <a:xfrm>
            <a:off x="731520" y="1417320"/>
            <a:ext cx="7315200" cy="274320"/>
          </a:xfrm>
          <a:prstGeom prst="rect">
            <a:avLst/>
          </a:prstGeom>
          <a:noFill/>
          <a:ln/>
        </p:spPr>
        <p:txBody>
          <a:bodyPr wrap="square" lIns="0" tIns="0" rIns="0" bIns="0" rtlCol="0" anchor="ctr"/>
          <a:lstStyle/>
          <a:p>
            <a:pPr indent="0" marL="0">
              <a:buNone/>
            </a:pPr>
            <a:r>
              <a:rPr lang="en-US" sz="1200" b="1" spc="150" kern="0" dirty="0">
                <a:solidFill>
                  <a:schemeClr val="accent2"/>
                </a:solidFill>
              </a:rPr>
              <a:t>THE DECISION</a:t>
            </a:r>
            <a:endParaRPr lang="en-US" sz="1200" dirty="0"/>
          </a:p>
        </p:txBody>
      </p:sp>
      <p:sp>
        <p:nvSpPr>
          <p:cNvPr id="4" name="Text 1"/>
          <p:cNvSpPr/>
          <p:nvPr>
            <p:ph idx="102" type="title" hasCustomPrompt="1"/>
          </p:nvPr>
        </p:nvSpPr>
        <p:spPr>
          <a:xfrm>
            <a:off x="731520" y="1737360"/>
            <a:ext cx="10698480" cy="10972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423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992728" y="2606040"/>
            <a:ext cx="4206240" cy="801189"/>
          </a:xfrm>
          <a:prstGeom prst="rect">
            <a:avLst/>
          </a:prstGeom>
        </p:spPr>
      </p:pic>
      <p:sp>
        <p:nvSpPr>
          <p:cNvPr id="3" name="Text 0"/>
          <p:cNvSpPr/>
          <p:nvPr/>
        </p:nvSpPr>
        <p:spPr>
          <a:xfrm>
            <a:off x="914400" y="3611880"/>
            <a:ext cx="10362895" cy="411480"/>
          </a:xfrm>
          <a:prstGeom prst="rect">
            <a:avLst/>
          </a:prstGeom>
          <a:noFill/>
          <a:ln/>
        </p:spPr>
        <p:txBody>
          <a:bodyPr wrap="square" lIns="0" tIns="0" rIns="0" bIns="0" rtlCol="0" anchor="ctr"/>
          <a:lstStyle/>
          <a:p>
            <a:pPr algn="ctr" indent="0" marL="0">
              <a:buNone/>
            </a:pPr>
            <a:r>
              <a:rPr lang="en-US" sz="1800" dirty="0">
                <a:solidFill>
                  <a:schemeClr val="bg1"/>
                </a:solidFill>
              </a:rPr>
              <a:t>Bring back the patients who didn't return.</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09760" y="6355080"/>
            <a:ext cx="6400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731520" y="274320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From WhatsApp enquiry to booked appointment</a:t>
            </a:r>
            <a:endParaRPr lang="en-US" sz="4400" dirty="0"/>
          </a:p>
        </p:txBody>
      </p:sp>
      <p:sp>
        <p:nvSpPr>
          <p:cNvPr id="3" name="Text 2"/>
          <p:cNvSpPr/>
          <p:nvPr>
            <p:ph idx="105" type="body" hasCustomPrompt="1"/>
          </p:nvPr>
        </p:nvSpPr>
        <p:spPr>
          <a:xfrm>
            <a:off x="731520" y="4572000"/>
            <a:ext cx="6766560" cy="822960"/>
          </a:xfrm>
          <a:prstGeom prst="rect">
            <a:avLst/>
          </a:prstGeom>
          <a:noFill/>
          <a:ln/>
        </p:spPr>
        <p:txBody>
          <a:bodyPr wrap="square" lIns="0" tIns="0" rIns="0" bIns="0" rtlCol="0" anchor="t"/>
          <a:lstStyle/>
          <a:p>
            <a:pPr algn="l" indent="0" marL="0">
              <a:buNone/>
            </a:pPr>
            <a:r>
              <a:rPr lang="en-US" sz="1800" dirty="0">
                <a:solidFill>
                  <a:schemeClr val="accent2"/>
                </a:solidFill>
              </a:rPr>
              <a:t>Prepared for Dr. Mohanapriya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548640" y="384048"/>
            <a:ext cx="11064240" cy="274320"/>
          </a:xfrm>
          <a:prstGeom prst="rect">
            <a:avLst/>
          </a:prstGeom>
          <a:noFill/>
          <a:ln/>
        </p:spPr>
        <p:txBody>
          <a:bodyPr wrap="square" lIns="0" tIns="0" rIns="0" bIns="0" rtlCol="0" anchor="t"/>
          <a:lstStyle/>
          <a:p>
            <a:pPr algn="l" indent="0" marL="0">
              <a:buNone/>
            </a:pPr>
            <a:r>
              <a:rPr lang="en-US" sz="1100" b="1" spc="150" kern="0" dirty="0">
                <a:solidFill>
                  <a:schemeClr val="accent1"/>
                </a:solidFill>
              </a:rPr>
              <a:t>THE OPPORTUNITY</a:t>
            </a:r>
            <a:endParaRPr lang="en-US" sz="1100" dirty="0"/>
          </a:p>
        </p:txBody>
      </p:sp>
      <p:sp>
        <p:nvSpPr>
          <p:cNvPr id="3" name="Text 2"/>
          <p:cNvSpPr/>
          <p:nvPr>
            <p:ph idx="104"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Your ads bring about 100 enquiries a month</a:t>
            </a:r>
            <a:endParaRPr lang="en-US" sz="3000" dirty="0"/>
          </a:p>
        </p:txBody>
      </p:sp>
      <p:sp>
        <p:nvSpPr>
          <p:cNvPr id="4" name="stat-0"/>
          <p:cNvSpPr/>
          <p:nvPr/>
        </p:nvSpPr>
        <p:spPr>
          <a:xfrm>
            <a:off x="548640" y="1600200"/>
            <a:ext cx="2606040" cy="1371600"/>
          </a:xfrm>
          <a:prstGeom prst="roundRect">
            <a:avLst>
              <a:gd name="adj" fmla="val 8000"/>
            </a:avLst>
          </a:prstGeom>
          <a:solidFill>
            <a:schemeClr val="bg1"/>
          </a:solidFill>
          <a:ln w="9525">
            <a:solidFill>
              <a:srgbClr val="D5DEDB"/>
            </a:solidFill>
            <a:prstDash val="solid"/>
          </a:ln>
        </p:spPr>
      </p:sp>
      <p:pic>
        <p:nvPicPr>
          <p:cNvPr id="5" name="Image 0" descr="preencoded.png">    </p:cNvPr>
          <p:cNvPicPr>
            <a:picLocks noChangeAspect="1"/>
          </p:cNvPicPr>
          <p:nvPr/>
        </p:nvPicPr>
        <p:blipFill>
          <a:blip r:embed="rId1"/>
          <a:stretch>
            <a:fillRect/>
          </a:stretch>
        </p:blipFill>
        <p:spPr>
          <a:xfrm>
            <a:off x="2560320" y="1810512"/>
            <a:ext cx="347472" cy="347472"/>
          </a:xfrm>
          <a:prstGeom prst="rect">
            <a:avLst/>
          </a:prstGeom>
        </p:spPr>
      </p:pic>
      <p:sp>
        <p:nvSpPr>
          <p:cNvPr id="6" name="Text 3"/>
          <p:cNvSpPr txBox="1"/>
          <p:nvPr/>
        </p:nvSpPr>
        <p:spPr>
          <a:xfrm>
            <a:off x="822960" y="1783080"/>
            <a:ext cx="1737360" cy="502920"/>
          </a:xfrm>
          <a:prstGeom prst="rect">
            <a:avLst/>
          </a:prstGeom>
          <a:noFill/>
          <a:ln/>
        </p:spPr>
        <p:txBody>
          <a:bodyPr wrap="square" lIns="0" tIns="0" rIns="0" bIns="0" rtlCol="0" anchor="ctr"/>
          <a:lstStyle/>
          <a:p>
            <a:pPr indent="0" marL="0">
              <a:buNone/>
            </a:pPr>
            <a:r>
              <a:rPr lang="en-US" sz="2800" b="1" dirty="0">
                <a:solidFill>
                  <a:schemeClr val="tx1"/>
                </a:solidFill>
              </a:rPr>
              <a:t>~3</a:t>
            </a:r>
            <a:endParaRPr lang="en-US" sz="2800" dirty="0"/>
          </a:p>
        </p:txBody>
      </p:sp>
      <p:sp>
        <p:nvSpPr>
          <p:cNvPr id="7" name="Text 4"/>
          <p:cNvSpPr txBox="1"/>
          <p:nvPr/>
        </p:nvSpPr>
        <p:spPr>
          <a:xfrm>
            <a:off x="822960" y="2331720"/>
            <a:ext cx="2148840" cy="548640"/>
          </a:xfrm>
          <a:prstGeom prst="rect">
            <a:avLst/>
          </a:prstGeom>
          <a:noFill/>
          <a:ln/>
        </p:spPr>
        <p:txBody>
          <a:bodyPr wrap="square" lIns="0" tIns="0" rIns="0" bIns="0" rtlCol="0" anchor="t"/>
          <a:lstStyle/>
          <a:p>
            <a:pPr indent="0" marL="0">
              <a:buNone/>
            </a:pPr>
            <a:r>
              <a:rPr lang="en-US" sz="1200" dirty="0">
                <a:solidFill>
                  <a:schemeClr val="tx2"/>
                </a:solidFill>
              </a:rPr>
              <a:t>ad campaigns a month</a:t>
            </a:r>
            <a:endParaRPr lang="en-US" sz="1200" dirty="0"/>
          </a:p>
        </p:txBody>
      </p:sp>
      <p:sp>
        <p:nvSpPr>
          <p:cNvPr id="8" name="stat-1"/>
          <p:cNvSpPr/>
          <p:nvPr/>
        </p:nvSpPr>
        <p:spPr>
          <a:xfrm>
            <a:off x="3383280" y="1600200"/>
            <a:ext cx="2606040" cy="1371600"/>
          </a:xfrm>
          <a:prstGeom prst="roundRect">
            <a:avLst>
              <a:gd name="adj" fmla="val 8000"/>
            </a:avLst>
          </a:prstGeom>
          <a:solidFill>
            <a:schemeClr val="bg1"/>
          </a:solidFill>
          <a:ln w="9525">
            <a:solidFill>
              <a:srgbClr val="D5DEDB"/>
            </a:solidFill>
            <a:prstDash val="solid"/>
          </a:ln>
        </p:spPr>
      </p:sp>
      <p:pic>
        <p:nvPicPr>
          <p:cNvPr id="9" name="Image 1" descr="preencoded.png">    </p:cNvPr>
          <p:cNvPicPr>
            <a:picLocks noChangeAspect="1"/>
          </p:cNvPicPr>
          <p:nvPr/>
        </p:nvPicPr>
        <p:blipFill>
          <a:blip r:embed="rId2"/>
          <a:stretch>
            <a:fillRect/>
          </a:stretch>
        </p:blipFill>
        <p:spPr>
          <a:xfrm>
            <a:off x="5394960" y="1810512"/>
            <a:ext cx="347472" cy="347472"/>
          </a:xfrm>
          <a:prstGeom prst="rect">
            <a:avLst/>
          </a:prstGeom>
        </p:spPr>
      </p:pic>
      <p:sp>
        <p:nvSpPr>
          <p:cNvPr id="10" name="Text 6"/>
          <p:cNvSpPr txBox="1"/>
          <p:nvPr/>
        </p:nvSpPr>
        <p:spPr>
          <a:xfrm>
            <a:off x="3657600" y="1783080"/>
            <a:ext cx="1737360" cy="502920"/>
          </a:xfrm>
          <a:prstGeom prst="rect">
            <a:avLst/>
          </a:prstGeom>
          <a:noFill/>
          <a:ln/>
        </p:spPr>
        <p:txBody>
          <a:bodyPr wrap="square" lIns="0" tIns="0" rIns="0" bIns="0" rtlCol="0" anchor="ctr"/>
          <a:lstStyle/>
          <a:p>
            <a:pPr indent="0" marL="0">
              <a:buNone/>
            </a:pPr>
            <a:r>
              <a:rPr lang="en-US" sz="2800" b="1" dirty="0">
                <a:solidFill>
                  <a:schemeClr val="tx1"/>
                </a:solidFill>
              </a:rPr>
              <a:t>~100</a:t>
            </a:r>
            <a:endParaRPr lang="en-US" sz="2800" dirty="0"/>
          </a:p>
        </p:txBody>
      </p:sp>
      <p:sp>
        <p:nvSpPr>
          <p:cNvPr id="11" name="Text 7"/>
          <p:cNvSpPr txBox="1"/>
          <p:nvPr/>
        </p:nvSpPr>
        <p:spPr>
          <a:xfrm>
            <a:off x="3657600" y="2331720"/>
            <a:ext cx="2148840" cy="548640"/>
          </a:xfrm>
          <a:prstGeom prst="rect">
            <a:avLst/>
          </a:prstGeom>
          <a:noFill/>
          <a:ln/>
        </p:spPr>
        <p:txBody>
          <a:bodyPr wrap="square" lIns="0" tIns="0" rIns="0" bIns="0" rtlCol="0" anchor="t"/>
          <a:lstStyle/>
          <a:p>
            <a:pPr indent="0" marL="0">
              <a:buNone/>
            </a:pPr>
            <a:r>
              <a:rPr lang="en-US" sz="1200" dirty="0">
                <a:solidFill>
                  <a:schemeClr val="tx2"/>
                </a:solidFill>
              </a:rPr>
              <a:t>enquiries a month</a:t>
            </a:r>
            <a:endParaRPr lang="en-US" sz="1200" dirty="0"/>
          </a:p>
        </p:txBody>
      </p:sp>
      <p:sp>
        <p:nvSpPr>
          <p:cNvPr id="12" name="stat-2"/>
          <p:cNvSpPr/>
          <p:nvPr/>
        </p:nvSpPr>
        <p:spPr>
          <a:xfrm>
            <a:off x="6217920" y="1600200"/>
            <a:ext cx="2606040" cy="1371600"/>
          </a:xfrm>
          <a:prstGeom prst="roundRect">
            <a:avLst>
              <a:gd name="adj" fmla="val 8000"/>
            </a:avLst>
          </a:prstGeom>
          <a:solidFill>
            <a:schemeClr val="bg1"/>
          </a:solidFill>
          <a:ln w="9525">
            <a:solidFill>
              <a:srgbClr val="D5DEDB"/>
            </a:solidFill>
            <a:prstDash val="solid"/>
          </a:ln>
        </p:spPr>
      </p:sp>
      <p:pic>
        <p:nvPicPr>
          <p:cNvPr id="13" name="Image 2" descr="preencoded.png">    </p:cNvPr>
          <p:cNvPicPr>
            <a:picLocks noChangeAspect="1"/>
          </p:cNvPicPr>
          <p:nvPr/>
        </p:nvPicPr>
        <p:blipFill>
          <a:blip r:embed="rId3"/>
          <a:stretch>
            <a:fillRect/>
          </a:stretch>
        </p:blipFill>
        <p:spPr>
          <a:xfrm>
            <a:off x="8229600" y="1810512"/>
            <a:ext cx="347472" cy="347472"/>
          </a:xfrm>
          <a:prstGeom prst="rect">
            <a:avLst/>
          </a:prstGeom>
        </p:spPr>
      </p:pic>
      <p:sp>
        <p:nvSpPr>
          <p:cNvPr id="14" name="Text 9"/>
          <p:cNvSpPr txBox="1"/>
          <p:nvPr/>
        </p:nvSpPr>
        <p:spPr>
          <a:xfrm>
            <a:off x="6492240" y="1783080"/>
            <a:ext cx="1737360" cy="502920"/>
          </a:xfrm>
          <a:prstGeom prst="rect">
            <a:avLst/>
          </a:prstGeom>
          <a:noFill/>
          <a:ln/>
        </p:spPr>
        <p:txBody>
          <a:bodyPr wrap="square" lIns="0" tIns="0" rIns="0" bIns="0" rtlCol="0" anchor="ctr"/>
          <a:lstStyle/>
          <a:p>
            <a:pPr indent="0" marL="0">
              <a:buNone/>
            </a:pPr>
            <a:r>
              <a:rPr lang="en-US" sz="2000" b="1" dirty="0">
                <a:solidFill>
                  <a:schemeClr val="tx1"/>
                </a:solidFill>
              </a:rPr>
              <a:t>WhatsApp</a:t>
            </a:r>
            <a:endParaRPr lang="en-US" sz="2000" dirty="0"/>
          </a:p>
        </p:txBody>
      </p:sp>
      <p:sp>
        <p:nvSpPr>
          <p:cNvPr id="15" name="Text 10"/>
          <p:cNvSpPr txBox="1"/>
          <p:nvPr/>
        </p:nvSpPr>
        <p:spPr>
          <a:xfrm>
            <a:off x="6492240" y="2331720"/>
            <a:ext cx="2148840" cy="548640"/>
          </a:xfrm>
          <a:prstGeom prst="rect">
            <a:avLst/>
          </a:prstGeom>
          <a:noFill/>
          <a:ln/>
        </p:spPr>
        <p:txBody>
          <a:bodyPr wrap="square" lIns="0" tIns="0" rIns="0" bIns="0" rtlCol="0" anchor="t"/>
          <a:lstStyle/>
          <a:p>
            <a:pPr indent="0" marL="0">
              <a:buNone/>
            </a:pPr>
            <a:r>
              <a:rPr lang="en-US" sz="1200" dirty="0">
                <a:solidFill>
                  <a:schemeClr val="tx2"/>
                </a:solidFill>
              </a:rPr>
              <a:t>where most enquiries arrive</a:t>
            </a:r>
            <a:endParaRPr lang="en-US" sz="1200" dirty="0"/>
          </a:p>
        </p:txBody>
      </p:sp>
      <p:sp>
        <p:nvSpPr>
          <p:cNvPr id="16" name="stat-3"/>
          <p:cNvSpPr/>
          <p:nvPr/>
        </p:nvSpPr>
        <p:spPr>
          <a:xfrm>
            <a:off x="9052560" y="1600200"/>
            <a:ext cx="2606040" cy="1371600"/>
          </a:xfrm>
          <a:prstGeom prst="roundRect">
            <a:avLst>
              <a:gd name="adj" fmla="val 8000"/>
            </a:avLst>
          </a:prstGeom>
          <a:solidFill>
            <a:schemeClr val="bg1"/>
          </a:solidFill>
          <a:ln w="9525">
            <a:solidFill>
              <a:srgbClr val="D5DEDB"/>
            </a:solidFill>
            <a:prstDash val="solid"/>
          </a:ln>
        </p:spPr>
      </p:sp>
      <p:pic>
        <p:nvPicPr>
          <p:cNvPr id="17" name="Image 3" descr="preencoded.png">    </p:cNvPr>
          <p:cNvPicPr>
            <a:picLocks noChangeAspect="1"/>
          </p:cNvPicPr>
          <p:nvPr/>
        </p:nvPicPr>
        <p:blipFill>
          <a:blip r:embed="rId4"/>
          <a:stretch>
            <a:fillRect/>
          </a:stretch>
        </p:blipFill>
        <p:spPr>
          <a:xfrm>
            <a:off x="11064240" y="1810512"/>
            <a:ext cx="347472" cy="347472"/>
          </a:xfrm>
          <a:prstGeom prst="rect">
            <a:avLst/>
          </a:prstGeom>
        </p:spPr>
      </p:pic>
      <p:sp>
        <p:nvSpPr>
          <p:cNvPr id="18" name="Text 12"/>
          <p:cNvSpPr txBox="1"/>
          <p:nvPr/>
        </p:nvSpPr>
        <p:spPr>
          <a:xfrm>
            <a:off x="9326880" y="1783080"/>
            <a:ext cx="1737360" cy="502920"/>
          </a:xfrm>
          <a:prstGeom prst="rect">
            <a:avLst/>
          </a:prstGeom>
          <a:noFill/>
          <a:ln/>
        </p:spPr>
        <p:txBody>
          <a:bodyPr wrap="square" lIns="0" tIns="0" rIns="0" bIns="0" rtlCol="0" anchor="ctr"/>
          <a:lstStyle/>
          <a:p>
            <a:pPr indent="0" marL="0">
              <a:buNone/>
            </a:pPr>
            <a:r>
              <a:rPr lang="en-US" sz="2000" b="1" dirty="0">
                <a:solidFill>
                  <a:schemeClr val="tx1"/>
                </a:solidFill>
              </a:rPr>
              <a:t>Meta AI bot</a:t>
            </a:r>
            <a:endParaRPr lang="en-US" sz="2000" dirty="0"/>
          </a:p>
        </p:txBody>
      </p:sp>
      <p:sp>
        <p:nvSpPr>
          <p:cNvPr id="19" name="Text 13"/>
          <p:cNvSpPr txBox="1"/>
          <p:nvPr/>
        </p:nvSpPr>
        <p:spPr>
          <a:xfrm>
            <a:off x="9326880" y="2331720"/>
            <a:ext cx="2148840" cy="548640"/>
          </a:xfrm>
          <a:prstGeom prst="rect">
            <a:avLst/>
          </a:prstGeom>
          <a:noFill/>
          <a:ln/>
        </p:spPr>
        <p:txBody>
          <a:bodyPr wrap="square" lIns="0" tIns="0" rIns="0" bIns="0" rtlCol="0" anchor="t"/>
          <a:lstStyle/>
          <a:p>
            <a:pPr indent="0" marL="0">
              <a:buNone/>
            </a:pPr>
            <a:r>
              <a:rPr lang="en-US" sz="1200" dirty="0">
                <a:solidFill>
                  <a:schemeClr val="tx2"/>
                </a:solidFill>
              </a:rPr>
              <a:t>has sometimes given patients incorrect information</a:t>
            </a:r>
            <a:endParaRPr lang="en-US" sz="1200" dirty="0"/>
          </a:p>
        </p:txBody>
      </p:sp>
      <p:sp>
        <p:nvSpPr>
          <p:cNvPr id="20" name="Shape 14"/>
          <p:cNvSpPr/>
          <p:nvPr/>
        </p:nvSpPr>
        <p:spPr>
          <a:xfrm>
            <a:off x="548640" y="3291840"/>
            <a:ext cx="5486400" cy="548640"/>
          </a:xfrm>
          <a:prstGeom prst="roundRect">
            <a:avLst>
              <a:gd name="adj" fmla="val 16667"/>
            </a:avLst>
          </a:prstGeom>
          <a:solidFill>
            <a:schemeClr val="tx1"/>
          </a:solidFill>
          <a:ln/>
        </p:spPr>
      </p:sp>
      <p:sp>
        <p:nvSpPr>
          <p:cNvPr id="21" name="Text 15"/>
          <p:cNvSpPr txBox="1"/>
          <p:nvPr/>
        </p:nvSpPr>
        <p:spPr>
          <a:xfrm>
            <a:off x="548640" y="3291840"/>
            <a:ext cx="5486400" cy="548640"/>
          </a:xfrm>
          <a:prstGeom prst="rect">
            <a:avLst/>
          </a:prstGeom>
          <a:noFill/>
          <a:ln/>
        </p:spPr>
        <p:txBody>
          <a:bodyPr wrap="square" lIns="0" tIns="0" rIns="0" bIns="0" rtlCol="0" anchor="ctr"/>
          <a:lstStyle/>
          <a:p>
            <a:pPr algn="ctr" indent="0" marL="0">
              <a:buNone/>
            </a:pPr>
            <a:r>
              <a:rPr lang="en-US" sz="1400" b="1" dirty="0">
                <a:solidFill>
                  <a:schemeClr val="bg1"/>
                </a:solidFill>
              </a:rPr>
              <a:t>~100 enquiries a month</a:t>
            </a:r>
            <a:endParaRPr lang="en-US" sz="1400" dirty="0"/>
          </a:p>
        </p:txBody>
      </p:sp>
      <p:sp>
        <p:nvSpPr>
          <p:cNvPr id="22" name="Shape 16"/>
          <p:cNvSpPr/>
          <p:nvPr/>
        </p:nvSpPr>
        <p:spPr>
          <a:xfrm>
            <a:off x="960120" y="3950208"/>
            <a:ext cx="4663440" cy="548640"/>
          </a:xfrm>
          <a:prstGeom prst="roundRect">
            <a:avLst>
              <a:gd name="adj" fmla="val 16667"/>
            </a:avLst>
          </a:prstGeom>
          <a:solidFill>
            <a:schemeClr val="accent1"/>
          </a:solidFill>
          <a:ln/>
        </p:spPr>
      </p:sp>
      <p:sp>
        <p:nvSpPr>
          <p:cNvPr id="23" name="Text 17"/>
          <p:cNvSpPr txBox="1"/>
          <p:nvPr/>
        </p:nvSpPr>
        <p:spPr>
          <a:xfrm>
            <a:off x="960120" y="3950208"/>
            <a:ext cx="4663440" cy="548640"/>
          </a:xfrm>
          <a:prstGeom prst="rect">
            <a:avLst/>
          </a:prstGeom>
          <a:noFill/>
          <a:ln/>
        </p:spPr>
        <p:txBody>
          <a:bodyPr wrap="square" lIns="0" tIns="0" rIns="0" bIns="0" rtlCol="0" anchor="ctr"/>
          <a:lstStyle/>
          <a:p>
            <a:pPr algn="ctr" indent="0" marL="0">
              <a:buNone/>
            </a:pPr>
            <a:r>
              <a:rPr lang="en-US" sz="1400" b="1" dirty="0">
                <a:solidFill>
                  <a:schemeClr val="bg1"/>
                </a:solidFill>
              </a:rPr>
              <a:t>Book an appointment</a:t>
            </a:r>
            <a:endParaRPr lang="en-US" sz="1400" dirty="0"/>
          </a:p>
        </p:txBody>
      </p:sp>
      <p:sp>
        <p:nvSpPr>
          <p:cNvPr id="24" name="Shape 18"/>
          <p:cNvSpPr/>
          <p:nvPr/>
        </p:nvSpPr>
        <p:spPr>
          <a:xfrm>
            <a:off x="1371600" y="4608576"/>
            <a:ext cx="3840480" cy="548640"/>
          </a:xfrm>
          <a:prstGeom prst="roundRect">
            <a:avLst>
              <a:gd name="adj" fmla="val 16667"/>
            </a:avLst>
          </a:prstGeom>
          <a:solidFill>
            <a:schemeClr val="accent4"/>
          </a:solidFill>
          <a:ln/>
        </p:spPr>
      </p:sp>
      <p:sp>
        <p:nvSpPr>
          <p:cNvPr id="25" name="Text 19"/>
          <p:cNvSpPr txBox="1"/>
          <p:nvPr/>
        </p:nvSpPr>
        <p:spPr>
          <a:xfrm>
            <a:off x="1371600" y="4608576"/>
            <a:ext cx="3840480" cy="548640"/>
          </a:xfrm>
          <a:prstGeom prst="rect">
            <a:avLst/>
          </a:prstGeom>
          <a:noFill/>
          <a:ln/>
        </p:spPr>
        <p:txBody>
          <a:bodyPr wrap="square" lIns="0" tIns="0" rIns="0" bIns="0" rtlCol="0" anchor="ctr"/>
          <a:lstStyle/>
          <a:p>
            <a:pPr algn="ctr" indent="0" marL="0">
              <a:buNone/>
            </a:pPr>
            <a:r>
              <a:rPr lang="en-US" sz="1400" b="1" dirty="0">
                <a:solidFill>
                  <a:schemeClr val="tx1"/>
                </a:solidFill>
              </a:rPr>
              <a:t>Enquire but don't book</a:t>
            </a:r>
            <a:endParaRPr lang="en-US" sz="1400" dirty="0"/>
          </a:p>
        </p:txBody>
      </p:sp>
      <p:sp>
        <p:nvSpPr>
          <p:cNvPr id="26" name="Shape 20"/>
          <p:cNvSpPr/>
          <p:nvPr/>
        </p:nvSpPr>
        <p:spPr>
          <a:xfrm>
            <a:off x="1783080" y="5266944"/>
            <a:ext cx="3017520" cy="548640"/>
          </a:xfrm>
          <a:prstGeom prst="roundRect">
            <a:avLst>
              <a:gd name="adj" fmla="val 16667"/>
            </a:avLst>
          </a:prstGeom>
          <a:solidFill>
            <a:schemeClr val="bg1"/>
          </a:solidFill>
          <a:ln w="9525">
            <a:solidFill>
              <a:schemeClr val="accent6"/>
            </a:solidFill>
            <a:prstDash val="solid"/>
          </a:ln>
        </p:spPr>
      </p:sp>
      <p:sp>
        <p:nvSpPr>
          <p:cNvPr id="27" name="Text 21"/>
          <p:cNvSpPr txBox="1"/>
          <p:nvPr/>
        </p:nvSpPr>
        <p:spPr>
          <a:xfrm>
            <a:off x="1783080" y="5266944"/>
            <a:ext cx="3017520" cy="548640"/>
          </a:xfrm>
          <a:prstGeom prst="rect">
            <a:avLst/>
          </a:prstGeom>
          <a:noFill/>
          <a:ln/>
        </p:spPr>
        <p:txBody>
          <a:bodyPr wrap="square" lIns="0" tIns="0" rIns="0" bIns="0" rtlCol="0" anchor="ctr"/>
          <a:lstStyle/>
          <a:p>
            <a:pPr algn="ctr" indent="0" marL="0">
              <a:buNone/>
            </a:pPr>
            <a:r>
              <a:rPr lang="en-US" sz="1400" b="1" dirty="0">
                <a:solidFill>
                  <a:schemeClr val="accent6"/>
                </a:solidFill>
              </a:rPr>
              <a:t>Revenue that never arrives</a:t>
            </a:r>
            <a:endParaRPr lang="en-US" sz="1400" dirty="0"/>
          </a:p>
        </p:txBody>
      </p:sp>
      <p:sp>
        <p:nvSpPr>
          <p:cNvPr id="28" name="Text 22"/>
          <p:cNvSpPr txBox="1"/>
          <p:nvPr/>
        </p:nvSpPr>
        <p:spPr>
          <a:xfrm>
            <a:off x="548640" y="5943600"/>
            <a:ext cx="5943600" cy="274320"/>
          </a:xfrm>
          <a:prstGeom prst="rect">
            <a:avLst/>
          </a:prstGeom>
          <a:noFill/>
          <a:ln/>
        </p:spPr>
        <p:txBody>
          <a:bodyPr wrap="square" lIns="0" tIns="0" rIns="0" bIns="0" rtlCol="0" anchor="t"/>
          <a:lstStyle/>
          <a:p>
            <a:pPr indent="0" marL="0">
              <a:buNone/>
            </a:pPr>
            <a:r>
              <a:rPr lang="en-US" sz="1100" dirty="0">
                <a:solidFill>
                  <a:schemeClr val="tx2"/>
                </a:solidFill>
              </a:rPr>
              <a:t>Figures shared by the clinic. How many book is measured from day one.</a:t>
            </a:r>
            <a:endParaRPr lang="en-US" sz="1100" dirty="0"/>
          </a:p>
        </p:txBody>
      </p:sp>
      <p:sp>
        <p:nvSpPr>
          <p:cNvPr id="29" name="Text 23"/>
          <p:cNvSpPr txBox="1"/>
          <p:nvPr/>
        </p:nvSpPr>
        <p:spPr>
          <a:xfrm>
            <a:off x="6675120" y="3291840"/>
            <a:ext cx="4965192" cy="2743200"/>
          </a:xfrm>
          <a:prstGeom prst="rect">
            <a:avLst/>
          </a:prstGeom>
          <a:noFill/>
          <a:ln/>
        </p:spPr>
        <p:txBody>
          <a:bodyPr wrap="square" lIns="0" tIns="0" rIns="0" bIns="0" rtlCol="0" anchor="t"/>
          <a:lstStyle/>
          <a:p>
            <a:pPr indent="0" marL="0">
              <a:buNone/>
            </a:pPr>
            <a:r>
              <a:rPr lang="en-US" sz="1300" b="1" dirty="0">
                <a:solidFill>
                  <a:schemeClr val="tx1"/>
                </a:solidFill>
              </a:rPr>
              <a:t>Wrong or inconsistent answers</a:t>
            </a:r>
            <a:endParaRPr lang="en-US" sz="1300" dirty="0"/>
          </a:p>
          <a:p>
            <a:pPr indent="0" marL="0">
              <a:spcAft>
                <a:spcPts val="1000"/>
              </a:spcAft>
              <a:buNone/>
            </a:pPr>
            <a:r>
              <a:rPr lang="en-US" sz="1300" dirty="0">
                <a:solidFill>
                  <a:schemeClr val="tx2"/>
                </a:solidFill>
              </a:rPr>
              <a:t>A patient given the wrong fee or detail may not come back to check.</a:t>
            </a:r>
            <a:endParaRPr lang="en-US" sz="1300" dirty="0"/>
          </a:p>
          <a:p>
            <a:pPr indent="0" marL="0">
              <a:buNone/>
            </a:pPr>
            <a:r>
              <a:rPr lang="en-US" sz="1300" b="1" dirty="0">
                <a:solidFill>
                  <a:schemeClr val="tx1"/>
                </a:solidFill>
              </a:rPr>
              <a:t>No clear next step</a:t>
            </a:r>
            <a:endParaRPr lang="en-US" sz="1300" dirty="0"/>
          </a:p>
          <a:p>
            <a:pPr indent="0" marL="0">
              <a:spcAft>
                <a:spcPts val="1000"/>
              </a:spcAft>
              <a:buNone/>
            </a:pPr>
            <a:r>
              <a:rPr lang="en-US" sz="1300" dirty="0">
                <a:solidFill>
                  <a:schemeClr val="tx2"/>
                </a:solidFill>
              </a:rPr>
              <a:t>Without location and need, the right consultation isn't offered.</a:t>
            </a:r>
            <a:endParaRPr lang="en-US" sz="1300" dirty="0"/>
          </a:p>
          <a:p>
            <a:pPr indent="0" marL="0">
              <a:buNone/>
            </a:pPr>
            <a:r>
              <a:rPr lang="en-US" sz="1300" b="1" dirty="0">
                <a:solidFill>
                  <a:schemeClr val="tx1"/>
                </a:solidFill>
              </a:rPr>
              <a:t>Non-bookers fade away</a:t>
            </a:r>
            <a:endParaRPr lang="en-US" sz="1300" dirty="0"/>
          </a:p>
          <a:p>
            <a:pPr indent="0" marL="0">
              <a:spcAft>
                <a:spcPts val="1000"/>
              </a:spcAft>
              <a:buNone/>
            </a:pPr>
            <a:r>
              <a:rPr lang="en-US" sz="1300" dirty="0">
                <a:solidFill>
                  <a:schemeClr val="tx2"/>
                </a:solidFill>
              </a:rPr>
              <a:t>Without a call list, follow-up depends on memory.</a:t>
            </a:r>
            <a:endParaRPr lang="en-US" sz="1300" dirty="0"/>
          </a:p>
          <a:p>
            <a:pPr indent="0" marL="0">
              <a:buNone/>
            </a:pPr>
            <a:r>
              <a:rPr lang="en-US" sz="1300" b="1" dirty="0">
                <a:solidFill>
                  <a:schemeClr val="tx1"/>
                </a:solidFill>
              </a:rPr>
              <a:t>No view of what works</a:t>
            </a:r>
            <a:endParaRPr lang="en-US" sz="1300" dirty="0"/>
          </a:p>
          <a:p>
            <a:pPr indent="0" marL="0">
              <a:spcAft>
                <a:spcPts val="1000"/>
              </a:spcAft>
              <a:buNone/>
            </a:pPr>
            <a:r>
              <a:rPr lang="en-US" sz="1300" dirty="0">
                <a:solidFill>
                  <a:schemeClr val="tx2"/>
                </a:solidFill>
              </a:rPr>
              <a:t>No enquiry-to-appointment numbers for each campaign.</a:t>
            </a:r>
            <a:endParaRPr lang="en-US" sz="1300" dirty="0"/>
          </a:p>
        </p:txBody>
      </p:sp>
      <p:sp>
        <p:nvSpPr>
          <p:cNvPr id="25" name="Slide Number Placeholder 0"/>
          <p:cNvSpPr>
            <a:spLocks noGrp="1"/>
          </p:cNvSpPr>
          <p:nvPr>
            <p:ph type="sldNum" sz="quarter" idx="4294967295"/>
          </p:nvPr>
        </p:nvSpPr>
        <p:spPr>
          <a:xfrm>
            <a:off x="9509760" y="6355080"/>
            <a:ext cx="6400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548640" y="384048"/>
            <a:ext cx="11064240" cy="274320"/>
          </a:xfrm>
          <a:prstGeom prst="rect">
            <a:avLst/>
          </a:prstGeom>
          <a:noFill/>
          <a:ln/>
        </p:spPr>
        <p:txBody>
          <a:bodyPr wrap="square" lIns="0" tIns="0" rIns="0" bIns="0" rtlCol="0" anchor="t"/>
          <a:lstStyle/>
          <a:p>
            <a:pPr algn="l" indent="0" marL="0">
              <a:buNone/>
            </a:pPr>
            <a:r>
              <a:rPr lang="en-US" sz="1100" b="1" spc="150" kern="0" dirty="0">
                <a:solidFill>
                  <a:schemeClr val="accent1"/>
                </a:solidFill>
              </a:rPr>
              <a:t>PROPOSED PATIENT JOURNEY</a:t>
            </a:r>
            <a:endParaRPr lang="en-US" sz="1100" dirty="0"/>
          </a:p>
        </p:txBody>
      </p:sp>
      <p:sp>
        <p:nvSpPr>
          <p:cNvPr id="3" name="Text 2"/>
          <p:cNvSpPr/>
          <p:nvPr>
            <p:ph idx="104"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Every enquiry ends in the calendar or on the call list</a:t>
            </a:r>
            <a:endParaRPr lang="en-US" sz="3000" dirty="0"/>
          </a:p>
        </p:txBody>
      </p:sp>
      <p:sp>
        <p:nvSpPr>
          <p:cNvPr id="4" name="Shape 2"/>
          <p:cNvSpPr/>
          <p:nvPr/>
        </p:nvSpPr>
        <p:spPr>
          <a:xfrm>
            <a:off x="548640" y="1645920"/>
            <a:ext cx="1920240" cy="685800"/>
          </a:xfrm>
          <a:prstGeom prst="roundRect">
            <a:avLst>
              <a:gd name="adj" fmla="val 13333"/>
            </a:avLst>
          </a:prstGeom>
          <a:solidFill>
            <a:schemeClr val="bg1"/>
          </a:solidFill>
          <a:ln w="9525">
            <a:solidFill>
              <a:srgbClr val="D5DEDB"/>
            </a:solidFill>
            <a:prstDash val="solid"/>
          </a:ln>
        </p:spPr>
      </p:sp>
      <p:sp>
        <p:nvSpPr>
          <p:cNvPr id="5" name="Text 3"/>
          <p:cNvSpPr txBox="1"/>
          <p:nvPr/>
        </p:nvSpPr>
        <p:spPr>
          <a:xfrm>
            <a:off x="548640" y="164592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Ad</a:t>
            </a:r>
            <a:endParaRPr lang="en-US" sz="1400" dirty="0"/>
          </a:p>
        </p:txBody>
      </p:sp>
      <p:sp>
        <p:nvSpPr>
          <p:cNvPr id="6" name="Shape 4"/>
          <p:cNvSpPr/>
          <p:nvPr/>
        </p:nvSpPr>
        <p:spPr>
          <a:xfrm>
            <a:off x="2468880" y="1988820"/>
            <a:ext cx="365760" cy="0"/>
          </a:xfrm>
          <a:prstGeom prst="line">
            <a:avLst/>
          </a:prstGeom>
          <a:noFill/>
          <a:ln w="15875">
            <a:solidFill>
              <a:schemeClr val="tx2"/>
            </a:solidFill>
            <a:prstDash val="solid"/>
            <a:tailEnd type="triangle"/>
          </a:ln>
        </p:spPr>
      </p:sp>
      <p:sp>
        <p:nvSpPr>
          <p:cNvPr id="7" name="Shape 5"/>
          <p:cNvSpPr/>
          <p:nvPr/>
        </p:nvSpPr>
        <p:spPr>
          <a:xfrm>
            <a:off x="2834640" y="1645920"/>
            <a:ext cx="1920240" cy="685800"/>
          </a:xfrm>
          <a:prstGeom prst="roundRect">
            <a:avLst>
              <a:gd name="adj" fmla="val 13333"/>
            </a:avLst>
          </a:prstGeom>
          <a:solidFill>
            <a:schemeClr val="bg1"/>
          </a:solidFill>
          <a:ln w="9525">
            <a:solidFill>
              <a:srgbClr val="D5DEDB"/>
            </a:solidFill>
            <a:prstDash val="solid"/>
          </a:ln>
        </p:spPr>
      </p:sp>
      <p:sp>
        <p:nvSpPr>
          <p:cNvPr id="8" name="Text 6"/>
          <p:cNvSpPr txBox="1"/>
          <p:nvPr/>
        </p:nvSpPr>
        <p:spPr>
          <a:xfrm>
            <a:off x="2834640" y="164592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WhatsApp enquiry</a:t>
            </a:r>
            <a:endParaRPr lang="en-US" sz="1400" dirty="0"/>
          </a:p>
        </p:txBody>
      </p:sp>
      <p:sp>
        <p:nvSpPr>
          <p:cNvPr id="9" name="Shape 7"/>
          <p:cNvSpPr/>
          <p:nvPr/>
        </p:nvSpPr>
        <p:spPr>
          <a:xfrm>
            <a:off x="4754880" y="1988820"/>
            <a:ext cx="365760" cy="0"/>
          </a:xfrm>
          <a:prstGeom prst="line">
            <a:avLst/>
          </a:prstGeom>
          <a:noFill/>
          <a:ln w="15875">
            <a:solidFill>
              <a:schemeClr val="tx2"/>
            </a:solidFill>
            <a:prstDash val="solid"/>
            <a:tailEnd type="triangle"/>
          </a:ln>
        </p:spPr>
      </p:sp>
      <p:sp>
        <p:nvSpPr>
          <p:cNvPr id="10" name="Shape 8"/>
          <p:cNvSpPr/>
          <p:nvPr/>
        </p:nvSpPr>
        <p:spPr>
          <a:xfrm>
            <a:off x="5120640" y="1645920"/>
            <a:ext cx="1920240" cy="685800"/>
          </a:xfrm>
          <a:prstGeom prst="roundRect">
            <a:avLst>
              <a:gd name="adj" fmla="val 13333"/>
            </a:avLst>
          </a:prstGeom>
          <a:solidFill>
            <a:schemeClr val="bg1"/>
          </a:solidFill>
          <a:ln w="9525">
            <a:solidFill>
              <a:srgbClr val="D5DEDB"/>
            </a:solidFill>
            <a:prstDash val="solid"/>
          </a:ln>
        </p:spPr>
      </p:sp>
      <p:sp>
        <p:nvSpPr>
          <p:cNvPr id="11" name="Text 9"/>
          <p:cNvSpPr txBox="1"/>
          <p:nvPr/>
        </p:nvSpPr>
        <p:spPr>
          <a:xfrm>
            <a:off x="5120640" y="164592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Patient details</a:t>
            </a:r>
            <a:endParaRPr lang="en-US" sz="1400" dirty="0"/>
          </a:p>
        </p:txBody>
      </p:sp>
      <p:sp>
        <p:nvSpPr>
          <p:cNvPr id="12" name="Shape 10"/>
          <p:cNvSpPr/>
          <p:nvPr/>
        </p:nvSpPr>
        <p:spPr>
          <a:xfrm>
            <a:off x="7040880" y="1988820"/>
            <a:ext cx="365760" cy="0"/>
          </a:xfrm>
          <a:prstGeom prst="line">
            <a:avLst/>
          </a:prstGeom>
          <a:noFill/>
          <a:ln w="15875">
            <a:solidFill>
              <a:schemeClr val="tx2"/>
            </a:solidFill>
            <a:prstDash val="solid"/>
            <a:tailEnd type="triangle"/>
          </a:ln>
        </p:spPr>
      </p:sp>
      <p:sp>
        <p:nvSpPr>
          <p:cNvPr id="13" name="Shape 11"/>
          <p:cNvSpPr/>
          <p:nvPr/>
        </p:nvSpPr>
        <p:spPr>
          <a:xfrm>
            <a:off x="7406640" y="1645920"/>
            <a:ext cx="1920240" cy="685800"/>
          </a:xfrm>
          <a:prstGeom prst="roundRect">
            <a:avLst>
              <a:gd name="adj" fmla="val 13333"/>
            </a:avLst>
          </a:prstGeom>
          <a:solidFill>
            <a:schemeClr val="bg1"/>
          </a:solidFill>
          <a:ln w="9525">
            <a:solidFill>
              <a:srgbClr val="D5DEDB"/>
            </a:solidFill>
            <a:prstDash val="solid"/>
          </a:ln>
        </p:spPr>
      </p:sp>
      <p:sp>
        <p:nvSpPr>
          <p:cNvPr id="14" name="Text 12"/>
          <p:cNvSpPr txBox="1"/>
          <p:nvPr/>
        </p:nvSpPr>
        <p:spPr>
          <a:xfrm>
            <a:off x="7406640" y="164592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Location and need</a:t>
            </a:r>
            <a:endParaRPr lang="en-US" sz="1400" dirty="0"/>
          </a:p>
        </p:txBody>
      </p:sp>
      <p:sp>
        <p:nvSpPr>
          <p:cNvPr id="15" name="Shape 13"/>
          <p:cNvSpPr/>
          <p:nvPr/>
        </p:nvSpPr>
        <p:spPr>
          <a:xfrm>
            <a:off x="9326880" y="1988820"/>
            <a:ext cx="365760" cy="0"/>
          </a:xfrm>
          <a:prstGeom prst="line">
            <a:avLst/>
          </a:prstGeom>
          <a:noFill/>
          <a:ln w="15875">
            <a:solidFill>
              <a:schemeClr val="tx2"/>
            </a:solidFill>
            <a:prstDash val="solid"/>
            <a:tailEnd type="triangle"/>
          </a:ln>
        </p:spPr>
      </p:sp>
      <p:sp>
        <p:nvSpPr>
          <p:cNvPr id="16" name="Shape 14"/>
          <p:cNvSpPr/>
          <p:nvPr/>
        </p:nvSpPr>
        <p:spPr>
          <a:xfrm>
            <a:off x="9692640" y="1645920"/>
            <a:ext cx="1920240" cy="685800"/>
          </a:xfrm>
          <a:prstGeom prst="roundRect">
            <a:avLst>
              <a:gd name="adj" fmla="val 13333"/>
            </a:avLst>
          </a:prstGeom>
          <a:solidFill>
            <a:schemeClr val="bg1"/>
          </a:solidFill>
          <a:ln w="9525">
            <a:solidFill>
              <a:srgbClr val="D5DEDB"/>
            </a:solidFill>
            <a:prstDash val="solid"/>
          </a:ln>
        </p:spPr>
      </p:sp>
      <p:sp>
        <p:nvSpPr>
          <p:cNvPr id="17" name="Text 15"/>
          <p:cNvSpPr txBox="1"/>
          <p:nvPr/>
        </p:nvSpPr>
        <p:spPr>
          <a:xfrm>
            <a:off x="9692640" y="164592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Approved answer</a:t>
            </a:r>
            <a:endParaRPr lang="en-US" sz="1400" dirty="0"/>
          </a:p>
        </p:txBody>
      </p:sp>
      <p:sp>
        <p:nvSpPr>
          <p:cNvPr id="18" name="Shape 16"/>
          <p:cNvSpPr/>
          <p:nvPr/>
        </p:nvSpPr>
        <p:spPr>
          <a:xfrm>
            <a:off x="10652760" y="2331720"/>
            <a:ext cx="0" cy="457200"/>
          </a:xfrm>
          <a:prstGeom prst="line">
            <a:avLst/>
          </a:prstGeom>
          <a:noFill/>
          <a:ln w="15875">
            <a:solidFill>
              <a:schemeClr val="tx2"/>
            </a:solidFill>
            <a:prstDash val="solid"/>
            <a:tailEnd type="triangle"/>
          </a:ln>
        </p:spPr>
      </p:sp>
      <p:sp>
        <p:nvSpPr>
          <p:cNvPr id="19" name="Shape 17"/>
          <p:cNvSpPr/>
          <p:nvPr/>
        </p:nvSpPr>
        <p:spPr>
          <a:xfrm>
            <a:off x="9692640" y="2788920"/>
            <a:ext cx="1920240" cy="1097280"/>
          </a:xfrm>
          <a:prstGeom prst="diamond">
            <a:avLst/>
          </a:prstGeom>
          <a:solidFill>
            <a:schemeClr val="bg1"/>
          </a:solidFill>
          <a:ln w="9525">
            <a:solidFill>
              <a:srgbClr val="D5DEDB"/>
            </a:solidFill>
            <a:prstDash val="solid"/>
          </a:ln>
        </p:spPr>
      </p:sp>
      <p:sp>
        <p:nvSpPr>
          <p:cNvPr id="20" name="Text 18"/>
          <p:cNvSpPr txBox="1"/>
          <p:nvPr/>
        </p:nvSpPr>
        <p:spPr>
          <a:xfrm>
            <a:off x="9692640" y="2788920"/>
            <a:ext cx="1920240" cy="1097280"/>
          </a:xfrm>
          <a:prstGeom prst="rect">
            <a:avLst/>
          </a:prstGeom>
          <a:noFill/>
          <a:ln/>
        </p:spPr>
        <p:txBody>
          <a:bodyPr wrap="square" lIns="0" tIns="0" rIns="0" bIns="0" rtlCol="0" anchor="ctr"/>
          <a:lstStyle/>
          <a:p>
            <a:pPr algn="ctr" indent="0" marL="0">
              <a:buNone/>
            </a:pPr>
            <a:r>
              <a:rPr lang="en-US" sz="1300" b="1" dirty="0">
                <a:solidFill>
                  <a:schemeClr val="tx1"/>
                </a:solidFill>
              </a:rPr>
              <a:t>Local patient?</a:t>
            </a:r>
            <a:endParaRPr lang="en-US" sz="1300" dirty="0"/>
          </a:p>
        </p:txBody>
      </p:sp>
      <p:sp>
        <p:nvSpPr>
          <p:cNvPr id="21" name="Shape 19"/>
          <p:cNvSpPr/>
          <p:nvPr/>
        </p:nvSpPr>
        <p:spPr>
          <a:xfrm>
            <a:off x="6583680" y="2606040"/>
            <a:ext cx="2468880" cy="685800"/>
          </a:xfrm>
          <a:prstGeom prst="roundRect">
            <a:avLst>
              <a:gd name="adj" fmla="val 13333"/>
            </a:avLst>
          </a:prstGeom>
          <a:solidFill>
            <a:schemeClr val="bg1"/>
          </a:solidFill>
          <a:ln w="9525">
            <a:solidFill>
              <a:srgbClr val="D5DEDB"/>
            </a:solidFill>
            <a:prstDash val="solid"/>
          </a:ln>
        </p:spPr>
      </p:sp>
      <p:sp>
        <p:nvSpPr>
          <p:cNvPr id="22" name="Text 20"/>
          <p:cNvSpPr txBox="1"/>
          <p:nvPr/>
        </p:nvSpPr>
        <p:spPr>
          <a:xfrm>
            <a:off x="6583680" y="2606040"/>
            <a:ext cx="246888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Offline consultation</a:t>
            </a:r>
            <a:endParaRPr lang="en-US" sz="1400" dirty="0"/>
          </a:p>
          <a:p>
            <a:pPr algn="ctr" indent="0" marL="0">
              <a:buNone/>
            </a:pPr>
            <a:r>
              <a:rPr lang="en-US" sz="1100" dirty="0">
                <a:solidFill>
                  <a:schemeClr val="tx2"/>
                </a:solidFill>
              </a:rPr>
              <a:t>local patients</a:t>
            </a:r>
            <a:endParaRPr lang="en-US" sz="1400" dirty="0"/>
          </a:p>
        </p:txBody>
      </p:sp>
      <p:sp>
        <p:nvSpPr>
          <p:cNvPr id="23" name="Shape 21"/>
          <p:cNvSpPr/>
          <p:nvPr/>
        </p:nvSpPr>
        <p:spPr>
          <a:xfrm>
            <a:off x="6583680" y="3611880"/>
            <a:ext cx="2468880" cy="685800"/>
          </a:xfrm>
          <a:prstGeom prst="roundRect">
            <a:avLst>
              <a:gd name="adj" fmla="val 13333"/>
            </a:avLst>
          </a:prstGeom>
          <a:solidFill>
            <a:schemeClr val="bg1"/>
          </a:solidFill>
          <a:ln w="9525">
            <a:solidFill>
              <a:srgbClr val="D5DEDB"/>
            </a:solidFill>
            <a:prstDash val="solid"/>
          </a:ln>
        </p:spPr>
      </p:sp>
      <p:sp>
        <p:nvSpPr>
          <p:cNvPr id="24" name="Text 22"/>
          <p:cNvSpPr txBox="1"/>
          <p:nvPr/>
        </p:nvSpPr>
        <p:spPr>
          <a:xfrm>
            <a:off x="6583680" y="3611880"/>
            <a:ext cx="246888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Video consultation</a:t>
            </a:r>
            <a:endParaRPr lang="en-US" sz="1400" dirty="0"/>
          </a:p>
          <a:p>
            <a:pPr algn="ctr" indent="0" marL="0">
              <a:buNone/>
            </a:pPr>
            <a:r>
              <a:rPr lang="en-US" sz="1100" dirty="0">
                <a:solidFill>
                  <a:schemeClr val="tx2"/>
                </a:solidFill>
              </a:rPr>
              <a:t>other towns, e.g. Trichy</a:t>
            </a:r>
            <a:endParaRPr lang="en-US" sz="1400" dirty="0"/>
          </a:p>
        </p:txBody>
      </p:sp>
      <p:sp>
        <p:nvSpPr>
          <p:cNvPr id="25" name="Shape 23"/>
          <p:cNvSpPr/>
          <p:nvPr/>
        </p:nvSpPr>
        <p:spPr>
          <a:xfrm flipH="1">
            <a:off x="9372600" y="3337560"/>
            <a:ext cx="320040" cy="0"/>
          </a:xfrm>
          <a:prstGeom prst="line">
            <a:avLst/>
          </a:prstGeom>
          <a:noFill/>
          <a:ln w="15875">
            <a:solidFill>
              <a:schemeClr val="tx2"/>
            </a:solidFill>
            <a:prstDash val="solid"/>
          </a:ln>
        </p:spPr>
      </p:sp>
      <p:sp>
        <p:nvSpPr>
          <p:cNvPr id="26" name="Shape 24"/>
          <p:cNvSpPr/>
          <p:nvPr/>
        </p:nvSpPr>
        <p:spPr>
          <a:xfrm>
            <a:off x="9372600" y="2948940"/>
            <a:ext cx="0" cy="1005840"/>
          </a:xfrm>
          <a:prstGeom prst="line">
            <a:avLst/>
          </a:prstGeom>
          <a:noFill/>
          <a:ln w="15875">
            <a:solidFill>
              <a:schemeClr val="tx2"/>
            </a:solidFill>
            <a:prstDash val="solid"/>
          </a:ln>
        </p:spPr>
      </p:sp>
      <p:sp>
        <p:nvSpPr>
          <p:cNvPr id="27" name="Shape 25"/>
          <p:cNvSpPr/>
          <p:nvPr/>
        </p:nvSpPr>
        <p:spPr>
          <a:xfrm flipH="1">
            <a:off x="9052560" y="2948940"/>
            <a:ext cx="320040" cy="0"/>
          </a:xfrm>
          <a:prstGeom prst="line">
            <a:avLst/>
          </a:prstGeom>
          <a:noFill/>
          <a:ln w="15875">
            <a:solidFill>
              <a:schemeClr val="tx2"/>
            </a:solidFill>
            <a:prstDash val="solid"/>
            <a:tailEnd type="triangle"/>
          </a:ln>
        </p:spPr>
      </p:sp>
      <p:sp>
        <p:nvSpPr>
          <p:cNvPr id="28" name="Shape 26"/>
          <p:cNvSpPr/>
          <p:nvPr/>
        </p:nvSpPr>
        <p:spPr>
          <a:xfrm flipH="1">
            <a:off x="9052560" y="3954780"/>
            <a:ext cx="320040" cy="0"/>
          </a:xfrm>
          <a:prstGeom prst="line">
            <a:avLst/>
          </a:prstGeom>
          <a:noFill/>
          <a:ln w="15875">
            <a:solidFill>
              <a:schemeClr val="tx2"/>
            </a:solidFill>
            <a:prstDash val="solid"/>
            <a:tailEnd type="triangle"/>
          </a:ln>
        </p:spPr>
      </p:sp>
      <p:sp>
        <p:nvSpPr>
          <p:cNvPr id="29" name="Shape 27"/>
          <p:cNvSpPr/>
          <p:nvPr/>
        </p:nvSpPr>
        <p:spPr>
          <a:xfrm>
            <a:off x="4023360" y="2994660"/>
            <a:ext cx="1920240" cy="685800"/>
          </a:xfrm>
          <a:prstGeom prst="roundRect">
            <a:avLst>
              <a:gd name="adj" fmla="val 13333"/>
            </a:avLst>
          </a:prstGeom>
          <a:solidFill>
            <a:schemeClr val="bg1"/>
          </a:solidFill>
          <a:ln w="9525">
            <a:solidFill>
              <a:srgbClr val="D5DEDB"/>
            </a:solidFill>
            <a:prstDash val="solid"/>
          </a:ln>
        </p:spPr>
      </p:sp>
      <p:sp>
        <p:nvSpPr>
          <p:cNvPr id="30" name="Text 28"/>
          <p:cNvSpPr txBox="1"/>
          <p:nvPr/>
        </p:nvSpPr>
        <p:spPr>
          <a:xfrm>
            <a:off x="4023360" y="299466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Book a time</a:t>
            </a:r>
            <a:endParaRPr lang="en-US" sz="1400" dirty="0"/>
          </a:p>
        </p:txBody>
      </p:sp>
      <p:sp>
        <p:nvSpPr>
          <p:cNvPr id="31" name="Shape 29"/>
          <p:cNvSpPr/>
          <p:nvPr/>
        </p:nvSpPr>
        <p:spPr>
          <a:xfrm flipH="1">
            <a:off x="6263640" y="2948940"/>
            <a:ext cx="320040" cy="0"/>
          </a:xfrm>
          <a:prstGeom prst="line">
            <a:avLst/>
          </a:prstGeom>
          <a:noFill/>
          <a:ln w="15875">
            <a:solidFill>
              <a:schemeClr val="tx2"/>
            </a:solidFill>
            <a:prstDash val="solid"/>
          </a:ln>
        </p:spPr>
      </p:sp>
      <p:sp>
        <p:nvSpPr>
          <p:cNvPr id="32" name="Shape 30"/>
          <p:cNvSpPr/>
          <p:nvPr/>
        </p:nvSpPr>
        <p:spPr>
          <a:xfrm flipH="1">
            <a:off x="6263640" y="3954780"/>
            <a:ext cx="320040" cy="0"/>
          </a:xfrm>
          <a:prstGeom prst="line">
            <a:avLst/>
          </a:prstGeom>
          <a:noFill/>
          <a:ln w="15875">
            <a:solidFill>
              <a:schemeClr val="tx2"/>
            </a:solidFill>
            <a:prstDash val="solid"/>
          </a:ln>
        </p:spPr>
      </p:sp>
      <p:sp>
        <p:nvSpPr>
          <p:cNvPr id="33" name="Shape 31"/>
          <p:cNvSpPr/>
          <p:nvPr/>
        </p:nvSpPr>
        <p:spPr>
          <a:xfrm>
            <a:off x="6263640" y="2948940"/>
            <a:ext cx="0" cy="1005840"/>
          </a:xfrm>
          <a:prstGeom prst="line">
            <a:avLst/>
          </a:prstGeom>
          <a:noFill/>
          <a:ln w="15875">
            <a:solidFill>
              <a:schemeClr val="tx2"/>
            </a:solidFill>
            <a:prstDash val="solid"/>
          </a:ln>
        </p:spPr>
      </p:sp>
      <p:sp>
        <p:nvSpPr>
          <p:cNvPr id="34" name="Shape 32"/>
          <p:cNvSpPr/>
          <p:nvPr/>
        </p:nvSpPr>
        <p:spPr>
          <a:xfrm flipH="1">
            <a:off x="5943600" y="3337560"/>
            <a:ext cx="320040" cy="0"/>
          </a:xfrm>
          <a:prstGeom prst="line">
            <a:avLst/>
          </a:prstGeom>
          <a:noFill/>
          <a:ln w="15875">
            <a:solidFill>
              <a:schemeClr val="tx2"/>
            </a:solidFill>
            <a:prstDash val="solid"/>
            <a:tailEnd type="triangle"/>
          </a:ln>
        </p:spPr>
      </p:sp>
      <p:sp>
        <p:nvSpPr>
          <p:cNvPr id="35" name="Shape 33"/>
          <p:cNvSpPr/>
          <p:nvPr/>
        </p:nvSpPr>
        <p:spPr>
          <a:xfrm>
            <a:off x="548640" y="2994660"/>
            <a:ext cx="2377440" cy="685800"/>
          </a:xfrm>
          <a:prstGeom prst="roundRect">
            <a:avLst>
              <a:gd name="adj" fmla="val 13333"/>
            </a:avLst>
          </a:prstGeom>
          <a:solidFill>
            <a:schemeClr val="accent1"/>
          </a:solidFill>
          <a:ln/>
        </p:spPr>
      </p:sp>
      <p:sp>
        <p:nvSpPr>
          <p:cNvPr id="36" name="Text 34"/>
          <p:cNvSpPr txBox="1"/>
          <p:nvPr/>
        </p:nvSpPr>
        <p:spPr>
          <a:xfrm>
            <a:off x="548640" y="2994660"/>
            <a:ext cx="2377440" cy="685800"/>
          </a:xfrm>
          <a:prstGeom prst="rect">
            <a:avLst/>
          </a:prstGeom>
          <a:noFill/>
          <a:ln/>
        </p:spPr>
        <p:txBody>
          <a:bodyPr wrap="square" lIns="635" tIns="635" rIns="635" bIns="635" rtlCol="0" anchor="ctr"/>
          <a:lstStyle/>
          <a:p>
            <a:pPr algn="ctr" indent="0" marL="0">
              <a:buNone/>
            </a:pPr>
            <a:r>
              <a:rPr lang="en-US" sz="1400" b="1" dirty="0">
                <a:solidFill>
                  <a:schemeClr val="bg1"/>
                </a:solidFill>
              </a:rPr>
              <a:t>Google Calendar</a:t>
            </a:r>
            <a:endParaRPr lang="en-US" sz="1400" dirty="0"/>
          </a:p>
          <a:p>
            <a:pPr algn="ctr" indent="0" marL="0">
              <a:buNone/>
            </a:pPr>
            <a:r>
              <a:rPr lang="en-US" sz="1100" dirty="0">
                <a:solidFill>
                  <a:schemeClr val="bg1"/>
                </a:solidFill>
              </a:rPr>
              <a:t>booking confirmed</a:t>
            </a:r>
            <a:endParaRPr lang="en-US" sz="1400" dirty="0"/>
          </a:p>
        </p:txBody>
      </p:sp>
      <p:sp>
        <p:nvSpPr>
          <p:cNvPr id="37" name="Shape 35"/>
          <p:cNvSpPr/>
          <p:nvPr/>
        </p:nvSpPr>
        <p:spPr>
          <a:xfrm>
            <a:off x="1737360" y="3680460"/>
            <a:ext cx="0" cy="297180"/>
          </a:xfrm>
          <a:prstGeom prst="line">
            <a:avLst/>
          </a:prstGeom>
          <a:noFill/>
          <a:ln w="15875">
            <a:solidFill>
              <a:schemeClr val="tx2"/>
            </a:solidFill>
            <a:prstDash val="solid"/>
            <a:tailEnd type="triangle"/>
          </a:ln>
        </p:spPr>
      </p:sp>
      <p:sp>
        <p:nvSpPr>
          <p:cNvPr id="38" name="Shape 36"/>
          <p:cNvSpPr/>
          <p:nvPr/>
        </p:nvSpPr>
        <p:spPr>
          <a:xfrm>
            <a:off x="548640" y="3977640"/>
            <a:ext cx="2377440" cy="566928"/>
          </a:xfrm>
          <a:prstGeom prst="roundRect">
            <a:avLst>
              <a:gd name="adj" fmla="val 16129"/>
            </a:avLst>
          </a:prstGeom>
          <a:solidFill>
            <a:schemeClr val="bg1"/>
          </a:solidFill>
          <a:ln w="9525">
            <a:solidFill>
              <a:srgbClr val="D5DEDB"/>
            </a:solidFill>
            <a:prstDash val="solid"/>
          </a:ln>
        </p:spPr>
      </p:sp>
      <p:sp>
        <p:nvSpPr>
          <p:cNvPr id="39" name="Text 37"/>
          <p:cNvSpPr txBox="1"/>
          <p:nvPr/>
        </p:nvSpPr>
        <p:spPr>
          <a:xfrm>
            <a:off x="548640" y="3977640"/>
            <a:ext cx="2377440" cy="566928"/>
          </a:xfrm>
          <a:prstGeom prst="rect">
            <a:avLst/>
          </a:prstGeom>
          <a:noFill/>
          <a:ln/>
        </p:spPr>
        <p:txBody>
          <a:bodyPr wrap="square" lIns="635" tIns="635" rIns="635" bIns="635" rtlCol="0" anchor="ctr"/>
          <a:lstStyle/>
          <a:p>
            <a:pPr algn="ctr" indent="0" marL="0">
              <a:buNone/>
            </a:pPr>
            <a:r>
              <a:rPr lang="en-US" sz="1400" b="1" dirty="0">
                <a:solidFill>
                  <a:schemeClr val="tx1"/>
                </a:solidFill>
              </a:rPr>
              <a:t>Visit done</a:t>
            </a:r>
            <a:endParaRPr lang="en-US" sz="1400" dirty="0"/>
          </a:p>
          <a:p>
            <a:pPr algn="ctr" indent="0" marL="0">
              <a:buNone/>
            </a:pPr>
            <a:r>
              <a:rPr lang="en-US" sz="1100" dirty="0">
                <a:solidFill>
                  <a:schemeClr val="tx2"/>
                </a:solidFill>
              </a:rPr>
              <a:t>marked by your receptionist</a:t>
            </a:r>
            <a:endParaRPr lang="en-US" sz="1400" dirty="0"/>
          </a:p>
        </p:txBody>
      </p:sp>
      <p:sp>
        <p:nvSpPr>
          <p:cNvPr id="40" name="Shape 38"/>
          <p:cNvSpPr/>
          <p:nvPr/>
        </p:nvSpPr>
        <p:spPr>
          <a:xfrm>
            <a:off x="1737360" y="4544568"/>
            <a:ext cx="0" cy="274320"/>
          </a:xfrm>
          <a:prstGeom prst="line">
            <a:avLst/>
          </a:prstGeom>
          <a:noFill/>
          <a:ln w="15875">
            <a:solidFill>
              <a:schemeClr val="tx2"/>
            </a:solidFill>
            <a:prstDash val="solid"/>
            <a:tailEnd type="triangle"/>
          </a:ln>
        </p:spPr>
      </p:sp>
      <p:sp>
        <p:nvSpPr>
          <p:cNvPr id="41" name="Shape 39"/>
          <p:cNvSpPr/>
          <p:nvPr/>
        </p:nvSpPr>
        <p:spPr>
          <a:xfrm>
            <a:off x="548640" y="4818888"/>
            <a:ext cx="2377440" cy="566928"/>
          </a:xfrm>
          <a:prstGeom prst="roundRect">
            <a:avLst>
              <a:gd name="adj" fmla="val 16129"/>
            </a:avLst>
          </a:prstGeom>
          <a:solidFill>
            <a:schemeClr val="bg1"/>
          </a:solidFill>
          <a:ln w="9525">
            <a:solidFill>
              <a:srgbClr val="D5DEDB"/>
            </a:solidFill>
            <a:prstDash val="solid"/>
          </a:ln>
        </p:spPr>
      </p:sp>
      <p:sp>
        <p:nvSpPr>
          <p:cNvPr id="42" name="Text 40"/>
          <p:cNvSpPr txBox="1"/>
          <p:nvPr/>
        </p:nvSpPr>
        <p:spPr>
          <a:xfrm>
            <a:off x="548640" y="4818888"/>
            <a:ext cx="2377440" cy="566928"/>
          </a:xfrm>
          <a:prstGeom prst="rect">
            <a:avLst/>
          </a:prstGeom>
          <a:noFill/>
          <a:ln/>
        </p:spPr>
        <p:txBody>
          <a:bodyPr wrap="square" lIns="635" tIns="635" rIns="635" bIns="635" rtlCol="0" anchor="ctr"/>
          <a:lstStyle/>
          <a:p>
            <a:pPr algn="ctr" indent="0" marL="0">
              <a:buNone/>
            </a:pPr>
            <a:r>
              <a:rPr lang="en-US" sz="1400" b="1" dirty="0">
                <a:solidFill>
                  <a:schemeClr val="tx1"/>
                </a:solidFill>
              </a:rPr>
              <a:t>Review request</a:t>
            </a:r>
            <a:endParaRPr lang="en-US" sz="1400" dirty="0"/>
          </a:p>
          <a:p>
            <a:pPr algn="ctr" indent="0" marL="0">
              <a:buNone/>
            </a:pPr>
            <a:r>
              <a:rPr lang="en-US" sz="1100" dirty="0">
                <a:solidFill>
                  <a:schemeClr val="tx2"/>
                </a:solidFill>
              </a:rPr>
              <a:t>sent after the visit</a:t>
            </a:r>
            <a:endParaRPr lang="en-US" sz="1400" dirty="0"/>
          </a:p>
        </p:txBody>
      </p:sp>
      <p:sp>
        <p:nvSpPr>
          <p:cNvPr id="43" name="Shape 41"/>
          <p:cNvSpPr/>
          <p:nvPr/>
        </p:nvSpPr>
        <p:spPr>
          <a:xfrm>
            <a:off x="1737360" y="5385816"/>
            <a:ext cx="0" cy="82296"/>
          </a:xfrm>
          <a:prstGeom prst="line">
            <a:avLst/>
          </a:prstGeom>
          <a:noFill/>
          <a:ln w="15875">
            <a:solidFill>
              <a:schemeClr val="tx2"/>
            </a:solidFill>
            <a:prstDash val="solid"/>
          </a:ln>
        </p:spPr>
      </p:sp>
      <p:sp>
        <p:nvSpPr>
          <p:cNvPr id="44" name="Shape 42"/>
          <p:cNvSpPr/>
          <p:nvPr/>
        </p:nvSpPr>
        <p:spPr>
          <a:xfrm>
            <a:off x="1120140" y="5468112"/>
            <a:ext cx="1234440" cy="0"/>
          </a:xfrm>
          <a:prstGeom prst="line">
            <a:avLst/>
          </a:prstGeom>
          <a:noFill/>
          <a:ln w="15875">
            <a:solidFill>
              <a:schemeClr val="tx2"/>
            </a:solidFill>
            <a:prstDash val="solid"/>
          </a:ln>
        </p:spPr>
      </p:sp>
      <p:sp>
        <p:nvSpPr>
          <p:cNvPr id="45" name="Shape 43"/>
          <p:cNvSpPr/>
          <p:nvPr/>
        </p:nvSpPr>
        <p:spPr>
          <a:xfrm>
            <a:off x="1120140" y="5468112"/>
            <a:ext cx="0" cy="128016"/>
          </a:xfrm>
          <a:prstGeom prst="line">
            <a:avLst/>
          </a:prstGeom>
          <a:noFill/>
          <a:ln w="15875">
            <a:solidFill>
              <a:schemeClr val="tx2"/>
            </a:solidFill>
            <a:prstDash val="solid"/>
            <a:tailEnd type="triangle"/>
          </a:ln>
        </p:spPr>
      </p:sp>
      <p:sp>
        <p:nvSpPr>
          <p:cNvPr id="46" name="Shape 44"/>
          <p:cNvSpPr/>
          <p:nvPr/>
        </p:nvSpPr>
        <p:spPr>
          <a:xfrm>
            <a:off x="2354580" y="5468112"/>
            <a:ext cx="0" cy="128016"/>
          </a:xfrm>
          <a:prstGeom prst="line">
            <a:avLst/>
          </a:prstGeom>
          <a:noFill/>
          <a:ln w="15875">
            <a:solidFill>
              <a:schemeClr val="tx2"/>
            </a:solidFill>
            <a:prstDash val="solid"/>
            <a:tailEnd type="triangle"/>
          </a:ln>
        </p:spPr>
      </p:sp>
      <p:sp>
        <p:nvSpPr>
          <p:cNvPr id="47" name="Shape 45"/>
          <p:cNvSpPr/>
          <p:nvPr/>
        </p:nvSpPr>
        <p:spPr>
          <a:xfrm>
            <a:off x="548640" y="5596128"/>
            <a:ext cx="1143000" cy="512064"/>
          </a:xfrm>
          <a:prstGeom prst="roundRect">
            <a:avLst>
              <a:gd name="adj" fmla="val 14286"/>
            </a:avLst>
          </a:prstGeom>
          <a:solidFill>
            <a:schemeClr val="accent1"/>
          </a:solidFill>
          <a:ln/>
        </p:spPr>
      </p:sp>
      <p:sp>
        <p:nvSpPr>
          <p:cNvPr id="48" name="Text 46"/>
          <p:cNvSpPr txBox="1"/>
          <p:nvPr/>
        </p:nvSpPr>
        <p:spPr>
          <a:xfrm>
            <a:off x="548640" y="5596128"/>
            <a:ext cx="1143000" cy="512064"/>
          </a:xfrm>
          <a:prstGeom prst="rect">
            <a:avLst/>
          </a:prstGeom>
          <a:noFill/>
          <a:ln/>
        </p:spPr>
        <p:txBody>
          <a:bodyPr wrap="square" lIns="381" tIns="381" rIns="381" bIns="381" rtlCol="0" anchor="ctr"/>
          <a:lstStyle/>
          <a:p>
            <a:pPr algn="ctr" indent="0" marL="0">
              <a:buNone/>
            </a:pPr>
            <a:r>
              <a:rPr lang="en-US" sz="1200" b="1" dirty="0">
                <a:solidFill>
                  <a:schemeClr val="bg1"/>
                </a:solidFill>
              </a:rPr>
              <a:t>Google review</a:t>
            </a:r>
            <a:endParaRPr lang="en-US" sz="1200" dirty="0"/>
          </a:p>
          <a:p>
            <a:pPr algn="ctr" indent="0" marL="0">
              <a:buNone/>
            </a:pPr>
            <a:r>
              <a:rPr lang="en-US" sz="1000" dirty="0">
                <a:solidFill>
                  <a:schemeClr val="bg1"/>
                </a:solidFill>
              </a:rPr>
              <a:t>4–5 stars</a:t>
            </a:r>
            <a:endParaRPr lang="en-US" sz="1200" dirty="0"/>
          </a:p>
        </p:txBody>
      </p:sp>
      <p:sp>
        <p:nvSpPr>
          <p:cNvPr id="49" name="Shape 47"/>
          <p:cNvSpPr/>
          <p:nvPr/>
        </p:nvSpPr>
        <p:spPr>
          <a:xfrm>
            <a:off x="1783080" y="5596128"/>
            <a:ext cx="1143000" cy="512064"/>
          </a:xfrm>
          <a:prstGeom prst="roundRect">
            <a:avLst>
              <a:gd name="adj" fmla="val 14286"/>
            </a:avLst>
          </a:prstGeom>
          <a:solidFill>
            <a:schemeClr val="bg1"/>
          </a:solidFill>
          <a:ln w="9525">
            <a:solidFill>
              <a:srgbClr val="D5DEDB"/>
            </a:solidFill>
            <a:prstDash val="solid"/>
          </a:ln>
        </p:spPr>
      </p:sp>
      <p:sp>
        <p:nvSpPr>
          <p:cNvPr id="50" name="Text 48"/>
          <p:cNvSpPr txBox="1"/>
          <p:nvPr/>
        </p:nvSpPr>
        <p:spPr>
          <a:xfrm>
            <a:off x="1783080" y="5596128"/>
            <a:ext cx="1143000" cy="512064"/>
          </a:xfrm>
          <a:prstGeom prst="rect">
            <a:avLst/>
          </a:prstGeom>
          <a:noFill/>
          <a:ln/>
        </p:spPr>
        <p:txBody>
          <a:bodyPr wrap="square" lIns="381" tIns="381" rIns="381" bIns="381" rtlCol="0" anchor="ctr"/>
          <a:lstStyle/>
          <a:p>
            <a:pPr algn="ctr" indent="0" marL="0">
              <a:buNone/>
            </a:pPr>
            <a:r>
              <a:rPr lang="en-US" sz="1200" b="1" dirty="0">
                <a:solidFill>
                  <a:schemeClr val="tx1"/>
                </a:solidFill>
              </a:rPr>
              <a:t>Your inbox</a:t>
            </a:r>
            <a:endParaRPr lang="en-US" sz="1200" dirty="0"/>
          </a:p>
          <a:p>
            <a:pPr algn="ctr" indent="0" marL="0">
              <a:buNone/>
            </a:pPr>
            <a:r>
              <a:rPr lang="en-US" sz="1000" dirty="0">
                <a:solidFill>
                  <a:schemeClr val="tx2"/>
                </a:solidFill>
              </a:rPr>
              <a:t>1–3 stars, private</a:t>
            </a:r>
            <a:endParaRPr lang="en-US" sz="1200" dirty="0"/>
          </a:p>
        </p:txBody>
      </p:sp>
      <p:sp>
        <p:nvSpPr>
          <p:cNvPr id="51" name="Shape 49"/>
          <p:cNvSpPr/>
          <p:nvPr/>
        </p:nvSpPr>
        <p:spPr>
          <a:xfrm flipH="1">
            <a:off x="2926080" y="3337560"/>
            <a:ext cx="1097280" cy="0"/>
          </a:xfrm>
          <a:prstGeom prst="line">
            <a:avLst/>
          </a:prstGeom>
          <a:noFill/>
          <a:ln w="15875">
            <a:solidFill>
              <a:schemeClr val="tx2"/>
            </a:solidFill>
            <a:prstDash val="solid"/>
            <a:tailEnd type="triangle"/>
          </a:ln>
        </p:spPr>
      </p:sp>
      <p:sp>
        <p:nvSpPr>
          <p:cNvPr id="52" name="Shape 50"/>
          <p:cNvSpPr/>
          <p:nvPr/>
        </p:nvSpPr>
        <p:spPr>
          <a:xfrm>
            <a:off x="4023360" y="4983480"/>
            <a:ext cx="1920240" cy="685800"/>
          </a:xfrm>
          <a:prstGeom prst="roundRect">
            <a:avLst>
              <a:gd name="adj" fmla="val 13333"/>
            </a:avLst>
          </a:prstGeom>
          <a:solidFill>
            <a:schemeClr val="bg1"/>
          </a:solidFill>
          <a:ln w="9525">
            <a:solidFill>
              <a:srgbClr val="D5DEDB"/>
            </a:solidFill>
            <a:prstDash val="solid"/>
          </a:ln>
        </p:spPr>
      </p:sp>
      <p:sp>
        <p:nvSpPr>
          <p:cNvPr id="53" name="Text 51"/>
          <p:cNvSpPr txBox="1"/>
          <p:nvPr/>
        </p:nvSpPr>
        <p:spPr>
          <a:xfrm>
            <a:off x="4023360" y="498348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Call list</a:t>
            </a:r>
            <a:endParaRPr lang="en-US" sz="1400" dirty="0"/>
          </a:p>
        </p:txBody>
      </p:sp>
      <p:sp>
        <p:nvSpPr>
          <p:cNvPr id="54" name="Shape 52"/>
          <p:cNvSpPr/>
          <p:nvPr/>
        </p:nvSpPr>
        <p:spPr>
          <a:xfrm>
            <a:off x="6583680" y="4983480"/>
            <a:ext cx="1920240" cy="685800"/>
          </a:xfrm>
          <a:prstGeom prst="roundRect">
            <a:avLst>
              <a:gd name="adj" fmla="val 13333"/>
            </a:avLst>
          </a:prstGeom>
          <a:solidFill>
            <a:schemeClr val="bg1"/>
          </a:solidFill>
          <a:ln w="9525">
            <a:solidFill>
              <a:srgbClr val="D5DEDB"/>
            </a:solidFill>
            <a:prstDash val="solid"/>
          </a:ln>
        </p:spPr>
      </p:sp>
      <p:sp>
        <p:nvSpPr>
          <p:cNvPr id="55" name="Text 53"/>
          <p:cNvSpPr txBox="1"/>
          <p:nvPr/>
        </p:nvSpPr>
        <p:spPr>
          <a:xfrm>
            <a:off x="6583680" y="498348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Receptionist calls</a:t>
            </a:r>
            <a:endParaRPr lang="en-US" sz="1400" dirty="0"/>
          </a:p>
        </p:txBody>
      </p:sp>
      <p:sp>
        <p:nvSpPr>
          <p:cNvPr id="56" name="Shape 54"/>
          <p:cNvSpPr/>
          <p:nvPr/>
        </p:nvSpPr>
        <p:spPr>
          <a:xfrm>
            <a:off x="9144000" y="4983480"/>
            <a:ext cx="1920240" cy="685800"/>
          </a:xfrm>
          <a:prstGeom prst="roundRect">
            <a:avLst>
              <a:gd name="adj" fmla="val 13333"/>
            </a:avLst>
          </a:prstGeom>
          <a:solidFill>
            <a:schemeClr val="bg1"/>
          </a:solidFill>
          <a:ln w="9525">
            <a:solidFill>
              <a:srgbClr val="D5DEDB"/>
            </a:solidFill>
            <a:prstDash val="solid"/>
          </a:ln>
        </p:spPr>
      </p:sp>
      <p:sp>
        <p:nvSpPr>
          <p:cNvPr id="57" name="Text 55"/>
          <p:cNvSpPr txBox="1"/>
          <p:nvPr/>
        </p:nvSpPr>
        <p:spPr>
          <a:xfrm>
            <a:off x="9144000" y="4983480"/>
            <a:ext cx="1920240" cy="685800"/>
          </a:xfrm>
          <a:prstGeom prst="rect">
            <a:avLst/>
          </a:prstGeom>
          <a:noFill/>
          <a:ln/>
        </p:spPr>
        <p:txBody>
          <a:bodyPr wrap="square" lIns="635" tIns="635" rIns="635" bIns="635" rtlCol="0" anchor="ctr"/>
          <a:lstStyle/>
          <a:p>
            <a:pPr algn="ctr" indent="0" marL="0">
              <a:buNone/>
            </a:pPr>
            <a:r>
              <a:rPr lang="en-US" sz="1400" b="1" dirty="0">
                <a:solidFill>
                  <a:schemeClr val="tx1"/>
                </a:solidFill>
              </a:rPr>
              <a:t>Update PMS</a:t>
            </a:r>
            <a:endParaRPr lang="en-US" sz="1400" dirty="0"/>
          </a:p>
        </p:txBody>
      </p:sp>
      <p:sp>
        <p:nvSpPr>
          <p:cNvPr id="58" name="Shape 56"/>
          <p:cNvSpPr/>
          <p:nvPr/>
        </p:nvSpPr>
        <p:spPr>
          <a:xfrm>
            <a:off x="5943600" y="5326380"/>
            <a:ext cx="640080" cy="0"/>
          </a:xfrm>
          <a:prstGeom prst="line">
            <a:avLst/>
          </a:prstGeom>
          <a:noFill/>
          <a:ln w="15875">
            <a:solidFill>
              <a:schemeClr val="tx2"/>
            </a:solidFill>
            <a:prstDash val="solid"/>
            <a:tailEnd type="triangle"/>
          </a:ln>
        </p:spPr>
      </p:sp>
      <p:sp>
        <p:nvSpPr>
          <p:cNvPr id="59" name="Shape 57"/>
          <p:cNvSpPr/>
          <p:nvPr/>
        </p:nvSpPr>
        <p:spPr>
          <a:xfrm>
            <a:off x="8503920" y="5326380"/>
            <a:ext cx="640080" cy="0"/>
          </a:xfrm>
          <a:prstGeom prst="line">
            <a:avLst/>
          </a:prstGeom>
          <a:noFill/>
          <a:ln w="15875">
            <a:solidFill>
              <a:schemeClr val="tx2"/>
            </a:solidFill>
            <a:prstDash val="solid"/>
            <a:tailEnd type="triangle"/>
          </a:ln>
        </p:spPr>
      </p:sp>
      <p:sp>
        <p:nvSpPr>
          <p:cNvPr id="60" name="Shape 58"/>
          <p:cNvSpPr/>
          <p:nvPr/>
        </p:nvSpPr>
        <p:spPr>
          <a:xfrm>
            <a:off x="4572000" y="3680460"/>
            <a:ext cx="0" cy="1303020"/>
          </a:xfrm>
          <a:prstGeom prst="line">
            <a:avLst/>
          </a:prstGeom>
          <a:noFill/>
          <a:ln w="15875">
            <a:solidFill>
              <a:schemeClr val="tx2"/>
            </a:solidFill>
            <a:prstDash val="solid"/>
            <a:tailEnd type="triangle"/>
          </a:ln>
        </p:spPr>
      </p:sp>
      <p:sp>
        <p:nvSpPr>
          <p:cNvPr id="61" name="Text 59"/>
          <p:cNvSpPr txBox="1"/>
          <p:nvPr/>
        </p:nvSpPr>
        <p:spPr>
          <a:xfrm>
            <a:off x="3200400" y="4206240"/>
            <a:ext cx="1280160" cy="274320"/>
          </a:xfrm>
          <a:prstGeom prst="rect">
            <a:avLst/>
          </a:prstGeom>
          <a:noFill/>
          <a:ln/>
        </p:spPr>
        <p:txBody>
          <a:bodyPr wrap="square" lIns="0" tIns="0" rIns="0" bIns="0" rtlCol="0" anchor="t"/>
          <a:lstStyle/>
          <a:p>
            <a:pPr algn="r" indent="0" marL="0">
              <a:buNone/>
            </a:pPr>
            <a:r>
              <a:rPr lang="en-US" sz="1100" dirty="0">
                <a:solidFill>
                  <a:schemeClr val="tx2"/>
                </a:solidFill>
              </a:rPr>
              <a:t>doesn't book</a:t>
            </a:r>
            <a:endParaRPr lang="en-US" sz="1100" dirty="0"/>
          </a:p>
        </p:txBody>
      </p:sp>
      <p:sp>
        <p:nvSpPr>
          <p:cNvPr id="62" name="Shape 60"/>
          <p:cNvSpPr/>
          <p:nvPr/>
        </p:nvSpPr>
        <p:spPr>
          <a:xfrm flipV="1">
            <a:off x="7543800" y="4663440"/>
            <a:ext cx="0" cy="320040"/>
          </a:xfrm>
          <a:prstGeom prst="line">
            <a:avLst/>
          </a:prstGeom>
          <a:noFill/>
          <a:ln w="15875">
            <a:solidFill>
              <a:schemeClr val="tx2"/>
            </a:solidFill>
            <a:prstDash val="solid"/>
          </a:ln>
        </p:spPr>
      </p:sp>
      <p:sp>
        <p:nvSpPr>
          <p:cNvPr id="63" name="Shape 61"/>
          <p:cNvSpPr/>
          <p:nvPr/>
        </p:nvSpPr>
        <p:spPr>
          <a:xfrm flipH="1">
            <a:off x="5486400" y="4663440"/>
            <a:ext cx="2057400" cy="0"/>
          </a:xfrm>
          <a:prstGeom prst="line">
            <a:avLst/>
          </a:prstGeom>
          <a:noFill/>
          <a:ln w="15875">
            <a:solidFill>
              <a:schemeClr val="tx2"/>
            </a:solidFill>
            <a:prstDash val="solid"/>
          </a:ln>
        </p:spPr>
      </p:sp>
      <p:sp>
        <p:nvSpPr>
          <p:cNvPr id="64" name="Shape 62"/>
          <p:cNvSpPr/>
          <p:nvPr/>
        </p:nvSpPr>
        <p:spPr>
          <a:xfrm flipV="1">
            <a:off x="5486400" y="3680460"/>
            <a:ext cx="0" cy="982980"/>
          </a:xfrm>
          <a:prstGeom prst="line">
            <a:avLst/>
          </a:prstGeom>
          <a:noFill/>
          <a:ln w="15875">
            <a:solidFill>
              <a:schemeClr val="tx2"/>
            </a:solidFill>
            <a:prstDash val="solid"/>
            <a:tailEnd type="triangle"/>
          </a:ln>
        </p:spPr>
      </p:sp>
      <p:sp>
        <p:nvSpPr>
          <p:cNvPr id="65" name="Text 63"/>
          <p:cNvSpPr txBox="1"/>
          <p:nvPr/>
        </p:nvSpPr>
        <p:spPr>
          <a:xfrm>
            <a:off x="5623560" y="4709160"/>
            <a:ext cx="1280160" cy="256032"/>
          </a:xfrm>
          <a:prstGeom prst="rect">
            <a:avLst/>
          </a:prstGeom>
          <a:noFill/>
          <a:ln/>
        </p:spPr>
        <p:txBody>
          <a:bodyPr wrap="square" lIns="0" tIns="0" rIns="0" bIns="0" rtlCol="0" anchor="t"/>
          <a:lstStyle/>
          <a:p>
            <a:pPr indent="0" marL="0">
              <a:buNone/>
            </a:pPr>
            <a:r>
              <a:rPr lang="en-US" sz="1100" b="1" dirty="0">
                <a:solidFill>
                  <a:schemeClr val="accent1"/>
                </a:solidFill>
              </a:rPr>
              <a:t>brought back</a:t>
            </a:r>
            <a:endParaRPr lang="en-US" sz="1100" dirty="0"/>
          </a:p>
        </p:txBody>
      </p:sp>
      <p:sp>
        <p:nvSpPr>
          <p:cNvPr id="25" name="Slide Number Placeholder 0"/>
          <p:cNvSpPr>
            <a:spLocks noGrp="1"/>
          </p:cNvSpPr>
          <p:nvPr>
            <p:ph type="sldNum" sz="quarter" idx="4294967295"/>
          </p:nvPr>
        </p:nvSpPr>
        <p:spPr>
          <a:xfrm>
            <a:off x="9509760" y="6355080"/>
            <a:ext cx="6400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548640" y="384048"/>
            <a:ext cx="11064240" cy="274320"/>
          </a:xfrm>
          <a:prstGeom prst="rect">
            <a:avLst/>
          </a:prstGeom>
          <a:noFill/>
          <a:ln/>
        </p:spPr>
        <p:txBody>
          <a:bodyPr wrap="square" lIns="0" tIns="0" rIns="0" bIns="0" rtlCol="0" anchor="t"/>
          <a:lstStyle/>
          <a:p>
            <a:pPr algn="l" indent="0" marL="0">
              <a:buNone/>
            </a:pPr>
            <a:r>
              <a:rPr lang="en-US" sz="1100" b="1" spc="150" kern="0" dirty="0">
                <a:solidFill>
                  <a:schemeClr val="accent1"/>
                </a:solidFill>
              </a:rPr>
              <a:t>HOW IT WORKS</a:t>
            </a:r>
            <a:endParaRPr lang="en-US" sz="1100" dirty="0"/>
          </a:p>
        </p:txBody>
      </p:sp>
      <p:sp>
        <p:nvSpPr>
          <p:cNvPr id="3" name="Text 2"/>
          <p:cNvSpPr/>
          <p:nvPr>
            <p:ph idx="104"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One system connects enquiry, booking, and follow-up</a:t>
            </a:r>
            <a:endParaRPr lang="en-US" sz="3000" dirty="0"/>
          </a:p>
        </p:txBody>
      </p:sp>
      <p:sp>
        <p:nvSpPr>
          <p:cNvPr id="4" name="system-0"/>
          <p:cNvSpPr/>
          <p:nvPr/>
        </p:nvSpPr>
        <p:spPr>
          <a:xfrm>
            <a:off x="548640" y="1600200"/>
            <a:ext cx="3566160" cy="3017520"/>
          </a:xfrm>
          <a:prstGeom prst="roundRect">
            <a:avLst>
              <a:gd name="adj" fmla="val 3636"/>
            </a:avLst>
          </a:prstGeom>
          <a:solidFill>
            <a:schemeClr val="bg1"/>
          </a:solidFill>
          <a:ln w="9525">
            <a:solidFill>
              <a:srgbClr val="D5DEDB"/>
            </a:solidFill>
            <a:prstDash val="solid"/>
          </a:ln>
        </p:spPr>
      </p:sp>
      <p:pic>
        <p:nvPicPr>
          <p:cNvPr id="5" name="Image 0" descr="preencoded.png">    </p:cNvPr>
          <p:cNvPicPr>
            <a:picLocks noChangeAspect="1"/>
          </p:cNvPicPr>
          <p:nvPr/>
        </p:nvPicPr>
        <p:blipFill>
          <a:blip r:embed="rId1"/>
          <a:stretch>
            <a:fillRect/>
          </a:stretch>
        </p:blipFill>
        <p:spPr>
          <a:xfrm>
            <a:off x="822960" y="1874520"/>
            <a:ext cx="365760" cy="365760"/>
          </a:xfrm>
          <a:prstGeom prst="rect">
            <a:avLst/>
          </a:prstGeom>
        </p:spPr>
      </p:pic>
      <p:sp>
        <p:nvSpPr>
          <p:cNvPr id="6" name="Text 3"/>
          <p:cNvSpPr txBox="1"/>
          <p:nvPr/>
        </p:nvSpPr>
        <p:spPr>
          <a:xfrm>
            <a:off x="1325880" y="187452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Enquiry</a:t>
            </a:r>
            <a:endParaRPr lang="en-US" sz="1800" dirty="0"/>
          </a:p>
        </p:txBody>
      </p:sp>
      <p:sp>
        <p:nvSpPr>
          <p:cNvPr id="7" name="Text 4"/>
          <p:cNvSpPr txBox="1"/>
          <p:nvPr/>
        </p:nvSpPr>
        <p:spPr>
          <a:xfrm>
            <a:off x="822960" y="2423160"/>
            <a:ext cx="310896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Answers only from information you approve</a:t>
            </a:r>
            <a:endParaRPr lang="en-US" sz="1300" dirty="0"/>
          </a:p>
          <a:p>
            <a:pPr marL="342900" indent="-342900">
              <a:spcAft>
                <a:spcPts val="800"/>
              </a:spcAft>
              <a:buSzPct val="100000"/>
              <a:buChar char="•"/>
            </a:pPr>
            <a:r>
              <a:rPr lang="en-US" sz="1300" dirty="0">
                <a:solidFill>
                  <a:schemeClr val="tx1"/>
                </a:solidFill>
              </a:rPr>
              <a:t>Name, phone, location and need from every enquiry</a:t>
            </a:r>
            <a:endParaRPr lang="en-US" sz="1300" dirty="0"/>
          </a:p>
          <a:p>
            <a:pPr marL="342900" indent="-342900">
              <a:spcAft>
                <a:spcPts val="800"/>
              </a:spcAft>
              <a:buSzPct val="100000"/>
              <a:buChar char="•"/>
            </a:pPr>
            <a:r>
              <a:rPr lang="en-US" sz="1300" dirty="0">
                <a:solidFill>
                  <a:schemeClr val="tx1"/>
                </a:solidFill>
              </a:rPr>
              <a:t>Anything unclear goes to your team, never guessed</a:t>
            </a:r>
            <a:endParaRPr lang="en-US" sz="1300" dirty="0"/>
          </a:p>
        </p:txBody>
      </p:sp>
      <p:sp>
        <p:nvSpPr>
          <p:cNvPr id="8" name="Shape 5"/>
          <p:cNvSpPr/>
          <p:nvPr/>
        </p:nvSpPr>
        <p:spPr>
          <a:xfrm>
            <a:off x="4114800" y="3108960"/>
            <a:ext cx="182880" cy="0"/>
          </a:xfrm>
          <a:prstGeom prst="line">
            <a:avLst/>
          </a:prstGeom>
          <a:noFill/>
          <a:ln w="15875">
            <a:solidFill>
              <a:schemeClr val="tx2"/>
            </a:solidFill>
            <a:prstDash val="solid"/>
            <a:tailEnd type="triangle"/>
          </a:ln>
        </p:spPr>
      </p:sp>
      <p:sp>
        <p:nvSpPr>
          <p:cNvPr id="9" name="system-1"/>
          <p:cNvSpPr/>
          <p:nvPr/>
        </p:nvSpPr>
        <p:spPr>
          <a:xfrm>
            <a:off x="4297680" y="1600200"/>
            <a:ext cx="3566160" cy="3017520"/>
          </a:xfrm>
          <a:prstGeom prst="roundRect">
            <a:avLst>
              <a:gd name="adj" fmla="val 3636"/>
            </a:avLst>
          </a:prstGeom>
          <a:solidFill>
            <a:schemeClr val="bg1"/>
          </a:solidFill>
          <a:ln w="9525">
            <a:solidFill>
              <a:srgbClr val="D5DEDB"/>
            </a:solidFill>
            <a:prstDash val="solid"/>
          </a:ln>
        </p:spPr>
      </p:sp>
      <p:pic>
        <p:nvPicPr>
          <p:cNvPr id="10" name="Image 1" descr="preencoded.png">    </p:cNvPr>
          <p:cNvPicPr>
            <a:picLocks noChangeAspect="1"/>
          </p:cNvPicPr>
          <p:nvPr/>
        </p:nvPicPr>
        <p:blipFill>
          <a:blip r:embed="rId2"/>
          <a:stretch>
            <a:fillRect/>
          </a:stretch>
        </p:blipFill>
        <p:spPr>
          <a:xfrm>
            <a:off x="4572000" y="1874520"/>
            <a:ext cx="365760" cy="365760"/>
          </a:xfrm>
          <a:prstGeom prst="rect">
            <a:avLst/>
          </a:prstGeom>
        </p:spPr>
      </p:pic>
      <p:sp>
        <p:nvSpPr>
          <p:cNvPr id="11" name="Text 7"/>
          <p:cNvSpPr txBox="1"/>
          <p:nvPr/>
        </p:nvSpPr>
        <p:spPr>
          <a:xfrm>
            <a:off x="5074920" y="187452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Booking</a:t>
            </a:r>
            <a:endParaRPr lang="en-US" sz="1800" dirty="0"/>
          </a:p>
        </p:txBody>
      </p:sp>
      <p:sp>
        <p:nvSpPr>
          <p:cNvPr id="12" name="Text 8"/>
          <p:cNvSpPr txBox="1"/>
          <p:nvPr/>
        </p:nvSpPr>
        <p:spPr>
          <a:xfrm>
            <a:off x="4572000" y="2423160"/>
            <a:ext cx="310896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Local patients to offline consultation</a:t>
            </a:r>
            <a:endParaRPr lang="en-US" sz="1300" dirty="0"/>
          </a:p>
          <a:p>
            <a:pPr marL="342900" indent="-342900">
              <a:spcAft>
                <a:spcPts val="800"/>
              </a:spcAft>
              <a:buSzPct val="100000"/>
              <a:buChar char="•"/>
            </a:pPr>
            <a:r>
              <a:rPr lang="en-US" sz="1300" dirty="0">
                <a:solidFill>
                  <a:schemeClr val="tx1"/>
                </a:solidFill>
              </a:rPr>
              <a:t>Other towns, such as Trichy, to video</a:t>
            </a:r>
            <a:endParaRPr lang="en-US" sz="1300" dirty="0"/>
          </a:p>
          <a:p>
            <a:pPr marL="342900" indent="-342900">
              <a:spcAft>
                <a:spcPts val="800"/>
              </a:spcAft>
              <a:buSzPct val="100000"/>
              <a:buChar char="•"/>
            </a:pPr>
            <a:r>
              <a:rPr lang="en-US" sz="1300" dirty="0">
                <a:solidFill>
                  <a:schemeClr val="tx1"/>
                </a:solidFill>
              </a:rPr>
              <a:t>Booked into Google Calendar, with reminders</a:t>
            </a:r>
            <a:endParaRPr lang="en-US" sz="1300" dirty="0"/>
          </a:p>
        </p:txBody>
      </p:sp>
      <p:sp>
        <p:nvSpPr>
          <p:cNvPr id="13" name="Shape 9"/>
          <p:cNvSpPr/>
          <p:nvPr/>
        </p:nvSpPr>
        <p:spPr>
          <a:xfrm>
            <a:off x="7863840" y="3108960"/>
            <a:ext cx="182880" cy="0"/>
          </a:xfrm>
          <a:prstGeom prst="line">
            <a:avLst/>
          </a:prstGeom>
          <a:noFill/>
          <a:ln w="15875">
            <a:solidFill>
              <a:schemeClr val="tx2"/>
            </a:solidFill>
            <a:prstDash val="solid"/>
            <a:tailEnd type="triangle"/>
          </a:ln>
        </p:spPr>
      </p:sp>
      <p:sp>
        <p:nvSpPr>
          <p:cNvPr id="14" name="system-2"/>
          <p:cNvSpPr/>
          <p:nvPr/>
        </p:nvSpPr>
        <p:spPr>
          <a:xfrm>
            <a:off x="8046720" y="1600200"/>
            <a:ext cx="3566160" cy="3017520"/>
          </a:xfrm>
          <a:prstGeom prst="roundRect">
            <a:avLst>
              <a:gd name="adj" fmla="val 3636"/>
            </a:avLst>
          </a:prstGeom>
          <a:solidFill>
            <a:schemeClr val="bg1"/>
          </a:solidFill>
          <a:ln w="9525">
            <a:solidFill>
              <a:srgbClr val="D5DEDB"/>
            </a:solidFill>
            <a:prstDash val="solid"/>
          </a:ln>
        </p:spPr>
      </p:sp>
      <p:pic>
        <p:nvPicPr>
          <p:cNvPr id="15" name="Image 2" descr="preencoded.png">    </p:cNvPr>
          <p:cNvPicPr>
            <a:picLocks noChangeAspect="1"/>
          </p:cNvPicPr>
          <p:nvPr/>
        </p:nvPicPr>
        <p:blipFill>
          <a:blip r:embed="rId3"/>
          <a:stretch>
            <a:fillRect/>
          </a:stretch>
        </p:blipFill>
        <p:spPr>
          <a:xfrm>
            <a:off x="8321040" y="1874520"/>
            <a:ext cx="365760" cy="365760"/>
          </a:xfrm>
          <a:prstGeom prst="rect">
            <a:avLst/>
          </a:prstGeom>
        </p:spPr>
      </p:pic>
      <p:sp>
        <p:nvSpPr>
          <p:cNvPr id="16" name="Text 11"/>
          <p:cNvSpPr txBox="1"/>
          <p:nvPr/>
        </p:nvSpPr>
        <p:spPr>
          <a:xfrm>
            <a:off x="8823960" y="187452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Follow-up</a:t>
            </a:r>
            <a:endParaRPr lang="en-US" sz="1800" dirty="0"/>
          </a:p>
        </p:txBody>
      </p:sp>
      <p:sp>
        <p:nvSpPr>
          <p:cNvPr id="17" name="Text 12"/>
          <p:cNvSpPr txBox="1"/>
          <p:nvPr/>
        </p:nvSpPr>
        <p:spPr>
          <a:xfrm>
            <a:off x="8321040" y="2423160"/>
            <a:ext cx="310896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Every non-booker on your receptionist's call list</a:t>
            </a:r>
            <a:endParaRPr lang="en-US" sz="1300" dirty="0"/>
          </a:p>
          <a:p>
            <a:pPr marL="342900" indent="-342900">
              <a:spcAft>
                <a:spcPts val="800"/>
              </a:spcAft>
              <a:buSzPct val="100000"/>
              <a:buChar char="•"/>
            </a:pPr>
            <a:r>
              <a:rPr lang="en-US" sz="1300" dirty="0">
                <a:solidFill>
                  <a:schemeClr val="tx1"/>
                </a:solidFill>
              </a:rPr>
              <a:t>Each call logged; patients brought back or closed</a:t>
            </a:r>
            <a:endParaRPr lang="en-US" sz="1300" dirty="0"/>
          </a:p>
          <a:p>
            <a:pPr marL="342900" indent="-342900">
              <a:spcAft>
                <a:spcPts val="800"/>
              </a:spcAft>
              <a:buSzPct val="100000"/>
              <a:buChar char="•"/>
            </a:pPr>
            <a:r>
              <a:rPr lang="en-US" sz="1300" dirty="0">
                <a:solidFill>
                  <a:schemeClr val="tx1"/>
                </a:solidFill>
              </a:rPr>
              <a:t>Your receptionist updates the PMS</a:t>
            </a:r>
            <a:endParaRPr lang="en-US" sz="1300" dirty="0"/>
          </a:p>
          <a:p>
            <a:pPr marL="342900" indent="-342900">
              <a:spcAft>
                <a:spcPts val="800"/>
              </a:spcAft>
              <a:buSzPct val="100000"/>
              <a:buChar char="•"/>
            </a:pPr>
            <a:r>
              <a:rPr lang="en-US" sz="1300" dirty="0">
                <a:solidFill>
                  <a:schemeClr val="tx1"/>
                </a:solidFill>
              </a:rPr>
              <a:t>After each visit, a review request: positive reviews go to Google, negative feedback to your inbox</a:t>
            </a:r>
            <a:endParaRPr lang="en-US" sz="1300" dirty="0"/>
          </a:p>
        </p:txBody>
      </p:sp>
      <p:sp>
        <p:nvSpPr>
          <p:cNvPr id="18" name="connects"/>
          <p:cNvSpPr/>
          <p:nvPr/>
        </p:nvSpPr>
        <p:spPr>
          <a:xfrm>
            <a:off x="548640" y="4754880"/>
            <a:ext cx="5468112" cy="1280160"/>
          </a:xfrm>
          <a:prstGeom prst="roundRect">
            <a:avLst>
              <a:gd name="adj" fmla="val 8571"/>
            </a:avLst>
          </a:prstGeom>
          <a:solidFill>
            <a:schemeClr val="accent4"/>
          </a:solidFill>
          <a:ln/>
        </p:spPr>
      </p:sp>
      <p:sp>
        <p:nvSpPr>
          <p:cNvPr id="19" name="Text 14"/>
          <p:cNvSpPr txBox="1"/>
          <p:nvPr/>
        </p:nvSpPr>
        <p:spPr>
          <a:xfrm>
            <a:off x="822960" y="4919472"/>
            <a:ext cx="45720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WORKS WITH</a:t>
            </a:r>
            <a:endParaRPr lang="en-US" sz="1100" dirty="0"/>
          </a:p>
        </p:txBody>
      </p:sp>
      <p:sp>
        <p:nvSpPr>
          <p:cNvPr id="20" name="Text 15"/>
          <p:cNvSpPr txBox="1"/>
          <p:nvPr/>
        </p:nvSpPr>
        <p:spPr>
          <a:xfrm>
            <a:off x="822960" y="5230368"/>
            <a:ext cx="4983480" cy="731520"/>
          </a:xfrm>
          <a:prstGeom prst="rect">
            <a:avLst/>
          </a:prstGeom>
          <a:noFill/>
          <a:ln/>
        </p:spPr>
        <p:txBody>
          <a:bodyPr wrap="square" lIns="0" tIns="0" rIns="0" bIns="0" rtlCol="0" anchor="t"/>
          <a:lstStyle/>
          <a:p>
            <a:pPr indent="0" marL="0">
              <a:buNone/>
            </a:pPr>
            <a:r>
              <a:rPr lang="en-US" sz="1300" dirty="0">
                <a:solidFill>
                  <a:schemeClr val="tx1"/>
                </a:solidFill>
              </a:rPr>
              <a:t>WhatsApp on your clinic's number, Google Calendar and your clinic PMS. Automatic PMS sync can be added if your PMS supports it.</a:t>
            </a:r>
            <a:endParaRPr lang="en-US" sz="1300" dirty="0"/>
          </a:p>
        </p:txBody>
      </p:sp>
      <p:sp>
        <p:nvSpPr>
          <p:cNvPr id="21" name="report"/>
          <p:cNvSpPr/>
          <p:nvPr/>
        </p:nvSpPr>
        <p:spPr>
          <a:xfrm>
            <a:off x="6172200" y="4754880"/>
            <a:ext cx="5468112" cy="1280160"/>
          </a:xfrm>
          <a:prstGeom prst="roundRect">
            <a:avLst>
              <a:gd name="adj" fmla="val 8571"/>
            </a:avLst>
          </a:prstGeom>
          <a:solidFill>
            <a:schemeClr val="accent4"/>
          </a:solidFill>
          <a:ln/>
        </p:spPr>
      </p:sp>
      <p:sp>
        <p:nvSpPr>
          <p:cNvPr id="22" name="Text 17"/>
          <p:cNvSpPr txBox="1"/>
          <p:nvPr/>
        </p:nvSpPr>
        <p:spPr>
          <a:xfrm>
            <a:off x="6446520" y="4919472"/>
            <a:ext cx="45720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MONTHLY REPORT</a:t>
            </a:r>
            <a:endParaRPr lang="en-US" sz="1100" dirty="0"/>
          </a:p>
        </p:txBody>
      </p:sp>
      <p:sp>
        <p:nvSpPr>
          <p:cNvPr id="23" name="Text 18"/>
          <p:cNvSpPr txBox="1"/>
          <p:nvPr/>
        </p:nvSpPr>
        <p:spPr>
          <a:xfrm>
            <a:off x="6446520" y="5230368"/>
            <a:ext cx="4983480" cy="731520"/>
          </a:xfrm>
          <a:prstGeom prst="rect">
            <a:avLst/>
          </a:prstGeom>
          <a:noFill/>
          <a:ln/>
        </p:spPr>
        <p:txBody>
          <a:bodyPr wrap="square" lIns="0" tIns="0" rIns="0" bIns="0" rtlCol="0" anchor="t"/>
          <a:lstStyle/>
          <a:p>
            <a:pPr indent="0" marL="0">
              <a:buNone/>
            </a:pPr>
            <a:r>
              <a:rPr lang="en-US" sz="1300" dirty="0">
                <a:solidFill>
                  <a:schemeClr val="tx1"/>
                </a:solidFill>
              </a:rPr>
              <a:t>Enquiries, bookings offline and by video, patients brought back and conversion, for each campaign.</a:t>
            </a:r>
            <a:endParaRPr lang="en-US" sz="1300" dirty="0"/>
          </a:p>
        </p:txBody>
      </p:sp>
      <p:sp>
        <p:nvSpPr>
          <p:cNvPr id="25" name="Slide Number Placeholder 0"/>
          <p:cNvSpPr>
            <a:spLocks noGrp="1"/>
          </p:cNvSpPr>
          <p:nvPr>
            <p:ph type="sldNum" sz="quarter" idx="4294967295"/>
          </p:nvPr>
        </p:nvSpPr>
        <p:spPr>
          <a:xfrm>
            <a:off x="9509760" y="6355080"/>
            <a:ext cx="6400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548640" y="384048"/>
            <a:ext cx="11064240" cy="274320"/>
          </a:xfrm>
          <a:prstGeom prst="rect">
            <a:avLst/>
          </a:prstGeom>
          <a:noFill/>
          <a:ln/>
        </p:spPr>
        <p:txBody>
          <a:bodyPr wrap="square" lIns="0" tIns="0" rIns="0" bIns="0" rtlCol="0" anchor="t"/>
          <a:lstStyle/>
          <a:p>
            <a:pPr algn="l" indent="0" marL="0">
              <a:buNone/>
            </a:pPr>
            <a:r>
              <a:rPr lang="en-US" sz="1100" b="1" spc="150" kern="0" dirty="0">
                <a:solidFill>
                  <a:schemeClr val="accent1"/>
                </a:solidFill>
              </a:rPr>
              <a:t>INVESTMENT</a:t>
            </a:r>
            <a:endParaRPr lang="en-US" sz="1100" dirty="0"/>
          </a:p>
        </p:txBody>
      </p:sp>
      <p:sp>
        <p:nvSpPr>
          <p:cNvPr id="3" name="Text 2"/>
          <p:cNvSpPr/>
          <p:nvPr>
            <p:ph idx="104"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Pilot pricing, for pilot customers only</a:t>
            </a:r>
            <a:endParaRPr lang="en-US" sz="3000" dirty="0"/>
          </a:p>
        </p:txBody>
      </p:sp>
      <p:sp>
        <p:nvSpPr>
          <p:cNvPr id="4" name="price-0"/>
          <p:cNvSpPr/>
          <p:nvPr/>
        </p:nvSpPr>
        <p:spPr>
          <a:xfrm>
            <a:off x="548640" y="1600200"/>
            <a:ext cx="5468112" cy="4160520"/>
          </a:xfrm>
          <a:prstGeom prst="roundRect">
            <a:avLst>
              <a:gd name="adj" fmla="val 2637"/>
            </a:avLst>
          </a:prstGeom>
          <a:solidFill>
            <a:schemeClr val="bg1"/>
          </a:solidFill>
          <a:ln w="9525">
            <a:solidFill>
              <a:srgbClr val="D5DEDB"/>
            </a:solidFill>
            <a:prstDash val="solid"/>
          </a:ln>
        </p:spPr>
      </p:sp>
      <p:sp>
        <p:nvSpPr>
          <p:cNvPr id="5" name="Text 3"/>
          <p:cNvSpPr txBox="1"/>
          <p:nvPr/>
        </p:nvSpPr>
        <p:spPr>
          <a:xfrm>
            <a:off x="914400" y="1828800"/>
            <a:ext cx="45720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ONE-TIME SETUP</a:t>
            </a:r>
            <a:endParaRPr lang="en-US" sz="1100" dirty="0"/>
          </a:p>
        </p:txBody>
      </p:sp>
      <p:sp>
        <p:nvSpPr>
          <p:cNvPr id="6" name="Text 4"/>
          <p:cNvSpPr txBox="1"/>
          <p:nvPr/>
        </p:nvSpPr>
        <p:spPr>
          <a:xfrm>
            <a:off x="914400" y="2103120"/>
            <a:ext cx="4754880" cy="731520"/>
          </a:xfrm>
          <a:prstGeom prst="rect">
            <a:avLst/>
          </a:prstGeom>
          <a:noFill/>
          <a:ln/>
        </p:spPr>
        <p:txBody>
          <a:bodyPr wrap="square" lIns="0" tIns="0" rIns="0" bIns="0" rtlCol="0" anchor="b"/>
          <a:lstStyle/>
          <a:p>
            <a:pPr indent="0" marL="0">
              <a:buNone/>
            </a:pPr>
            <a:r>
              <a:rPr lang="en-US" sz="4000" b="1" dirty="0">
                <a:solidFill>
                  <a:schemeClr val="tx1"/>
                </a:solidFill>
              </a:rPr>
              <a:t>₹5,000</a:t>
            </a:r>
            <a:pPr indent="0" marL="0">
              <a:buNone/>
            </a:pPr>
            <a:endParaRPr lang="en-US" sz="1400" dirty="0"/>
          </a:p>
        </p:txBody>
      </p:sp>
      <p:sp>
        <p:nvSpPr>
          <p:cNvPr id="7" name="Text 5"/>
          <p:cNvSpPr txBox="1"/>
          <p:nvPr/>
        </p:nvSpPr>
        <p:spPr>
          <a:xfrm>
            <a:off x="914400" y="2880360"/>
            <a:ext cx="4754880" cy="274320"/>
          </a:xfrm>
          <a:prstGeom prst="rect">
            <a:avLst/>
          </a:prstGeom>
          <a:noFill/>
          <a:ln/>
        </p:spPr>
        <p:txBody>
          <a:bodyPr wrap="square" lIns="0" tIns="0" rIns="0" bIns="0" rtlCol="0" anchor="t"/>
          <a:lstStyle/>
          <a:p>
            <a:pPr indent="0" marL="0">
              <a:buNone/>
            </a:pPr>
            <a:r>
              <a:rPr lang="en-US" sz="1200" b="1" dirty="0">
                <a:solidFill>
                  <a:schemeClr val="accent1"/>
                </a:solidFill>
              </a:rPr>
              <a:t>Standard ₹7,500 · you save ₹2,500</a:t>
            </a:r>
            <a:endParaRPr lang="en-US" sz="1200" dirty="0"/>
          </a:p>
        </p:txBody>
      </p:sp>
      <p:sp>
        <p:nvSpPr>
          <p:cNvPr id="8" name="Shape 6"/>
          <p:cNvSpPr/>
          <p:nvPr/>
        </p:nvSpPr>
        <p:spPr>
          <a:xfrm>
            <a:off x="914400" y="3291840"/>
            <a:ext cx="4736592" cy="0"/>
          </a:xfrm>
          <a:prstGeom prst="line">
            <a:avLst/>
          </a:prstGeom>
          <a:noFill/>
          <a:ln w="9525">
            <a:solidFill>
              <a:srgbClr val="D5DEDB"/>
            </a:solidFill>
            <a:prstDash val="solid"/>
          </a:ln>
        </p:spPr>
      </p:sp>
      <p:sp>
        <p:nvSpPr>
          <p:cNvPr id="9" name="Text 7"/>
          <p:cNvSpPr txBox="1"/>
          <p:nvPr/>
        </p:nvSpPr>
        <p:spPr>
          <a:xfrm>
            <a:off x="914400" y="3429000"/>
            <a:ext cx="4754880" cy="2423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Onboarding call to agree fees, timings and rules</a:t>
            </a:r>
            <a:endParaRPr lang="en-US" sz="1300" dirty="0"/>
          </a:p>
          <a:p>
            <a:pPr marL="342900" indent="-342900">
              <a:spcAft>
                <a:spcPts val="400"/>
              </a:spcAft>
              <a:buSzPct val="100000"/>
              <a:buChar char="•"/>
            </a:pPr>
            <a:r>
              <a:rPr lang="en-US" sz="1300" dirty="0">
                <a:solidFill>
                  <a:schemeClr val="tx1"/>
                </a:solidFill>
              </a:rPr>
              <a:t>Approved answers, written by us, signed off by you</a:t>
            </a:r>
            <a:endParaRPr lang="en-US" sz="1300" dirty="0"/>
          </a:p>
          <a:p>
            <a:pPr marL="342900" indent="-342900">
              <a:spcAft>
                <a:spcPts val="400"/>
              </a:spcAft>
              <a:buSzPct val="100000"/>
              <a:buChar char="•"/>
            </a:pPr>
            <a:r>
              <a:rPr lang="en-US" sz="1300" dirty="0">
                <a:solidFill>
                  <a:schemeClr val="tx1"/>
                </a:solidFill>
              </a:rPr>
              <a:t>WhatsApp enquiry flow: name, phone, location, need</a:t>
            </a:r>
            <a:endParaRPr lang="en-US" sz="1300" dirty="0"/>
          </a:p>
          <a:p>
            <a:pPr marL="342900" indent="-342900">
              <a:spcAft>
                <a:spcPts val="400"/>
              </a:spcAft>
              <a:buSzPct val="100000"/>
              <a:buChar char="•"/>
            </a:pPr>
            <a:r>
              <a:rPr lang="en-US" sz="1300" dirty="0">
                <a:solidFill>
                  <a:schemeClr val="tx1"/>
                </a:solidFill>
              </a:rPr>
              <a:t>Routing: local to offline, other towns to video</a:t>
            </a:r>
            <a:endParaRPr lang="en-US" sz="1300" dirty="0"/>
          </a:p>
          <a:p>
            <a:pPr marL="342900" indent="-342900">
              <a:spcAft>
                <a:spcPts val="400"/>
              </a:spcAft>
              <a:buSzPct val="100000"/>
              <a:buChar char="•"/>
            </a:pPr>
            <a:r>
              <a:rPr lang="en-US" sz="1300" dirty="0">
                <a:solidFill>
                  <a:schemeClr val="tx1"/>
                </a:solidFill>
              </a:rPr>
              <a:t>Booking into Google Calendar</a:t>
            </a:r>
            <a:endParaRPr lang="en-US" sz="1300" dirty="0"/>
          </a:p>
          <a:p>
            <a:pPr marL="342900" indent="-342900">
              <a:spcAft>
                <a:spcPts val="400"/>
              </a:spcAft>
              <a:buSzPct val="100000"/>
              <a:buChar char="•"/>
            </a:pPr>
            <a:r>
              <a:rPr lang="en-US" sz="1300" dirty="0">
                <a:solidFill>
                  <a:schemeClr val="tx1"/>
                </a:solidFill>
              </a:rPr>
              <a:t>Your WhatsApp number connected, replacing the Meta AI bot</a:t>
            </a:r>
            <a:endParaRPr lang="en-US" sz="1300" dirty="0"/>
          </a:p>
          <a:p>
            <a:pPr marL="342900" indent="-342900">
              <a:spcAft>
                <a:spcPts val="400"/>
              </a:spcAft>
              <a:buSzPct val="100000"/>
              <a:buChar char="•"/>
            </a:pPr>
            <a:r>
              <a:rPr lang="en-US" sz="1300" dirty="0">
                <a:solidFill>
                  <a:schemeClr val="tx1"/>
                </a:solidFill>
              </a:rPr>
              <a:t>Call list and staff chat for your receptionist</a:t>
            </a:r>
            <a:endParaRPr lang="en-US" sz="1300" dirty="0"/>
          </a:p>
          <a:p>
            <a:pPr marL="342900" indent="-342900">
              <a:spcAft>
                <a:spcPts val="400"/>
              </a:spcAft>
              <a:buSzPct val="100000"/>
              <a:buChar char="•"/>
            </a:pPr>
            <a:r>
              <a:rPr lang="en-US" sz="1300" dirty="0">
                <a:solidFill>
                  <a:schemeClr val="tx1"/>
                </a:solidFill>
              </a:rPr>
              <a:t>Receptionist training and end-to-end testing</a:t>
            </a:r>
            <a:endParaRPr lang="en-US" sz="1300" dirty="0"/>
          </a:p>
        </p:txBody>
      </p:sp>
      <p:sp>
        <p:nvSpPr>
          <p:cNvPr id="10" name="price-1"/>
          <p:cNvSpPr/>
          <p:nvPr/>
        </p:nvSpPr>
        <p:spPr>
          <a:xfrm>
            <a:off x="6172200" y="1600200"/>
            <a:ext cx="5468112" cy="4160520"/>
          </a:xfrm>
          <a:prstGeom prst="roundRect">
            <a:avLst>
              <a:gd name="adj" fmla="val 2637"/>
            </a:avLst>
          </a:prstGeom>
          <a:solidFill>
            <a:schemeClr val="tx1"/>
          </a:solidFill>
          <a:ln/>
        </p:spPr>
      </p:sp>
      <p:sp>
        <p:nvSpPr>
          <p:cNvPr id="11" name="Text 9"/>
          <p:cNvSpPr txBox="1"/>
          <p:nvPr/>
        </p:nvSpPr>
        <p:spPr>
          <a:xfrm>
            <a:off x="6537960" y="1828800"/>
            <a:ext cx="4572000" cy="274320"/>
          </a:xfrm>
          <a:prstGeom prst="rect">
            <a:avLst/>
          </a:prstGeom>
          <a:noFill/>
          <a:ln/>
        </p:spPr>
        <p:txBody>
          <a:bodyPr wrap="square" lIns="0" tIns="0" rIns="0" bIns="0" rtlCol="0" anchor="t"/>
          <a:lstStyle/>
          <a:p>
            <a:pPr indent="0" marL="0">
              <a:buNone/>
            </a:pPr>
            <a:r>
              <a:rPr lang="en-US" sz="1100" b="1" spc="150" kern="0" dirty="0">
                <a:solidFill>
                  <a:schemeClr val="accent2"/>
                </a:solidFill>
              </a:rPr>
              <a:t>MONTHLY FEE</a:t>
            </a:r>
            <a:endParaRPr lang="en-US" sz="1100" dirty="0"/>
          </a:p>
        </p:txBody>
      </p:sp>
      <p:sp>
        <p:nvSpPr>
          <p:cNvPr id="12" name="Text 10"/>
          <p:cNvSpPr txBox="1"/>
          <p:nvPr/>
        </p:nvSpPr>
        <p:spPr>
          <a:xfrm>
            <a:off x="6537960" y="2103120"/>
            <a:ext cx="4754880" cy="731520"/>
          </a:xfrm>
          <a:prstGeom prst="rect">
            <a:avLst/>
          </a:prstGeom>
          <a:noFill/>
          <a:ln/>
        </p:spPr>
        <p:txBody>
          <a:bodyPr wrap="square" lIns="0" tIns="0" rIns="0" bIns="0" rtlCol="0" anchor="b"/>
          <a:lstStyle/>
          <a:p>
            <a:pPr indent="0" marL="0">
              <a:buNone/>
            </a:pPr>
            <a:r>
              <a:rPr lang="en-US" sz="4000" b="1" dirty="0">
                <a:solidFill>
                  <a:schemeClr val="bg1"/>
                </a:solidFill>
              </a:rPr>
              <a:t>₹2,999</a:t>
            </a:r>
            <a:pPr indent="0" marL="0">
              <a:buNone/>
            </a:pPr>
            <a:r>
              <a:rPr lang="en-US" sz="1600" dirty="0">
                <a:solidFill>
                  <a:schemeClr val="accent2"/>
                </a:solidFill>
              </a:rPr>
              <a:t> a month</a:t>
            </a:r>
            <a:endParaRPr lang="en-US" sz="1400" dirty="0"/>
          </a:p>
        </p:txBody>
      </p:sp>
      <p:sp>
        <p:nvSpPr>
          <p:cNvPr id="13" name="Text 11"/>
          <p:cNvSpPr txBox="1"/>
          <p:nvPr/>
        </p:nvSpPr>
        <p:spPr>
          <a:xfrm>
            <a:off x="6537960" y="2880360"/>
            <a:ext cx="4754880" cy="274320"/>
          </a:xfrm>
          <a:prstGeom prst="rect">
            <a:avLst/>
          </a:prstGeom>
          <a:noFill/>
          <a:ln/>
        </p:spPr>
        <p:txBody>
          <a:bodyPr wrap="square" lIns="0" tIns="0" rIns="0" bIns="0" rtlCol="0" anchor="t"/>
          <a:lstStyle/>
          <a:p>
            <a:pPr indent="0" marL="0">
              <a:buNone/>
            </a:pPr>
            <a:r>
              <a:rPr lang="en-US" sz="1200" b="1" dirty="0">
                <a:solidFill>
                  <a:schemeClr val="accent2"/>
                </a:solidFill>
              </a:rPr>
              <a:t>Standard ₹4,999 · you save ₹2,000 a month</a:t>
            </a:r>
            <a:endParaRPr lang="en-US" sz="1200" dirty="0"/>
          </a:p>
        </p:txBody>
      </p:sp>
      <p:sp>
        <p:nvSpPr>
          <p:cNvPr id="14" name="Shape 12"/>
          <p:cNvSpPr/>
          <p:nvPr/>
        </p:nvSpPr>
        <p:spPr>
          <a:xfrm>
            <a:off x="6537960" y="3291840"/>
            <a:ext cx="4736592" cy="0"/>
          </a:xfrm>
          <a:prstGeom prst="line">
            <a:avLst/>
          </a:prstGeom>
          <a:noFill/>
          <a:ln w="9525">
            <a:solidFill>
              <a:srgbClr val="5B6B70"/>
            </a:solidFill>
            <a:prstDash val="solid"/>
          </a:ln>
        </p:spPr>
      </p:sp>
      <p:sp>
        <p:nvSpPr>
          <p:cNvPr id="15" name="Text 13"/>
          <p:cNvSpPr txBox="1"/>
          <p:nvPr/>
        </p:nvSpPr>
        <p:spPr>
          <a:xfrm>
            <a:off x="6537960" y="3429000"/>
            <a:ext cx="4754880" cy="24231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rPr>
              <a:t>Every enquiry answered, qualified and routed</a:t>
            </a:r>
            <a:endParaRPr lang="en-US" sz="1300" dirty="0"/>
          </a:p>
          <a:p>
            <a:pPr marL="342900" indent="-342900">
              <a:spcAft>
                <a:spcPts val="400"/>
              </a:spcAft>
              <a:buSzPct val="100000"/>
              <a:buChar char="•"/>
            </a:pPr>
            <a:r>
              <a:rPr lang="en-US" sz="1300" dirty="0">
                <a:solidFill>
                  <a:schemeClr val="bg1"/>
                </a:solidFill>
              </a:rPr>
              <a:t>Booking, with reminders before each visit</a:t>
            </a:r>
            <a:endParaRPr lang="en-US" sz="1300" dirty="0"/>
          </a:p>
          <a:p>
            <a:pPr marL="342900" indent="-342900">
              <a:spcAft>
                <a:spcPts val="400"/>
              </a:spcAft>
              <a:buSzPct val="100000"/>
              <a:buChar char="•"/>
            </a:pPr>
            <a:r>
              <a:rPr lang="en-US" sz="1300" dirty="0">
                <a:solidFill>
                  <a:schemeClr val="bg1"/>
                </a:solidFill>
              </a:rPr>
              <a:t>Call list until every non-booker is booked or closed</a:t>
            </a:r>
            <a:endParaRPr lang="en-US" sz="1300" dirty="0"/>
          </a:p>
          <a:p>
            <a:pPr marL="342900" indent="-342900">
              <a:spcAft>
                <a:spcPts val="400"/>
              </a:spcAft>
              <a:buSzPct val="100000"/>
              <a:buChar char="•"/>
            </a:pPr>
            <a:r>
              <a:rPr lang="en-US" sz="1300" dirty="0">
                <a:solidFill>
                  <a:schemeClr val="bg1"/>
                </a:solidFill>
              </a:rPr>
              <a:t>Monthly enquiry-to-appointment report</a:t>
            </a:r>
            <a:endParaRPr lang="en-US" sz="1300" dirty="0"/>
          </a:p>
          <a:p>
            <a:pPr marL="342900" indent="-342900">
              <a:spcAft>
                <a:spcPts val="400"/>
              </a:spcAft>
              <a:buSzPct val="100000"/>
              <a:buChar char="•"/>
            </a:pPr>
            <a:r>
              <a:rPr lang="en-US" sz="1300" dirty="0">
                <a:solidFill>
                  <a:schemeClr val="bg1"/>
                </a:solidFill>
              </a:rPr>
              <a:t>Answer updates when fees or timings change</a:t>
            </a:r>
            <a:endParaRPr lang="en-US" sz="1300" dirty="0"/>
          </a:p>
          <a:p>
            <a:pPr marL="342900" indent="-342900">
              <a:spcAft>
                <a:spcPts val="400"/>
              </a:spcAft>
              <a:buSzPct val="100000"/>
              <a:buChar char="•"/>
            </a:pPr>
            <a:r>
              <a:rPr lang="en-US" sz="1300" dirty="0">
                <a:solidFill>
                  <a:schemeClr val="bg1"/>
                </a:solidFill>
              </a:rPr>
              <a:t>Review requests after every visit</a:t>
            </a:r>
            <a:endParaRPr lang="en-US" sz="1300" dirty="0"/>
          </a:p>
          <a:p>
            <a:pPr marL="342900" indent="-342900">
              <a:spcAft>
                <a:spcPts val="400"/>
              </a:spcAft>
              <a:buSzPct val="100000"/>
              <a:buChar char="•"/>
            </a:pPr>
            <a:r>
              <a:rPr lang="en-US" sz="1300" dirty="0">
                <a:solidFill>
                  <a:schemeClr val="bg1"/>
                </a:solidFill>
              </a:rPr>
              <a:t>Hosting, monitoring and updates</a:t>
            </a:r>
            <a:endParaRPr lang="en-US" sz="1300" dirty="0"/>
          </a:p>
        </p:txBody>
      </p:sp>
      <p:sp>
        <p:nvSpPr>
          <p:cNvPr id="16" name="Text 14"/>
          <p:cNvSpPr txBox="1"/>
          <p:nvPr/>
        </p:nvSpPr>
        <p:spPr>
          <a:xfrm>
            <a:off x="548640" y="5870448"/>
            <a:ext cx="11064240" cy="256032"/>
          </a:xfrm>
          <a:prstGeom prst="rect">
            <a:avLst/>
          </a:prstGeom>
          <a:noFill/>
          <a:ln/>
        </p:spPr>
        <p:txBody>
          <a:bodyPr wrap="square" lIns="0" tIns="0" rIns="0" bIns="0" rtlCol="0" anchor="t"/>
          <a:lstStyle/>
          <a:p>
            <a:pPr indent="0" marL="0">
              <a:buNone/>
            </a:pPr>
            <a:r>
              <a:rPr lang="en-US" sz="1100" dirty="0">
                <a:solidFill>
                  <a:schemeClr val="tx2"/>
                </a:solidFill>
              </a:rPr>
              <a:t>Pilot pricing is offered only to pilot customers. Clinics that join after the pilot pay the standard price.</a:t>
            </a:r>
            <a:endParaRPr lang="en-US" sz="1100" dirty="0"/>
          </a:p>
        </p:txBody>
      </p:sp>
      <p:sp>
        <p:nvSpPr>
          <p:cNvPr id="25" name="Slide Number Placeholder 0"/>
          <p:cNvSpPr>
            <a:spLocks noGrp="1"/>
          </p:cNvSpPr>
          <p:nvPr>
            <p:ph type="sldNum" sz="quarter" idx="4294967295"/>
          </p:nvPr>
        </p:nvSpPr>
        <p:spPr>
          <a:xfrm>
            <a:off x="9509760" y="6355080"/>
            <a:ext cx="6400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548640" y="384048"/>
            <a:ext cx="11064240" cy="274320"/>
          </a:xfrm>
          <a:prstGeom prst="rect">
            <a:avLst/>
          </a:prstGeom>
          <a:noFill/>
          <a:ln/>
        </p:spPr>
        <p:txBody>
          <a:bodyPr wrap="square" lIns="0" tIns="0" rIns="0" bIns="0" rtlCol="0" anchor="t"/>
          <a:lstStyle/>
          <a:p>
            <a:pPr algn="l" indent="0" marL="0">
              <a:buNone/>
            </a:pPr>
            <a:r>
              <a:rPr lang="en-US" sz="1100" b="1" spc="150" kern="0" dirty="0">
                <a:solidFill>
                  <a:schemeClr val="accent1"/>
                </a:solidFill>
              </a:rPr>
              <a:t>BUSINESS CASE</a:t>
            </a:r>
            <a:endParaRPr lang="en-US" sz="1100" dirty="0"/>
          </a:p>
        </p:txBody>
      </p:sp>
      <p:sp>
        <p:nvSpPr>
          <p:cNvPr id="3" name="Text 2"/>
          <p:cNvSpPr/>
          <p:nvPr>
            <p:ph idx="104"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One patient brought back a month can cover the fee</a:t>
            </a:r>
            <a:endParaRPr lang="en-US" sz="3000" dirty="0"/>
          </a:p>
        </p:txBody>
      </p:sp>
      <p:sp>
        <p:nvSpPr>
          <p:cNvPr id="4" name="Text 2"/>
          <p:cNvSpPr txBox="1"/>
          <p:nvPr/>
        </p:nvSpPr>
        <p:spPr>
          <a:xfrm>
            <a:off x="548640" y="2286000"/>
            <a:ext cx="5577840" cy="1143000"/>
          </a:xfrm>
          <a:prstGeom prst="rect">
            <a:avLst/>
          </a:prstGeom>
          <a:noFill/>
          <a:ln/>
        </p:spPr>
        <p:txBody>
          <a:bodyPr wrap="square" lIns="0" tIns="0" rIns="0" bIns="0" rtlCol="0" anchor="t"/>
          <a:lstStyle/>
          <a:p>
            <a:pPr indent="0" marL="0">
              <a:buNone/>
            </a:pPr>
            <a:r>
              <a:rPr lang="en-US" sz="1400" b="1" dirty="0">
                <a:solidFill>
                  <a:schemeClr val="tx1"/>
                </a:solidFill>
              </a:rPr>
              <a:t>Value per patient</a:t>
            </a:r>
            <a:endParaRPr lang="en-US" sz="1400" dirty="0"/>
          </a:p>
          <a:p>
            <a:pPr indent="0" marL="0">
              <a:spcAft>
                <a:spcPts val="800"/>
              </a:spcAft>
              <a:buNone/>
            </a:pPr>
            <a:r>
              <a:rPr lang="en-US" sz="1400" dirty="0">
                <a:solidFill>
                  <a:schemeClr val="tx2"/>
                </a:solidFill>
              </a:rPr>
              <a:t>= consultation fee + (treatment rate × average treatment value)</a:t>
            </a:r>
            <a:endParaRPr lang="en-US" sz="1400" dirty="0"/>
          </a:p>
          <a:p>
            <a:pPr indent="0" marL="0">
              <a:buNone/>
            </a:pPr>
            <a:r>
              <a:rPr lang="en-US" sz="1400" b="1" dirty="0">
                <a:solidFill>
                  <a:schemeClr val="tx1"/>
                </a:solidFill>
              </a:rPr>
              <a:t>Revenue recovered each month</a:t>
            </a:r>
            <a:endParaRPr lang="en-US" sz="1400" dirty="0"/>
          </a:p>
          <a:p>
            <a:pPr indent="0" marL="0">
              <a:buNone/>
            </a:pPr>
            <a:r>
              <a:rPr lang="en-US" sz="1400" dirty="0">
                <a:solidFill>
                  <a:schemeClr val="tx2"/>
                </a:solidFill>
              </a:rPr>
              <a:t>= enquiries not booked × share brought back × value per patient</a:t>
            </a:r>
            <a:endParaRPr lang="en-US" sz="1400" dirty="0"/>
          </a:p>
        </p:txBody>
      </p:sp>
      <p:sp>
        <p:nvSpPr>
          <p:cNvPr id="5" name="illustrative-notice"/>
          <p:cNvSpPr/>
          <p:nvPr/>
        </p:nvSpPr>
        <p:spPr>
          <a:xfrm>
            <a:off x="548640" y="1463040"/>
            <a:ext cx="11091672" cy="640080"/>
          </a:xfrm>
          <a:prstGeom prst="roundRect">
            <a:avLst>
              <a:gd name="adj" fmla="val 14286"/>
            </a:avLst>
          </a:prstGeom>
          <a:solidFill>
            <a:schemeClr val="bg1"/>
          </a:solidFill>
          <a:ln w="15875">
            <a:solidFill>
              <a:schemeClr val="accent3"/>
            </a:solidFill>
            <a:prstDash val="solid"/>
          </a:ln>
        </p:spPr>
      </p:sp>
      <p:pic>
        <p:nvPicPr>
          <p:cNvPr id="6" name="Image 0" descr="preencoded.png">    </p:cNvPr>
          <p:cNvPicPr>
            <a:picLocks noChangeAspect="1"/>
          </p:cNvPicPr>
          <p:nvPr/>
        </p:nvPicPr>
        <p:blipFill>
          <a:blip r:embed="rId1"/>
          <a:stretch>
            <a:fillRect/>
          </a:stretch>
        </p:blipFill>
        <p:spPr>
          <a:xfrm>
            <a:off x="777240" y="1600200"/>
            <a:ext cx="365760" cy="365760"/>
          </a:xfrm>
          <a:prstGeom prst="rect">
            <a:avLst/>
          </a:prstGeom>
        </p:spPr>
      </p:pic>
      <p:sp>
        <p:nvSpPr>
          <p:cNvPr id="7" name="Text 4"/>
          <p:cNvSpPr txBox="1"/>
          <p:nvPr/>
        </p:nvSpPr>
        <p:spPr>
          <a:xfrm>
            <a:off x="1325880" y="1463040"/>
            <a:ext cx="10149840" cy="640080"/>
          </a:xfrm>
          <a:prstGeom prst="rect">
            <a:avLst/>
          </a:prstGeom>
          <a:noFill/>
          <a:ln/>
        </p:spPr>
        <p:txBody>
          <a:bodyPr wrap="square" lIns="0" tIns="0" rIns="0" bIns="0" rtlCol="0" anchor="ctr"/>
          <a:lstStyle/>
          <a:p>
            <a:pPr indent="0" marL="0">
              <a:buNone/>
            </a:pPr>
            <a:r>
              <a:rPr lang="en-US" sz="1400" b="1" dirty="0">
                <a:solidFill>
                  <a:schemeClr val="accent3"/>
                </a:solidFill>
              </a:rPr>
              <a:t>Illustrative scenario only.  </a:t>
            </a:r>
            <a:pPr indent="0" marL="0">
              <a:buNone/>
            </a:pPr>
            <a:r>
              <a:rPr lang="en-US" sz="1400" dirty="0">
                <a:solidFill>
                  <a:schemeClr val="tx1"/>
                </a:solidFill>
              </a:rPr>
              <a:t>Actual results depend on patient conversion, treatment uptake and average treatment value. These figures are not a revenue forecast.</a:t>
            </a:r>
            <a:endParaRPr lang="en-US" sz="1400" dirty="0"/>
          </a:p>
        </p:txBody>
      </p:sp>
      <p:sp>
        <p:nvSpPr>
          <p:cNvPr id="8" name="Shape 5"/>
          <p:cNvSpPr/>
          <p:nvPr/>
        </p:nvSpPr>
        <p:spPr>
          <a:xfrm>
            <a:off x="548640" y="3474720"/>
            <a:ext cx="1005840" cy="274320"/>
          </a:xfrm>
          <a:prstGeom prst="roundRect">
            <a:avLst>
              <a:gd name="adj" fmla="val 50000"/>
            </a:avLst>
          </a:prstGeom>
          <a:solidFill>
            <a:schemeClr val="bg1"/>
          </a:solidFill>
          <a:ln w="9525">
            <a:solidFill>
              <a:schemeClr val="accent3"/>
            </a:solidFill>
            <a:prstDash val="solid"/>
          </a:ln>
        </p:spPr>
      </p:sp>
      <p:sp>
        <p:nvSpPr>
          <p:cNvPr id="9" name="Text 6"/>
          <p:cNvSpPr txBox="1"/>
          <p:nvPr/>
        </p:nvSpPr>
        <p:spPr>
          <a:xfrm>
            <a:off x="548640" y="3474720"/>
            <a:ext cx="1005840" cy="274320"/>
          </a:xfrm>
          <a:prstGeom prst="rect">
            <a:avLst/>
          </a:prstGeom>
          <a:noFill/>
          <a:ln/>
        </p:spPr>
        <p:txBody>
          <a:bodyPr wrap="square" lIns="0" tIns="0" rIns="0" bIns="0" rtlCol="0" anchor="ctr"/>
          <a:lstStyle/>
          <a:p>
            <a:pPr algn="ctr" indent="0" marL="0">
              <a:buNone/>
            </a:pPr>
            <a:r>
              <a:rPr lang="en-US" sz="1000" dirty="0">
                <a:solidFill>
                  <a:schemeClr val="accent3"/>
                </a:solidFill>
                <a:latin typeface="Courier New" pitchFamily="34" charset="0"/>
                <a:ea typeface="Courier New" pitchFamily="34" charset="-122"/>
                <a:cs typeface="Courier New" pitchFamily="34" charset="-120"/>
              </a:rPr>
              <a:t>Example</a:t>
            </a:r>
            <a:endParaRPr lang="en-US" sz="1000" dirty="0"/>
          </a:p>
        </p:txBody>
      </p:sp>
      <p:sp>
        <p:nvSpPr>
          <p:cNvPr id="10" name="Text 7"/>
          <p:cNvSpPr txBox="1"/>
          <p:nvPr/>
        </p:nvSpPr>
        <p:spPr>
          <a:xfrm>
            <a:off x="1691640" y="3474720"/>
            <a:ext cx="4114800" cy="274320"/>
          </a:xfrm>
          <a:prstGeom prst="rect">
            <a:avLst/>
          </a:prstGeom>
          <a:noFill/>
          <a:ln/>
        </p:spPr>
        <p:txBody>
          <a:bodyPr wrap="square" lIns="0" tIns="0" rIns="0" bIns="0" rtlCol="0" anchor="ctr"/>
          <a:lstStyle/>
          <a:p>
            <a:pPr indent="0" marL="0">
              <a:buNone/>
            </a:pPr>
            <a:r>
              <a:rPr lang="en-US" sz="1200" dirty="0">
                <a:solidFill>
                  <a:schemeClr val="tx2"/>
                </a:solidFill>
              </a:rPr>
              <a:t>Replace with your clinic's numbers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5577840" cy="914400"/>
        </p:xfrm>
        <a:graphic>
          <a:graphicData uri="http://schemas.openxmlformats.org/drawingml/2006/table">
            <a:tbl>
              <a:tblPr/>
              <a:tblGrid>
                <a:gridCol w="3749040"/>
                <a:gridCol w="1828800"/>
              </a:tblGrid>
              <a:tr h="310896">
                <a:tc>
                  <a:txBody>
                    <a:bodyPr/>
                    <a:lstStyle/>
                    <a:p>
                      <a:pPr indent="0" marL="0">
                        <a:buNone/>
                      </a:pPr>
                      <a:r>
                        <a:rPr lang="en-US" sz="1300" dirty="0">
                          <a:solidFill>
                            <a:schemeClr val="tx1"/>
                          </a:solidFill>
                        </a:rPr>
                        <a:t>Enquiries a month</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100 (clinic)</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Enquiries that book today</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40%</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Consultation fee</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₹500</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Consultations that go on to treatment</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50%</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Average treatment value</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₹15,000</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Non-bookers brought back</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20%</a:t>
                      </a:r>
                      <a:endParaRPr lang="en-US" sz="1300" dirty="0"/>
                    </a:p>
                  </a:txBody>
                  <a:tcPr marL="109728" marR="109728" marT="45720" marB="45720">
                    <a:lnL w="0" cap="flat" cmpd="sng" algn="ctr">
                      <a:noFill/>
                    </a:lnL>
                    <a:lnR w="0" cap="flat" cmpd="sng" algn="ctr">
                      <a:noFill/>
                    </a:lnR>
                    <a:lnT w="0" cap="flat" cmpd="sng" algn="ctr">
                      <a:noFill/>
                    </a:lnT>
                    <a:lnB w="9525" cap="flat" cmpd="sng" algn="ctr">
                      <a:solidFill>
                        <a:srgbClr val="D5DEDB"/>
                      </a:solidFill>
                      <a:prstDash val="solid"/>
                      <a:round/>
                      <a:headEnd type="none" w="med" len="med"/>
                      <a:tailEnd type="none" w="med" len="med"/>
                    </a:lnB>
                    <a:solidFill>
                      <a:schemeClr val="bg1"/>
                    </a:solidFill>
                  </a:tcPr>
                </a:tc>
              </a:tr>
            </a:tbl>
          </a:graphicData>
        </a:graphic>
      </p:graphicFrame>
      <p:sp>
        <p:nvSpPr>
          <p:cNvPr id="12" name="tile-0"/>
          <p:cNvSpPr/>
          <p:nvPr/>
        </p:nvSpPr>
        <p:spPr>
          <a:xfrm>
            <a:off x="6583680" y="2286000"/>
            <a:ext cx="2423160" cy="1645920"/>
          </a:xfrm>
          <a:prstGeom prst="roundRect">
            <a:avLst>
              <a:gd name="adj" fmla="val 6667"/>
            </a:avLst>
          </a:prstGeom>
          <a:solidFill>
            <a:schemeClr val="bg1"/>
          </a:solidFill>
          <a:ln w="9525">
            <a:solidFill>
              <a:srgbClr val="D5DEDB"/>
            </a:solidFill>
            <a:prstDash val="solid"/>
          </a:ln>
        </p:spPr>
      </p:sp>
      <p:sp>
        <p:nvSpPr>
          <p:cNvPr id="13" name="Text 9"/>
          <p:cNvSpPr txBox="1"/>
          <p:nvPr/>
        </p:nvSpPr>
        <p:spPr>
          <a:xfrm>
            <a:off x="6812280" y="2450592"/>
            <a:ext cx="2011680" cy="640080"/>
          </a:xfrm>
          <a:prstGeom prst="rect">
            <a:avLst/>
          </a:prstGeom>
          <a:noFill/>
          <a:ln/>
        </p:spPr>
        <p:txBody>
          <a:bodyPr wrap="square" lIns="0" tIns="0" rIns="0" bIns="0" rtlCol="0" anchor="b"/>
          <a:lstStyle/>
          <a:p>
            <a:pPr indent="0" marL="0">
              <a:buNone/>
            </a:pPr>
            <a:r>
              <a:rPr lang="en-US" sz="3000" b="1" dirty="0">
                <a:solidFill>
                  <a:schemeClr val="tx1"/>
                </a:solidFill>
              </a:rPr>
              <a:t>60</a:t>
            </a:r>
            <a:endParaRPr lang="en-US" sz="3000" dirty="0"/>
          </a:p>
        </p:txBody>
      </p:sp>
      <p:sp>
        <p:nvSpPr>
          <p:cNvPr id="14" name="Text 10"/>
          <p:cNvSpPr txBox="1"/>
          <p:nvPr/>
        </p:nvSpPr>
        <p:spPr>
          <a:xfrm>
            <a:off x="6812280" y="3154680"/>
            <a:ext cx="2011680" cy="685800"/>
          </a:xfrm>
          <a:prstGeom prst="rect">
            <a:avLst/>
          </a:prstGeom>
          <a:noFill/>
          <a:ln/>
        </p:spPr>
        <p:txBody>
          <a:bodyPr wrap="square" lIns="0" tIns="0" rIns="0" bIns="0" rtlCol="0" anchor="t"/>
          <a:lstStyle/>
          <a:p>
            <a:pPr indent="0" marL="0">
              <a:buNone/>
            </a:pPr>
            <a:r>
              <a:rPr lang="en-US" sz="1200" dirty="0">
                <a:solidFill>
                  <a:schemeClr val="tx2"/>
                </a:solidFill>
              </a:rPr>
              <a:t>enquiries not booked a month</a:t>
            </a:r>
            <a:endParaRPr lang="en-US" sz="1200" dirty="0"/>
          </a:p>
        </p:txBody>
      </p:sp>
      <p:sp>
        <p:nvSpPr>
          <p:cNvPr id="15" name="tile-1"/>
          <p:cNvSpPr/>
          <p:nvPr/>
        </p:nvSpPr>
        <p:spPr>
          <a:xfrm>
            <a:off x="9144000" y="2286000"/>
            <a:ext cx="2423160" cy="1645920"/>
          </a:xfrm>
          <a:prstGeom prst="roundRect">
            <a:avLst>
              <a:gd name="adj" fmla="val 6667"/>
            </a:avLst>
          </a:prstGeom>
          <a:solidFill>
            <a:schemeClr val="bg1"/>
          </a:solidFill>
          <a:ln w="9525">
            <a:solidFill>
              <a:srgbClr val="D5DEDB"/>
            </a:solidFill>
            <a:prstDash val="solid"/>
          </a:ln>
        </p:spPr>
      </p:sp>
      <p:sp>
        <p:nvSpPr>
          <p:cNvPr id="16" name="Text 12"/>
          <p:cNvSpPr txBox="1"/>
          <p:nvPr/>
        </p:nvSpPr>
        <p:spPr>
          <a:xfrm>
            <a:off x="9372600" y="2450592"/>
            <a:ext cx="2011680" cy="640080"/>
          </a:xfrm>
          <a:prstGeom prst="rect">
            <a:avLst/>
          </a:prstGeom>
          <a:noFill/>
          <a:ln/>
        </p:spPr>
        <p:txBody>
          <a:bodyPr wrap="square" lIns="0" tIns="0" rIns="0" bIns="0" rtlCol="0" anchor="b"/>
          <a:lstStyle/>
          <a:p>
            <a:pPr indent="0" marL="0">
              <a:buNone/>
            </a:pPr>
            <a:r>
              <a:rPr lang="en-US" sz="3000" b="1" dirty="0">
                <a:solidFill>
                  <a:schemeClr val="tx1"/>
                </a:solidFill>
              </a:rPr>
              <a:t>₹8,000</a:t>
            </a:r>
            <a:endParaRPr lang="en-US" sz="3000" dirty="0"/>
          </a:p>
        </p:txBody>
      </p:sp>
      <p:sp>
        <p:nvSpPr>
          <p:cNvPr id="17" name="Text 13"/>
          <p:cNvSpPr txBox="1"/>
          <p:nvPr/>
        </p:nvSpPr>
        <p:spPr>
          <a:xfrm>
            <a:off x="9372600" y="3154680"/>
            <a:ext cx="2011680" cy="685800"/>
          </a:xfrm>
          <a:prstGeom prst="rect">
            <a:avLst/>
          </a:prstGeom>
          <a:noFill/>
          <a:ln/>
        </p:spPr>
        <p:txBody>
          <a:bodyPr wrap="square" lIns="0" tIns="0" rIns="0" bIns="0" rtlCol="0" anchor="t"/>
          <a:lstStyle/>
          <a:p>
            <a:pPr indent="0" marL="0">
              <a:buNone/>
            </a:pPr>
            <a:r>
              <a:rPr lang="en-US" sz="1200" dirty="0">
                <a:solidFill>
                  <a:schemeClr val="tx2"/>
                </a:solidFill>
              </a:rPr>
              <a:t>value of one booked patient</a:t>
            </a:r>
            <a:endParaRPr lang="en-US" sz="1200" dirty="0"/>
          </a:p>
        </p:txBody>
      </p:sp>
      <p:sp>
        <p:nvSpPr>
          <p:cNvPr id="18" name="tile-2"/>
          <p:cNvSpPr/>
          <p:nvPr/>
        </p:nvSpPr>
        <p:spPr>
          <a:xfrm>
            <a:off x="6583680" y="4096512"/>
            <a:ext cx="2423160" cy="1645920"/>
          </a:xfrm>
          <a:prstGeom prst="roundRect">
            <a:avLst>
              <a:gd name="adj" fmla="val 6667"/>
            </a:avLst>
          </a:prstGeom>
          <a:solidFill>
            <a:schemeClr val="bg1"/>
          </a:solidFill>
          <a:ln w="9525">
            <a:solidFill>
              <a:srgbClr val="D5DEDB"/>
            </a:solidFill>
            <a:prstDash val="solid"/>
          </a:ln>
        </p:spPr>
      </p:sp>
      <p:sp>
        <p:nvSpPr>
          <p:cNvPr id="19" name="Text 15"/>
          <p:cNvSpPr txBox="1"/>
          <p:nvPr/>
        </p:nvSpPr>
        <p:spPr>
          <a:xfrm>
            <a:off x="6812280" y="4261104"/>
            <a:ext cx="2011680" cy="640080"/>
          </a:xfrm>
          <a:prstGeom prst="rect">
            <a:avLst/>
          </a:prstGeom>
          <a:noFill/>
          <a:ln/>
        </p:spPr>
        <p:txBody>
          <a:bodyPr wrap="square" lIns="0" tIns="0" rIns="0" bIns="0" rtlCol="0" anchor="b"/>
          <a:lstStyle/>
          <a:p>
            <a:pPr indent="0" marL="0">
              <a:buNone/>
            </a:pPr>
            <a:r>
              <a:rPr lang="en-US" sz="3000" b="1" dirty="0">
                <a:solidFill>
                  <a:schemeClr val="tx1"/>
                </a:solidFill>
              </a:rPr>
              <a:t>₹96,000</a:t>
            </a:r>
            <a:endParaRPr lang="en-US" sz="3000" dirty="0"/>
          </a:p>
        </p:txBody>
      </p:sp>
      <p:sp>
        <p:nvSpPr>
          <p:cNvPr id="20" name="Text 16"/>
          <p:cNvSpPr txBox="1"/>
          <p:nvPr/>
        </p:nvSpPr>
        <p:spPr>
          <a:xfrm>
            <a:off x="6812280" y="4965192"/>
            <a:ext cx="2011680" cy="685800"/>
          </a:xfrm>
          <a:prstGeom prst="rect">
            <a:avLst/>
          </a:prstGeom>
          <a:noFill/>
          <a:ln/>
        </p:spPr>
        <p:txBody>
          <a:bodyPr wrap="square" lIns="0" tIns="0" rIns="0" bIns="0" rtlCol="0" anchor="t"/>
          <a:lstStyle/>
          <a:p>
            <a:pPr indent="0" marL="0">
              <a:buNone/>
            </a:pPr>
            <a:r>
              <a:rPr lang="en-US" sz="1200" dirty="0">
                <a:solidFill>
                  <a:schemeClr val="tx2"/>
                </a:solidFill>
              </a:rPr>
              <a:t>revenue recovered a month from 12 patients brought back</a:t>
            </a:r>
            <a:endParaRPr lang="en-US" sz="1200" dirty="0"/>
          </a:p>
        </p:txBody>
      </p:sp>
      <p:sp>
        <p:nvSpPr>
          <p:cNvPr id="21" name="tile-3"/>
          <p:cNvSpPr/>
          <p:nvPr/>
        </p:nvSpPr>
        <p:spPr>
          <a:xfrm>
            <a:off x="9144000" y="4096512"/>
            <a:ext cx="2423160" cy="1645920"/>
          </a:xfrm>
          <a:prstGeom prst="roundRect">
            <a:avLst>
              <a:gd name="adj" fmla="val 6667"/>
            </a:avLst>
          </a:prstGeom>
          <a:solidFill>
            <a:schemeClr val="accent1"/>
          </a:solidFill>
          <a:ln/>
        </p:spPr>
      </p:sp>
      <p:sp>
        <p:nvSpPr>
          <p:cNvPr id="22" name="Text 18"/>
          <p:cNvSpPr txBox="1"/>
          <p:nvPr/>
        </p:nvSpPr>
        <p:spPr>
          <a:xfrm>
            <a:off x="9372600" y="4261104"/>
            <a:ext cx="2011680" cy="640080"/>
          </a:xfrm>
          <a:prstGeom prst="rect">
            <a:avLst/>
          </a:prstGeom>
          <a:noFill/>
          <a:ln/>
        </p:spPr>
        <p:txBody>
          <a:bodyPr wrap="square" lIns="0" tIns="0" rIns="0" bIns="0" rtlCol="0" anchor="b"/>
          <a:lstStyle/>
          <a:p>
            <a:pPr indent="0" marL="0">
              <a:buNone/>
            </a:pPr>
            <a:r>
              <a:rPr lang="en-US" sz="3000" b="1" dirty="0">
                <a:solidFill>
                  <a:schemeClr val="bg1"/>
                </a:solidFill>
              </a:rPr>
              <a:t>1 patient</a:t>
            </a:r>
            <a:endParaRPr lang="en-US" sz="3000" dirty="0"/>
          </a:p>
        </p:txBody>
      </p:sp>
      <p:sp>
        <p:nvSpPr>
          <p:cNvPr id="23" name="Text 19"/>
          <p:cNvSpPr txBox="1"/>
          <p:nvPr/>
        </p:nvSpPr>
        <p:spPr>
          <a:xfrm>
            <a:off x="9372600" y="4965192"/>
            <a:ext cx="2011680" cy="685800"/>
          </a:xfrm>
          <a:prstGeom prst="rect">
            <a:avLst/>
          </a:prstGeom>
          <a:noFill/>
          <a:ln/>
        </p:spPr>
        <p:txBody>
          <a:bodyPr wrap="square" lIns="0" tIns="0" rIns="0" bIns="0" rtlCol="0" anchor="t"/>
          <a:lstStyle/>
          <a:p>
            <a:pPr indent="0" marL="0">
              <a:buNone/>
            </a:pPr>
            <a:r>
              <a:rPr lang="en-US" sz="1200" dirty="0">
                <a:solidFill>
                  <a:schemeClr val="bg1"/>
                </a:solidFill>
              </a:rPr>
              <a:t>a month covers the ₹2,999 fee</a:t>
            </a:r>
            <a:endParaRPr lang="en-US" sz="1200" dirty="0"/>
          </a:p>
        </p:txBody>
      </p:sp>
      <p:sp>
        <p:nvSpPr>
          <p:cNvPr id="25" name="Slide Number Placeholder 0"/>
          <p:cNvSpPr>
            <a:spLocks noGrp="1"/>
          </p:cNvSpPr>
          <p:nvPr>
            <p:ph type="sldNum" sz="quarter" idx="4294967295"/>
          </p:nvPr>
        </p:nvSpPr>
        <p:spPr>
          <a:xfrm>
            <a:off x="9509760" y="6355080"/>
            <a:ext cx="6400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548640" y="384048"/>
            <a:ext cx="11064240" cy="274320"/>
          </a:xfrm>
          <a:prstGeom prst="rect">
            <a:avLst/>
          </a:prstGeom>
          <a:noFill/>
          <a:ln/>
        </p:spPr>
        <p:txBody>
          <a:bodyPr wrap="square" lIns="0" tIns="0" rIns="0" bIns="0" rtlCol="0" anchor="t"/>
          <a:lstStyle/>
          <a:p>
            <a:pPr algn="l" indent="0" marL="0">
              <a:buNone/>
            </a:pPr>
            <a:r>
              <a:rPr lang="en-US" sz="1100" b="1" spc="150" kern="0" dirty="0">
                <a:solidFill>
                  <a:schemeClr val="accent1"/>
                </a:solidFill>
              </a:rPr>
              <a:t>SUPPORT AND SCOPE</a:t>
            </a:r>
            <a:endParaRPr lang="en-US" sz="1100" dirty="0"/>
          </a:p>
        </p:txBody>
      </p:sp>
      <p:sp>
        <p:nvSpPr>
          <p:cNvPr id="3" name="Text 2"/>
          <p:cNvSpPr/>
          <p:nvPr>
            <p:ph idx="104" type="title" hasCustomPrompt="1"/>
          </p:nvPr>
        </p:nvSpPr>
        <p:spPr>
          <a:xfrm>
            <a:off x="548640" y="685800"/>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Support is included; out-of-scope costs stay separate</a:t>
            </a:r>
            <a:endParaRPr lang="en-US" sz="3000" dirty="0"/>
          </a:p>
        </p:txBody>
      </p:sp>
      <p:sp>
        <p:nvSpPr>
          <p:cNvPr id="4" name="scope-0"/>
          <p:cNvSpPr/>
          <p:nvPr/>
        </p:nvSpPr>
        <p:spPr>
          <a:xfrm>
            <a:off x="548640" y="1600200"/>
            <a:ext cx="3566160" cy="3657600"/>
          </a:xfrm>
          <a:prstGeom prst="roundRect">
            <a:avLst>
              <a:gd name="adj" fmla="val 3077"/>
            </a:avLst>
          </a:prstGeom>
          <a:solidFill>
            <a:schemeClr val="bg1"/>
          </a:solidFill>
          <a:ln w="9525">
            <a:solidFill>
              <a:srgbClr val="D5DEDB"/>
            </a:solidFill>
            <a:prstDash val="solid"/>
          </a:ln>
        </p:spPr>
      </p:sp>
      <p:pic>
        <p:nvPicPr>
          <p:cNvPr id="5" name="Image 0" descr="preencoded.png">    </p:cNvPr>
          <p:cNvPicPr>
            <a:picLocks noChangeAspect="1"/>
          </p:cNvPicPr>
          <p:nvPr/>
        </p:nvPicPr>
        <p:blipFill>
          <a:blip r:embed="rId1"/>
          <a:stretch>
            <a:fillRect/>
          </a:stretch>
        </p:blipFill>
        <p:spPr>
          <a:xfrm>
            <a:off x="822960" y="1874520"/>
            <a:ext cx="347472" cy="347472"/>
          </a:xfrm>
          <a:prstGeom prst="rect">
            <a:avLst/>
          </a:prstGeom>
        </p:spPr>
      </p:pic>
      <p:sp>
        <p:nvSpPr>
          <p:cNvPr id="6" name="Text 3"/>
          <p:cNvSpPr txBox="1"/>
          <p:nvPr/>
        </p:nvSpPr>
        <p:spPr>
          <a:xfrm>
            <a:off x="822960" y="2377440"/>
            <a:ext cx="310896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SUPPORT INCLUDED</a:t>
            </a:r>
            <a:endParaRPr lang="en-US" sz="1100" dirty="0"/>
          </a:p>
        </p:txBody>
      </p:sp>
      <p:sp>
        <p:nvSpPr>
          <p:cNvPr id="7" name="Text 4"/>
          <p:cNvSpPr txBox="1"/>
          <p:nvPr/>
        </p:nvSpPr>
        <p:spPr>
          <a:xfrm>
            <a:off x="822960" y="2788920"/>
            <a:ext cx="3063240" cy="3063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Help on WhatsApp and phone for the doctor and receptionist</a:t>
            </a:r>
            <a:endParaRPr lang="en-US" sz="1300" dirty="0"/>
          </a:p>
          <a:p>
            <a:pPr marL="342900" indent="-342900">
              <a:spcAft>
                <a:spcPts val="800"/>
              </a:spcAft>
              <a:buSzPct val="100000"/>
              <a:buChar char="•"/>
            </a:pPr>
            <a:r>
              <a:rPr lang="en-US" sz="1300" dirty="0">
                <a:solidFill>
                  <a:schemeClr val="tx1"/>
                </a:solidFill>
              </a:rPr>
              <a:t>Problems investigated and fixed</a:t>
            </a:r>
            <a:endParaRPr lang="en-US" sz="1300" dirty="0"/>
          </a:p>
          <a:p>
            <a:pPr marL="342900" indent="-342900">
              <a:spcAft>
                <a:spcPts val="800"/>
              </a:spcAft>
              <a:buSzPct val="100000"/>
              <a:buChar char="•"/>
            </a:pPr>
            <a:r>
              <a:rPr lang="en-US" sz="1300" dirty="0">
                <a:solidFill>
                  <a:schemeClr val="tx1"/>
                </a:solidFill>
              </a:rPr>
              <a:t>New questions, answers or booking rules on request</a:t>
            </a:r>
            <a:endParaRPr lang="en-US" sz="1300" dirty="0"/>
          </a:p>
          <a:p>
            <a:pPr marL="342900" indent="-342900">
              <a:spcAft>
                <a:spcPts val="800"/>
              </a:spcAft>
              <a:buSzPct val="100000"/>
              <a:buChar char="•"/>
            </a:pPr>
            <a:r>
              <a:rPr lang="en-US" sz="1300" dirty="0">
                <a:solidFill>
                  <a:schemeClr val="tx1"/>
                </a:solidFill>
              </a:rPr>
              <a:t>A short monthly review of your report</a:t>
            </a:r>
            <a:endParaRPr lang="en-US" sz="1300" dirty="0"/>
          </a:p>
          <a:p>
            <a:pPr marL="342900" indent="-342900">
              <a:spcAft>
                <a:spcPts val="800"/>
              </a:spcAft>
              <a:buSzPct val="100000"/>
              <a:buChar char="•"/>
            </a:pPr>
            <a:r>
              <a:rPr lang="en-US" sz="1300" dirty="0">
                <a:solidFill>
                  <a:schemeClr val="tx1"/>
                </a:solidFill>
              </a:rPr>
              <a:t>Your feedback shapes how Patientcurve develops</a:t>
            </a:r>
            <a:endParaRPr lang="en-US" sz="1300" dirty="0"/>
          </a:p>
        </p:txBody>
      </p:sp>
      <p:sp>
        <p:nvSpPr>
          <p:cNvPr id="8" name="scope-1"/>
          <p:cNvSpPr/>
          <p:nvPr/>
        </p:nvSpPr>
        <p:spPr>
          <a:xfrm>
            <a:off x="4297680" y="1600200"/>
            <a:ext cx="3566160" cy="3657600"/>
          </a:xfrm>
          <a:prstGeom prst="roundRect">
            <a:avLst>
              <a:gd name="adj" fmla="val 3077"/>
            </a:avLst>
          </a:prstGeom>
          <a:solidFill>
            <a:schemeClr val="bg1"/>
          </a:solidFill>
          <a:ln w="9525">
            <a:solidFill>
              <a:srgbClr val="D5DEDB"/>
            </a:solidFill>
            <a:prstDash val="solid"/>
          </a:ln>
        </p:spPr>
      </p:sp>
      <p:pic>
        <p:nvPicPr>
          <p:cNvPr id="9" name="Image 1" descr="preencoded.png">    </p:cNvPr>
          <p:cNvPicPr>
            <a:picLocks noChangeAspect="1"/>
          </p:cNvPicPr>
          <p:nvPr/>
        </p:nvPicPr>
        <p:blipFill>
          <a:blip r:embed="rId2"/>
          <a:stretch>
            <a:fillRect/>
          </a:stretch>
        </p:blipFill>
        <p:spPr>
          <a:xfrm>
            <a:off x="4572000" y="1874520"/>
            <a:ext cx="347472" cy="347472"/>
          </a:xfrm>
          <a:prstGeom prst="rect">
            <a:avLst/>
          </a:prstGeom>
        </p:spPr>
      </p:pic>
      <p:sp>
        <p:nvSpPr>
          <p:cNvPr id="10" name="Text 6"/>
          <p:cNvSpPr txBox="1"/>
          <p:nvPr/>
        </p:nvSpPr>
        <p:spPr>
          <a:xfrm>
            <a:off x="4572000" y="2377440"/>
            <a:ext cx="310896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AGREED WITH YOU AT ONBOARDING</a:t>
            </a:r>
            <a:endParaRPr lang="en-US" sz="1100" dirty="0"/>
          </a:p>
        </p:txBody>
      </p:sp>
      <p:sp>
        <p:nvSpPr>
          <p:cNvPr id="11" name="Text 7"/>
          <p:cNvSpPr txBox="1"/>
          <p:nvPr/>
        </p:nvSpPr>
        <p:spPr>
          <a:xfrm>
            <a:off x="4572000" y="2788920"/>
            <a:ext cx="3063240" cy="3063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Consultation fees and timings, offline and video</a:t>
            </a:r>
            <a:endParaRPr lang="en-US" sz="1300" dirty="0"/>
          </a:p>
          <a:p>
            <a:pPr marL="342900" indent="-342900">
              <a:spcAft>
                <a:spcPts val="800"/>
              </a:spcAft>
              <a:buSzPct val="100000"/>
              <a:buChar char="•"/>
            </a:pPr>
            <a:r>
              <a:rPr lang="en-US" sz="1300" dirty="0">
                <a:solidFill>
                  <a:schemeClr val="tx1"/>
                </a:solidFill>
              </a:rPr>
              <a:t>Which towns count as local</a:t>
            </a:r>
            <a:endParaRPr lang="en-US" sz="1300" dirty="0"/>
          </a:p>
          <a:p>
            <a:pPr marL="342900" indent="-342900">
              <a:spcAft>
                <a:spcPts val="800"/>
              </a:spcAft>
              <a:buSzPct val="100000"/>
              <a:buChar char="•"/>
            </a:pPr>
            <a:r>
              <a:rPr lang="en-US" sz="1300" dirty="0">
                <a:solidFill>
                  <a:schemeClr val="tx1"/>
                </a:solidFill>
              </a:rPr>
              <a:t>Booking rules: days, hours, slot length, notice</a:t>
            </a:r>
            <a:endParaRPr lang="en-US" sz="1300" dirty="0"/>
          </a:p>
          <a:p>
            <a:pPr marL="342900" indent="-342900">
              <a:spcAft>
                <a:spcPts val="800"/>
              </a:spcAft>
              <a:buSzPct val="100000"/>
              <a:buChar char="•"/>
            </a:pPr>
            <a:r>
              <a:rPr lang="en-US" sz="1300" dirty="0">
                <a:solidFill>
                  <a:schemeClr val="tx1"/>
                </a:solidFill>
              </a:rPr>
              <a:t>Approved answers for the WhatsApp flow</a:t>
            </a:r>
            <a:endParaRPr lang="en-US" sz="1300" dirty="0"/>
          </a:p>
          <a:p>
            <a:pPr marL="342900" indent="-342900">
              <a:spcAft>
                <a:spcPts val="800"/>
              </a:spcAft>
              <a:buSzPct val="100000"/>
              <a:buChar char="•"/>
            </a:pPr>
            <a:r>
              <a:rPr lang="en-US" sz="1300" dirty="0">
                <a:solidFill>
                  <a:schemeClr val="tx1"/>
                </a:solidFill>
              </a:rPr>
              <a:t>How patients join video consultations</a:t>
            </a:r>
            <a:endParaRPr lang="en-US" sz="1300" dirty="0"/>
          </a:p>
        </p:txBody>
      </p:sp>
      <p:sp>
        <p:nvSpPr>
          <p:cNvPr id="12" name="scope-2"/>
          <p:cNvSpPr/>
          <p:nvPr/>
        </p:nvSpPr>
        <p:spPr>
          <a:xfrm>
            <a:off x="8046720" y="1600200"/>
            <a:ext cx="3566160" cy="3657600"/>
          </a:xfrm>
          <a:prstGeom prst="roundRect">
            <a:avLst>
              <a:gd name="adj" fmla="val 3077"/>
            </a:avLst>
          </a:prstGeom>
          <a:solidFill>
            <a:schemeClr val="accent4"/>
          </a:solidFill>
          <a:ln/>
        </p:spPr>
      </p:sp>
      <p:pic>
        <p:nvPicPr>
          <p:cNvPr id="13" name="Image 2" descr="preencoded.png">    </p:cNvPr>
          <p:cNvPicPr>
            <a:picLocks noChangeAspect="1"/>
          </p:cNvPicPr>
          <p:nvPr/>
        </p:nvPicPr>
        <p:blipFill>
          <a:blip r:embed="rId3"/>
          <a:stretch>
            <a:fillRect/>
          </a:stretch>
        </p:blipFill>
        <p:spPr>
          <a:xfrm>
            <a:off x="8321040" y="1874520"/>
            <a:ext cx="347472" cy="347472"/>
          </a:xfrm>
          <a:prstGeom prst="rect">
            <a:avLst/>
          </a:prstGeom>
        </p:spPr>
      </p:pic>
      <p:sp>
        <p:nvSpPr>
          <p:cNvPr id="14" name="Text 9"/>
          <p:cNvSpPr txBox="1"/>
          <p:nvPr/>
        </p:nvSpPr>
        <p:spPr>
          <a:xfrm>
            <a:off x="8321040" y="2377440"/>
            <a:ext cx="310896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NOT INCLUDED</a:t>
            </a:r>
            <a:endParaRPr lang="en-US" sz="1100" dirty="0"/>
          </a:p>
        </p:txBody>
      </p:sp>
      <p:sp>
        <p:nvSpPr>
          <p:cNvPr id="15" name="Text 10"/>
          <p:cNvSpPr txBox="1"/>
          <p:nvPr/>
        </p:nvSpPr>
        <p:spPr>
          <a:xfrm>
            <a:off x="8321040" y="2788920"/>
            <a:ext cx="3063240" cy="3063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WhatsApp message charges set by Meta</a:t>
            </a:r>
            <a:endParaRPr lang="en-US" sz="1300" dirty="0"/>
          </a:p>
          <a:p>
            <a:pPr marL="342900" indent="-342900">
              <a:spcAft>
                <a:spcPts val="800"/>
              </a:spcAft>
              <a:buSzPct val="100000"/>
              <a:buChar char="•"/>
            </a:pPr>
            <a:r>
              <a:rPr lang="en-US" sz="1300" dirty="0">
                <a:solidFill>
                  <a:schemeClr val="tx1"/>
                </a:solidFill>
              </a:rPr>
              <a:t>Automatic PMS sync, quoted separately if your PMS supports it</a:t>
            </a:r>
            <a:endParaRPr lang="en-US" sz="1300" dirty="0"/>
          </a:p>
          <a:p>
            <a:pPr marL="342900" indent="-342900">
              <a:spcAft>
                <a:spcPts val="800"/>
              </a:spcAft>
              <a:buSzPct val="100000"/>
              <a:buChar char="•"/>
            </a:pPr>
            <a:r>
              <a:rPr lang="en-US" sz="1300" dirty="0">
                <a:solidFill>
                  <a:schemeClr val="tx1"/>
                </a:solidFill>
              </a:rPr>
              <a:t>Running your ad campaigns</a:t>
            </a:r>
            <a:endParaRPr lang="en-US" sz="1300" dirty="0"/>
          </a:p>
        </p:txBody>
      </p:sp>
      <p:sp>
        <p:nvSpPr>
          <p:cNvPr id="25" name="Slide Number Placeholder 0"/>
          <p:cNvSpPr>
            <a:spLocks noGrp="1"/>
          </p:cNvSpPr>
          <p:nvPr>
            <p:ph type="sldNum" sz="quarter" idx="4294967295"/>
          </p:nvPr>
        </p:nvSpPr>
        <p:spPr>
          <a:xfrm>
            <a:off x="9509760" y="6355080"/>
            <a:ext cx="64008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731520" y="1737360"/>
            <a:ext cx="10698480" cy="1097280"/>
          </a:xfrm>
          <a:prstGeom prst="rect">
            <a:avLst/>
          </a:prstGeom>
          <a:noFill/>
          <a:ln/>
        </p:spPr>
        <p:txBody>
          <a:bodyPr wrap="square" lIns="0" tIns="0" rIns="0" bIns="0" rtlCol="0" anchor="t"/>
          <a:lstStyle/>
          <a:p>
            <a:pPr algn="l" indent="0" marL="0">
              <a:buNone/>
            </a:pPr>
            <a:r>
              <a:rPr lang="en-US" sz="3200" b="1" dirty="0">
                <a:solidFill>
                  <a:schemeClr val="bg1"/>
                </a:solidFill>
              </a:rPr>
              <a:t>Build a more consistent path from enquiry to care</a:t>
            </a:r>
            <a:endParaRPr lang="en-US" sz="3200" dirty="0"/>
          </a:p>
        </p:txBody>
      </p:sp>
      <p:pic>
        <p:nvPicPr>
          <p:cNvPr id="3" name="Image 0" descr="preencoded.png">    </p:cNvPr>
          <p:cNvPicPr>
            <a:picLocks noChangeAspect="1"/>
          </p:cNvPicPr>
          <p:nvPr/>
        </p:nvPicPr>
        <p:blipFill>
          <a:blip r:embed="rId1"/>
          <a:stretch>
            <a:fillRect/>
          </a:stretch>
        </p:blipFill>
        <p:spPr>
          <a:xfrm>
            <a:off x="731520" y="2944368"/>
            <a:ext cx="329184" cy="329184"/>
          </a:xfrm>
          <a:prstGeom prst="rect">
            <a:avLst/>
          </a:prstGeom>
        </p:spPr>
      </p:pic>
      <p:sp>
        <p:nvSpPr>
          <p:cNvPr id="4" name="Text 1"/>
          <p:cNvSpPr txBox="1"/>
          <p:nvPr/>
        </p:nvSpPr>
        <p:spPr>
          <a:xfrm>
            <a:off x="1234440" y="2926080"/>
            <a:ext cx="4754880" cy="731520"/>
          </a:xfrm>
          <a:prstGeom prst="rect">
            <a:avLst/>
          </a:prstGeom>
          <a:noFill/>
          <a:ln/>
        </p:spPr>
        <p:txBody>
          <a:bodyPr wrap="square" lIns="0" tIns="0" rIns="0" bIns="0" rtlCol="0" anchor="t"/>
          <a:lstStyle/>
          <a:p>
            <a:pPr indent="0" marL="0">
              <a:buNone/>
            </a:pPr>
            <a:r>
              <a:rPr lang="en-US" sz="1700" b="1" dirty="0">
                <a:solidFill>
                  <a:schemeClr val="accent2"/>
                </a:solidFill>
              </a:rPr>
              <a:t>More revenue: </a:t>
            </a:r>
            <a:pPr indent="0" marL="0">
              <a:buNone/>
            </a:pPr>
            <a:r>
              <a:rPr lang="en-US" sz="1700" dirty="0">
                <a:solidFill>
                  <a:schemeClr val="bg1"/>
                </a:solidFill>
              </a:rPr>
              <a:t>more enquiries turn into appointments.</a:t>
            </a:r>
            <a:endParaRPr lang="en-US" sz="1700" dirty="0"/>
          </a:p>
        </p:txBody>
      </p:sp>
      <p:pic>
        <p:nvPicPr>
          <p:cNvPr id="5" name="Image 1" descr="preencoded.png">    </p:cNvPr>
          <p:cNvPicPr>
            <a:picLocks noChangeAspect="1"/>
          </p:cNvPicPr>
          <p:nvPr/>
        </p:nvPicPr>
        <p:blipFill>
          <a:blip r:embed="rId2"/>
          <a:stretch>
            <a:fillRect/>
          </a:stretch>
        </p:blipFill>
        <p:spPr>
          <a:xfrm>
            <a:off x="6217920" y="2944368"/>
            <a:ext cx="329184" cy="329184"/>
          </a:xfrm>
          <a:prstGeom prst="rect">
            <a:avLst/>
          </a:prstGeom>
        </p:spPr>
      </p:pic>
      <p:sp>
        <p:nvSpPr>
          <p:cNvPr id="6" name="Text 2"/>
          <p:cNvSpPr txBox="1"/>
          <p:nvPr/>
        </p:nvSpPr>
        <p:spPr>
          <a:xfrm>
            <a:off x="6720840" y="2926080"/>
            <a:ext cx="4754880" cy="731520"/>
          </a:xfrm>
          <a:prstGeom prst="rect">
            <a:avLst/>
          </a:prstGeom>
          <a:noFill/>
          <a:ln/>
        </p:spPr>
        <p:txBody>
          <a:bodyPr wrap="square" lIns="0" tIns="0" rIns="0" bIns="0" rtlCol="0" anchor="t"/>
          <a:lstStyle/>
          <a:p>
            <a:pPr indent="0" marL="0">
              <a:buNone/>
            </a:pPr>
            <a:r>
              <a:rPr lang="en-US" sz="1700" b="1" dirty="0">
                <a:solidFill>
                  <a:schemeClr val="accent2"/>
                </a:solidFill>
              </a:rPr>
              <a:t>More reviews: </a:t>
            </a:r>
            <a:pPr indent="0" marL="0">
              <a:buNone/>
            </a:pPr>
            <a:r>
              <a:rPr lang="en-US" sz="1700" dirty="0">
                <a:solidFill>
                  <a:schemeClr val="bg1"/>
                </a:solidFill>
              </a:rPr>
              <a:t>positive reviews land on Google; negative feedback lands in your inbox.</a:t>
            </a:r>
            <a:endParaRPr lang="en-US" sz="1700" dirty="0"/>
          </a:p>
        </p:txBody>
      </p:sp>
      <p:pic>
        <p:nvPicPr>
          <p:cNvPr id="7" name="Image 2" descr="preencoded.png">    </p:cNvPr>
          <p:cNvPicPr>
            <a:picLocks noChangeAspect="1"/>
          </p:cNvPicPr>
          <p:nvPr/>
        </p:nvPicPr>
        <p:blipFill>
          <a:blip r:embed="rId3"/>
          <a:stretch>
            <a:fillRect/>
          </a:stretch>
        </p:blipFill>
        <p:spPr>
          <a:xfrm>
            <a:off x="731520" y="3749040"/>
            <a:ext cx="329184" cy="329184"/>
          </a:xfrm>
          <a:prstGeom prst="rect">
            <a:avLst/>
          </a:prstGeom>
        </p:spPr>
      </p:pic>
      <p:sp>
        <p:nvSpPr>
          <p:cNvPr id="8" name="Text 3"/>
          <p:cNvSpPr txBox="1"/>
          <p:nvPr/>
        </p:nvSpPr>
        <p:spPr>
          <a:xfrm>
            <a:off x="1234440" y="3730752"/>
            <a:ext cx="4754880" cy="731520"/>
          </a:xfrm>
          <a:prstGeom prst="rect">
            <a:avLst/>
          </a:prstGeom>
          <a:noFill/>
          <a:ln/>
        </p:spPr>
        <p:txBody>
          <a:bodyPr wrap="square" lIns="0" tIns="0" rIns="0" bIns="0" rtlCol="0" anchor="t"/>
          <a:lstStyle/>
          <a:p>
            <a:pPr indent="0" marL="0">
              <a:buNone/>
            </a:pPr>
            <a:pPr indent="0" marL="0">
              <a:buNone/>
            </a:pPr>
            <a:r>
              <a:rPr lang="en-US" sz="1700" dirty="0">
                <a:solidFill>
                  <a:schemeClr val="bg1"/>
                </a:solidFill>
              </a:rPr>
              <a:t>More consistent patient follow-ups.</a:t>
            </a:r>
            <a:endParaRPr lang="en-US" sz="1700" dirty="0"/>
          </a:p>
        </p:txBody>
      </p:sp>
      <p:pic>
        <p:nvPicPr>
          <p:cNvPr id="9" name="Image 3" descr="preencoded.png">    </p:cNvPr>
          <p:cNvPicPr>
            <a:picLocks noChangeAspect="1"/>
          </p:cNvPicPr>
          <p:nvPr/>
        </p:nvPicPr>
        <p:blipFill>
          <a:blip r:embed="rId4"/>
          <a:stretch>
            <a:fillRect/>
          </a:stretch>
        </p:blipFill>
        <p:spPr>
          <a:xfrm>
            <a:off x="6217920" y="3749040"/>
            <a:ext cx="329184" cy="329184"/>
          </a:xfrm>
          <a:prstGeom prst="rect">
            <a:avLst/>
          </a:prstGeom>
        </p:spPr>
      </p:pic>
      <p:sp>
        <p:nvSpPr>
          <p:cNvPr id="10" name="Text 4"/>
          <p:cNvSpPr txBox="1"/>
          <p:nvPr/>
        </p:nvSpPr>
        <p:spPr>
          <a:xfrm>
            <a:off x="6720840" y="3730752"/>
            <a:ext cx="4754880" cy="731520"/>
          </a:xfrm>
          <a:prstGeom prst="rect">
            <a:avLst/>
          </a:prstGeom>
          <a:noFill/>
          <a:ln/>
        </p:spPr>
        <p:txBody>
          <a:bodyPr wrap="square" lIns="0" tIns="0" rIns="0" bIns="0" rtlCol="0" anchor="t"/>
          <a:lstStyle/>
          <a:p>
            <a:pPr indent="0" marL="0">
              <a:buNone/>
            </a:pPr>
            <a:pPr indent="0" marL="0">
              <a:buNone/>
            </a:pPr>
            <a:r>
              <a:rPr lang="en-US" sz="1700" dirty="0">
                <a:solidFill>
                  <a:schemeClr val="bg1"/>
                </a:solidFill>
              </a:rPr>
              <a:t>Fewer missed booking opportunities.</a:t>
            </a:r>
            <a:endParaRPr lang="en-US" sz="1700" dirty="0"/>
          </a:p>
        </p:txBody>
      </p:sp>
      <p:pic>
        <p:nvPicPr>
          <p:cNvPr id="11" name="Image 4" descr="preencoded.png">    </p:cNvPr>
          <p:cNvPicPr>
            <a:picLocks noChangeAspect="1"/>
          </p:cNvPicPr>
          <p:nvPr/>
        </p:nvPicPr>
        <p:blipFill>
          <a:blip r:embed="rId5"/>
          <a:stretch>
            <a:fillRect/>
          </a:stretch>
        </p:blipFill>
        <p:spPr>
          <a:xfrm>
            <a:off x="731520" y="4553712"/>
            <a:ext cx="329184" cy="329184"/>
          </a:xfrm>
          <a:prstGeom prst="rect">
            <a:avLst/>
          </a:prstGeom>
        </p:spPr>
      </p:pic>
      <p:sp>
        <p:nvSpPr>
          <p:cNvPr id="12" name="Text 5"/>
          <p:cNvSpPr txBox="1"/>
          <p:nvPr/>
        </p:nvSpPr>
        <p:spPr>
          <a:xfrm>
            <a:off x="1234440" y="4535424"/>
            <a:ext cx="4754880" cy="731520"/>
          </a:xfrm>
          <a:prstGeom prst="rect">
            <a:avLst/>
          </a:prstGeom>
          <a:noFill/>
          <a:ln/>
        </p:spPr>
        <p:txBody>
          <a:bodyPr wrap="square" lIns="0" tIns="0" rIns="0" bIns="0" rtlCol="0" anchor="t"/>
          <a:lstStyle/>
          <a:p>
            <a:pPr indent="0" marL="0">
              <a:buNone/>
            </a:pPr>
            <a:pPr indent="0" marL="0">
              <a:buNone/>
            </a:pPr>
            <a:r>
              <a:rPr lang="en-US" sz="1700" dirty="0">
                <a:solidFill>
                  <a:schemeClr val="bg1"/>
                </a:solidFill>
              </a:rPr>
              <a:t>Better reactivation of inactive patients.</a:t>
            </a:r>
            <a:endParaRPr lang="en-US" sz="1700" dirty="0"/>
          </a:p>
        </p:txBody>
      </p:sp>
      <p:pic>
        <p:nvPicPr>
          <p:cNvPr id="13" name="Image 5" descr="preencoded.png">    </p:cNvPr>
          <p:cNvPicPr>
            <a:picLocks noChangeAspect="1"/>
          </p:cNvPicPr>
          <p:nvPr/>
        </p:nvPicPr>
        <p:blipFill>
          <a:blip r:embed="rId6"/>
          <a:stretch>
            <a:fillRect/>
          </a:stretch>
        </p:blipFill>
        <p:spPr>
          <a:xfrm>
            <a:off x="6217920" y="4553712"/>
            <a:ext cx="329184" cy="329184"/>
          </a:xfrm>
          <a:prstGeom prst="rect">
            <a:avLst/>
          </a:prstGeom>
        </p:spPr>
      </p:pic>
      <p:sp>
        <p:nvSpPr>
          <p:cNvPr id="14" name="Text 6"/>
          <p:cNvSpPr txBox="1"/>
          <p:nvPr/>
        </p:nvSpPr>
        <p:spPr>
          <a:xfrm>
            <a:off x="6720840" y="4535424"/>
            <a:ext cx="4754880" cy="731520"/>
          </a:xfrm>
          <a:prstGeom prst="rect">
            <a:avLst/>
          </a:prstGeom>
          <a:noFill/>
          <a:ln/>
        </p:spPr>
        <p:txBody>
          <a:bodyPr wrap="square" lIns="0" tIns="0" rIns="0" bIns="0" rtlCol="0" anchor="t"/>
          <a:lstStyle/>
          <a:p>
            <a:pPr indent="0" marL="0">
              <a:buNone/>
            </a:pPr>
            <a:pPr indent="0" marL="0">
              <a:buNone/>
            </a:pPr>
            <a:r>
              <a:rPr lang="en-US" sz="1700" dirty="0">
                <a:solidFill>
                  <a:schemeClr val="bg1"/>
                </a:solidFill>
              </a:rPr>
              <a:t>Improved visibility into enquiry and appointment outcomes.</a:t>
            </a:r>
            <a:endParaRPr lang="en-US" sz="1700" dirty="0"/>
          </a:p>
        </p:txBody>
      </p:sp>
      <p:sp>
        <p:nvSpPr>
          <p:cNvPr id="15" name="Text 7"/>
          <p:cNvSpPr txBox="1"/>
          <p:nvPr/>
        </p:nvSpPr>
        <p:spPr>
          <a:xfrm>
            <a:off x="731520" y="5440680"/>
            <a:ext cx="10698480" cy="640080"/>
          </a:xfrm>
          <a:prstGeom prst="rect">
            <a:avLst/>
          </a:prstGeom>
          <a:noFill/>
          <a:ln/>
        </p:spPr>
        <p:txBody>
          <a:bodyPr wrap="square" lIns="0" tIns="0" rIns="0" bIns="0" rtlCol="0" anchor="t"/>
          <a:lstStyle/>
          <a:p>
            <a:pPr indent="0" marL="0">
              <a:buNone/>
            </a:pPr>
            <a:r>
              <a:rPr lang="en-US" sz="1400" b="1" dirty="0">
                <a:solidFill>
                  <a:schemeClr val="accent2"/>
                </a:solidFill>
              </a:rPr>
              <a:t>Next step  </a:t>
            </a:r>
            <a:pPr indent="0" marL="0">
              <a:buNone/>
            </a:pPr>
            <a:r>
              <a:rPr lang="en-US" sz="1400" dirty="0">
                <a:solidFill>
                  <a:schemeClr val="bg1"/>
                </a:solidFill>
              </a:rPr>
              <a:t>Approve the proposal and pay the ₹5,000 pilot setup fee to begin onboarding. Pilot pricing: ₹5,000 setup · ₹2,999 a month, for pilot customers only.</a:t>
            </a:r>
            <a:endParaRPr lang="en-US" sz="1400" dirty="0"/>
          </a:p>
        </p:txBody>
      </p:sp>
    </p:spTree>
  </p:cSld>
  <p:clrMapOvr>
    <a:masterClrMapping/>
  </p:clrMapOvr>
</p:sld>
</file>

<file path=ppt/theme/theme1.xml><?xml version="1.0" encoding="utf-8"?>
<a:theme xmlns:a="http://schemas.openxmlformats.org/drawingml/2006/main" name="Patientcurve">
  <a:themeElements>
    <a:clrScheme name="Patientcurve">
      <a:dk1>
        <a:srgbClr val="14232B"/>
      </a:dk1>
      <a:lt1>
        <a:srgbClr val="FFFFFF"/>
      </a:lt1>
      <a:dk2>
        <a:srgbClr val="5B6B70"/>
      </a:dk2>
      <a:lt2>
        <a:srgbClr val="F6F8F7"/>
      </a:lt2>
      <a:accent1>
        <a:srgbClr val="0E7C6B"/>
      </a:accent1>
      <a:accent2>
        <a:srgbClr val="3FC0A6"/>
      </a:accent2>
      <a:accent3>
        <a:srgbClr val="8F5A0E"/>
      </a:accent3>
      <a:accent4>
        <a:srgbClr val="DCEFEA"/>
      </a:accent4>
      <a:accent5>
        <a:srgbClr val="D5DEDB"/>
      </a:accent5>
      <a:accent6>
        <a:srgbClr val="C0392B"/>
      </a:accent6>
      <a:hlink>
        <a:srgbClr val="0E7C6B"/>
      </a:hlink>
      <a:folHlink>
        <a:srgbClr val="14232B"/>
      </a:folHlink>
    </a:clrScheme>
    <a:fontScheme name="Patientcur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Patientcurve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Patientcurve proposal for Dr. Mohanapriya</dc:title>
  <dc:subject>PptxGenJS Presentation</dc:subject>
  <dc:creator>Patientcurve</dc:creator>
  <cp:lastModifiedBy>Patientcurve</cp:lastModifiedBy>
  <cp:revision>1</cp:revision>
  <dcterms:created xsi:type="dcterms:W3CDTF">2026-10-09T09:00:28Z</dcterms:created>
  <dcterms:modified xsi:type="dcterms:W3CDTF">2026-10-09T09:00:28Z</dcterms:modified>
</cp:coreProperties>
</file>