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48bdf234-a487-bbd0-5309-d6a204e1ca7d}">
          <p14:sldIdLst>
            <p14:sldId id="256"/>
            <p14:sldId id="257"/>
          </p14:sldIdLst>
        </p14:section>
        <p14:section name="The opportunity" id="{b1d009fb-daed-d7f4-fbce-d23f54d0cd13}">
          <p14:sldIdLst>
            <p14:sldId id="258"/>
            <p14:sldId id="259"/>
            <p14:sldId id="260"/>
          </p14:sldIdLst>
        </p14:section>
        <p14:section name="The solution" id="{45b61c62-2e0e-0693-ba5a-7b82266c9efd}">
          <p14:sldIdLst>
            <p14:sldId id="261"/>
            <p14:sldId id="262"/>
            <p14:sldId id="263"/>
            <p14:sldId id="264"/>
          </p14:sldIdLst>
        </p14:section>
        <p14:section name="Investment" id="{8825a9b3-bd36-e572-c4d2-79396fc1549d}">
          <p14:sldIdLst>
            <p14:sldId id="265"/>
            <p14:sldId id="266"/>
            <p14:sldId id="267"/>
          </p14:sldIdLst>
        </p14:section>
        <p14:section name="Scope and next steps" id="{a8519e9d-3bea-b8ee-70f1-a1b9ce86a899}">
          <p14:sldIdLst>
            <p14:sldId id="268"/>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Dr. Mohanapriya for her time. This proposal shows how Patientcurve manages every WhatsApp enquiry from her ads until it becomes a booked consultation, and how her team brings back patients who don't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Patientcurve does: approved answers, routing and booking, and follow-up for everyone who doesn't book. As a pilot customer, setup is ₹5,000 instead of ₹7,500, and the monthly fee is ₹2,999 instead of ₹4,999.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facts the clinic shared: around three campaigns and a hundred enquiries a month, mostly on WhatsApp, and a Meta AI bot that has sometimes given wrong information.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enquiry that doesn't book is revenue that never arrives. Today nobody can say exactly how many drop away; Patientcurve makes that number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the 100 enquiries comes from the clinic. The other inputs are examples to replace with her real numbers. At these figures, 60 enquiries a month don't book; bringing back 20% of them is 12 patients, about ₹96,000 a month, and a single patient brought back covers the ₹2,999 fee.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path: ad, WhatsApp enquiry, details, location and need, then an approved answer. Local patients are offered offline consultation, other towns video. Booked patients land in Google Calendar. Anyone who doesn't book goes on the call list; the receptionist calls, brings the patient back or closes them, and updates the PMS.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problem from the earlier slide maps to one thing Patientcurve does and one outcome for the clinic.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month the clinic sees enquiries, bookings by type, patients brought back and the conversion rate, for each campaign. Every status carries a word, never colour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new software for the team to learn beyond the staff chat. WhatsApp, Google Calendar and the PMS stay as they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a pilot customer: setup ₹5,000 instead of ₹7,500, and ₹2,999 a month instead of ₹4,999. This price is only for pilot customers.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needed to go live is in setup: the onboarding call, approved answers, the WhatsApp flow, routing, calendar booking, connecting the number, the call list, training and testing.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monthly fee covers running the whole enquiry-to-appointment service and the report. Support covers help for the doctor and receptionist, fixes, changes on request and a monthly review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requirements are agreed. The details on the right are settled in the onboarding call before anything goes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four steps and ask for approval to start onboarding.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2.pn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4232B"/>
        </a:solidFill>
      </p:bgPr>
    </p:bg>
    <p:spTree>
      <p:nvGrpSpPr>
        <p:cNvPr id="1" name=""/>
        <p:cNvGrpSpPr/>
        <p:nvPr/>
      </p:nvGrpSpPr>
      <p:grpSpPr>
        <a:xfrm>
          <a:off x="0" y="0"/>
          <a:ext cx="0" cy="0"/>
          <a:chOff x="0" y="0"/>
          <a:chExt cx="0" cy="0"/>
        </a:xfrm>
      </p:grpSpPr>
      <p:sp>
        <p:nvSpPr>
          <p:cNvPr id="2" name="Shape 0"/>
          <p:cNvSpPr/>
          <p:nvPr/>
        </p:nvSpPr>
        <p:spPr>
          <a:xfrm>
            <a:off x="7982712" y="0"/>
            <a:ext cx="4206240" cy="6858000"/>
          </a:xfrm>
          <a:prstGeom prst="rect">
            <a:avLst/>
          </a:prstGeom>
          <a:solidFill>
            <a:schemeClr val="accent1"/>
          </a:solidFill>
          <a:ln/>
        </p:spPr>
      </p:sp>
      <p:pic>
        <p:nvPicPr>
          <p:cNvPr id="3" name="Image 0" descr="preencoded.png">    </p:cNvPr>
          <p:cNvPicPr>
            <a:picLocks noChangeAspect="1"/>
          </p:cNvPicPr>
          <p:nvPr/>
        </p:nvPicPr>
        <p:blipFill>
          <a:blip r:embed="rId1"/>
          <a:stretch>
            <a:fillRect/>
          </a:stretch>
        </p:blipFill>
        <p:spPr>
          <a:xfrm>
            <a:off x="8275320" y="1234440"/>
            <a:ext cx="3611880" cy="3611880"/>
          </a:xfrm>
          <a:prstGeom prst="rect">
            <a:avLst/>
          </a:prstGeom>
        </p:spPr>
      </p:pic>
      <p:pic>
        <p:nvPicPr>
          <p:cNvPr id="4" name="Image 1" descr="preencoded.png">    </p:cNvPr>
          <p:cNvPicPr>
            <a:picLocks noChangeAspect="1"/>
          </p:cNvPicPr>
          <p:nvPr/>
        </p:nvPicPr>
        <p:blipFill>
          <a:blip r:embed="rId2"/>
          <a:stretch>
            <a:fillRect/>
          </a:stretch>
        </p:blipFill>
        <p:spPr>
          <a:xfrm>
            <a:off x="731520" y="731520"/>
            <a:ext cx="2377440" cy="452846"/>
          </a:xfrm>
          <a:prstGeom prst="rect">
            <a:avLst/>
          </a:prstGeom>
        </p:spPr>
      </p:pic>
      <p:sp>
        <p:nvSpPr>
          <p:cNvPr id="5" name="Text 1"/>
          <p:cNvSpPr/>
          <p:nvPr/>
        </p:nvSpPr>
        <p:spPr>
          <a:xfrm>
            <a:off x="731520" y="2331720"/>
            <a:ext cx="6583680" cy="320040"/>
          </a:xfrm>
          <a:prstGeom prst="rect">
            <a:avLst/>
          </a:prstGeom>
          <a:noFill/>
          <a:ln/>
        </p:spPr>
        <p:txBody>
          <a:bodyPr wrap="square" lIns="0" tIns="0" rIns="0" bIns="0" rtlCol="0" anchor="ctr"/>
          <a:lstStyle/>
          <a:p>
            <a:pPr indent="0" marL="0">
              <a:buNone/>
            </a:pPr>
            <a:r>
              <a:rPr lang="en-US" sz="1200" b="1" spc="150" kern="0" dirty="0">
                <a:solidFill>
                  <a:schemeClr val="accent2"/>
                </a:solidFill>
              </a:rPr>
              <a:t>PILOT CUSTOMER PROPOSAL</a:t>
            </a:r>
            <a:endParaRPr lang="en-US" sz="1200" dirty="0"/>
          </a:p>
        </p:txBody>
      </p:sp>
      <p:sp>
        <p:nvSpPr>
          <p:cNvPr id="6" name="Text 2"/>
          <p:cNvSpPr/>
          <p:nvPr>
            <p:ph idx="104" type="title" hasCustomPrompt="1"/>
          </p:nvPr>
        </p:nvSpPr>
        <p:spPr>
          <a:xfrm>
            <a:off x="731520" y="2743200"/>
            <a:ext cx="6766560" cy="173736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7" name="Text 2"/>
          <p:cNvSpPr/>
          <p:nvPr>
            <p:ph idx="105" type="body" hasCustomPrompt="1"/>
          </p:nvPr>
        </p:nvSpPr>
        <p:spPr>
          <a:xfrm>
            <a:off x="731520" y="4572000"/>
            <a:ext cx="6766560" cy="822960"/>
          </a:xfrm>
          <a:prstGeom prst="rect">
            <a:avLst/>
          </a:prstGeom>
          <a:noFill/>
          <a:ln/>
        </p:spPr>
        <p:txBody>
          <a:bodyPr wrap="square" rtlCol="0"/>
          <a:lstStyle>
            <a:lvl1pPr algn="l" indent="0" marL="0">
              <a:buNone/>
              <a:defRPr lang="en-US" sz="1800" dirty="0">
                <a:solidFill>
                  <a:schemeClr val="accent2"/>
                </a:solidFill>
              </a:defRPr>
            </a:lvl1pPr>
          </a:lstStyle>
          <a:p>
            <a:pPr algn="l" indent="0" marL="0">
              <a:buNone/>
            </a:pPr>
            <a:endParaRPr lang="en-US" sz="1800" dirty="0"/>
          </a:p>
        </p:txBody>
      </p:sp>
      <p:sp>
        <p:nvSpPr>
          <p:cNvPr id="8" name="Text 2"/>
          <p:cNvSpPr/>
          <p:nvPr/>
        </p:nvSpPr>
        <p:spPr>
          <a:xfrm>
            <a:off x="731520" y="5989320"/>
            <a:ext cx="6766560" cy="320040"/>
          </a:xfrm>
          <a:prstGeom prst="rect">
            <a:avLst/>
          </a:prstGeom>
          <a:noFill/>
          <a:ln/>
        </p:spPr>
        <p:txBody>
          <a:bodyPr wrap="square" lIns="0" tIns="0" rIns="0" bIns="0" rtlCol="0" anchor="ctr"/>
          <a:lstStyle/>
          <a:p>
            <a:pPr indent="0" marL="0">
              <a:buNone/>
            </a:pPr>
            <a:r>
              <a:rPr lang="en-US" sz="1200" dirty="0">
                <a:solidFill>
                  <a:schemeClr val="bg1"/>
                </a:solidFill>
              </a:rPr>
              <a:t>Bring back the patients who didn't return.</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8F7"/>
        </a:solidFill>
      </p:bgPr>
    </p:bg>
    <p:spTree>
      <p:nvGrpSpPr>
        <p:cNvPr id="1" name=""/>
        <p:cNvGrpSpPr/>
        <p:nvPr/>
      </p:nvGrpSpPr>
      <p:grpSpPr>
        <a:xfrm>
          <a:off x="0" y="0"/>
          <a:ext cx="0" cy="0"/>
          <a:chOff x="0" y="0"/>
          <a:chExt cx="0" cy="0"/>
        </a:xfrm>
      </p:grpSpPr>
      <p:sp>
        <p:nvSpPr>
          <p:cNvPr id="2" name="Shape 0"/>
          <p:cNvSpPr/>
          <p:nvPr/>
        </p:nvSpPr>
        <p:spPr>
          <a:xfrm>
            <a:off x="548640" y="6263640"/>
            <a:ext cx="11091672" cy="0"/>
          </a:xfrm>
          <a:prstGeom prst="line">
            <a:avLst/>
          </a:prstGeom>
          <a:noFill/>
          <a:ln w="9525">
            <a:solidFill>
              <a:srgbClr val="D5DEDB"/>
            </a:solidFill>
            <a:prstDash val="solid"/>
          </a:ln>
        </p:spPr>
      </p:sp>
      <p:pic>
        <p:nvPicPr>
          <p:cNvPr id="3" name="Image 0" descr="preencoded.png">    </p:cNvPr>
          <p:cNvPicPr>
            <a:picLocks noChangeAspect="1"/>
          </p:cNvPicPr>
          <p:nvPr/>
        </p:nvPicPr>
        <p:blipFill>
          <a:blip r:embed="rId1"/>
          <a:stretch>
            <a:fillRect/>
          </a:stretch>
        </p:blipFill>
        <p:spPr>
          <a:xfrm>
            <a:off x="10360152" y="6382512"/>
            <a:ext cx="1280160" cy="243840"/>
          </a:xfrm>
          <a:prstGeom prst="rect">
            <a:avLst/>
          </a:prstGeom>
        </p:spPr>
      </p:pic>
      <p:sp>
        <p:nvSpPr>
          <p:cNvPr id="4" name="Text 1"/>
          <p:cNvSpPr/>
          <p:nvPr/>
        </p:nvSpPr>
        <p:spPr>
          <a:xfrm>
            <a:off x="548640" y="6355080"/>
            <a:ext cx="7315200" cy="292608"/>
          </a:xfrm>
          <a:prstGeom prst="rect">
            <a:avLst/>
          </a:prstGeom>
          <a:noFill/>
          <a:ln/>
        </p:spPr>
        <p:txBody>
          <a:bodyPr wrap="square" lIns="0" tIns="0" rIns="0" bIns="0" rtlCol="0" anchor="ctr"/>
          <a:lstStyle/>
          <a:p>
            <a:pPr indent="0" marL="0">
              <a:buNone/>
            </a:pPr>
            <a:r>
              <a:rPr lang="en-US" sz="1000" dirty="0">
                <a:solidFill>
                  <a:schemeClr val="tx2"/>
                </a:solidFill>
              </a:rPr>
              <a:t>Patientcurve  ·  Proposal for Dr. Mohanapriya  ·  Pilot customer</a:t>
            </a:r>
            <a:endParaRPr lang="en-US" sz="1000" dirty="0"/>
          </a:p>
        </p:txBody>
      </p:sp>
      <p:sp>
        <p:nvSpPr>
          <p:cNvPr id="5" name="Text 2"/>
          <p:cNvSpPr/>
          <p:nvPr>
            <p:ph idx="103" type="body" hasCustomPrompt="1"/>
          </p:nvPr>
        </p:nvSpPr>
        <p:spPr>
          <a:xfrm>
            <a:off x="548640" y="384048"/>
            <a:ext cx="11064240" cy="274320"/>
          </a:xfrm>
          <a:prstGeom prst="rect">
            <a:avLst/>
          </a:prstGeom>
          <a:noFill/>
          <a:ln/>
        </p:spPr>
        <p:txBody>
          <a:bodyPr wrap="square" rtlCol="0"/>
          <a:lstStyle>
            <a:lvl1pPr algn="l" indent="0" marL="0">
              <a:buNone/>
              <a:defRPr lang="en-US" sz="1100" b="1" spc="150" kern="0" dirty="0">
                <a:solidFill>
                  <a:schemeClr val="accent1"/>
                </a:solidFill>
              </a:defRPr>
            </a:lvl1pPr>
          </a:lstStyle>
          <a:p>
            <a:pPr algn="l" indent="0" marL="0">
              <a:buNone/>
            </a:pPr>
            <a:endParaRPr lang="en-US" sz="1100" dirty="0"/>
          </a:p>
        </p:txBody>
      </p:sp>
      <p:sp>
        <p:nvSpPr>
          <p:cNvPr id="6" name="Text 2"/>
          <p:cNvSpPr/>
          <p:nvPr>
            <p:ph idx="104" type="title" hasCustomPrompt="1"/>
          </p:nvPr>
        </p:nvSpPr>
        <p:spPr>
          <a:xfrm>
            <a:off x="548640" y="685800"/>
            <a:ext cx="11064240" cy="68580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9509760" y="6355080"/>
            <a:ext cx="64008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14232B"/>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3992728" y="2606040"/>
            <a:ext cx="4206240" cy="801189"/>
          </a:xfrm>
          <a:prstGeom prst="rect">
            <a:avLst/>
          </a:prstGeom>
        </p:spPr>
      </p:pic>
      <p:sp>
        <p:nvSpPr>
          <p:cNvPr id="3" name="Text 0"/>
          <p:cNvSpPr/>
          <p:nvPr/>
        </p:nvSpPr>
        <p:spPr>
          <a:xfrm>
            <a:off x="914400" y="3611880"/>
            <a:ext cx="10362895" cy="411480"/>
          </a:xfrm>
          <a:prstGeom prst="rect">
            <a:avLst/>
          </a:prstGeom>
          <a:noFill/>
          <a:ln/>
        </p:spPr>
        <p:txBody>
          <a:bodyPr wrap="square" lIns="0" tIns="0" rIns="0" bIns="0" rtlCol="0" anchor="ctr"/>
          <a:lstStyle/>
          <a:p>
            <a:pPr algn="ctr" indent="0" marL="0">
              <a:buNone/>
            </a:pPr>
            <a:r>
              <a:rPr lang="en-US" sz="1800" dirty="0">
                <a:solidFill>
                  <a:schemeClr val="bg1"/>
                </a:solidFill>
              </a:rPr>
              <a:t>Bring back the patients who didn't return.</a:t>
            </a:r>
            <a:endParaRPr lang="en-US" sz="1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9509760" y="6355080"/>
            <a:ext cx="64008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slideLayout" Target="../slideLayouts/slideLayout3.xml"/><Relationship Id="rId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2"/>
          <p:cNvSpPr/>
          <p:nvPr>
            <p:ph idx="104" type="title" hasCustomPrompt="1"/>
          </p:nvPr>
        </p:nvSpPr>
        <p:spPr>
          <a:xfrm>
            <a:off x="731520" y="2743200"/>
            <a:ext cx="6766560" cy="1737360"/>
          </a:xfrm>
          <a:prstGeom prst="rect">
            <a:avLst/>
          </a:prstGeom>
          <a:noFill/>
          <a:ln/>
        </p:spPr>
        <p:txBody>
          <a:bodyPr wrap="square" lIns="0" tIns="0" rIns="0" bIns="0" rtlCol="0" anchor="t"/>
          <a:lstStyle/>
          <a:p>
            <a:pPr algn="l" indent="0" marL="0">
              <a:buNone/>
            </a:pPr>
            <a:r>
              <a:rPr lang="en-US" sz="4400" b="1" dirty="0">
                <a:solidFill>
                  <a:schemeClr val="bg1"/>
                </a:solidFill>
              </a:rPr>
              <a:t>From WhatsApp enquiry to booked appointment</a:t>
            </a:r>
            <a:endParaRPr lang="en-US" sz="4400" dirty="0"/>
          </a:p>
        </p:txBody>
      </p:sp>
      <p:sp>
        <p:nvSpPr>
          <p:cNvPr id="3" name="Text 2"/>
          <p:cNvSpPr/>
          <p:nvPr>
            <p:ph idx="105" type="body" hasCustomPrompt="1"/>
          </p:nvPr>
        </p:nvSpPr>
        <p:spPr>
          <a:xfrm>
            <a:off x="731520" y="4572000"/>
            <a:ext cx="6766560" cy="822960"/>
          </a:xfrm>
          <a:prstGeom prst="rect">
            <a:avLst/>
          </a:prstGeom>
          <a:noFill/>
          <a:ln/>
        </p:spPr>
        <p:txBody>
          <a:bodyPr wrap="square" lIns="0" tIns="0" rIns="0" bIns="0" rtlCol="0" anchor="t"/>
          <a:lstStyle/>
          <a:p>
            <a:pPr algn="l" indent="0" marL="0">
              <a:buNone/>
            </a:pPr>
            <a:r>
              <a:rPr lang="en-US" sz="1800" dirty="0">
                <a:solidFill>
                  <a:schemeClr val="accent2"/>
                </a:solidFill>
              </a:rPr>
              <a:t>Prepared for Dr. Mohanapriya  ·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3" type="body" hasCustomPrompt="1"/>
          </p:nvPr>
        </p:nvSpPr>
        <p:spPr>
          <a:xfrm>
            <a:off x="548640" y="384048"/>
            <a:ext cx="11064240" cy="274320"/>
          </a:xfrm>
          <a:prstGeom prst="rect">
            <a:avLst/>
          </a:prstGeom>
          <a:noFill/>
          <a:ln/>
        </p:spPr>
        <p:txBody>
          <a:bodyPr wrap="square" lIns="0" tIns="0" rIns="0" bIns="0" rtlCol="0" anchor="t"/>
          <a:lstStyle/>
          <a:p>
            <a:pPr algn="l" indent="0" marL="0">
              <a:buNone/>
            </a:pPr>
            <a:r>
              <a:rPr lang="en-US" sz="1100" b="1" spc="150" kern="0" dirty="0">
                <a:solidFill>
                  <a:schemeClr val="accent1"/>
                </a:solidFill>
              </a:rPr>
              <a:t>EXECUTIVE SUMMARY</a:t>
            </a:r>
            <a:endParaRPr lang="en-US" sz="1100" dirty="0"/>
          </a:p>
        </p:txBody>
      </p:sp>
      <p:sp>
        <p:nvSpPr>
          <p:cNvPr id="3" name="Text 2"/>
          <p:cNvSpPr/>
          <p:nvPr>
            <p:ph idx="104" type="title" hasCustomPrompt="1"/>
          </p:nvPr>
        </p:nvSpPr>
        <p:spPr>
          <a:xfrm>
            <a:off x="548640" y="685800"/>
            <a:ext cx="11064240" cy="685800"/>
          </a:xfrm>
          <a:prstGeom prst="rect">
            <a:avLst/>
          </a:prstGeom>
          <a:noFill/>
          <a:ln/>
        </p:spPr>
        <p:txBody>
          <a:bodyPr wrap="square" lIns="0" tIns="0" rIns="0" bIns="0" rtlCol="0" anchor="t"/>
          <a:lstStyle/>
          <a:p>
            <a:pPr algn="l" indent="0" marL="0">
              <a:buNone/>
            </a:pPr>
            <a:r>
              <a:rPr lang="en-US" sz="3000" b="1" dirty="0">
                <a:solidFill>
                  <a:schemeClr val="tx1"/>
                </a:solidFill>
              </a:rPr>
              <a:t>Every ad enquiry followed up until it is booked</a:t>
            </a:r>
            <a:endParaRPr lang="en-US" sz="3000" dirty="0"/>
          </a:p>
        </p:txBody>
      </p:sp>
      <p:pic>
        <p:nvPicPr>
          <p:cNvPr id="4" name="Image 0" descr="preencoded.png">    </p:cNvPr>
          <p:cNvPicPr>
            <a:picLocks noChangeAspect="1"/>
          </p:cNvPicPr>
          <p:nvPr/>
        </p:nvPicPr>
        <p:blipFill>
          <a:blip r:embed="rId1"/>
          <a:stretch>
            <a:fillRect/>
          </a:stretch>
        </p:blipFill>
        <p:spPr>
          <a:xfrm>
            <a:off x="548640" y="1691640"/>
            <a:ext cx="411480" cy="411480"/>
          </a:xfrm>
          <a:prstGeom prst="rect">
            <a:avLst/>
          </a:prstGeom>
        </p:spPr>
      </p:pic>
      <p:sp>
        <p:nvSpPr>
          <p:cNvPr id="5" name="Text 2"/>
          <p:cNvSpPr txBox="1"/>
          <p:nvPr/>
        </p:nvSpPr>
        <p:spPr>
          <a:xfrm>
            <a:off x="1188720" y="1673352"/>
            <a:ext cx="5486400" cy="365760"/>
          </a:xfrm>
          <a:prstGeom prst="rect">
            <a:avLst/>
          </a:prstGeom>
          <a:noFill/>
          <a:ln/>
        </p:spPr>
        <p:txBody>
          <a:bodyPr wrap="square" lIns="0" tIns="0" rIns="0" bIns="0" rtlCol="0" anchor="t"/>
          <a:lstStyle/>
          <a:p>
            <a:pPr indent="0" marL="0">
              <a:buNone/>
            </a:pPr>
            <a:r>
              <a:rPr lang="en-US" sz="1800" b="1" dirty="0">
                <a:solidFill>
                  <a:schemeClr val="tx1"/>
                </a:solidFill>
              </a:rPr>
              <a:t>Correct answers, every time</a:t>
            </a:r>
            <a:endParaRPr lang="en-US" sz="1800" dirty="0"/>
          </a:p>
        </p:txBody>
      </p:sp>
      <p:sp>
        <p:nvSpPr>
          <p:cNvPr id="6" name="Text 3"/>
          <p:cNvSpPr txBox="1"/>
          <p:nvPr/>
        </p:nvSpPr>
        <p:spPr>
          <a:xfrm>
            <a:off x="1188720" y="2075688"/>
            <a:ext cx="5486400" cy="822960"/>
          </a:xfrm>
          <a:prstGeom prst="rect">
            <a:avLst/>
          </a:prstGeom>
          <a:noFill/>
          <a:ln/>
        </p:spPr>
        <p:txBody>
          <a:bodyPr wrap="square" lIns="0" tIns="0" rIns="0" bIns="0" rtlCol="0" anchor="t"/>
          <a:lstStyle/>
          <a:p>
            <a:pPr indent="0" marL="0">
              <a:buNone/>
            </a:pPr>
            <a:r>
              <a:rPr lang="en-US" sz="1400" dirty="0">
                <a:solidFill>
                  <a:schemeClr val="tx2"/>
                </a:solidFill>
              </a:rPr>
              <a:t>Patients only receive information you have approved: consultation types, fees, timings and address.</a:t>
            </a:r>
            <a:endParaRPr lang="en-US" sz="1400" dirty="0"/>
          </a:p>
        </p:txBody>
      </p:sp>
      <p:pic>
        <p:nvPicPr>
          <p:cNvPr id="7" name="Image 1" descr="preencoded.png">    </p:cNvPr>
          <p:cNvPicPr>
            <a:picLocks noChangeAspect="1"/>
          </p:cNvPicPr>
          <p:nvPr/>
        </p:nvPicPr>
        <p:blipFill>
          <a:blip r:embed="rId2"/>
          <a:stretch>
            <a:fillRect/>
          </a:stretch>
        </p:blipFill>
        <p:spPr>
          <a:xfrm>
            <a:off x="548640" y="3108960"/>
            <a:ext cx="411480" cy="411480"/>
          </a:xfrm>
          <a:prstGeom prst="rect">
            <a:avLst/>
          </a:prstGeom>
        </p:spPr>
      </p:pic>
      <p:sp>
        <p:nvSpPr>
          <p:cNvPr id="8" name="Text 4"/>
          <p:cNvSpPr txBox="1"/>
          <p:nvPr/>
        </p:nvSpPr>
        <p:spPr>
          <a:xfrm>
            <a:off x="1188720" y="3090672"/>
            <a:ext cx="5486400" cy="365760"/>
          </a:xfrm>
          <a:prstGeom prst="rect">
            <a:avLst/>
          </a:prstGeom>
          <a:noFill/>
          <a:ln/>
        </p:spPr>
        <p:txBody>
          <a:bodyPr wrap="square" lIns="0" tIns="0" rIns="0" bIns="0" rtlCol="0" anchor="t"/>
          <a:lstStyle/>
          <a:p>
            <a:pPr indent="0" marL="0">
              <a:buNone/>
            </a:pPr>
            <a:r>
              <a:rPr lang="en-US" sz="1800" b="1" dirty="0">
                <a:solidFill>
                  <a:schemeClr val="tx1"/>
                </a:solidFill>
              </a:rPr>
              <a:t>The right consultation, booked</a:t>
            </a:r>
            <a:endParaRPr lang="en-US" sz="1800" dirty="0"/>
          </a:p>
        </p:txBody>
      </p:sp>
      <p:sp>
        <p:nvSpPr>
          <p:cNvPr id="9" name="Text 5"/>
          <p:cNvSpPr txBox="1"/>
          <p:nvPr/>
        </p:nvSpPr>
        <p:spPr>
          <a:xfrm>
            <a:off x="1188720" y="3493008"/>
            <a:ext cx="5486400" cy="822960"/>
          </a:xfrm>
          <a:prstGeom prst="rect">
            <a:avLst/>
          </a:prstGeom>
          <a:noFill/>
          <a:ln/>
        </p:spPr>
        <p:txBody>
          <a:bodyPr wrap="square" lIns="0" tIns="0" rIns="0" bIns="0" rtlCol="0" anchor="t"/>
          <a:lstStyle/>
          <a:p>
            <a:pPr indent="0" marL="0">
              <a:buNone/>
            </a:pPr>
            <a:r>
              <a:rPr lang="en-US" sz="1400" dirty="0">
                <a:solidFill>
                  <a:schemeClr val="tx2"/>
                </a:solidFill>
              </a:rPr>
              <a:t>Local patients go to offline consultation, patients from other towns to video, and both book into Google Calendar.</a:t>
            </a:r>
            <a:endParaRPr lang="en-US" sz="1400" dirty="0"/>
          </a:p>
        </p:txBody>
      </p:sp>
      <p:pic>
        <p:nvPicPr>
          <p:cNvPr id="10" name="Image 2" descr="preencoded.png">    </p:cNvPr>
          <p:cNvPicPr>
            <a:picLocks noChangeAspect="1"/>
          </p:cNvPicPr>
          <p:nvPr/>
        </p:nvPicPr>
        <p:blipFill>
          <a:blip r:embed="rId3"/>
          <a:stretch>
            <a:fillRect/>
          </a:stretch>
        </p:blipFill>
        <p:spPr>
          <a:xfrm>
            <a:off x="548640" y="4526280"/>
            <a:ext cx="411480" cy="411480"/>
          </a:xfrm>
          <a:prstGeom prst="rect">
            <a:avLst/>
          </a:prstGeom>
        </p:spPr>
      </p:pic>
      <p:sp>
        <p:nvSpPr>
          <p:cNvPr id="11" name="Text 6"/>
          <p:cNvSpPr txBox="1"/>
          <p:nvPr/>
        </p:nvSpPr>
        <p:spPr>
          <a:xfrm>
            <a:off x="1188720" y="4507992"/>
            <a:ext cx="5486400" cy="365760"/>
          </a:xfrm>
          <a:prstGeom prst="rect">
            <a:avLst/>
          </a:prstGeom>
          <a:noFill/>
          <a:ln/>
        </p:spPr>
        <p:txBody>
          <a:bodyPr wrap="square" lIns="0" tIns="0" rIns="0" bIns="0" rtlCol="0" anchor="t"/>
          <a:lstStyle/>
          <a:p>
            <a:pPr indent="0" marL="0">
              <a:buNone/>
            </a:pPr>
            <a:r>
              <a:rPr lang="en-US" sz="1800" b="1" dirty="0">
                <a:solidFill>
                  <a:schemeClr val="tx1"/>
                </a:solidFill>
              </a:rPr>
              <a:t>No enquiry forgotten</a:t>
            </a:r>
            <a:endParaRPr lang="en-US" sz="1800" dirty="0"/>
          </a:p>
        </p:txBody>
      </p:sp>
      <p:sp>
        <p:nvSpPr>
          <p:cNvPr id="12" name="Text 7"/>
          <p:cNvSpPr txBox="1"/>
          <p:nvPr/>
        </p:nvSpPr>
        <p:spPr>
          <a:xfrm>
            <a:off x="1188720" y="4910328"/>
            <a:ext cx="5486400" cy="822960"/>
          </a:xfrm>
          <a:prstGeom prst="rect">
            <a:avLst/>
          </a:prstGeom>
          <a:noFill/>
          <a:ln/>
        </p:spPr>
        <p:txBody>
          <a:bodyPr wrap="square" lIns="0" tIns="0" rIns="0" bIns="0" rtlCol="0" anchor="t"/>
          <a:lstStyle/>
          <a:p>
            <a:pPr indent="0" marL="0">
              <a:buNone/>
            </a:pPr>
            <a:r>
              <a:rPr lang="en-US" sz="1400" dirty="0">
                <a:solidFill>
                  <a:schemeClr val="tx2"/>
                </a:solidFill>
              </a:rPr>
              <a:t>Everyone who doesn't book goes onto your receptionist's call list until they are brought back or closed.</a:t>
            </a:r>
            <a:endParaRPr lang="en-US" sz="1400" dirty="0"/>
          </a:p>
        </p:txBody>
      </p:sp>
      <p:sp>
        <p:nvSpPr>
          <p:cNvPr id="13" name="pilot-price"/>
          <p:cNvSpPr/>
          <p:nvPr/>
        </p:nvSpPr>
        <p:spPr>
          <a:xfrm>
            <a:off x="7315200" y="1691640"/>
            <a:ext cx="4325112" cy="4069080"/>
          </a:xfrm>
          <a:prstGeom prst="roundRect">
            <a:avLst>
              <a:gd name="adj" fmla="val 2697"/>
            </a:avLst>
          </a:prstGeom>
          <a:solidFill>
            <a:schemeClr val="bg1"/>
          </a:solidFill>
          <a:ln w="9525">
            <a:solidFill>
              <a:srgbClr val="D5DEDB"/>
            </a:solidFill>
            <a:prstDash val="solid"/>
          </a:ln>
        </p:spPr>
      </p:sp>
      <p:sp>
        <p:nvSpPr>
          <p:cNvPr id="14" name="Text 9"/>
          <p:cNvSpPr txBox="1"/>
          <p:nvPr/>
        </p:nvSpPr>
        <p:spPr>
          <a:xfrm>
            <a:off x="7680960" y="2011680"/>
            <a:ext cx="3657600" cy="274320"/>
          </a:xfrm>
          <a:prstGeom prst="rect">
            <a:avLst/>
          </a:prstGeom>
          <a:noFill/>
          <a:ln/>
        </p:spPr>
        <p:txBody>
          <a:bodyPr wrap="square" lIns="0" tIns="0" rIns="0" bIns="0" rtlCol="0" anchor="t"/>
          <a:lstStyle/>
          <a:p>
            <a:pPr indent="0" marL="0">
              <a:buNone/>
            </a:pPr>
            <a:r>
              <a:rPr lang="en-US" sz="1100" b="1" spc="150" kern="0" dirty="0">
                <a:solidFill>
                  <a:schemeClr val="accent1"/>
                </a:solidFill>
              </a:rPr>
              <a:t>PILOT PRICING</a:t>
            </a:r>
            <a:endParaRPr lang="en-US" sz="1100" dirty="0"/>
          </a:p>
        </p:txBody>
      </p:sp>
      <p:sp>
        <p:nvSpPr>
          <p:cNvPr id="15" name="Text 10"/>
          <p:cNvSpPr txBox="1"/>
          <p:nvPr/>
        </p:nvSpPr>
        <p:spPr>
          <a:xfrm>
            <a:off x="7680960" y="2377440"/>
            <a:ext cx="3749040" cy="640080"/>
          </a:xfrm>
          <a:prstGeom prst="rect">
            <a:avLst/>
          </a:prstGeom>
          <a:noFill/>
          <a:ln/>
        </p:spPr>
        <p:txBody>
          <a:bodyPr wrap="square" lIns="0" tIns="0" rIns="0" bIns="0" rtlCol="0" anchor="b"/>
          <a:lstStyle/>
          <a:p>
            <a:pPr indent="0" marL="0">
              <a:buNone/>
            </a:pPr>
            <a:r>
              <a:rPr lang="en-US" sz="3600" b="1" dirty="0">
                <a:solidFill>
                  <a:schemeClr val="accent1"/>
                </a:solidFill>
              </a:rPr>
              <a:t>₹5,000</a:t>
            </a:r>
            <a:pPr indent="0" marL="0">
              <a:buNone/>
            </a:pPr>
            <a:r>
              <a:rPr lang="en-US" sz="1400" dirty="0">
                <a:solidFill>
                  <a:schemeClr val="tx2"/>
                </a:solidFill>
              </a:rPr>
              <a:t>  one-time setup</a:t>
            </a:r>
            <a:endParaRPr lang="en-US" sz="1400" dirty="0"/>
          </a:p>
        </p:txBody>
      </p:sp>
      <p:sp>
        <p:nvSpPr>
          <p:cNvPr id="16" name="Text 11"/>
          <p:cNvSpPr txBox="1"/>
          <p:nvPr/>
        </p:nvSpPr>
        <p:spPr>
          <a:xfrm>
            <a:off x="7680960" y="3063240"/>
            <a:ext cx="3657600" cy="274320"/>
          </a:xfrm>
          <a:prstGeom prst="rect">
            <a:avLst/>
          </a:prstGeom>
          <a:noFill/>
          <a:ln/>
        </p:spPr>
        <p:txBody>
          <a:bodyPr wrap="square" lIns="0" tIns="0" rIns="0" bIns="0" rtlCol="0" anchor="t"/>
          <a:lstStyle/>
          <a:p>
            <a:pPr indent="0" marL="0">
              <a:buNone/>
            </a:pPr>
            <a:r>
              <a:rPr lang="en-US" sz="1200" strike="sngStrike" dirty="0">
                <a:solidFill>
                  <a:schemeClr val="tx2"/>
                </a:solidFill>
              </a:rPr>
              <a:t>Standard ₹7,500</a:t>
            </a:r>
            <a:endParaRPr lang="en-US" sz="1200" dirty="0"/>
          </a:p>
        </p:txBody>
      </p:sp>
      <p:sp>
        <p:nvSpPr>
          <p:cNvPr id="17" name="Text 12"/>
          <p:cNvSpPr txBox="1"/>
          <p:nvPr/>
        </p:nvSpPr>
        <p:spPr>
          <a:xfrm>
            <a:off x="7680960" y="3520440"/>
            <a:ext cx="3749040" cy="640080"/>
          </a:xfrm>
          <a:prstGeom prst="rect">
            <a:avLst/>
          </a:prstGeom>
          <a:noFill/>
          <a:ln/>
        </p:spPr>
        <p:txBody>
          <a:bodyPr wrap="square" lIns="0" tIns="0" rIns="0" bIns="0" rtlCol="0" anchor="b"/>
          <a:lstStyle/>
          <a:p>
            <a:pPr indent="0" marL="0">
              <a:buNone/>
            </a:pPr>
            <a:r>
              <a:rPr lang="en-US" sz="3600" b="1" dirty="0">
                <a:solidFill>
                  <a:schemeClr val="accent1"/>
                </a:solidFill>
              </a:rPr>
              <a:t>₹2,999</a:t>
            </a:r>
            <a:pPr indent="0" marL="0">
              <a:buNone/>
            </a:pPr>
            <a:r>
              <a:rPr lang="en-US" sz="1400" dirty="0">
                <a:solidFill>
                  <a:schemeClr val="tx2"/>
                </a:solidFill>
              </a:rPr>
              <a:t>  a month</a:t>
            </a:r>
            <a:endParaRPr lang="en-US" sz="1400" dirty="0"/>
          </a:p>
        </p:txBody>
      </p:sp>
      <p:sp>
        <p:nvSpPr>
          <p:cNvPr id="18" name="Text 13"/>
          <p:cNvSpPr txBox="1"/>
          <p:nvPr/>
        </p:nvSpPr>
        <p:spPr>
          <a:xfrm>
            <a:off x="7680960" y="4206240"/>
            <a:ext cx="3657600" cy="274320"/>
          </a:xfrm>
          <a:prstGeom prst="rect">
            <a:avLst/>
          </a:prstGeom>
          <a:noFill/>
          <a:ln/>
        </p:spPr>
        <p:txBody>
          <a:bodyPr wrap="square" lIns="0" tIns="0" rIns="0" bIns="0" rtlCol="0" anchor="t"/>
          <a:lstStyle/>
          <a:p>
            <a:pPr indent="0" marL="0">
              <a:buNone/>
            </a:pPr>
            <a:r>
              <a:rPr lang="en-US" sz="1200" strike="sngStrike" dirty="0">
                <a:solidFill>
                  <a:schemeClr val="tx2"/>
                </a:solidFill>
              </a:rPr>
              <a:t>Standard ₹4,999 a month</a:t>
            </a:r>
            <a:endParaRPr lang="en-US" sz="1200" dirty="0"/>
          </a:p>
        </p:txBody>
      </p:sp>
      <p:sp>
        <p:nvSpPr>
          <p:cNvPr id="19" name="Text 14"/>
          <p:cNvSpPr txBox="1"/>
          <p:nvPr/>
        </p:nvSpPr>
        <p:spPr>
          <a:xfrm>
            <a:off x="7680960" y="5029200"/>
            <a:ext cx="3657600" cy="365760"/>
          </a:xfrm>
          <a:prstGeom prst="rect">
            <a:avLst/>
          </a:prstGeom>
          <a:noFill/>
          <a:ln/>
        </p:spPr>
        <p:txBody>
          <a:bodyPr wrap="square" lIns="0" tIns="0" rIns="0" bIns="0" rtlCol="0" anchor="t"/>
          <a:lstStyle/>
          <a:p>
            <a:pPr indent="0" marL="0">
              <a:buNone/>
            </a:pPr>
            <a:r>
              <a:rPr lang="en-US" sz="1300" dirty="0">
                <a:solidFill>
                  <a:schemeClr val="tx1"/>
                </a:solidFill>
              </a:rPr>
              <a:t>Offered to pilot customers only.</a:t>
            </a:r>
            <a:endParaRPr lang="en-US" sz="1300" dirty="0"/>
          </a:p>
        </p:txBody>
      </p:sp>
      <p:sp>
        <p:nvSpPr>
          <p:cNvPr id="25" name="Slide Number Placeholder 0"/>
          <p:cNvSpPr>
            <a:spLocks noGrp="1"/>
          </p:cNvSpPr>
          <p:nvPr>
            <p:ph type="sldNum" sz="quarter" idx="4294967295"/>
          </p:nvPr>
        </p:nvSpPr>
        <p:spPr>
          <a:xfrm>
            <a:off x="9509760" y="6355080"/>
            <a:ext cx="64008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3" type="body" hasCustomPrompt="1"/>
          </p:nvPr>
        </p:nvSpPr>
        <p:spPr>
          <a:xfrm>
            <a:off x="548640" y="384048"/>
            <a:ext cx="11064240" cy="274320"/>
          </a:xfrm>
          <a:prstGeom prst="rect">
            <a:avLst/>
          </a:prstGeom>
          <a:noFill/>
          <a:ln/>
        </p:spPr>
        <p:txBody>
          <a:bodyPr wrap="square" lIns="0" tIns="0" rIns="0" bIns="0" rtlCol="0" anchor="t"/>
          <a:lstStyle/>
          <a:p>
            <a:pPr algn="l" indent="0" marL="0">
              <a:buNone/>
            </a:pPr>
            <a:r>
              <a:rPr lang="en-US" sz="1100" b="1" spc="150" kern="0" dirty="0">
                <a:solidFill>
                  <a:schemeClr val="accent1"/>
                </a:solidFill>
              </a:rPr>
              <a:t>CURRENT SITUATION</a:t>
            </a:r>
            <a:endParaRPr lang="en-US" sz="1100" dirty="0"/>
          </a:p>
        </p:txBody>
      </p:sp>
      <p:sp>
        <p:nvSpPr>
          <p:cNvPr id="3" name="Text 2"/>
          <p:cNvSpPr/>
          <p:nvPr>
            <p:ph idx="104" type="title" hasCustomPrompt="1"/>
          </p:nvPr>
        </p:nvSpPr>
        <p:spPr>
          <a:xfrm>
            <a:off x="548640" y="685800"/>
            <a:ext cx="11064240" cy="685800"/>
          </a:xfrm>
          <a:prstGeom prst="rect">
            <a:avLst/>
          </a:prstGeom>
          <a:noFill/>
          <a:ln/>
        </p:spPr>
        <p:txBody>
          <a:bodyPr wrap="square" lIns="0" tIns="0" rIns="0" bIns="0" rtlCol="0" anchor="t"/>
          <a:lstStyle/>
          <a:p>
            <a:pPr algn="l" indent="0" marL="0">
              <a:buNone/>
            </a:pPr>
            <a:r>
              <a:rPr lang="en-US" sz="3000" b="1" dirty="0">
                <a:solidFill>
                  <a:schemeClr val="tx1"/>
                </a:solidFill>
              </a:rPr>
              <a:t>Your ads already bring about 100 enquiries a month</a:t>
            </a:r>
            <a:endParaRPr lang="en-US" sz="3000" dirty="0"/>
          </a:p>
        </p:txBody>
      </p:sp>
      <p:sp>
        <p:nvSpPr>
          <p:cNvPr id="4" name="stat-0"/>
          <p:cNvSpPr/>
          <p:nvPr/>
        </p:nvSpPr>
        <p:spPr>
          <a:xfrm>
            <a:off x="548640" y="1691640"/>
            <a:ext cx="2606040" cy="3200400"/>
          </a:xfrm>
          <a:prstGeom prst="roundRect">
            <a:avLst>
              <a:gd name="adj" fmla="val 4211"/>
            </a:avLst>
          </a:prstGeom>
          <a:solidFill>
            <a:schemeClr val="bg1"/>
          </a:solidFill>
          <a:ln w="9525">
            <a:solidFill>
              <a:srgbClr val="D5DEDB"/>
            </a:solidFill>
            <a:prstDash val="solid"/>
          </a:ln>
        </p:spPr>
      </p:sp>
      <p:pic>
        <p:nvPicPr>
          <p:cNvPr id="5" name="Image 0" descr="preencoded.png">    </p:cNvPr>
          <p:cNvPicPr>
            <a:picLocks noChangeAspect="1"/>
          </p:cNvPicPr>
          <p:nvPr/>
        </p:nvPicPr>
        <p:blipFill>
          <a:blip r:embed="rId1"/>
          <a:stretch>
            <a:fillRect/>
          </a:stretch>
        </p:blipFill>
        <p:spPr>
          <a:xfrm>
            <a:off x="868680" y="2011680"/>
            <a:ext cx="411480" cy="411480"/>
          </a:xfrm>
          <a:prstGeom prst="rect">
            <a:avLst/>
          </a:prstGeom>
        </p:spPr>
      </p:pic>
      <p:sp>
        <p:nvSpPr>
          <p:cNvPr id="6" name="Text 3"/>
          <p:cNvSpPr txBox="1"/>
          <p:nvPr/>
        </p:nvSpPr>
        <p:spPr>
          <a:xfrm>
            <a:off x="868680" y="2743200"/>
            <a:ext cx="2011680" cy="731520"/>
          </a:xfrm>
          <a:prstGeom prst="rect">
            <a:avLst/>
          </a:prstGeom>
          <a:noFill/>
          <a:ln/>
        </p:spPr>
        <p:txBody>
          <a:bodyPr wrap="square" lIns="0" tIns="0" rIns="0" bIns="0" rtlCol="0" anchor="b"/>
          <a:lstStyle/>
          <a:p>
            <a:pPr indent="0" marL="0">
              <a:buNone/>
            </a:pPr>
            <a:r>
              <a:rPr lang="en-US" sz="4400" b="1" dirty="0">
                <a:solidFill>
                  <a:schemeClr val="tx1"/>
                </a:solidFill>
              </a:rPr>
              <a:t>~3</a:t>
            </a:r>
            <a:endParaRPr lang="en-US" sz="4400" dirty="0"/>
          </a:p>
        </p:txBody>
      </p:sp>
      <p:sp>
        <p:nvSpPr>
          <p:cNvPr id="7" name="Text 4"/>
          <p:cNvSpPr txBox="1"/>
          <p:nvPr/>
        </p:nvSpPr>
        <p:spPr>
          <a:xfrm>
            <a:off x="868680" y="3566160"/>
            <a:ext cx="2011680" cy="1097280"/>
          </a:xfrm>
          <a:prstGeom prst="rect">
            <a:avLst/>
          </a:prstGeom>
          <a:noFill/>
          <a:ln/>
        </p:spPr>
        <p:txBody>
          <a:bodyPr wrap="square" lIns="0" tIns="0" rIns="0" bIns="0" rtlCol="0" anchor="t"/>
          <a:lstStyle/>
          <a:p>
            <a:pPr indent="0" marL="0">
              <a:buNone/>
            </a:pPr>
            <a:r>
              <a:rPr lang="en-US" sz="1400" dirty="0">
                <a:solidFill>
                  <a:schemeClr val="tx2"/>
                </a:solidFill>
              </a:rPr>
              <a:t>ad campaigns a month</a:t>
            </a:r>
            <a:endParaRPr lang="en-US" sz="1400" dirty="0"/>
          </a:p>
        </p:txBody>
      </p:sp>
      <p:sp>
        <p:nvSpPr>
          <p:cNvPr id="8" name="stat-1"/>
          <p:cNvSpPr/>
          <p:nvPr/>
        </p:nvSpPr>
        <p:spPr>
          <a:xfrm>
            <a:off x="3383280" y="1691640"/>
            <a:ext cx="2606040" cy="3200400"/>
          </a:xfrm>
          <a:prstGeom prst="roundRect">
            <a:avLst>
              <a:gd name="adj" fmla="val 4211"/>
            </a:avLst>
          </a:prstGeom>
          <a:solidFill>
            <a:schemeClr val="bg1"/>
          </a:solidFill>
          <a:ln w="9525">
            <a:solidFill>
              <a:srgbClr val="D5DEDB"/>
            </a:solidFill>
            <a:prstDash val="solid"/>
          </a:ln>
        </p:spPr>
      </p:sp>
      <p:pic>
        <p:nvPicPr>
          <p:cNvPr id="9" name="Image 1" descr="preencoded.png">    </p:cNvPr>
          <p:cNvPicPr>
            <a:picLocks noChangeAspect="1"/>
          </p:cNvPicPr>
          <p:nvPr/>
        </p:nvPicPr>
        <p:blipFill>
          <a:blip r:embed="rId2"/>
          <a:stretch>
            <a:fillRect/>
          </a:stretch>
        </p:blipFill>
        <p:spPr>
          <a:xfrm>
            <a:off x="3703320" y="2011680"/>
            <a:ext cx="411480" cy="411480"/>
          </a:xfrm>
          <a:prstGeom prst="rect">
            <a:avLst/>
          </a:prstGeom>
        </p:spPr>
      </p:pic>
      <p:sp>
        <p:nvSpPr>
          <p:cNvPr id="10" name="Text 6"/>
          <p:cNvSpPr txBox="1"/>
          <p:nvPr/>
        </p:nvSpPr>
        <p:spPr>
          <a:xfrm>
            <a:off x="3703320" y="2743200"/>
            <a:ext cx="2011680" cy="731520"/>
          </a:xfrm>
          <a:prstGeom prst="rect">
            <a:avLst/>
          </a:prstGeom>
          <a:noFill/>
          <a:ln/>
        </p:spPr>
        <p:txBody>
          <a:bodyPr wrap="square" lIns="0" tIns="0" rIns="0" bIns="0" rtlCol="0" anchor="b"/>
          <a:lstStyle/>
          <a:p>
            <a:pPr indent="0" marL="0">
              <a:buNone/>
            </a:pPr>
            <a:r>
              <a:rPr lang="en-US" sz="4400" b="1" dirty="0">
                <a:solidFill>
                  <a:schemeClr val="tx1"/>
                </a:solidFill>
              </a:rPr>
              <a:t>~100</a:t>
            </a:r>
            <a:endParaRPr lang="en-US" sz="4400" dirty="0"/>
          </a:p>
        </p:txBody>
      </p:sp>
      <p:sp>
        <p:nvSpPr>
          <p:cNvPr id="11" name="Text 7"/>
          <p:cNvSpPr txBox="1"/>
          <p:nvPr/>
        </p:nvSpPr>
        <p:spPr>
          <a:xfrm>
            <a:off x="3703320" y="3566160"/>
            <a:ext cx="2011680" cy="1097280"/>
          </a:xfrm>
          <a:prstGeom prst="rect">
            <a:avLst/>
          </a:prstGeom>
          <a:noFill/>
          <a:ln/>
        </p:spPr>
        <p:txBody>
          <a:bodyPr wrap="square" lIns="0" tIns="0" rIns="0" bIns="0" rtlCol="0" anchor="t"/>
          <a:lstStyle/>
          <a:p>
            <a:pPr indent="0" marL="0">
              <a:buNone/>
            </a:pPr>
            <a:r>
              <a:rPr lang="en-US" sz="1400" dirty="0">
                <a:solidFill>
                  <a:schemeClr val="tx2"/>
                </a:solidFill>
              </a:rPr>
              <a:t>enquiries a month</a:t>
            </a:r>
            <a:endParaRPr lang="en-US" sz="1400" dirty="0"/>
          </a:p>
        </p:txBody>
      </p:sp>
      <p:sp>
        <p:nvSpPr>
          <p:cNvPr id="12" name="stat-2"/>
          <p:cNvSpPr/>
          <p:nvPr/>
        </p:nvSpPr>
        <p:spPr>
          <a:xfrm>
            <a:off x="6217920" y="1691640"/>
            <a:ext cx="2606040" cy="3200400"/>
          </a:xfrm>
          <a:prstGeom prst="roundRect">
            <a:avLst>
              <a:gd name="adj" fmla="val 4211"/>
            </a:avLst>
          </a:prstGeom>
          <a:solidFill>
            <a:schemeClr val="bg1"/>
          </a:solidFill>
          <a:ln w="9525">
            <a:solidFill>
              <a:srgbClr val="D5DEDB"/>
            </a:solidFill>
            <a:prstDash val="solid"/>
          </a:ln>
        </p:spPr>
      </p:sp>
      <p:pic>
        <p:nvPicPr>
          <p:cNvPr id="13" name="Image 2" descr="preencoded.png">    </p:cNvPr>
          <p:cNvPicPr>
            <a:picLocks noChangeAspect="1"/>
          </p:cNvPicPr>
          <p:nvPr/>
        </p:nvPicPr>
        <p:blipFill>
          <a:blip r:embed="rId3"/>
          <a:stretch>
            <a:fillRect/>
          </a:stretch>
        </p:blipFill>
        <p:spPr>
          <a:xfrm>
            <a:off x="6537960" y="2011680"/>
            <a:ext cx="411480" cy="411480"/>
          </a:xfrm>
          <a:prstGeom prst="rect">
            <a:avLst/>
          </a:prstGeom>
        </p:spPr>
      </p:pic>
      <p:sp>
        <p:nvSpPr>
          <p:cNvPr id="14" name="Text 9"/>
          <p:cNvSpPr txBox="1"/>
          <p:nvPr/>
        </p:nvSpPr>
        <p:spPr>
          <a:xfrm>
            <a:off x="6537960" y="2743200"/>
            <a:ext cx="2011680" cy="731520"/>
          </a:xfrm>
          <a:prstGeom prst="rect">
            <a:avLst/>
          </a:prstGeom>
          <a:noFill/>
          <a:ln/>
        </p:spPr>
        <p:txBody>
          <a:bodyPr wrap="square" lIns="0" tIns="0" rIns="0" bIns="0" rtlCol="0" anchor="b"/>
          <a:lstStyle/>
          <a:p>
            <a:pPr indent="0" marL="0">
              <a:buNone/>
            </a:pPr>
            <a:r>
              <a:rPr lang="en-US" sz="2600" b="1" dirty="0">
                <a:solidFill>
                  <a:schemeClr val="tx1"/>
                </a:solidFill>
              </a:rPr>
              <a:t>WhatsApp</a:t>
            </a:r>
            <a:endParaRPr lang="en-US" sz="2600" dirty="0"/>
          </a:p>
        </p:txBody>
      </p:sp>
      <p:sp>
        <p:nvSpPr>
          <p:cNvPr id="15" name="Text 10"/>
          <p:cNvSpPr txBox="1"/>
          <p:nvPr/>
        </p:nvSpPr>
        <p:spPr>
          <a:xfrm>
            <a:off x="6537960" y="3566160"/>
            <a:ext cx="2011680" cy="1097280"/>
          </a:xfrm>
          <a:prstGeom prst="rect">
            <a:avLst/>
          </a:prstGeom>
          <a:noFill/>
          <a:ln/>
        </p:spPr>
        <p:txBody>
          <a:bodyPr wrap="square" lIns="0" tIns="0" rIns="0" bIns="0" rtlCol="0" anchor="t"/>
          <a:lstStyle/>
          <a:p>
            <a:pPr indent="0" marL="0">
              <a:buNone/>
            </a:pPr>
            <a:r>
              <a:rPr lang="en-US" sz="1400" dirty="0">
                <a:solidFill>
                  <a:schemeClr val="tx2"/>
                </a:solidFill>
              </a:rPr>
              <a:t>where most enquiries arrive</a:t>
            </a:r>
            <a:endParaRPr lang="en-US" sz="1400" dirty="0"/>
          </a:p>
        </p:txBody>
      </p:sp>
      <p:sp>
        <p:nvSpPr>
          <p:cNvPr id="16" name="stat-3"/>
          <p:cNvSpPr/>
          <p:nvPr/>
        </p:nvSpPr>
        <p:spPr>
          <a:xfrm>
            <a:off x="9052560" y="1691640"/>
            <a:ext cx="2606040" cy="3200400"/>
          </a:xfrm>
          <a:prstGeom prst="roundRect">
            <a:avLst>
              <a:gd name="adj" fmla="val 4211"/>
            </a:avLst>
          </a:prstGeom>
          <a:solidFill>
            <a:schemeClr val="bg1"/>
          </a:solidFill>
          <a:ln w="9525">
            <a:solidFill>
              <a:srgbClr val="D5DEDB"/>
            </a:solidFill>
            <a:prstDash val="solid"/>
          </a:ln>
        </p:spPr>
      </p:sp>
      <p:pic>
        <p:nvPicPr>
          <p:cNvPr id="17" name="Image 3" descr="preencoded.png">    </p:cNvPr>
          <p:cNvPicPr>
            <a:picLocks noChangeAspect="1"/>
          </p:cNvPicPr>
          <p:nvPr/>
        </p:nvPicPr>
        <p:blipFill>
          <a:blip r:embed="rId4"/>
          <a:stretch>
            <a:fillRect/>
          </a:stretch>
        </p:blipFill>
        <p:spPr>
          <a:xfrm>
            <a:off x="9372600" y="2011680"/>
            <a:ext cx="411480" cy="411480"/>
          </a:xfrm>
          <a:prstGeom prst="rect">
            <a:avLst/>
          </a:prstGeom>
        </p:spPr>
      </p:pic>
      <p:sp>
        <p:nvSpPr>
          <p:cNvPr id="18" name="Text 12"/>
          <p:cNvSpPr txBox="1"/>
          <p:nvPr/>
        </p:nvSpPr>
        <p:spPr>
          <a:xfrm>
            <a:off x="9372600" y="2743200"/>
            <a:ext cx="2011680" cy="731520"/>
          </a:xfrm>
          <a:prstGeom prst="rect">
            <a:avLst/>
          </a:prstGeom>
          <a:noFill/>
          <a:ln/>
        </p:spPr>
        <p:txBody>
          <a:bodyPr wrap="square" lIns="0" tIns="0" rIns="0" bIns="0" rtlCol="0" anchor="b"/>
          <a:lstStyle/>
          <a:p>
            <a:pPr indent="0" marL="0">
              <a:buNone/>
            </a:pPr>
            <a:r>
              <a:rPr lang="en-US" sz="2600" b="1" dirty="0">
                <a:solidFill>
                  <a:schemeClr val="tx1"/>
                </a:solidFill>
              </a:rPr>
              <a:t>Meta AI bot</a:t>
            </a:r>
            <a:endParaRPr lang="en-US" sz="2600" dirty="0"/>
          </a:p>
        </p:txBody>
      </p:sp>
      <p:sp>
        <p:nvSpPr>
          <p:cNvPr id="19" name="Text 13"/>
          <p:cNvSpPr txBox="1"/>
          <p:nvPr/>
        </p:nvSpPr>
        <p:spPr>
          <a:xfrm>
            <a:off x="9372600" y="3566160"/>
            <a:ext cx="2011680" cy="1097280"/>
          </a:xfrm>
          <a:prstGeom prst="rect">
            <a:avLst/>
          </a:prstGeom>
          <a:noFill/>
          <a:ln/>
        </p:spPr>
        <p:txBody>
          <a:bodyPr wrap="square" lIns="0" tIns="0" rIns="0" bIns="0" rtlCol="0" anchor="t"/>
          <a:lstStyle/>
          <a:p>
            <a:pPr indent="0" marL="0">
              <a:buNone/>
            </a:pPr>
            <a:r>
              <a:rPr lang="en-US" sz="1400" dirty="0">
                <a:solidFill>
                  <a:schemeClr val="tx2"/>
                </a:solidFill>
              </a:rPr>
              <a:t>has sometimes given patients incorrect information</a:t>
            </a:r>
            <a:endParaRPr lang="en-US" sz="1400" dirty="0"/>
          </a:p>
        </p:txBody>
      </p:sp>
      <p:sp>
        <p:nvSpPr>
          <p:cNvPr id="20" name="Text 14"/>
          <p:cNvSpPr txBox="1"/>
          <p:nvPr/>
        </p:nvSpPr>
        <p:spPr>
          <a:xfrm>
            <a:off x="548640" y="5120640"/>
            <a:ext cx="7315200" cy="320040"/>
          </a:xfrm>
          <a:prstGeom prst="rect">
            <a:avLst/>
          </a:prstGeom>
          <a:noFill/>
          <a:ln/>
        </p:spPr>
        <p:txBody>
          <a:bodyPr wrap="square" lIns="0" tIns="0" rIns="0" bIns="0" rtlCol="0" anchor="t"/>
          <a:lstStyle/>
          <a:p>
            <a:pPr indent="0" marL="0">
              <a:buNone/>
            </a:pPr>
            <a:r>
              <a:rPr lang="en-US" sz="1100" dirty="0">
                <a:solidFill>
                  <a:schemeClr val="tx2"/>
                </a:solidFill>
              </a:rPr>
              <a:t>Figures shared by the clinic.</a:t>
            </a:r>
            <a:endParaRPr lang="en-US" sz="1100" dirty="0"/>
          </a:p>
        </p:txBody>
      </p:sp>
      <p:sp>
        <p:nvSpPr>
          <p:cNvPr id="25" name="Slide Number Placeholder 0"/>
          <p:cNvSpPr>
            <a:spLocks noGrp="1"/>
          </p:cNvSpPr>
          <p:nvPr>
            <p:ph type="sldNum" sz="quarter" idx="4294967295"/>
          </p:nvPr>
        </p:nvSpPr>
        <p:spPr>
          <a:xfrm>
            <a:off x="9509760" y="6355080"/>
            <a:ext cx="64008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idx="103" type="body" hasCustomPrompt="1"/>
          </p:nvPr>
        </p:nvSpPr>
        <p:spPr>
          <a:xfrm>
            <a:off x="548640" y="384048"/>
            <a:ext cx="11064240" cy="274320"/>
          </a:xfrm>
          <a:prstGeom prst="rect">
            <a:avLst/>
          </a:prstGeom>
          <a:noFill/>
          <a:ln/>
        </p:spPr>
        <p:txBody>
          <a:bodyPr wrap="square" lIns="0" tIns="0" rIns="0" bIns="0" rtlCol="0" anchor="t"/>
          <a:lstStyle/>
          <a:p>
            <a:pPr algn="l" indent="0" marL="0">
              <a:buNone/>
            </a:pPr>
            <a:r>
              <a:rPr lang="en-US" sz="1100" b="1" spc="150" kern="0" dirty="0">
                <a:solidFill>
                  <a:schemeClr val="accent1"/>
                </a:solidFill>
              </a:rPr>
              <a:t>WHERE ENQUIRIES ARE LOST</a:t>
            </a:r>
            <a:endParaRPr lang="en-US" sz="1100" dirty="0"/>
          </a:p>
        </p:txBody>
      </p:sp>
      <p:sp>
        <p:nvSpPr>
          <p:cNvPr id="3" name="Text 2"/>
          <p:cNvSpPr/>
          <p:nvPr>
            <p:ph idx="104" type="title" hasCustomPrompt="1"/>
          </p:nvPr>
        </p:nvSpPr>
        <p:spPr>
          <a:xfrm>
            <a:off x="548640" y="685800"/>
            <a:ext cx="11064240" cy="685800"/>
          </a:xfrm>
          <a:prstGeom prst="rect">
            <a:avLst/>
          </a:prstGeom>
          <a:noFill/>
          <a:ln/>
        </p:spPr>
        <p:txBody>
          <a:bodyPr wrap="square" lIns="0" tIns="0" rIns="0" bIns="0" rtlCol="0" anchor="t"/>
          <a:lstStyle/>
          <a:p>
            <a:pPr algn="l" indent="0" marL="0">
              <a:buNone/>
            </a:pPr>
            <a:r>
              <a:rPr lang="en-US" sz="3000" b="1" dirty="0">
                <a:solidFill>
                  <a:schemeClr val="tx1"/>
                </a:solidFill>
              </a:rPr>
              <a:t>Some enquiries never become appointments</a:t>
            </a:r>
            <a:endParaRPr lang="en-US" sz="3000" dirty="0"/>
          </a:p>
        </p:txBody>
      </p:sp>
      <p:sp>
        <p:nvSpPr>
          <p:cNvPr id="4" name="Shape 2"/>
          <p:cNvSpPr/>
          <p:nvPr/>
        </p:nvSpPr>
        <p:spPr>
          <a:xfrm>
            <a:off x="548640" y="1737360"/>
            <a:ext cx="5486400" cy="713232"/>
          </a:xfrm>
          <a:prstGeom prst="roundRect">
            <a:avLst>
              <a:gd name="adj" fmla="val 12821"/>
            </a:avLst>
          </a:prstGeom>
          <a:solidFill>
            <a:schemeClr val="tx1"/>
          </a:solidFill>
          <a:ln/>
        </p:spPr>
      </p:sp>
      <p:sp>
        <p:nvSpPr>
          <p:cNvPr id="5" name="Text 3"/>
          <p:cNvSpPr txBox="1"/>
          <p:nvPr/>
        </p:nvSpPr>
        <p:spPr>
          <a:xfrm>
            <a:off x="548640" y="1737360"/>
            <a:ext cx="5486400" cy="713232"/>
          </a:xfrm>
          <a:prstGeom prst="rect">
            <a:avLst/>
          </a:prstGeom>
          <a:noFill/>
          <a:ln/>
        </p:spPr>
        <p:txBody>
          <a:bodyPr wrap="square" lIns="0" tIns="0" rIns="0" bIns="0" rtlCol="0" anchor="ctr"/>
          <a:lstStyle/>
          <a:p>
            <a:pPr algn="ctr" indent="0" marL="0">
              <a:buNone/>
            </a:pPr>
            <a:r>
              <a:rPr lang="en-US" sz="1500" b="1" dirty="0">
                <a:solidFill>
                  <a:schemeClr val="bg1"/>
                </a:solidFill>
              </a:rPr>
              <a:t>~100 enquiries a month</a:t>
            </a:r>
            <a:endParaRPr lang="en-US" sz="1500" dirty="0"/>
          </a:p>
        </p:txBody>
      </p:sp>
      <p:sp>
        <p:nvSpPr>
          <p:cNvPr id="6" name="Shape 4"/>
          <p:cNvSpPr/>
          <p:nvPr/>
        </p:nvSpPr>
        <p:spPr>
          <a:xfrm>
            <a:off x="960120" y="2606040"/>
            <a:ext cx="4663440" cy="713232"/>
          </a:xfrm>
          <a:prstGeom prst="roundRect">
            <a:avLst>
              <a:gd name="adj" fmla="val 12821"/>
            </a:avLst>
          </a:prstGeom>
          <a:solidFill>
            <a:schemeClr val="accent1"/>
          </a:solidFill>
          <a:ln/>
        </p:spPr>
      </p:sp>
      <p:sp>
        <p:nvSpPr>
          <p:cNvPr id="7" name="Text 5"/>
          <p:cNvSpPr txBox="1"/>
          <p:nvPr/>
        </p:nvSpPr>
        <p:spPr>
          <a:xfrm>
            <a:off x="960120" y="2606040"/>
            <a:ext cx="4663440" cy="713232"/>
          </a:xfrm>
          <a:prstGeom prst="rect">
            <a:avLst/>
          </a:prstGeom>
          <a:noFill/>
          <a:ln/>
        </p:spPr>
        <p:txBody>
          <a:bodyPr wrap="square" lIns="0" tIns="0" rIns="0" bIns="0" rtlCol="0" anchor="ctr"/>
          <a:lstStyle/>
          <a:p>
            <a:pPr algn="ctr" indent="0" marL="0">
              <a:buNone/>
            </a:pPr>
            <a:r>
              <a:rPr lang="en-US" sz="1500" b="1" dirty="0">
                <a:solidFill>
                  <a:schemeClr val="bg1"/>
                </a:solidFill>
              </a:rPr>
              <a:t>Book an appointment</a:t>
            </a:r>
            <a:endParaRPr lang="en-US" sz="1500" dirty="0"/>
          </a:p>
        </p:txBody>
      </p:sp>
      <p:sp>
        <p:nvSpPr>
          <p:cNvPr id="8" name="Shape 6"/>
          <p:cNvSpPr/>
          <p:nvPr/>
        </p:nvSpPr>
        <p:spPr>
          <a:xfrm>
            <a:off x="1371600" y="3474720"/>
            <a:ext cx="3840480" cy="713232"/>
          </a:xfrm>
          <a:prstGeom prst="roundRect">
            <a:avLst>
              <a:gd name="adj" fmla="val 12821"/>
            </a:avLst>
          </a:prstGeom>
          <a:solidFill>
            <a:schemeClr val="accent4"/>
          </a:solidFill>
          <a:ln/>
        </p:spPr>
      </p:sp>
      <p:sp>
        <p:nvSpPr>
          <p:cNvPr id="9" name="Text 7"/>
          <p:cNvSpPr txBox="1"/>
          <p:nvPr/>
        </p:nvSpPr>
        <p:spPr>
          <a:xfrm>
            <a:off x="1371600" y="3474720"/>
            <a:ext cx="3840480" cy="713232"/>
          </a:xfrm>
          <a:prstGeom prst="rect">
            <a:avLst/>
          </a:prstGeom>
          <a:noFill/>
          <a:ln/>
        </p:spPr>
        <p:txBody>
          <a:bodyPr wrap="square" lIns="0" tIns="0" rIns="0" bIns="0" rtlCol="0" anchor="ctr"/>
          <a:lstStyle/>
          <a:p>
            <a:pPr algn="ctr" indent="0" marL="0">
              <a:buNone/>
            </a:pPr>
            <a:r>
              <a:rPr lang="en-US" sz="1500" b="1" dirty="0">
                <a:solidFill>
                  <a:schemeClr val="tx1"/>
                </a:solidFill>
              </a:rPr>
              <a:t>Enquire but don't book</a:t>
            </a:r>
            <a:endParaRPr lang="en-US" sz="1500" dirty="0"/>
          </a:p>
        </p:txBody>
      </p:sp>
      <p:sp>
        <p:nvSpPr>
          <p:cNvPr id="10" name="Shape 8"/>
          <p:cNvSpPr/>
          <p:nvPr/>
        </p:nvSpPr>
        <p:spPr>
          <a:xfrm>
            <a:off x="1783080" y="4343400"/>
            <a:ext cx="3017520" cy="713232"/>
          </a:xfrm>
          <a:prstGeom prst="roundRect">
            <a:avLst>
              <a:gd name="adj" fmla="val 12821"/>
            </a:avLst>
          </a:prstGeom>
          <a:solidFill>
            <a:schemeClr val="bg1"/>
          </a:solidFill>
          <a:ln w="9525">
            <a:solidFill>
              <a:schemeClr val="accent6"/>
            </a:solidFill>
            <a:prstDash val="solid"/>
          </a:ln>
        </p:spPr>
      </p:sp>
      <p:sp>
        <p:nvSpPr>
          <p:cNvPr id="11" name="Text 9"/>
          <p:cNvSpPr txBox="1"/>
          <p:nvPr/>
        </p:nvSpPr>
        <p:spPr>
          <a:xfrm>
            <a:off x="1783080" y="4343400"/>
            <a:ext cx="3017520" cy="713232"/>
          </a:xfrm>
          <a:prstGeom prst="rect">
            <a:avLst/>
          </a:prstGeom>
          <a:noFill/>
          <a:ln/>
        </p:spPr>
        <p:txBody>
          <a:bodyPr wrap="square" lIns="0" tIns="0" rIns="0" bIns="0" rtlCol="0" anchor="ctr"/>
          <a:lstStyle/>
          <a:p>
            <a:pPr algn="ctr" indent="0" marL="0">
              <a:buNone/>
            </a:pPr>
            <a:r>
              <a:rPr lang="en-US" sz="1500" b="1" dirty="0">
                <a:solidFill>
                  <a:schemeClr val="accent6"/>
                </a:solidFill>
              </a:rPr>
              <a:t>Revenue that never arrives</a:t>
            </a:r>
            <a:endParaRPr lang="en-US" sz="1500" dirty="0"/>
          </a:p>
        </p:txBody>
      </p:sp>
      <p:sp>
        <p:nvSpPr>
          <p:cNvPr id="12" name="Text 10"/>
          <p:cNvSpPr txBox="1"/>
          <p:nvPr/>
        </p:nvSpPr>
        <p:spPr>
          <a:xfrm>
            <a:off x="548640" y="5303520"/>
            <a:ext cx="5486400" cy="457200"/>
          </a:xfrm>
          <a:prstGeom prst="rect">
            <a:avLst/>
          </a:prstGeom>
          <a:noFill/>
          <a:ln/>
        </p:spPr>
        <p:txBody>
          <a:bodyPr wrap="square" lIns="0" tIns="0" rIns="0" bIns="0" rtlCol="0" anchor="t"/>
          <a:lstStyle/>
          <a:p>
            <a:pPr indent="0" marL="0">
              <a:buNone/>
            </a:pPr>
            <a:r>
              <a:rPr lang="en-US" sz="1200" dirty="0">
                <a:solidFill>
                  <a:schemeClr val="tx2"/>
                </a:solidFill>
              </a:rPr>
              <a:t>How many book and how many drop away is measured from day one.</a:t>
            </a:r>
            <a:endParaRPr lang="en-US" sz="1200" dirty="0"/>
          </a:p>
        </p:txBody>
      </p:sp>
      <p:sp>
        <p:nvSpPr>
          <p:cNvPr id="13" name="Text 11"/>
          <p:cNvSpPr txBox="1"/>
          <p:nvPr/>
        </p:nvSpPr>
        <p:spPr>
          <a:xfrm>
            <a:off x="6675120" y="1737360"/>
            <a:ext cx="4965192" cy="4206240"/>
          </a:xfrm>
          <a:prstGeom prst="rect">
            <a:avLst/>
          </a:prstGeom>
          <a:noFill/>
          <a:ln/>
        </p:spPr>
        <p:txBody>
          <a:bodyPr wrap="square" lIns="0" tIns="0" rIns="0" bIns="0" rtlCol="0" anchor="t"/>
          <a:lstStyle/>
          <a:p>
            <a:pPr indent="0" marL="0">
              <a:buNone/>
            </a:pPr>
            <a:r>
              <a:rPr lang="en-US" sz="1400" b="1" dirty="0">
                <a:solidFill>
                  <a:schemeClr val="tx1"/>
                </a:solidFill>
              </a:rPr>
              <a:t>Wrong or inconsistent answers</a:t>
            </a:r>
            <a:endParaRPr lang="en-US" sz="1400" dirty="0"/>
          </a:p>
          <a:p>
            <a:pPr indent="0" marL="0">
              <a:spcAft>
                <a:spcPts val="1000"/>
              </a:spcAft>
              <a:buNone/>
            </a:pPr>
            <a:r>
              <a:rPr lang="en-US" sz="1400" dirty="0">
                <a:solidFill>
                  <a:schemeClr val="tx2"/>
                </a:solidFill>
              </a:rPr>
              <a:t>A patient given the wrong fee, timing or detail may not come back to check.</a:t>
            </a:r>
            <a:endParaRPr lang="en-US" sz="1400" dirty="0"/>
          </a:p>
          <a:p>
            <a:pPr indent="0" marL="0">
              <a:buNone/>
            </a:pPr>
            <a:r>
              <a:rPr lang="en-US" sz="1400" b="1" dirty="0">
                <a:solidFill>
                  <a:schemeClr val="tx1"/>
                </a:solidFill>
              </a:rPr>
              <a:t>No clear next step</a:t>
            </a:r>
            <a:endParaRPr lang="en-US" sz="1400" dirty="0"/>
          </a:p>
          <a:p>
            <a:pPr indent="0" marL="0">
              <a:spcAft>
                <a:spcPts val="1000"/>
              </a:spcAft>
              <a:buNone/>
            </a:pPr>
            <a:r>
              <a:rPr lang="en-US" sz="1400" dirty="0">
                <a:solidFill>
                  <a:schemeClr val="tx2"/>
                </a:solidFill>
              </a:rPr>
              <a:t>Without the patient's location and need, the right consultation isn't offered.</a:t>
            </a:r>
            <a:endParaRPr lang="en-US" sz="1400" dirty="0"/>
          </a:p>
          <a:p>
            <a:pPr indent="0" marL="0">
              <a:buNone/>
            </a:pPr>
            <a:r>
              <a:rPr lang="en-US" sz="1400" b="1" dirty="0">
                <a:solidFill>
                  <a:schemeClr val="tx1"/>
                </a:solidFill>
              </a:rPr>
              <a:t>Non-bookers fade away</a:t>
            </a:r>
            <a:endParaRPr lang="en-US" sz="1400" dirty="0"/>
          </a:p>
          <a:p>
            <a:pPr indent="0" marL="0">
              <a:spcAft>
                <a:spcPts val="1000"/>
              </a:spcAft>
              <a:buNone/>
            </a:pPr>
            <a:r>
              <a:rPr lang="en-US" sz="1400" dirty="0">
                <a:solidFill>
                  <a:schemeClr val="tx2"/>
                </a:solidFill>
              </a:rPr>
              <a:t>Someone who asks but doesn't book needs a call. Without a list, it depends on memory.</a:t>
            </a:r>
            <a:endParaRPr lang="en-US" sz="1400" dirty="0"/>
          </a:p>
          <a:p>
            <a:pPr indent="0" marL="0">
              <a:buNone/>
            </a:pPr>
            <a:r>
              <a:rPr lang="en-US" sz="1400" b="1" dirty="0">
                <a:solidFill>
                  <a:schemeClr val="tx1"/>
                </a:solidFill>
              </a:rPr>
              <a:t>No view of what works</a:t>
            </a:r>
            <a:endParaRPr lang="en-US" sz="1400" dirty="0"/>
          </a:p>
          <a:p>
            <a:pPr indent="0" marL="0">
              <a:spcAft>
                <a:spcPts val="1000"/>
              </a:spcAft>
              <a:buNone/>
            </a:pPr>
            <a:r>
              <a:rPr lang="en-US" sz="1400" dirty="0">
                <a:solidFill>
                  <a:schemeClr val="tx2"/>
                </a:solidFill>
              </a:rPr>
              <a:t>Without numbers for each campaign, it's hard to see which ads pay for themselves.</a:t>
            </a:r>
            <a:endParaRPr lang="en-US" sz="1400" dirty="0"/>
          </a:p>
        </p:txBody>
      </p:sp>
      <p:sp>
        <p:nvSpPr>
          <p:cNvPr id="25" name="Slide Number Placeholder 0"/>
          <p:cNvSpPr>
            <a:spLocks noGrp="1"/>
          </p:cNvSpPr>
          <p:nvPr>
            <p:ph type="sldNum" sz="quarter" idx="4294967295"/>
          </p:nvPr>
        </p:nvSpPr>
        <p:spPr>
          <a:xfrm>
            <a:off x="9509760" y="6355080"/>
            <a:ext cx="64008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3" type="body" hasCustomPrompt="1"/>
          </p:nvPr>
        </p:nvSpPr>
        <p:spPr>
          <a:xfrm>
            <a:off x="548640" y="384048"/>
            <a:ext cx="11064240" cy="274320"/>
          </a:xfrm>
          <a:prstGeom prst="rect">
            <a:avLst/>
          </a:prstGeom>
          <a:noFill/>
          <a:ln/>
        </p:spPr>
        <p:txBody>
          <a:bodyPr wrap="square" lIns="0" tIns="0" rIns="0" bIns="0" rtlCol="0" anchor="t"/>
          <a:lstStyle/>
          <a:p>
            <a:pPr algn="l" indent="0" marL="0">
              <a:buNone/>
            </a:pPr>
            <a:r>
              <a:rPr lang="en-US" sz="1100" b="1" spc="150" kern="0" dirty="0">
                <a:solidFill>
                  <a:schemeClr val="accent1"/>
                </a:solidFill>
              </a:rPr>
              <a:t>BUSINESS CASE</a:t>
            </a:r>
            <a:endParaRPr lang="en-US" sz="1100" dirty="0"/>
          </a:p>
        </p:txBody>
      </p:sp>
      <p:sp>
        <p:nvSpPr>
          <p:cNvPr id="3" name="Text 2"/>
          <p:cNvSpPr/>
          <p:nvPr>
            <p:ph idx="104" type="title" hasCustomPrompt="1"/>
          </p:nvPr>
        </p:nvSpPr>
        <p:spPr>
          <a:xfrm>
            <a:off x="548640" y="685800"/>
            <a:ext cx="11064240" cy="685800"/>
          </a:xfrm>
          <a:prstGeom prst="rect">
            <a:avLst/>
          </a:prstGeom>
          <a:noFill/>
          <a:ln/>
        </p:spPr>
        <p:txBody>
          <a:bodyPr wrap="square" lIns="0" tIns="0" rIns="0" bIns="0" rtlCol="0" anchor="t"/>
          <a:lstStyle/>
          <a:p>
            <a:pPr algn="l" indent="0" marL="0">
              <a:buNone/>
            </a:pPr>
            <a:r>
              <a:rPr lang="en-US" sz="3000" b="1" dirty="0">
                <a:solidFill>
                  <a:schemeClr val="tx1"/>
                </a:solidFill>
              </a:rPr>
              <a:t>One patient brought back a month can cover the fee</a:t>
            </a:r>
            <a:endParaRPr lang="en-US" sz="3000" dirty="0"/>
          </a:p>
        </p:txBody>
      </p:sp>
      <p:sp>
        <p:nvSpPr>
          <p:cNvPr id="4" name="Text 2"/>
          <p:cNvSpPr txBox="1"/>
          <p:nvPr/>
        </p:nvSpPr>
        <p:spPr>
          <a:xfrm>
            <a:off x="548640" y="1691640"/>
            <a:ext cx="5577840" cy="1371600"/>
          </a:xfrm>
          <a:prstGeom prst="rect">
            <a:avLst/>
          </a:prstGeom>
          <a:noFill/>
          <a:ln/>
        </p:spPr>
        <p:txBody>
          <a:bodyPr wrap="square" lIns="0" tIns="0" rIns="0" bIns="0" rtlCol="0" anchor="t"/>
          <a:lstStyle/>
          <a:p>
            <a:pPr indent="0" marL="0">
              <a:buNone/>
            </a:pPr>
            <a:r>
              <a:rPr lang="en-US" sz="1400" b="1" dirty="0">
                <a:solidFill>
                  <a:schemeClr val="tx1"/>
                </a:solidFill>
              </a:rPr>
              <a:t>Value per patient</a:t>
            </a:r>
            <a:endParaRPr lang="en-US" sz="1400" dirty="0"/>
          </a:p>
          <a:p>
            <a:pPr indent="0" marL="0">
              <a:spcAft>
                <a:spcPts val="800"/>
              </a:spcAft>
              <a:buNone/>
            </a:pPr>
            <a:r>
              <a:rPr lang="en-US" sz="1400" dirty="0">
                <a:solidFill>
                  <a:schemeClr val="tx2"/>
                </a:solidFill>
              </a:rPr>
              <a:t>= consultation fee + (treatment rate × average treatment value)</a:t>
            </a:r>
            <a:endParaRPr lang="en-US" sz="1400" dirty="0"/>
          </a:p>
          <a:p>
            <a:pPr indent="0" marL="0">
              <a:buNone/>
            </a:pPr>
            <a:r>
              <a:rPr lang="en-US" sz="1400" b="1" dirty="0">
                <a:solidFill>
                  <a:schemeClr val="tx1"/>
                </a:solidFill>
              </a:rPr>
              <a:t>Revenue recovered each month</a:t>
            </a:r>
            <a:endParaRPr lang="en-US" sz="1400" dirty="0"/>
          </a:p>
          <a:p>
            <a:pPr indent="0" marL="0">
              <a:buNone/>
            </a:pPr>
            <a:r>
              <a:rPr lang="en-US" sz="1400" dirty="0">
                <a:solidFill>
                  <a:schemeClr val="tx2"/>
                </a:solidFill>
              </a:rPr>
              <a:t>= enquiries not booked × share brought back × value per patient</a:t>
            </a:r>
            <a:endParaRPr lang="en-US" sz="1400" dirty="0"/>
          </a:p>
        </p:txBody>
      </p:sp>
      <p:sp>
        <p:nvSpPr>
          <p:cNvPr id="5" name="Shape 3"/>
          <p:cNvSpPr/>
          <p:nvPr/>
        </p:nvSpPr>
        <p:spPr>
          <a:xfrm>
            <a:off x="548640" y="3154680"/>
            <a:ext cx="1005840" cy="274320"/>
          </a:xfrm>
          <a:prstGeom prst="roundRect">
            <a:avLst>
              <a:gd name="adj" fmla="val 50000"/>
            </a:avLst>
          </a:prstGeom>
          <a:solidFill>
            <a:schemeClr val="bg1"/>
          </a:solidFill>
          <a:ln w="9525">
            <a:solidFill>
              <a:schemeClr val="accent3"/>
            </a:solidFill>
            <a:prstDash val="solid"/>
          </a:ln>
        </p:spPr>
      </p:sp>
      <p:sp>
        <p:nvSpPr>
          <p:cNvPr id="6" name="Text 4"/>
          <p:cNvSpPr txBox="1"/>
          <p:nvPr/>
        </p:nvSpPr>
        <p:spPr>
          <a:xfrm>
            <a:off x="548640" y="3154680"/>
            <a:ext cx="1005840" cy="274320"/>
          </a:xfrm>
          <a:prstGeom prst="rect">
            <a:avLst/>
          </a:prstGeom>
          <a:noFill/>
          <a:ln/>
        </p:spPr>
        <p:txBody>
          <a:bodyPr wrap="square" lIns="0" tIns="0" rIns="0" bIns="0" rtlCol="0" anchor="ctr"/>
          <a:lstStyle/>
          <a:p>
            <a:pPr algn="ctr" indent="0" marL="0">
              <a:buNone/>
            </a:pPr>
            <a:r>
              <a:rPr lang="en-US" sz="1000" dirty="0">
                <a:solidFill>
                  <a:schemeClr val="accent3"/>
                </a:solidFill>
                <a:latin typeface="Courier New" pitchFamily="34" charset="0"/>
                <a:ea typeface="Courier New" pitchFamily="34" charset="-122"/>
                <a:cs typeface="Courier New" pitchFamily="34" charset="-120"/>
              </a:rPr>
              <a:t>Example</a:t>
            </a:r>
            <a:endParaRPr lang="en-US" sz="1000" dirty="0"/>
          </a:p>
        </p:txBody>
      </p:sp>
      <p:sp>
        <p:nvSpPr>
          <p:cNvPr id="7" name="Text 5"/>
          <p:cNvSpPr txBox="1"/>
          <p:nvPr/>
        </p:nvSpPr>
        <p:spPr>
          <a:xfrm>
            <a:off x="1691640" y="3154680"/>
            <a:ext cx="4114800" cy="274320"/>
          </a:xfrm>
          <a:prstGeom prst="rect">
            <a:avLst/>
          </a:prstGeom>
          <a:noFill/>
          <a:ln/>
        </p:spPr>
        <p:txBody>
          <a:bodyPr wrap="square" lIns="0" tIns="0" rIns="0" bIns="0" rtlCol="0" anchor="ctr"/>
          <a:lstStyle/>
          <a:p>
            <a:pPr indent="0" marL="0">
              <a:buNone/>
            </a:pPr>
            <a:r>
              <a:rPr lang="en-US" sz="1200" dirty="0">
                <a:solidFill>
                  <a:schemeClr val="tx2"/>
                </a:solidFill>
              </a:rPr>
              <a:t>Replace with your clinic's numbers</a:t>
            </a:r>
            <a:endParaRPr lang="en-US" sz="1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3566160"/>
          <a:ext cx="5577840" cy="914400"/>
        </p:xfrm>
        <a:graphic>
          <a:graphicData uri="http://schemas.openxmlformats.org/drawingml/2006/table">
            <a:tbl>
              <a:tblPr/>
              <a:tblGrid>
                <a:gridCol w="3749040"/>
                <a:gridCol w="1828800"/>
              </a:tblGrid>
              <a:tr h="347472">
                <a:tc>
                  <a:txBody>
                    <a:bodyPr/>
                    <a:lstStyle/>
                    <a:p>
                      <a:pPr indent="0" marL="0">
                        <a:buNone/>
                      </a:pPr>
                      <a:r>
                        <a:rPr lang="en-US" sz="1300" dirty="0">
                          <a:solidFill>
                            <a:schemeClr val="tx1"/>
                          </a:solidFill>
                        </a:rPr>
                        <a:t>Enquiries a month</a:t>
                      </a:r>
                      <a:endParaRPr lang="en-US" sz="1300" dirty="0"/>
                    </a:p>
                  </a:txBody>
                  <a:tcPr marL="109728" marR="109728" marT="45720" marB="45720">
                    <a:lnL w="0" cap="flat" cmpd="sng" algn="ctr">
                      <a:noFill/>
                    </a:lnL>
                    <a:lnR w="0" cap="flat" cmpd="sng" algn="ctr">
                      <a:noFill/>
                    </a:lnR>
                    <a:lnT w="0" cap="flat" cmpd="sng" algn="ctr">
                      <a:noFill/>
                    </a:lnT>
                    <a:lnB w="9525" cap="flat" cmpd="sng" algn="ctr">
                      <a:solidFill>
                        <a:srgbClr val="D5DEDB"/>
                      </a:solidFill>
                      <a:prstDash val="solid"/>
                      <a:round/>
                      <a:headEnd type="none" w="med" len="med"/>
                      <a:tailEnd type="none" w="med" len="med"/>
                    </a:lnB>
                    <a:solidFill>
                      <a:schemeClr val="bg1"/>
                    </a:solidFill>
                  </a:tcPr>
                </a:tc>
                <a:tc>
                  <a:txBody>
                    <a:bodyPr/>
                    <a:lstStyle/>
                    <a:p>
                      <a:pPr indent="0" marL="0">
                        <a:buNone/>
                      </a:pPr>
                      <a:r>
                        <a:rPr lang="en-US" sz="1300" b="1" dirty="0">
                          <a:solidFill>
                            <a:schemeClr val="tx1"/>
                          </a:solidFill>
                        </a:rPr>
                        <a:t>100 (clinic)</a:t>
                      </a:r>
                      <a:endParaRPr lang="en-US" sz="1300" dirty="0"/>
                    </a:p>
                  </a:txBody>
                  <a:tcPr marL="109728" marR="109728" marT="45720" marB="45720">
                    <a:lnL w="0" cap="flat" cmpd="sng" algn="ctr">
                      <a:noFill/>
                    </a:lnL>
                    <a:lnR w="0" cap="flat" cmpd="sng" algn="ctr">
                      <a:noFill/>
                    </a:lnR>
                    <a:lnT w="0" cap="flat" cmpd="sng" algn="ctr">
                      <a:noFill/>
                    </a:lnT>
                    <a:lnB w="9525" cap="flat" cmpd="sng" algn="ctr">
                      <a:solidFill>
                        <a:srgbClr val="D5DEDB"/>
                      </a:solidFill>
                      <a:prstDash val="solid"/>
                      <a:round/>
                      <a:headEnd type="none" w="med" len="med"/>
                      <a:tailEnd type="none" w="med" len="med"/>
                    </a:lnB>
                    <a:solidFill>
                      <a:schemeClr val="bg1"/>
                    </a:solidFill>
                  </a:tcPr>
                </a:tc>
              </a:tr>
              <a:tr h="347472">
                <a:tc>
                  <a:txBody>
                    <a:bodyPr/>
                    <a:lstStyle/>
                    <a:p>
                      <a:pPr indent="0" marL="0">
                        <a:buNone/>
                      </a:pPr>
                      <a:r>
                        <a:rPr lang="en-US" sz="1300" dirty="0">
                          <a:solidFill>
                            <a:schemeClr val="tx1"/>
                          </a:solidFill>
                        </a:rPr>
                        <a:t>Enquiries that book today</a:t>
                      </a:r>
                      <a:endParaRPr lang="en-US" sz="1300" dirty="0"/>
                    </a:p>
                  </a:txBody>
                  <a:tcPr marL="109728" marR="109728" marT="45720" marB="45720">
                    <a:lnL w="0" cap="flat" cmpd="sng" algn="ctr">
                      <a:noFill/>
                    </a:lnL>
                    <a:lnR w="0" cap="flat" cmpd="sng" algn="ctr">
                      <a:noFill/>
                    </a:lnR>
                    <a:lnT w="0" cap="flat" cmpd="sng" algn="ctr">
                      <a:noFill/>
                    </a:lnT>
                    <a:lnB w="9525" cap="flat" cmpd="sng" algn="ctr">
                      <a:solidFill>
                        <a:srgbClr val="D5DEDB"/>
                      </a:solidFill>
                      <a:prstDash val="solid"/>
                      <a:round/>
                      <a:headEnd type="none" w="med" len="med"/>
                      <a:tailEnd type="none" w="med" len="med"/>
                    </a:lnB>
                    <a:solidFill>
                      <a:schemeClr val="bg1"/>
                    </a:solidFill>
                  </a:tcPr>
                </a:tc>
                <a:tc>
                  <a:txBody>
                    <a:bodyPr/>
                    <a:lstStyle/>
                    <a:p>
                      <a:pPr indent="0" marL="0">
                        <a:buNone/>
                      </a:pPr>
                      <a:r>
                        <a:rPr lang="en-US" sz="1300" b="1" dirty="0">
                          <a:solidFill>
                            <a:schemeClr val="tx1"/>
                          </a:solidFill>
                        </a:rPr>
                        <a:t>40%</a:t>
                      </a:r>
                      <a:endParaRPr lang="en-US" sz="1300" dirty="0"/>
                    </a:p>
                  </a:txBody>
                  <a:tcPr marL="109728" marR="109728" marT="45720" marB="45720">
                    <a:lnL w="0" cap="flat" cmpd="sng" algn="ctr">
                      <a:noFill/>
                    </a:lnL>
                    <a:lnR w="0" cap="flat" cmpd="sng" algn="ctr">
                      <a:noFill/>
                    </a:lnR>
                    <a:lnT w="0" cap="flat" cmpd="sng" algn="ctr">
                      <a:noFill/>
                    </a:lnT>
                    <a:lnB w="9525" cap="flat" cmpd="sng" algn="ctr">
                      <a:solidFill>
                        <a:srgbClr val="D5DEDB"/>
                      </a:solidFill>
                      <a:prstDash val="solid"/>
                      <a:round/>
                      <a:headEnd type="none" w="med" len="med"/>
                      <a:tailEnd type="none" w="med" len="med"/>
                    </a:lnB>
                    <a:solidFill>
                      <a:schemeClr val="bg1"/>
                    </a:solidFill>
                  </a:tcPr>
                </a:tc>
              </a:tr>
              <a:tr h="347472">
                <a:tc>
                  <a:txBody>
                    <a:bodyPr/>
                    <a:lstStyle/>
                    <a:p>
                      <a:pPr indent="0" marL="0">
                        <a:buNone/>
                      </a:pPr>
                      <a:r>
                        <a:rPr lang="en-US" sz="1300" dirty="0">
                          <a:solidFill>
                            <a:schemeClr val="tx1"/>
                          </a:solidFill>
                        </a:rPr>
                        <a:t>Consultation fee</a:t>
                      </a:r>
                      <a:endParaRPr lang="en-US" sz="1300" dirty="0"/>
                    </a:p>
                  </a:txBody>
                  <a:tcPr marL="109728" marR="109728" marT="45720" marB="45720">
                    <a:lnL w="0" cap="flat" cmpd="sng" algn="ctr">
                      <a:noFill/>
                    </a:lnL>
                    <a:lnR w="0" cap="flat" cmpd="sng" algn="ctr">
                      <a:noFill/>
                    </a:lnR>
                    <a:lnT w="0" cap="flat" cmpd="sng" algn="ctr">
                      <a:noFill/>
                    </a:lnT>
                    <a:lnB w="9525" cap="flat" cmpd="sng" algn="ctr">
                      <a:solidFill>
                        <a:srgbClr val="D5DEDB"/>
                      </a:solidFill>
                      <a:prstDash val="solid"/>
                      <a:round/>
                      <a:headEnd type="none" w="med" len="med"/>
                      <a:tailEnd type="none" w="med" len="med"/>
                    </a:lnB>
                    <a:solidFill>
                      <a:schemeClr val="bg1"/>
                    </a:solidFill>
                  </a:tcPr>
                </a:tc>
                <a:tc>
                  <a:txBody>
                    <a:bodyPr/>
                    <a:lstStyle/>
                    <a:p>
                      <a:pPr indent="0" marL="0">
                        <a:buNone/>
                      </a:pPr>
                      <a:r>
                        <a:rPr lang="en-US" sz="1300" b="1" dirty="0">
                          <a:solidFill>
                            <a:schemeClr val="tx1"/>
                          </a:solidFill>
                        </a:rPr>
                        <a:t>₹500</a:t>
                      </a:r>
                      <a:endParaRPr lang="en-US" sz="1300" dirty="0"/>
                    </a:p>
                  </a:txBody>
                  <a:tcPr marL="109728" marR="109728" marT="45720" marB="45720">
                    <a:lnL w="0" cap="flat" cmpd="sng" algn="ctr">
                      <a:noFill/>
                    </a:lnL>
                    <a:lnR w="0" cap="flat" cmpd="sng" algn="ctr">
                      <a:noFill/>
                    </a:lnR>
                    <a:lnT w="0" cap="flat" cmpd="sng" algn="ctr">
                      <a:noFill/>
                    </a:lnT>
                    <a:lnB w="9525" cap="flat" cmpd="sng" algn="ctr">
                      <a:solidFill>
                        <a:srgbClr val="D5DEDB"/>
                      </a:solidFill>
                      <a:prstDash val="solid"/>
                      <a:round/>
                      <a:headEnd type="none" w="med" len="med"/>
                      <a:tailEnd type="none" w="med" len="med"/>
                    </a:lnB>
                    <a:solidFill>
                      <a:schemeClr val="bg1"/>
                    </a:solidFill>
                  </a:tcPr>
                </a:tc>
              </a:tr>
              <a:tr h="347472">
                <a:tc>
                  <a:txBody>
                    <a:bodyPr/>
                    <a:lstStyle/>
                    <a:p>
                      <a:pPr indent="0" marL="0">
                        <a:buNone/>
                      </a:pPr>
                      <a:r>
                        <a:rPr lang="en-US" sz="1300" dirty="0">
                          <a:solidFill>
                            <a:schemeClr val="tx1"/>
                          </a:solidFill>
                        </a:rPr>
                        <a:t>Consultations that go on to treatment</a:t>
                      </a:r>
                      <a:endParaRPr lang="en-US" sz="1300" dirty="0"/>
                    </a:p>
                  </a:txBody>
                  <a:tcPr marL="109728" marR="109728" marT="45720" marB="45720">
                    <a:lnL w="0" cap="flat" cmpd="sng" algn="ctr">
                      <a:noFill/>
                    </a:lnL>
                    <a:lnR w="0" cap="flat" cmpd="sng" algn="ctr">
                      <a:noFill/>
                    </a:lnR>
                    <a:lnT w="0" cap="flat" cmpd="sng" algn="ctr">
                      <a:noFill/>
                    </a:lnT>
                    <a:lnB w="9525" cap="flat" cmpd="sng" algn="ctr">
                      <a:solidFill>
                        <a:srgbClr val="D5DEDB"/>
                      </a:solidFill>
                      <a:prstDash val="solid"/>
                      <a:round/>
                      <a:headEnd type="none" w="med" len="med"/>
                      <a:tailEnd type="none" w="med" len="med"/>
                    </a:lnB>
                    <a:solidFill>
                      <a:schemeClr val="bg1"/>
                    </a:solidFill>
                  </a:tcPr>
                </a:tc>
                <a:tc>
                  <a:txBody>
                    <a:bodyPr/>
                    <a:lstStyle/>
                    <a:p>
                      <a:pPr indent="0" marL="0">
                        <a:buNone/>
                      </a:pPr>
                      <a:r>
                        <a:rPr lang="en-US" sz="1300" b="1" dirty="0">
                          <a:solidFill>
                            <a:schemeClr val="tx1"/>
                          </a:solidFill>
                        </a:rPr>
                        <a:t>50%</a:t>
                      </a:r>
                      <a:endParaRPr lang="en-US" sz="1300" dirty="0"/>
                    </a:p>
                  </a:txBody>
                  <a:tcPr marL="109728" marR="109728" marT="45720" marB="45720">
                    <a:lnL w="0" cap="flat" cmpd="sng" algn="ctr">
                      <a:noFill/>
                    </a:lnL>
                    <a:lnR w="0" cap="flat" cmpd="sng" algn="ctr">
                      <a:noFill/>
                    </a:lnR>
                    <a:lnT w="0" cap="flat" cmpd="sng" algn="ctr">
                      <a:noFill/>
                    </a:lnT>
                    <a:lnB w="9525" cap="flat" cmpd="sng" algn="ctr">
                      <a:solidFill>
                        <a:srgbClr val="D5DEDB"/>
                      </a:solidFill>
                      <a:prstDash val="solid"/>
                      <a:round/>
                      <a:headEnd type="none" w="med" len="med"/>
                      <a:tailEnd type="none" w="med" len="med"/>
                    </a:lnB>
                    <a:solidFill>
                      <a:schemeClr val="bg1"/>
                    </a:solidFill>
                  </a:tcPr>
                </a:tc>
              </a:tr>
              <a:tr h="347472">
                <a:tc>
                  <a:txBody>
                    <a:bodyPr/>
                    <a:lstStyle/>
                    <a:p>
                      <a:pPr indent="0" marL="0">
                        <a:buNone/>
                      </a:pPr>
                      <a:r>
                        <a:rPr lang="en-US" sz="1300" dirty="0">
                          <a:solidFill>
                            <a:schemeClr val="tx1"/>
                          </a:solidFill>
                        </a:rPr>
                        <a:t>Average treatment value</a:t>
                      </a:r>
                      <a:endParaRPr lang="en-US" sz="1300" dirty="0"/>
                    </a:p>
                  </a:txBody>
                  <a:tcPr marL="109728" marR="109728" marT="45720" marB="45720">
                    <a:lnL w="0" cap="flat" cmpd="sng" algn="ctr">
                      <a:noFill/>
                    </a:lnL>
                    <a:lnR w="0" cap="flat" cmpd="sng" algn="ctr">
                      <a:noFill/>
                    </a:lnR>
                    <a:lnT w="0" cap="flat" cmpd="sng" algn="ctr">
                      <a:noFill/>
                    </a:lnT>
                    <a:lnB w="9525" cap="flat" cmpd="sng" algn="ctr">
                      <a:solidFill>
                        <a:srgbClr val="D5DEDB"/>
                      </a:solidFill>
                      <a:prstDash val="solid"/>
                      <a:round/>
                      <a:headEnd type="none" w="med" len="med"/>
                      <a:tailEnd type="none" w="med" len="med"/>
                    </a:lnB>
                    <a:solidFill>
                      <a:schemeClr val="bg1"/>
                    </a:solidFill>
                  </a:tcPr>
                </a:tc>
                <a:tc>
                  <a:txBody>
                    <a:bodyPr/>
                    <a:lstStyle/>
                    <a:p>
                      <a:pPr indent="0" marL="0">
                        <a:buNone/>
                      </a:pPr>
                      <a:r>
                        <a:rPr lang="en-US" sz="1300" b="1" dirty="0">
                          <a:solidFill>
                            <a:schemeClr val="tx1"/>
                          </a:solidFill>
                        </a:rPr>
                        <a:t>₹15,000</a:t>
                      </a:r>
                      <a:endParaRPr lang="en-US" sz="1300" dirty="0"/>
                    </a:p>
                  </a:txBody>
                  <a:tcPr marL="109728" marR="109728" marT="45720" marB="45720">
                    <a:lnL w="0" cap="flat" cmpd="sng" algn="ctr">
                      <a:noFill/>
                    </a:lnL>
                    <a:lnR w="0" cap="flat" cmpd="sng" algn="ctr">
                      <a:noFill/>
                    </a:lnR>
                    <a:lnT w="0" cap="flat" cmpd="sng" algn="ctr">
                      <a:noFill/>
                    </a:lnT>
                    <a:lnB w="9525" cap="flat" cmpd="sng" algn="ctr">
                      <a:solidFill>
                        <a:srgbClr val="D5DEDB"/>
                      </a:solidFill>
                      <a:prstDash val="solid"/>
                      <a:round/>
                      <a:headEnd type="none" w="med" len="med"/>
                      <a:tailEnd type="none" w="med" len="med"/>
                    </a:lnB>
                    <a:solidFill>
                      <a:schemeClr val="bg1"/>
                    </a:solidFill>
                  </a:tcPr>
                </a:tc>
              </a:tr>
              <a:tr h="347472">
                <a:tc>
                  <a:txBody>
                    <a:bodyPr/>
                    <a:lstStyle/>
                    <a:p>
                      <a:pPr indent="0" marL="0">
                        <a:buNone/>
                      </a:pPr>
                      <a:r>
                        <a:rPr lang="en-US" sz="1300" dirty="0">
                          <a:solidFill>
                            <a:schemeClr val="tx1"/>
                          </a:solidFill>
                        </a:rPr>
                        <a:t>Non-bookers brought back</a:t>
                      </a:r>
                      <a:endParaRPr lang="en-US" sz="1300" dirty="0"/>
                    </a:p>
                  </a:txBody>
                  <a:tcPr marL="109728" marR="109728" marT="45720" marB="45720">
                    <a:lnL w="0" cap="flat" cmpd="sng" algn="ctr">
                      <a:noFill/>
                    </a:lnL>
                    <a:lnR w="0" cap="flat" cmpd="sng" algn="ctr">
                      <a:noFill/>
                    </a:lnR>
                    <a:lnT w="0" cap="flat" cmpd="sng" algn="ctr">
                      <a:noFill/>
                    </a:lnT>
                    <a:lnB w="9525" cap="flat" cmpd="sng" algn="ctr">
                      <a:solidFill>
                        <a:srgbClr val="D5DEDB"/>
                      </a:solidFill>
                      <a:prstDash val="solid"/>
                      <a:round/>
                      <a:headEnd type="none" w="med" len="med"/>
                      <a:tailEnd type="none" w="med" len="med"/>
                    </a:lnB>
                    <a:solidFill>
                      <a:schemeClr val="bg1"/>
                    </a:solidFill>
                  </a:tcPr>
                </a:tc>
                <a:tc>
                  <a:txBody>
                    <a:bodyPr/>
                    <a:lstStyle/>
                    <a:p>
                      <a:pPr indent="0" marL="0">
                        <a:buNone/>
                      </a:pPr>
                      <a:r>
                        <a:rPr lang="en-US" sz="1300" b="1" dirty="0">
                          <a:solidFill>
                            <a:schemeClr val="tx1"/>
                          </a:solidFill>
                        </a:rPr>
                        <a:t>20%</a:t>
                      </a:r>
                      <a:endParaRPr lang="en-US" sz="1300" dirty="0"/>
                    </a:p>
                  </a:txBody>
                  <a:tcPr marL="109728" marR="109728" marT="45720" marB="45720">
                    <a:lnL w="0" cap="flat" cmpd="sng" algn="ctr">
                      <a:noFill/>
                    </a:lnL>
                    <a:lnR w="0" cap="flat" cmpd="sng" algn="ctr">
                      <a:noFill/>
                    </a:lnR>
                    <a:lnT w="0" cap="flat" cmpd="sng" algn="ctr">
                      <a:noFill/>
                    </a:lnT>
                    <a:lnB w="9525" cap="flat" cmpd="sng" algn="ctr">
                      <a:solidFill>
                        <a:srgbClr val="D5DEDB"/>
                      </a:solidFill>
                      <a:prstDash val="solid"/>
                      <a:round/>
                      <a:headEnd type="none" w="med" len="med"/>
                      <a:tailEnd type="none" w="med" len="med"/>
                    </a:lnB>
                    <a:solidFill>
                      <a:schemeClr val="bg1"/>
                    </a:solidFill>
                  </a:tcPr>
                </a:tc>
              </a:tr>
            </a:tbl>
          </a:graphicData>
        </a:graphic>
      </p:graphicFrame>
      <p:sp>
        <p:nvSpPr>
          <p:cNvPr id="9" name="tile-0"/>
          <p:cNvSpPr/>
          <p:nvPr/>
        </p:nvSpPr>
        <p:spPr>
          <a:xfrm>
            <a:off x="6583680" y="1691640"/>
            <a:ext cx="2423160" cy="1737360"/>
          </a:xfrm>
          <a:prstGeom prst="roundRect">
            <a:avLst>
              <a:gd name="adj" fmla="val 6316"/>
            </a:avLst>
          </a:prstGeom>
          <a:solidFill>
            <a:schemeClr val="bg1"/>
          </a:solidFill>
          <a:ln w="9525">
            <a:solidFill>
              <a:srgbClr val="D5DEDB"/>
            </a:solidFill>
            <a:prstDash val="solid"/>
          </a:ln>
        </p:spPr>
      </p:sp>
      <p:sp>
        <p:nvSpPr>
          <p:cNvPr id="10" name="Text 7"/>
          <p:cNvSpPr txBox="1"/>
          <p:nvPr/>
        </p:nvSpPr>
        <p:spPr>
          <a:xfrm>
            <a:off x="6812280" y="1892808"/>
            <a:ext cx="2011680" cy="685800"/>
          </a:xfrm>
          <a:prstGeom prst="rect">
            <a:avLst/>
          </a:prstGeom>
          <a:noFill/>
          <a:ln/>
        </p:spPr>
        <p:txBody>
          <a:bodyPr wrap="square" lIns="0" tIns="0" rIns="0" bIns="0" rtlCol="0" anchor="b"/>
          <a:lstStyle/>
          <a:p>
            <a:pPr indent="0" marL="0">
              <a:buNone/>
            </a:pPr>
            <a:r>
              <a:rPr lang="en-US" sz="3000" b="1" dirty="0">
                <a:solidFill>
                  <a:schemeClr val="tx1"/>
                </a:solidFill>
              </a:rPr>
              <a:t>60</a:t>
            </a:r>
            <a:endParaRPr lang="en-US" sz="3000" dirty="0"/>
          </a:p>
        </p:txBody>
      </p:sp>
      <p:sp>
        <p:nvSpPr>
          <p:cNvPr id="11" name="Text 8"/>
          <p:cNvSpPr txBox="1"/>
          <p:nvPr/>
        </p:nvSpPr>
        <p:spPr>
          <a:xfrm>
            <a:off x="6812280" y="2624328"/>
            <a:ext cx="2011680" cy="731520"/>
          </a:xfrm>
          <a:prstGeom prst="rect">
            <a:avLst/>
          </a:prstGeom>
          <a:noFill/>
          <a:ln/>
        </p:spPr>
        <p:txBody>
          <a:bodyPr wrap="square" lIns="0" tIns="0" rIns="0" bIns="0" rtlCol="0" anchor="t"/>
          <a:lstStyle/>
          <a:p>
            <a:pPr indent="0" marL="0">
              <a:buNone/>
            </a:pPr>
            <a:r>
              <a:rPr lang="en-US" sz="1200" dirty="0">
                <a:solidFill>
                  <a:schemeClr val="tx2"/>
                </a:solidFill>
              </a:rPr>
              <a:t>enquiries not booked a month</a:t>
            </a:r>
            <a:endParaRPr lang="en-US" sz="1200" dirty="0"/>
          </a:p>
        </p:txBody>
      </p:sp>
      <p:sp>
        <p:nvSpPr>
          <p:cNvPr id="12" name="tile-1"/>
          <p:cNvSpPr/>
          <p:nvPr/>
        </p:nvSpPr>
        <p:spPr>
          <a:xfrm>
            <a:off x="9144000" y="1691640"/>
            <a:ext cx="2423160" cy="1737360"/>
          </a:xfrm>
          <a:prstGeom prst="roundRect">
            <a:avLst>
              <a:gd name="adj" fmla="val 6316"/>
            </a:avLst>
          </a:prstGeom>
          <a:solidFill>
            <a:schemeClr val="bg1"/>
          </a:solidFill>
          <a:ln w="9525">
            <a:solidFill>
              <a:srgbClr val="D5DEDB"/>
            </a:solidFill>
            <a:prstDash val="solid"/>
          </a:ln>
        </p:spPr>
      </p:sp>
      <p:sp>
        <p:nvSpPr>
          <p:cNvPr id="13" name="Text 10"/>
          <p:cNvSpPr txBox="1"/>
          <p:nvPr/>
        </p:nvSpPr>
        <p:spPr>
          <a:xfrm>
            <a:off x="9372600" y="1892808"/>
            <a:ext cx="2011680" cy="685800"/>
          </a:xfrm>
          <a:prstGeom prst="rect">
            <a:avLst/>
          </a:prstGeom>
          <a:noFill/>
          <a:ln/>
        </p:spPr>
        <p:txBody>
          <a:bodyPr wrap="square" lIns="0" tIns="0" rIns="0" bIns="0" rtlCol="0" anchor="b"/>
          <a:lstStyle/>
          <a:p>
            <a:pPr indent="0" marL="0">
              <a:buNone/>
            </a:pPr>
            <a:r>
              <a:rPr lang="en-US" sz="3000" b="1" dirty="0">
                <a:solidFill>
                  <a:schemeClr val="tx1"/>
                </a:solidFill>
              </a:rPr>
              <a:t>₹8,000</a:t>
            </a:r>
            <a:endParaRPr lang="en-US" sz="3000" dirty="0"/>
          </a:p>
        </p:txBody>
      </p:sp>
      <p:sp>
        <p:nvSpPr>
          <p:cNvPr id="14" name="Text 11"/>
          <p:cNvSpPr txBox="1"/>
          <p:nvPr/>
        </p:nvSpPr>
        <p:spPr>
          <a:xfrm>
            <a:off x="9372600" y="2624328"/>
            <a:ext cx="2011680" cy="731520"/>
          </a:xfrm>
          <a:prstGeom prst="rect">
            <a:avLst/>
          </a:prstGeom>
          <a:noFill/>
          <a:ln/>
        </p:spPr>
        <p:txBody>
          <a:bodyPr wrap="square" lIns="0" tIns="0" rIns="0" bIns="0" rtlCol="0" anchor="t"/>
          <a:lstStyle/>
          <a:p>
            <a:pPr indent="0" marL="0">
              <a:buNone/>
            </a:pPr>
            <a:r>
              <a:rPr lang="en-US" sz="1200" dirty="0">
                <a:solidFill>
                  <a:schemeClr val="tx2"/>
                </a:solidFill>
              </a:rPr>
              <a:t>value of one booked patient</a:t>
            </a:r>
            <a:endParaRPr lang="en-US" sz="1200" dirty="0"/>
          </a:p>
        </p:txBody>
      </p:sp>
      <p:sp>
        <p:nvSpPr>
          <p:cNvPr id="15" name="tile-2"/>
          <p:cNvSpPr/>
          <p:nvPr/>
        </p:nvSpPr>
        <p:spPr>
          <a:xfrm>
            <a:off x="6583680" y="3611880"/>
            <a:ext cx="2423160" cy="1737360"/>
          </a:xfrm>
          <a:prstGeom prst="roundRect">
            <a:avLst>
              <a:gd name="adj" fmla="val 6316"/>
            </a:avLst>
          </a:prstGeom>
          <a:solidFill>
            <a:schemeClr val="bg1"/>
          </a:solidFill>
          <a:ln w="9525">
            <a:solidFill>
              <a:srgbClr val="D5DEDB"/>
            </a:solidFill>
            <a:prstDash val="solid"/>
          </a:ln>
        </p:spPr>
      </p:sp>
      <p:sp>
        <p:nvSpPr>
          <p:cNvPr id="16" name="Text 13"/>
          <p:cNvSpPr txBox="1"/>
          <p:nvPr/>
        </p:nvSpPr>
        <p:spPr>
          <a:xfrm>
            <a:off x="6812280" y="3813048"/>
            <a:ext cx="2011680" cy="685800"/>
          </a:xfrm>
          <a:prstGeom prst="rect">
            <a:avLst/>
          </a:prstGeom>
          <a:noFill/>
          <a:ln/>
        </p:spPr>
        <p:txBody>
          <a:bodyPr wrap="square" lIns="0" tIns="0" rIns="0" bIns="0" rtlCol="0" anchor="b"/>
          <a:lstStyle/>
          <a:p>
            <a:pPr indent="0" marL="0">
              <a:buNone/>
            </a:pPr>
            <a:r>
              <a:rPr lang="en-US" sz="3000" b="1" dirty="0">
                <a:solidFill>
                  <a:schemeClr val="tx1"/>
                </a:solidFill>
              </a:rPr>
              <a:t>₹96,000</a:t>
            </a:r>
            <a:endParaRPr lang="en-US" sz="3000" dirty="0"/>
          </a:p>
        </p:txBody>
      </p:sp>
      <p:sp>
        <p:nvSpPr>
          <p:cNvPr id="17" name="Text 14"/>
          <p:cNvSpPr txBox="1"/>
          <p:nvPr/>
        </p:nvSpPr>
        <p:spPr>
          <a:xfrm>
            <a:off x="6812280" y="4544568"/>
            <a:ext cx="2011680" cy="731520"/>
          </a:xfrm>
          <a:prstGeom prst="rect">
            <a:avLst/>
          </a:prstGeom>
          <a:noFill/>
          <a:ln/>
        </p:spPr>
        <p:txBody>
          <a:bodyPr wrap="square" lIns="0" tIns="0" rIns="0" bIns="0" rtlCol="0" anchor="t"/>
          <a:lstStyle/>
          <a:p>
            <a:pPr indent="0" marL="0">
              <a:buNone/>
            </a:pPr>
            <a:r>
              <a:rPr lang="en-US" sz="1200" dirty="0">
                <a:solidFill>
                  <a:schemeClr val="tx2"/>
                </a:solidFill>
              </a:rPr>
              <a:t>revenue recovered a month from 12 patients brought back</a:t>
            </a:r>
            <a:endParaRPr lang="en-US" sz="1200" dirty="0"/>
          </a:p>
        </p:txBody>
      </p:sp>
      <p:sp>
        <p:nvSpPr>
          <p:cNvPr id="18" name="tile-3"/>
          <p:cNvSpPr/>
          <p:nvPr/>
        </p:nvSpPr>
        <p:spPr>
          <a:xfrm>
            <a:off x="9144000" y="3611880"/>
            <a:ext cx="2423160" cy="1737360"/>
          </a:xfrm>
          <a:prstGeom prst="roundRect">
            <a:avLst>
              <a:gd name="adj" fmla="val 6316"/>
            </a:avLst>
          </a:prstGeom>
          <a:solidFill>
            <a:schemeClr val="accent1"/>
          </a:solidFill>
          <a:ln/>
        </p:spPr>
      </p:sp>
      <p:sp>
        <p:nvSpPr>
          <p:cNvPr id="19" name="Text 16"/>
          <p:cNvSpPr txBox="1"/>
          <p:nvPr/>
        </p:nvSpPr>
        <p:spPr>
          <a:xfrm>
            <a:off x="9372600" y="3813048"/>
            <a:ext cx="2011680" cy="685800"/>
          </a:xfrm>
          <a:prstGeom prst="rect">
            <a:avLst/>
          </a:prstGeom>
          <a:noFill/>
          <a:ln/>
        </p:spPr>
        <p:txBody>
          <a:bodyPr wrap="square" lIns="0" tIns="0" rIns="0" bIns="0" rtlCol="0" anchor="b"/>
          <a:lstStyle/>
          <a:p>
            <a:pPr indent="0" marL="0">
              <a:buNone/>
            </a:pPr>
            <a:r>
              <a:rPr lang="en-US" sz="3000" b="1" dirty="0">
                <a:solidFill>
                  <a:schemeClr val="bg1"/>
                </a:solidFill>
              </a:rPr>
              <a:t>1 patient</a:t>
            </a:r>
            <a:endParaRPr lang="en-US" sz="3000" dirty="0"/>
          </a:p>
        </p:txBody>
      </p:sp>
      <p:sp>
        <p:nvSpPr>
          <p:cNvPr id="20" name="Text 17"/>
          <p:cNvSpPr txBox="1"/>
          <p:nvPr/>
        </p:nvSpPr>
        <p:spPr>
          <a:xfrm>
            <a:off x="9372600" y="4544568"/>
            <a:ext cx="2011680" cy="731520"/>
          </a:xfrm>
          <a:prstGeom prst="rect">
            <a:avLst/>
          </a:prstGeom>
          <a:noFill/>
          <a:ln/>
        </p:spPr>
        <p:txBody>
          <a:bodyPr wrap="square" lIns="0" tIns="0" rIns="0" bIns="0" rtlCol="0" anchor="t"/>
          <a:lstStyle/>
          <a:p>
            <a:pPr indent="0" marL="0">
              <a:buNone/>
            </a:pPr>
            <a:r>
              <a:rPr lang="en-US" sz="1200" dirty="0">
                <a:solidFill>
                  <a:schemeClr val="bg1"/>
                </a:solidFill>
              </a:rPr>
              <a:t>a month covers the ₹2,999 fee</a:t>
            </a:r>
            <a:endParaRPr lang="en-US" sz="1200" dirty="0"/>
          </a:p>
        </p:txBody>
      </p:sp>
      <p:sp>
        <p:nvSpPr>
          <p:cNvPr id="21" name="Text 18"/>
          <p:cNvSpPr txBox="1"/>
          <p:nvPr/>
        </p:nvSpPr>
        <p:spPr>
          <a:xfrm>
            <a:off x="6583680" y="5577840"/>
            <a:ext cx="5029200" cy="457200"/>
          </a:xfrm>
          <a:prstGeom prst="rect">
            <a:avLst/>
          </a:prstGeom>
          <a:noFill/>
          <a:ln/>
        </p:spPr>
        <p:txBody>
          <a:bodyPr wrap="square" lIns="0" tIns="0" rIns="0" bIns="0" rtlCol="0" anchor="t"/>
          <a:lstStyle/>
          <a:p>
            <a:pPr indent="0" marL="0">
              <a:buNone/>
            </a:pPr>
            <a:r>
              <a:rPr lang="en-US" sz="1100" dirty="0">
                <a:solidFill>
                  <a:schemeClr val="tx2"/>
                </a:solidFill>
              </a:rPr>
              <a:t>Example figures, not a forecast. We recalculate with your clinic's numbers during onboarding.</a:t>
            </a:r>
            <a:endParaRPr lang="en-US" sz="1100" dirty="0"/>
          </a:p>
        </p:txBody>
      </p:sp>
      <p:sp>
        <p:nvSpPr>
          <p:cNvPr id="25" name="Slide Number Placeholder 0"/>
          <p:cNvSpPr>
            <a:spLocks noGrp="1"/>
          </p:cNvSpPr>
          <p:nvPr>
            <p:ph type="sldNum" sz="quarter" idx="4294967295"/>
          </p:nvPr>
        </p:nvSpPr>
        <p:spPr>
          <a:xfrm>
            <a:off x="9509760" y="6355080"/>
            <a:ext cx="64008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3" type="body" hasCustomPrompt="1"/>
          </p:nvPr>
        </p:nvSpPr>
        <p:spPr>
          <a:xfrm>
            <a:off x="548640" y="384048"/>
            <a:ext cx="11064240" cy="274320"/>
          </a:xfrm>
          <a:prstGeom prst="rect">
            <a:avLst/>
          </a:prstGeom>
          <a:noFill/>
          <a:ln/>
        </p:spPr>
        <p:txBody>
          <a:bodyPr wrap="square" lIns="0" tIns="0" rIns="0" bIns="0" rtlCol="0" anchor="t"/>
          <a:lstStyle/>
          <a:p>
            <a:pPr algn="l" indent="0" marL="0">
              <a:buNone/>
            </a:pPr>
            <a:r>
              <a:rPr lang="en-US" sz="1100" b="1" spc="150" kern="0" dirty="0">
                <a:solidFill>
                  <a:schemeClr val="accent1"/>
                </a:solidFill>
              </a:rPr>
              <a:t>PROPOSED PATIENT JOURNEY</a:t>
            </a:r>
            <a:endParaRPr lang="en-US" sz="1100" dirty="0"/>
          </a:p>
        </p:txBody>
      </p:sp>
      <p:sp>
        <p:nvSpPr>
          <p:cNvPr id="3" name="Text 2"/>
          <p:cNvSpPr/>
          <p:nvPr>
            <p:ph idx="104" type="title" hasCustomPrompt="1"/>
          </p:nvPr>
        </p:nvSpPr>
        <p:spPr>
          <a:xfrm>
            <a:off x="548640" y="685800"/>
            <a:ext cx="11064240" cy="685800"/>
          </a:xfrm>
          <a:prstGeom prst="rect">
            <a:avLst/>
          </a:prstGeom>
          <a:noFill/>
          <a:ln/>
        </p:spPr>
        <p:txBody>
          <a:bodyPr wrap="square" lIns="0" tIns="0" rIns="0" bIns="0" rtlCol="0" anchor="t"/>
          <a:lstStyle/>
          <a:p>
            <a:pPr algn="l" indent="0" marL="0">
              <a:buNone/>
            </a:pPr>
            <a:r>
              <a:rPr lang="en-US" sz="3000" b="1" dirty="0">
                <a:solidFill>
                  <a:schemeClr val="tx1"/>
                </a:solidFill>
              </a:rPr>
              <a:t>Every enquiry ends in the calendar or on the call list</a:t>
            </a:r>
            <a:endParaRPr lang="en-US" sz="3000" dirty="0"/>
          </a:p>
        </p:txBody>
      </p:sp>
      <p:sp>
        <p:nvSpPr>
          <p:cNvPr id="4" name="Shape 2"/>
          <p:cNvSpPr/>
          <p:nvPr/>
        </p:nvSpPr>
        <p:spPr>
          <a:xfrm>
            <a:off x="548640" y="1645920"/>
            <a:ext cx="1920240" cy="685800"/>
          </a:xfrm>
          <a:prstGeom prst="roundRect">
            <a:avLst>
              <a:gd name="adj" fmla="val 13333"/>
            </a:avLst>
          </a:prstGeom>
          <a:solidFill>
            <a:schemeClr val="bg1"/>
          </a:solidFill>
          <a:ln w="9525">
            <a:solidFill>
              <a:srgbClr val="D5DEDB"/>
            </a:solidFill>
            <a:prstDash val="solid"/>
          </a:ln>
        </p:spPr>
      </p:sp>
      <p:sp>
        <p:nvSpPr>
          <p:cNvPr id="5" name="Text 3"/>
          <p:cNvSpPr txBox="1"/>
          <p:nvPr/>
        </p:nvSpPr>
        <p:spPr>
          <a:xfrm>
            <a:off x="548640" y="1645920"/>
            <a:ext cx="1920240" cy="685800"/>
          </a:xfrm>
          <a:prstGeom prst="rect">
            <a:avLst/>
          </a:prstGeom>
          <a:noFill/>
          <a:ln/>
        </p:spPr>
        <p:txBody>
          <a:bodyPr wrap="square" lIns="635" tIns="635" rIns="635" bIns="635" rtlCol="0" anchor="ctr"/>
          <a:lstStyle/>
          <a:p>
            <a:pPr algn="ctr" indent="0" marL="0">
              <a:buNone/>
            </a:pPr>
            <a:r>
              <a:rPr lang="en-US" sz="1400" b="1" dirty="0">
                <a:solidFill>
                  <a:schemeClr val="tx1"/>
                </a:solidFill>
              </a:rPr>
              <a:t>Ad</a:t>
            </a:r>
            <a:endParaRPr lang="en-US" sz="1400" dirty="0"/>
          </a:p>
        </p:txBody>
      </p:sp>
      <p:sp>
        <p:nvSpPr>
          <p:cNvPr id="6" name="Shape 4"/>
          <p:cNvSpPr/>
          <p:nvPr/>
        </p:nvSpPr>
        <p:spPr>
          <a:xfrm>
            <a:off x="2468880" y="1988820"/>
            <a:ext cx="365760" cy="0"/>
          </a:xfrm>
          <a:prstGeom prst="line">
            <a:avLst/>
          </a:prstGeom>
          <a:noFill/>
          <a:ln w="15875">
            <a:solidFill>
              <a:schemeClr val="tx2"/>
            </a:solidFill>
            <a:prstDash val="solid"/>
            <a:tailEnd type="triangle"/>
          </a:ln>
        </p:spPr>
      </p:sp>
      <p:sp>
        <p:nvSpPr>
          <p:cNvPr id="7" name="Shape 5"/>
          <p:cNvSpPr/>
          <p:nvPr/>
        </p:nvSpPr>
        <p:spPr>
          <a:xfrm>
            <a:off x="2834640" y="1645920"/>
            <a:ext cx="1920240" cy="685800"/>
          </a:xfrm>
          <a:prstGeom prst="roundRect">
            <a:avLst>
              <a:gd name="adj" fmla="val 13333"/>
            </a:avLst>
          </a:prstGeom>
          <a:solidFill>
            <a:schemeClr val="bg1"/>
          </a:solidFill>
          <a:ln w="9525">
            <a:solidFill>
              <a:srgbClr val="D5DEDB"/>
            </a:solidFill>
            <a:prstDash val="solid"/>
          </a:ln>
        </p:spPr>
      </p:sp>
      <p:sp>
        <p:nvSpPr>
          <p:cNvPr id="8" name="Text 6"/>
          <p:cNvSpPr txBox="1"/>
          <p:nvPr/>
        </p:nvSpPr>
        <p:spPr>
          <a:xfrm>
            <a:off x="2834640" y="1645920"/>
            <a:ext cx="1920240" cy="685800"/>
          </a:xfrm>
          <a:prstGeom prst="rect">
            <a:avLst/>
          </a:prstGeom>
          <a:noFill/>
          <a:ln/>
        </p:spPr>
        <p:txBody>
          <a:bodyPr wrap="square" lIns="635" tIns="635" rIns="635" bIns="635" rtlCol="0" anchor="ctr"/>
          <a:lstStyle/>
          <a:p>
            <a:pPr algn="ctr" indent="0" marL="0">
              <a:buNone/>
            </a:pPr>
            <a:r>
              <a:rPr lang="en-US" sz="1400" b="1" dirty="0">
                <a:solidFill>
                  <a:schemeClr val="tx1"/>
                </a:solidFill>
              </a:rPr>
              <a:t>WhatsApp enquiry</a:t>
            </a:r>
            <a:endParaRPr lang="en-US" sz="1400" dirty="0"/>
          </a:p>
        </p:txBody>
      </p:sp>
      <p:sp>
        <p:nvSpPr>
          <p:cNvPr id="9" name="Shape 7"/>
          <p:cNvSpPr/>
          <p:nvPr/>
        </p:nvSpPr>
        <p:spPr>
          <a:xfrm>
            <a:off x="4754880" y="1988820"/>
            <a:ext cx="365760" cy="0"/>
          </a:xfrm>
          <a:prstGeom prst="line">
            <a:avLst/>
          </a:prstGeom>
          <a:noFill/>
          <a:ln w="15875">
            <a:solidFill>
              <a:schemeClr val="tx2"/>
            </a:solidFill>
            <a:prstDash val="solid"/>
            <a:tailEnd type="triangle"/>
          </a:ln>
        </p:spPr>
      </p:sp>
      <p:sp>
        <p:nvSpPr>
          <p:cNvPr id="10" name="Shape 8"/>
          <p:cNvSpPr/>
          <p:nvPr/>
        </p:nvSpPr>
        <p:spPr>
          <a:xfrm>
            <a:off x="5120640" y="1645920"/>
            <a:ext cx="1920240" cy="685800"/>
          </a:xfrm>
          <a:prstGeom prst="roundRect">
            <a:avLst>
              <a:gd name="adj" fmla="val 13333"/>
            </a:avLst>
          </a:prstGeom>
          <a:solidFill>
            <a:schemeClr val="bg1"/>
          </a:solidFill>
          <a:ln w="9525">
            <a:solidFill>
              <a:srgbClr val="D5DEDB"/>
            </a:solidFill>
            <a:prstDash val="solid"/>
          </a:ln>
        </p:spPr>
      </p:sp>
      <p:sp>
        <p:nvSpPr>
          <p:cNvPr id="11" name="Text 9"/>
          <p:cNvSpPr txBox="1"/>
          <p:nvPr/>
        </p:nvSpPr>
        <p:spPr>
          <a:xfrm>
            <a:off x="5120640" y="1645920"/>
            <a:ext cx="1920240" cy="685800"/>
          </a:xfrm>
          <a:prstGeom prst="rect">
            <a:avLst/>
          </a:prstGeom>
          <a:noFill/>
          <a:ln/>
        </p:spPr>
        <p:txBody>
          <a:bodyPr wrap="square" lIns="635" tIns="635" rIns="635" bIns="635" rtlCol="0" anchor="ctr"/>
          <a:lstStyle/>
          <a:p>
            <a:pPr algn="ctr" indent="0" marL="0">
              <a:buNone/>
            </a:pPr>
            <a:r>
              <a:rPr lang="en-US" sz="1400" b="1" dirty="0">
                <a:solidFill>
                  <a:schemeClr val="tx1"/>
                </a:solidFill>
              </a:rPr>
              <a:t>Patient details</a:t>
            </a:r>
            <a:endParaRPr lang="en-US" sz="1400" dirty="0"/>
          </a:p>
        </p:txBody>
      </p:sp>
      <p:sp>
        <p:nvSpPr>
          <p:cNvPr id="12" name="Shape 10"/>
          <p:cNvSpPr/>
          <p:nvPr/>
        </p:nvSpPr>
        <p:spPr>
          <a:xfrm>
            <a:off x="7040880" y="1988820"/>
            <a:ext cx="365760" cy="0"/>
          </a:xfrm>
          <a:prstGeom prst="line">
            <a:avLst/>
          </a:prstGeom>
          <a:noFill/>
          <a:ln w="15875">
            <a:solidFill>
              <a:schemeClr val="tx2"/>
            </a:solidFill>
            <a:prstDash val="solid"/>
            <a:tailEnd type="triangle"/>
          </a:ln>
        </p:spPr>
      </p:sp>
      <p:sp>
        <p:nvSpPr>
          <p:cNvPr id="13" name="Shape 11"/>
          <p:cNvSpPr/>
          <p:nvPr/>
        </p:nvSpPr>
        <p:spPr>
          <a:xfrm>
            <a:off x="7406640" y="1645920"/>
            <a:ext cx="1920240" cy="685800"/>
          </a:xfrm>
          <a:prstGeom prst="roundRect">
            <a:avLst>
              <a:gd name="adj" fmla="val 13333"/>
            </a:avLst>
          </a:prstGeom>
          <a:solidFill>
            <a:schemeClr val="bg1"/>
          </a:solidFill>
          <a:ln w="9525">
            <a:solidFill>
              <a:srgbClr val="D5DEDB"/>
            </a:solidFill>
            <a:prstDash val="solid"/>
          </a:ln>
        </p:spPr>
      </p:sp>
      <p:sp>
        <p:nvSpPr>
          <p:cNvPr id="14" name="Text 12"/>
          <p:cNvSpPr txBox="1"/>
          <p:nvPr/>
        </p:nvSpPr>
        <p:spPr>
          <a:xfrm>
            <a:off x="7406640" y="1645920"/>
            <a:ext cx="1920240" cy="685800"/>
          </a:xfrm>
          <a:prstGeom prst="rect">
            <a:avLst/>
          </a:prstGeom>
          <a:noFill/>
          <a:ln/>
        </p:spPr>
        <p:txBody>
          <a:bodyPr wrap="square" lIns="635" tIns="635" rIns="635" bIns="635" rtlCol="0" anchor="ctr"/>
          <a:lstStyle/>
          <a:p>
            <a:pPr algn="ctr" indent="0" marL="0">
              <a:buNone/>
            </a:pPr>
            <a:r>
              <a:rPr lang="en-US" sz="1400" b="1" dirty="0">
                <a:solidFill>
                  <a:schemeClr val="tx1"/>
                </a:solidFill>
              </a:rPr>
              <a:t>Location and need</a:t>
            </a:r>
            <a:endParaRPr lang="en-US" sz="1400" dirty="0"/>
          </a:p>
        </p:txBody>
      </p:sp>
      <p:sp>
        <p:nvSpPr>
          <p:cNvPr id="15" name="Shape 13"/>
          <p:cNvSpPr/>
          <p:nvPr/>
        </p:nvSpPr>
        <p:spPr>
          <a:xfrm>
            <a:off x="9326880" y="1988820"/>
            <a:ext cx="365760" cy="0"/>
          </a:xfrm>
          <a:prstGeom prst="line">
            <a:avLst/>
          </a:prstGeom>
          <a:noFill/>
          <a:ln w="15875">
            <a:solidFill>
              <a:schemeClr val="tx2"/>
            </a:solidFill>
            <a:prstDash val="solid"/>
            <a:tailEnd type="triangle"/>
          </a:ln>
        </p:spPr>
      </p:sp>
      <p:sp>
        <p:nvSpPr>
          <p:cNvPr id="16" name="Shape 14"/>
          <p:cNvSpPr/>
          <p:nvPr/>
        </p:nvSpPr>
        <p:spPr>
          <a:xfrm>
            <a:off x="9692640" y="1645920"/>
            <a:ext cx="1920240" cy="685800"/>
          </a:xfrm>
          <a:prstGeom prst="roundRect">
            <a:avLst>
              <a:gd name="adj" fmla="val 13333"/>
            </a:avLst>
          </a:prstGeom>
          <a:solidFill>
            <a:schemeClr val="bg1"/>
          </a:solidFill>
          <a:ln w="9525">
            <a:solidFill>
              <a:srgbClr val="D5DEDB"/>
            </a:solidFill>
            <a:prstDash val="solid"/>
          </a:ln>
        </p:spPr>
      </p:sp>
      <p:sp>
        <p:nvSpPr>
          <p:cNvPr id="17" name="Text 15"/>
          <p:cNvSpPr txBox="1"/>
          <p:nvPr/>
        </p:nvSpPr>
        <p:spPr>
          <a:xfrm>
            <a:off x="9692640" y="1645920"/>
            <a:ext cx="1920240" cy="685800"/>
          </a:xfrm>
          <a:prstGeom prst="rect">
            <a:avLst/>
          </a:prstGeom>
          <a:noFill/>
          <a:ln/>
        </p:spPr>
        <p:txBody>
          <a:bodyPr wrap="square" lIns="635" tIns="635" rIns="635" bIns="635" rtlCol="0" anchor="ctr"/>
          <a:lstStyle/>
          <a:p>
            <a:pPr algn="ctr" indent="0" marL="0">
              <a:buNone/>
            </a:pPr>
            <a:r>
              <a:rPr lang="en-US" sz="1400" b="1" dirty="0">
                <a:solidFill>
                  <a:schemeClr val="tx1"/>
                </a:solidFill>
              </a:rPr>
              <a:t>Approved answer</a:t>
            </a:r>
            <a:endParaRPr lang="en-US" sz="1400" dirty="0"/>
          </a:p>
        </p:txBody>
      </p:sp>
      <p:sp>
        <p:nvSpPr>
          <p:cNvPr id="18" name="Shape 16"/>
          <p:cNvSpPr/>
          <p:nvPr/>
        </p:nvSpPr>
        <p:spPr>
          <a:xfrm>
            <a:off x="10652760" y="2331720"/>
            <a:ext cx="0" cy="457200"/>
          </a:xfrm>
          <a:prstGeom prst="line">
            <a:avLst/>
          </a:prstGeom>
          <a:noFill/>
          <a:ln w="15875">
            <a:solidFill>
              <a:schemeClr val="tx2"/>
            </a:solidFill>
            <a:prstDash val="solid"/>
            <a:tailEnd type="triangle"/>
          </a:ln>
        </p:spPr>
      </p:sp>
      <p:sp>
        <p:nvSpPr>
          <p:cNvPr id="19" name="Shape 17"/>
          <p:cNvSpPr/>
          <p:nvPr/>
        </p:nvSpPr>
        <p:spPr>
          <a:xfrm>
            <a:off x="9692640" y="2788920"/>
            <a:ext cx="1920240" cy="1097280"/>
          </a:xfrm>
          <a:prstGeom prst="diamond">
            <a:avLst/>
          </a:prstGeom>
          <a:solidFill>
            <a:schemeClr val="bg1"/>
          </a:solidFill>
          <a:ln w="9525">
            <a:solidFill>
              <a:srgbClr val="D5DEDB"/>
            </a:solidFill>
            <a:prstDash val="solid"/>
          </a:ln>
        </p:spPr>
      </p:sp>
      <p:sp>
        <p:nvSpPr>
          <p:cNvPr id="20" name="Text 18"/>
          <p:cNvSpPr txBox="1"/>
          <p:nvPr/>
        </p:nvSpPr>
        <p:spPr>
          <a:xfrm>
            <a:off x="9692640" y="2788920"/>
            <a:ext cx="1920240" cy="1097280"/>
          </a:xfrm>
          <a:prstGeom prst="rect">
            <a:avLst/>
          </a:prstGeom>
          <a:noFill/>
          <a:ln/>
        </p:spPr>
        <p:txBody>
          <a:bodyPr wrap="square" lIns="0" tIns="0" rIns="0" bIns="0" rtlCol="0" anchor="ctr"/>
          <a:lstStyle/>
          <a:p>
            <a:pPr algn="ctr" indent="0" marL="0">
              <a:buNone/>
            </a:pPr>
            <a:r>
              <a:rPr lang="en-US" sz="1300" b="1" dirty="0">
                <a:solidFill>
                  <a:schemeClr val="tx1"/>
                </a:solidFill>
              </a:rPr>
              <a:t>Local patient?</a:t>
            </a:r>
            <a:endParaRPr lang="en-US" sz="1300" dirty="0"/>
          </a:p>
        </p:txBody>
      </p:sp>
      <p:sp>
        <p:nvSpPr>
          <p:cNvPr id="21" name="Shape 19"/>
          <p:cNvSpPr/>
          <p:nvPr/>
        </p:nvSpPr>
        <p:spPr>
          <a:xfrm>
            <a:off x="6583680" y="2606040"/>
            <a:ext cx="2468880" cy="685800"/>
          </a:xfrm>
          <a:prstGeom prst="roundRect">
            <a:avLst>
              <a:gd name="adj" fmla="val 13333"/>
            </a:avLst>
          </a:prstGeom>
          <a:solidFill>
            <a:schemeClr val="bg1"/>
          </a:solidFill>
          <a:ln w="9525">
            <a:solidFill>
              <a:srgbClr val="D5DEDB"/>
            </a:solidFill>
            <a:prstDash val="solid"/>
          </a:ln>
        </p:spPr>
      </p:sp>
      <p:sp>
        <p:nvSpPr>
          <p:cNvPr id="22" name="Text 20"/>
          <p:cNvSpPr txBox="1"/>
          <p:nvPr/>
        </p:nvSpPr>
        <p:spPr>
          <a:xfrm>
            <a:off x="6583680" y="2606040"/>
            <a:ext cx="2468880" cy="685800"/>
          </a:xfrm>
          <a:prstGeom prst="rect">
            <a:avLst/>
          </a:prstGeom>
          <a:noFill/>
          <a:ln/>
        </p:spPr>
        <p:txBody>
          <a:bodyPr wrap="square" lIns="635" tIns="635" rIns="635" bIns="635" rtlCol="0" anchor="ctr"/>
          <a:lstStyle/>
          <a:p>
            <a:pPr algn="ctr" indent="0" marL="0">
              <a:buNone/>
            </a:pPr>
            <a:r>
              <a:rPr lang="en-US" sz="1400" b="1" dirty="0">
                <a:solidFill>
                  <a:schemeClr val="tx1"/>
                </a:solidFill>
              </a:rPr>
              <a:t>Offline consultation</a:t>
            </a:r>
            <a:endParaRPr lang="en-US" sz="1400" dirty="0"/>
          </a:p>
          <a:p>
            <a:pPr algn="ctr" indent="0" marL="0">
              <a:buNone/>
            </a:pPr>
            <a:r>
              <a:rPr lang="en-US" sz="1100" dirty="0">
                <a:solidFill>
                  <a:schemeClr val="tx2"/>
                </a:solidFill>
              </a:rPr>
              <a:t>local patients</a:t>
            </a:r>
            <a:endParaRPr lang="en-US" sz="1400" dirty="0"/>
          </a:p>
        </p:txBody>
      </p:sp>
      <p:sp>
        <p:nvSpPr>
          <p:cNvPr id="23" name="Shape 21"/>
          <p:cNvSpPr/>
          <p:nvPr/>
        </p:nvSpPr>
        <p:spPr>
          <a:xfrm>
            <a:off x="6583680" y="3611880"/>
            <a:ext cx="2468880" cy="685800"/>
          </a:xfrm>
          <a:prstGeom prst="roundRect">
            <a:avLst>
              <a:gd name="adj" fmla="val 13333"/>
            </a:avLst>
          </a:prstGeom>
          <a:solidFill>
            <a:schemeClr val="bg1"/>
          </a:solidFill>
          <a:ln w="9525">
            <a:solidFill>
              <a:srgbClr val="D5DEDB"/>
            </a:solidFill>
            <a:prstDash val="solid"/>
          </a:ln>
        </p:spPr>
      </p:sp>
      <p:sp>
        <p:nvSpPr>
          <p:cNvPr id="24" name="Text 22"/>
          <p:cNvSpPr txBox="1"/>
          <p:nvPr/>
        </p:nvSpPr>
        <p:spPr>
          <a:xfrm>
            <a:off x="6583680" y="3611880"/>
            <a:ext cx="2468880" cy="685800"/>
          </a:xfrm>
          <a:prstGeom prst="rect">
            <a:avLst/>
          </a:prstGeom>
          <a:noFill/>
          <a:ln/>
        </p:spPr>
        <p:txBody>
          <a:bodyPr wrap="square" lIns="635" tIns="635" rIns="635" bIns="635" rtlCol="0" anchor="ctr"/>
          <a:lstStyle/>
          <a:p>
            <a:pPr algn="ctr" indent="0" marL="0">
              <a:buNone/>
            </a:pPr>
            <a:r>
              <a:rPr lang="en-US" sz="1400" b="1" dirty="0">
                <a:solidFill>
                  <a:schemeClr val="tx1"/>
                </a:solidFill>
              </a:rPr>
              <a:t>Video consultation</a:t>
            </a:r>
            <a:endParaRPr lang="en-US" sz="1400" dirty="0"/>
          </a:p>
          <a:p>
            <a:pPr algn="ctr" indent="0" marL="0">
              <a:buNone/>
            </a:pPr>
            <a:r>
              <a:rPr lang="en-US" sz="1100" dirty="0">
                <a:solidFill>
                  <a:schemeClr val="tx2"/>
                </a:solidFill>
              </a:rPr>
              <a:t>other towns, e.g. Trichy</a:t>
            </a:r>
            <a:endParaRPr lang="en-US" sz="1400" dirty="0"/>
          </a:p>
        </p:txBody>
      </p:sp>
      <p:sp>
        <p:nvSpPr>
          <p:cNvPr id="25" name="Shape 23"/>
          <p:cNvSpPr/>
          <p:nvPr/>
        </p:nvSpPr>
        <p:spPr>
          <a:xfrm flipH="1">
            <a:off x="9372600" y="3337560"/>
            <a:ext cx="320040" cy="0"/>
          </a:xfrm>
          <a:prstGeom prst="line">
            <a:avLst/>
          </a:prstGeom>
          <a:noFill/>
          <a:ln w="15875">
            <a:solidFill>
              <a:schemeClr val="tx2"/>
            </a:solidFill>
            <a:prstDash val="solid"/>
          </a:ln>
        </p:spPr>
      </p:sp>
      <p:sp>
        <p:nvSpPr>
          <p:cNvPr id="26" name="Shape 24"/>
          <p:cNvSpPr/>
          <p:nvPr/>
        </p:nvSpPr>
        <p:spPr>
          <a:xfrm>
            <a:off x="9372600" y="2948940"/>
            <a:ext cx="0" cy="1005840"/>
          </a:xfrm>
          <a:prstGeom prst="line">
            <a:avLst/>
          </a:prstGeom>
          <a:noFill/>
          <a:ln w="15875">
            <a:solidFill>
              <a:schemeClr val="tx2"/>
            </a:solidFill>
            <a:prstDash val="solid"/>
          </a:ln>
        </p:spPr>
      </p:sp>
      <p:sp>
        <p:nvSpPr>
          <p:cNvPr id="27" name="Shape 25"/>
          <p:cNvSpPr/>
          <p:nvPr/>
        </p:nvSpPr>
        <p:spPr>
          <a:xfrm flipH="1">
            <a:off x="9052560" y="2948940"/>
            <a:ext cx="320040" cy="0"/>
          </a:xfrm>
          <a:prstGeom prst="line">
            <a:avLst/>
          </a:prstGeom>
          <a:noFill/>
          <a:ln w="15875">
            <a:solidFill>
              <a:schemeClr val="tx2"/>
            </a:solidFill>
            <a:prstDash val="solid"/>
            <a:tailEnd type="triangle"/>
          </a:ln>
        </p:spPr>
      </p:sp>
      <p:sp>
        <p:nvSpPr>
          <p:cNvPr id="28" name="Shape 26"/>
          <p:cNvSpPr/>
          <p:nvPr/>
        </p:nvSpPr>
        <p:spPr>
          <a:xfrm flipH="1">
            <a:off x="9052560" y="3954780"/>
            <a:ext cx="320040" cy="0"/>
          </a:xfrm>
          <a:prstGeom prst="line">
            <a:avLst/>
          </a:prstGeom>
          <a:noFill/>
          <a:ln w="15875">
            <a:solidFill>
              <a:schemeClr val="tx2"/>
            </a:solidFill>
            <a:prstDash val="solid"/>
            <a:tailEnd type="triangle"/>
          </a:ln>
        </p:spPr>
      </p:sp>
      <p:sp>
        <p:nvSpPr>
          <p:cNvPr id="29" name="Shape 27"/>
          <p:cNvSpPr/>
          <p:nvPr/>
        </p:nvSpPr>
        <p:spPr>
          <a:xfrm>
            <a:off x="4023360" y="2994660"/>
            <a:ext cx="1920240" cy="685800"/>
          </a:xfrm>
          <a:prstGeom prst="roundRect">
            <a:avLst>
              <a:gd name="adj" fmla="val 13333"/>
            </a:avLst>
          </a:prstGeom>
          <a:solidFill>
            <a:schemeClr val="bg1"/>
          </a:solidFill>
          <a:ln w="9525">
            <a:solidFill>
              <a:srgbClr val="D5DEDB"/>
            </a:solidFill>
            <a:prstDash val="solid"/>
          </a:ln>
        </p:spPr>
      </p:sp>
      <p:sp>
        <p:nvSpPr>
          <p:cNvPr id="30" name="Text 28"/>
          <p:cNvSpPr txBox="1"/>
          <p:nvPr/>
        </p:nvSpPr>
        <p:spPr>
          <a:xfrm>
            <a:off x="4023360" y="2994660"/>
            <a:ext cx="1920240" cy="685800"/>
          </a:xfrm>
          <a:prstGeom prst="rect">
            <a:avLst/>
          </a:prstGeom>
          <a:noFill/>
          <a:ln/>
        </p:spPr>
        <p:txBody>
          <a:bodyPr wrap="square" lIns="635" tIns="635" rIns="635" bIns="635" rtlCol="0" anchor="ctr"/>
          <a:lstStyle/>
          <a:p>
            <a:pPr algn="ctr" indent="0" marL="0">
              <a:buNone/>
            </a:pPr>
            <a:r>
              <a:rPr lang="en-US" sz="1400" b="1" dirty="0">
                <a:solidFill>
                  <a:schemeClr val="tx1"/>
                </a:solidFill>
              </a:rPr>
              <a:t>Book a time</a:t>
            </a:r>
            <a:endParaRPr lang="en-US" sz="1400" dirty="0"/>
          </a:p>
        </p:txBody>
      </p:sp>
      <p:sp>
        <p:nvSpPr>
          <p:cNvPr id="31" name="Shape 29"/>
          <p:cNvSpPr/>
          <p:nvPr/>
        </p:nvSpPr>
        <p:spPr>
          <a:xfrm flipH="1">
            <a:off x="6263640" y="2948940"/>
            <a:ext cx="320040" cy="0"/>
          </a:xfrm>
          <a:prstGeom prst="line">
            <a:avLst/>
          </a:prstGeom>
          <a:noFill/>
          <a:ln w="15875">
            <a:solidFill>
              <a:schemeClr val="tx2"/>
            </a:solidFill>
            <a:prstDash val="solid"/>
          </a:ln>
        </p:spPr>
      </p:sp>
      <p:sp>
        <p:nvSpPr>
          <p:cNvPr id="32" name="Shape 30"/>
          <p:cNvSpPr/>
          <p:nvPr/>
        </p:nvSpPr>
        <p:spPr>
          <a:xfrm flipH="1">
            <a:off x="6263640" y="3954780"/>
            <a:ext cx="320040" cy="0"/>
          </a:xfrm>
          <a:prstGeom prst="line">
            <a:avLst/>
          </a:prstGeom>
          <a:noFill/>
          <a:ln w="15875">
            <a:solidFill>
              <a:schemeClr val="tx2"/>
            </a:solidFill>
            <a:prstDash val="solid"/>
          </a:ln>
        </p:spPr>
      </p:sp>
      <p:sp>
        <p:nvSpPr>
          <p:cNvPr id="33" name="Shape 31"/>
          <p:cNvSpPr/>
          <p:nvPr/>
        </p:nvSpPr>
        <p:spPr>
          <a:xfrm>
            <a:off x="6263640" y="2948940"/>
            <a:ext cx="0" cy="1005840"/>
          </a:xfrm>
          <a:prstGeom prst="line">
            <a:avLst/>
          </a:prstGeom>
          <a:noFill/>
          <a:ln w="15875">
            <a:solidFill>
              <a:schemeClr val="tx2"/>
            </a:solidFill>
            <a:prstDash val="solid"/>
          </a:ln>
        </p:spPr>
      </p:sp>
      <p:sp>
        <p:nvSpPr>
          <p:cNvPr id="34" name="Shape 32"/>
          <p:cNvSpPr/>
          <p:nvPr/>
        </p:nvSpPr>
        <p:spPr>
          <a:xfrm flipH="1">
            <a:off x="5943600" y="3337560"/>
            <a:ext cx="320040" cy="0"/>
          </a:xfrm>
          <a:prstGeom prst="line">
            <a:avLst/>
          </a:prstGeom>
          <a:noFill/>
          <a:ln w="15875">
            <a:solidFill>
              <a:schemeClr val="tx2"/>
            </a:solidFill>
            <a:prstDash val="solid"/>
            <a:tailEnd type="triangle"/>
          </a:ln>
        </p:spPr>
      </p:sp>
      <p:sp>
        <p:nvSpPr>
          <p:cNvPr id="35" name="Shape 33"/>
          <p:cNvSpPr/>
          <p:nvPr/>
        </p:nvSpPr>
        <p:spPr>
          <a:xfrm>
            <a:off x="548640" y="2994660"/>
            <a:ext cx="2377440" cy="685800"/>
          </a:xfrm>
          <a:prstGeom prst="roundRect">
            <a:avLst>
              <a:gd name="adj" fmla="val 13333"/>
            </a:avLst>
          </a:prstGeom>
          <a:solidFill>
            <a:schemeClr val="accent1"/>
          </a:solidFill>
          <a:ln/>
        </p:spPr>
      </p:sp>
      <p:sp>
        <p:nvSpPr>
          <p:cNvPr id="36" name="Text 34"/>
          <p:cNvSpPr txBox="1"/>
          <p:nvPr/>
        </p:nvSpPr>
        <p:spPr>
          <a:xfrm>
            <a:off x="548640" y="2994660"/>
            <a:ext cx="2377440" cy="685800"/>
          </a:xfrm>
          <a:prstGeom prst="rect">
            <a:avLst/>
          </a:prstGeom>
          <a:noFill/>
          <a:ln/>
        </p:spPr>
        <p:txBody>
          <a:bodyPr wrap="square" lIns="635" tIns="635" rIns="635" bIns="635" rtlCol="0" anchor="ctr"/>
          <a:lstStyle/>
          <a:p>
            <a:pPr algn="ctr" indent="0" marL="0">
              <a:buNone/>
            </a:pPr>
            <a:r>
              <a:rPr lang="en-US" sz="1400" b="1" dirty="0">
                <a:solidFill>
                  <a:schemeClr val="bg1"/>
                </a:solidFill>
              </a:rPr>
              <a:t>Google Calendar</a:t>
            </a:r>
            <a:endParaRPr lang="en-US" sz="1400" dirty="0"/>
          </a:p>
          <a:p>
            <a:pPr algn="ctr" indent="0" marL="0">
              <a:buNone/>
            </a:pPr>
            <a:r>
              <a:rPr lang="en-US" sz="1100" dirty="0">
                <a:solidFill>
                  <a:schemeClr val="bg1"/>
                </a:solidFill>
              </a:rPr>
              <a:t>booking confirmed</a:t>
            </a:r>
            <a:endParaRPr lang="en-US" sz="1400" dirty="0"/>
          </a:p>
        </p:txBody>
      </p:sp>
      <p:sp>
        <p:nvSpPr>
          <p:cNvPr id="37" name="Shape 35"/>
          <p:cNvSpPr/>
          <p:nvPr/>
        </p:nvSpPr>
        <p:spPr>
          <a:xfrm flipH="1">
            <a:off x="2926080" y="3337560"/>
            <a:ext cx="1097280" cy="0"/>
          </a:xfrm>
          <a:prstGeom prst="line">
            <a:avLst/>
          </a:prstGeom>
          <a:noFill/>
          <a:ln w="15875">
            <a:solidFill>
              <a:schemeClr val="tx2"/>
            </a:solidFill>
            <a:prstDash val="solid"/>
            <a:tailEnd type="triangle"/>
          </a:ln>
        </p:spPr>
      </p:sp>
      <p:sp>
        <p:nvSpPr>
          <p:cNvPr id="38" name="Shape 36"/>
          <p:cNvSpPr/>
          <p:nvPr/>
        </p:nvSpPr>
        <p:spPr>
          <a:xfrm>
            <a:off x="4023360" y="4983480"/>
            <a:ext cx="1920240" cy="685800"/>
          </a:xfrm>
          <a:prstGeom prst="roundRect">
            <a:avLst>
              <a:gd name="adj" fmla="val 13333"/>
            </a:avLst>
          </a:prstGeom>
          <a:solidFill>
            <a:schemeClr val="bg1"/>
          </a:solidFill>
          <a:ln w="9525">
            <a:solidFill>
              <a:srgbClr val="D5DEDB"/>
            </a:solidFill>
            <a:prstDash val="solid"/>
          </a:ln>
        </p:spPr>
      </p:sp>
      <p:sp>
        <p:nvSpPr>
          <p:cNvPr id="39" name="Text 37"/>
          <p:cNvSpPr txBox="1"/>
          <p:nvPr/>
        </p:nvSpPr>
        <p:spPr>
          <a:xfrm>
            <a:off x="4023360" y="4983480"/>
            <a:ext cx="1920240" cy="685800"/>
          </a:xfrm>
          <a:prstGeom prst="rect">
            <a:avLst/>
          </a:prstGeom>
          <a:noFill/>
          <a:ln/>
        </p:spPr>
        <p:txBody>
          <a:bodyPr wrap="square" lIns="635" tIns="635" rIns="635" bIns="635" rtlCol="0" anchor="ctr"/>
          <a:lstStyle/>
          <a:p>
            <a:pPr algn="ctr" indent="0" marL="0">
              <a:buNone/>
            </a:pPr>
            <a:r>
              <a:rPr lang="en-US" sz="1400" b="1" dirty="0">
                <a:solidFill>
                  <a:schemeClr val="tx1"/>
                </a:solidFill>
              </a:rPr>
              <a:t>Call list</a:t>
            </a:r>
            <a:endParaRPr lang="en-US" sz="1400" dirty="0"/>
          </a:p>
        </p:txBody>
      </p:sp>
      <p:sp>
        <p:nvSpPr>
          <p:cNvPr id="40" name="Shape 38"/>
          <p:cNvSpPr/>
          <p:nvPr/>
        </p:nvSpPr>
        <p:spPr>
          <a:xfrm>
            <a:off x="6583680" y="4983480"/>
            <a:ext cx="1920240" cy="685800"/>
          </a:xfrm>
          <a:prstGeom prst="roundRect">
            <a:avLst>
              <a:gd name="adj" fmla="val 13333"/>
            </a:avLst>
          </a:prstGeom>
          <a:solidFill>
            <a:schemeClr val="bg1"/>
          </a:solidFill>
          <a:ln w="9525">
            <a:solidFill>
              <a:srgbClr val="D5DEDB"/>
            </a:solidFill>
            <a:prstDash val="solid"/>
          </a:ln>
        </p:spPr>
      </p:sp>
      <p:sp>
        <p:nvSpPr>
          <p:cNvPr id="41" name="Text 39"/>
          <p:cNvSpPr txBox="1"/>
          <p:nvPr/>
        </p:nvSpPr>
        <p:spPr>
          <a:xfrm>
            <a:off x="6583680" y="4983480"/>
            <a:ext cx="1920240" cy="685800"/>
          </a:xfrm>
          <a:prstGeom prst="rect">
            <a:avLst/>
          </a:prstGeom>
          <a:noFill/>
          <a:ln/>
        </p:spPr>
        <p:txBody>
          <a:bodyPr wrap="square" lIns="635" tIns="635" rIns="635" bIns="635" rtlCol="0" anchor="ctr"/>
          <a:lstStyle/>
          <a:p>
            <a:pPr algn="ctr" indent="0" marL="0">
              <a:buNone/>
            </a:pPr>
            <a:r>
              <a:rPr lang="en-US" sz="1400" b="1" dirty="0">
                <a:solidFill>
                  <a:schemeClr val="tx1"/>
                </a:solidFill>
              </a:rPr>
              <a:t>Receptionist calls</a:t>
            </a:r>
            <a:endParaRPr lang="en-US" sz="1400" dirty="0"/>
          </a:p>
        </p:txBody>
      </p:sp>
      <p:sp>
        <p:nvSpPr>
          <p:cNvPr id="42" name="Shape 40"/>
          <p:cNvSpPr/>
          <p:nvPr/>
        </p:nvSpPr>
        <p:spPr>
          <a:xfrm>
            <a:off x="9144000" y="4983480"/>
            <a:ext cx="1920240" cy="685800"/>
          </a:xfrm>
          <a:prstGeom prst="roundRect">
            <a:avLst>
              <a:gd name="adj" fmla="val 13333"/>
            </a:avLst>
          </a:prstGeom>
          <a:solidFill>
            <a:schemeClr val="bg1"/>
          </a:solidFill>
          <a:ln w="9525">
            <a:solidFill>
              <a:srgbClr val="D5DEDB"/>
            </a:solidFill>
            <a:prstDash val="solid"/>
          </a:ln>
        </p:spPr>
      </p:sp>
      <p:sp>
        <p:nvSpPr>
          <p:cNvPr id="43" name="Text 41"/>
          <p:cNvSpPr txBox="1"/>
          <p:nvPr/>
        </p:nvSpPr>
        <p:spPr>
          <a:xfrm>
            <a:off x="9144000" y="4983480"/>
            <a:ext cx="1920240" cy="685800"/>
          </a:xfrm>
          <a:prstGeom prst="rect">
            <a:avLst/>
          </a:prstGeom>
          <a:noFill/>
          <a:ln/>
        </p:spPr>
        <p:txBody>
          <a:bodyPr wrap="square" lIns="635" tIns="635" rIns="635" bIns="635" rtlCol="0" anchor="ctr"/>
          <a:lstStyle/>
          <a:p>
            <a:pPr algn="ctr" indent="0" marL="0">
              <a:buNone/>
            </a:pPr>
            <a:r>
              <a:rPr lang="en-US" sz="1400" b="1" dirty="0">
                <a:solidFill>
                  <a:schemeClr val="tx1"/>
                </a:solidFill>
              </a:rPr>
              <a:t>Update PMS</a:t>
            </a:r>
            <a:endParaRPr lang="en-US" sz="1400" dirty="0"/>
          </a:p>
        </p:txBody>
      </p:sp>
      <p:sp>
        <p:nvSpPr>
          <p:cNvPr id="44" name="Shape 42"/>
          <p:cNvSpPr/>
          <p:nvPr/>
        </p:nvSpPr>
        <p:spPr>
          <a:xfrm>
            <a:off x="5943600" y="5326380"/>
            <a:ext cx="640080" cy="0"/>
          </a:xfrm>
          <a:prstGeom prst="line">
            <a:avLst/>
          </a:prstGeom>
          <a:noFill/>
          <a:ln w="15875">
            <a:solidFill>
              <a:schemeClr val="tx2"/>
            </a:solidFill>
            <a:prstDash val="solid"/>
            <a:tailEnd type="triangle"/>
          </a:ln>
        </p:spPr>
      </p:sp>
      <p:sp>
        <p:nvSpPr>
          <p:cNvPr id="45" name="Shape 43"/>
          <p:cNvSpPr/>
          <p:nvPr/>
        </p:nvSpPr>
        <p:spPr>
          <a:xfrm>
            <a:off x="8503920" y="5326380"/>
            <a:ext cx="640080" cy="0"/>
          </a:xfrm>
          <a:prstGeom prst="line">
            <a:avLst/>
          </a:prstGeom>
          <a:noFill/>
          <a:ln w="15875">
            <a:solidFill>
              <a:schemeClr val="tx2"/>
            </a:solidFill>
            <a:prstDash val="solid"/>
            <a:tailEnd type="triangle"/>
          </a:ln>
        </p:spPr>
      </p:sp>
      <p:sp>
        <p:nvSpPr>
          <p:cNvPr id="46" name="Shape 44"/>
          <p:cNvSpPr/>
          <p:nvPr/>
        </p:nvSpPr>
        <p:spPr>
          <a:xfrm>
            <a:off x="4572000" y="3680460"/>
            <a:ext cx="0" cy="1303020"/>
          </a:xfrm>
          <a:prstGeom prst="line">
            <a:avLst/>
          </a:prstGeom>
          <a:noFill/>
          <a:ln w="15875">
            <a:solidFill>
              <a:schemeClr val="tx2"/>
            </a:solidFill>
            <a:prstDash val="solid"/>
            <a:tailEnd type="triangle"/>
          </a:ln>
        </p:spPr>
      </p:sp>
      <p:sp>
        <p:nvSpPr>
          <p:cNvPr id="47" name="Text 45"/>
          <p:cNvSpPr txBox="1"/>
          <p:nvPr/>
        </p:nvSpPr>
        <p:spPr>
          <a:xfrm>
            <a:off x="3200400" y="4206240"/>
            <a:ext cx="1280160" cy="274320"/>
          </a:xfrm>
          <a:prstGeom prst="rect">
            <a:avLst/>
          </a:prstGeom>
          <a:noFill/>
          <a:ln/>
        </p:spPr>
        <p:txBody>
          <a:bodyPr wrap="square" lIns="0" tIns="0" rIns="0" bIns="0" rtlCol="0" anchor="t"/>
          <a:lstStyle/>
          <a:p>
            <a:pPr algn="r" indent="0" marL="0">
              <a:buNone/>
            </a:pPr>
            <a:r>
              <a:rPr lang="en-US" sz="1100" dirty="0">
                <a:solidFill>
                  <a:schemeClr val="tx2"/>
                </a:solidFill>
              </a:rPr>
              <a:t>doesn't book</a:t>
            </a:r>
            <a:endParaRPr lang="en-US" sz="1100" dirty="0"/>
          </a:p>
        </p:txBody>
      </p:sp>
      <p:sp>
        <p:nvSpPr>
          <p:cNvPr id="48" name="Shape 46"/>
          <p:cNvSpPr/>
          <p:nvPr/>
        </p:nvSpPr>
        <p:spPr>
          <a:xfrm flipV="1">
            <a:off x="7543800" y="4663440"/>
            <a:ext cx="0" cy="320040"/>
          </a:xfrm>
          <a:prstGeom prst="line">
            <a:avLst/>
          </a:prstGeom>
          <a:noFill/>
          <a:ln w="15875">
            <a:solidFill>
              <a:schemeClr val="tx2"/>
            </a:solidFill>
            <a:prstDash val="solid"/>
          </a:ln>
        </p:spPr>
      </p:sp>
      <p:sp>
        <p:nvSpPr>
          <p:cNvPr id="49" name="Shape 47"/>
          <p:cNvSpPr/>
          <p:nvPr/>
        </p:nvSpPr>
        <p:spPr>
          <a:xfrm flipH="1">
            <a:off x="5486400" y="4663440"/>
            <a:ext cx="2057400" cy="0"/>
          </a:xfrm>
          <a:prstGeom prst="line">
            <a:avLst/>
          </a:prstGeom>
          <a:noFill/>
          <a:ln w="15875">
            <a:solidFill>
              <a:schemeClr val="tx2"/>
            </a:solidFill>
            <a:prstDash val="solid"/>
          </a:ln>
        </p:spPr>
      </p:sp>
      <p:sp>
        <p:nvSpPr>
          <p:cNvPr id="50" name="Shape 48"/>
          <p:cNvSpPr/>
          <p:nvPr/>
        </p:nvSpPr>
        <p:spPr>
          <a:xfrm flipV="1">
            <a:off x="5486400" y="3680460"/>
            <a:ext cx="0" cy="982980"/>
          </a:xfrm>
          <a:prstGeom prst="line">
            <a:avLst/>
          </a:prstGeom>
          <a:noFill/>
          <a:ln w="15875">
            <a:solidFill>
              <a:schemeClr val="tx2"/>
            </a:solidFill>
            <a:prstDash val="solid"/>
            <a:tailEnd type="triangle"/>
          </a:ln>
        </p:spPr>
      </p:sp>
      <p:sp>
        <p:nvSpPr>
          <p:cNvPr id="51" name="Text 49"/>
          <p:cNvSpPr txBox="1"/>
          <p:nvPr/>
        </p:nvSpPr>
        <p:spPr>
          <a:xfrm>
            <a:off x="5623560" y="4709160"/>
            <a:ext cx="1280160" cy="256032"/>
          </a:xfrm>
          <a:prstGeom prst="rect">
            <a:avLst/>
          </a:prstGeom>
          <a:noFill/>
          <a:ln/>
        </p:spPr>
        <p:txBody>
          <a:bodyPr wrap="square" lIns="0" tIns="0" rIns="0" bIns="0" rtlCol="0" anchor="t"/>
          <a:lstStyle/>
          <a:p>
            <a:pPr indent="0" marL="0">
              <a:buNone/>
            </a:pPr>
            <a:r>
              <a:rPr lang="en-US" sz="1100" b="1" dirty="0">
                <a:solidFill>
                  <a:schemeClr val="accent1"/>
                </a:solidFill>
              </a:rPr>
              <a:t>brought back</a:t>
            </a:r>
            <a:endParaRPr lang="en-US" sz="1100" dirty="0"/>
          </a:p>
        </p:txBody>
      </p:sp>
      <p:sp>
        <p:nvSpPr>
          <p:cNvPr id="25" name="Slide Number Placeholder 0"/>
          <p:cNvSpPr>
            <a:spLocks noGrp="1"/>
          </p:cNvSpPr>
          <p:nvPr>
            <p:ph type="sldNum" sz="quarter" idx="4294967295"/>
          </p:nvPr>
        </p:nvSpPr>
        <p:spPr>
          <a:xfrm>
            <a:off x="9509760" y="6355080"/>
            <a:ext cx="64008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3" type="body" hasCustomPrompt="1"/>
          </p:nvPr>
        </p:nvSpPr>
        <p:spPr>
          <a:xfrm>
            <a:off x="548640" y="384048"/>
            <a:ext cx="11064240" cy="274320"/>
          </a:xfrm>
          <a:prstGeom prst="rect">
            <a:avLst/>
          </a:prstGeom>
          <a:noFill/>
          <a:ln/>
        </p:spPr>
        <p:txBody>
          <a:bodyPr wrap="square" lIns="0" tIns="0" rIns="0" bIns="0" rtlCol="0" anchor="t"/>
          <a:lstStyle/>
          <a:p>
            <a:pPr algn="l" indent="0" marL="0">
              <a:buNone/>
            </a:pPr>
            <a:r>
              <a:rPr lang="en-US" sz="1100" b="1" spc="150" kern="0" dirty="0">
                <a:solidFill>
                  <a:schemeClr val="accent1"/>
                </a:solidFill>
              </a:rPr>
              <a:t>HOW PATIENTCURVE CLOSES THE GAP</a:t>
            </a:r>
            <a:endParaRPr lang="en-US" sz="1100" dirty="0"/>
          </a:p>
        </p:txBody>
      </p:sp>
      <p:sp>
        <p:nvSpPr>
          <p:cNvPr id="3" name="Text 2"/>
          <p:cNvSpPr/>
          <p:nvPr>
            <p:ph idx="104" type="title" hasCustomPrompt="1"/>
          </p:nvPr>
        </p:nvSpPr>
        <p:spPr>
          <a:xfrm>
            <a:off x="548640" y="685800"/>
            <a:ext cx="11064240" cy="685800"/>
          </a:xfrm>
          <a:prstGeom prst="rect">
            <a:avLst/>
          </a:prstGeom>
          <a:noFill/>
          <a:ln/>
        </p:spPr>
        <p:txBody>
          <a:bodyPr wrap="square" lIns="0" tIns="0" rIns="0" bIns="0" rtlCol="0" anchor="t"/>
          <a:lstStyle/>
          <a:p>
            <a:pPr algn="l" indent="0" marL="0">
              <a:buNone/>
            </a:pPr>
            <a:r>
              <a:rPr lang="en-US" sz="3000" b="1" dirty="0">
                <a:solidFill>
                  <a:schemeClr val="tx1"/>
                </a:solidFill>
              </a:rPr>
              <a:t>Each gap has a fix and a business outcome</a:t>
            </a:r>
            <a:endParaRPr lang="en-US" sz="3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1672" cy="914400"/>
        </p:xfrm>
        <a:graphic>
          <a:graphicData uri="http://schemas.openxmlformats.org/drawingml/2006/table">
            <a:tbl>
              <a:tblPr/>
              <a:tblGrid>
                <a:gridCol w="2377440"/>
                <a:gridCol w="5605272"/>
                <a:gridCol w="3108960"/>
              </a:tblGrid>
              <a:tr h="365760">
                <a:tc>
                  <a:txBody>
                    <a:bodyPr/>
                    <a:lstStyle/>
                    <a:p>
                      <a:pPr indent="0" marL="0">
                        <a:buNone/>
                      </a:pPr>
                      <a:r>
                        <a:rPr lang="en-US" sz="1100" b="1" spc="100" kern="0" dirty="0">
                          <a:solidFill>
                            <a:schemeClr val="tx2"/>
                          </a:solidFill>
                        </a:rPr>
                        <a:t>AREA</a:t>
                      </a:r>
                      <a:endParaRPr lang="en-US" sz="1100" dirty="0"/>
                    </a:p>
                  </a:txBody>
                  <a:tcPr marL="109728" marR="109728" marT="54864" marB="54864">
                    <a:lnL w="0" cap="flat" cmpd="sng" algn="ctr">
                      <a:noFill/>
                    </a:lnL>
                    <a:lnR w="0" cap="flat" cmpd="sng" algn="ctr">
                      <a:noFill/>
                    </a:lnR>
                    <a:lnT w="0" cap="flat" cmpd="sng" algn="ctr">
                      <a:noFill/>
                    </a:lnT>
                    <a:lnB w="12700" cap="flat" cmpd="sng" algn="ctr">
                      <a:solidFill>
                        <a:srgbClr val="14232B"/>
                      </a:solidFill>
                      <a:prstDash val="solid"/>
                      <a:round/>
                      <a:headEnd type="none" w="med" len="med"/>
                      <a:tailEnd type="none" w="med" len="med"/>
                    </a:lnB>
                    <a:solidFill>
                      <a:schemeClr val="bg2"/>
                    </a:solidFill>
                  </a:tcPr>
                </a:tc>
                <a:tc>
                  <a:txBody>
                    <a:bodyPr/>
                    <a:lstStyle/>
                    <a:p>
                      <a:pPr indent="0" marL="0">
                        <a:buNone/>
                      </a:pPr>
                      <a:r>
                        <a:rPr lang="en-US" sz="1100" b="1" spc="100" kern="0" dirty="0">
                          <a:solidFill>
                            <a:schemeClr val="tx2"/>
                          </a:solidFill>
                        </a:rPr>
                        <a:t>WHAT PATIENTCURVE DOES</a:t>
                      </a:r>
                      <a:endParaRPr lang="en-US" sz="1100" dirty="0"/>
                    </a:p>
                  </a:txBody>
                  <a:tcPr marL="109728" marR="109728" marT="54864" marB="54864">
                    <a:lnL w="0" cap="flat" cmpd="sng" algn="ctr">
                      <a:noFill/>
                    </a:lnL>
                    <a:lnR w="0" cap="flat" cmpd="sng" algn="ctr">
                      <a:noFill/>
                    </a:lnR>
                    <a:lnT w="0" cap="flat" cmpd="sng" algn="ctr">
                      <a:noFill/>
                    </a:lnT>
                    <a:lnB w="12700" cap="flat" cmpd="sng" algn="ctr">
                      <a:solidFill>
                        <a:srgbClr val="14232B"/>
                      </a:solidFill>
                      <a:prstDash val="solid"/>
                      <a:round/>
                      <a:headEnd type="none" w="med" len="med"/>
                      <a:tailEnd type="none" w="med" len="med"/>
                    </a:lnB>
                    <a:solidFill>
                      <a:schemeClr val="bg2"/>
                    </a:solidFill>
                  </a:tcPr>
                </a:tc>
                <a:tc>
                  <a:txBody>
                    <a:bodyPr/>
                    <a:lstStyle/>
                    <a:p>
                      <a:pPr indent="0" marL="0">
                        <a:buNone/>
                      </a:pPr>
                      <a:r>
                        <a:rPr lang="en-US" sz="1100" b="1" spc="100" kern="0" dirty="0">
                          <a:solidFill>
                            <a:schemeClr val="tx2"/>
                          </a:solidFill>
                        </a:rPr>
                        <a:t>BUSINESS OUTCOME</a:t>
                      </a:r>
                      <a:endParaRPr lang="en-US" sz="1100" dirty="0"/>
                    </a:p>
                  </a:txBody>
                  <a:tcPr marL="109728" marR="109728" marT="54864" marB="54864">
                    <a:lnL w="0" cap="flat" cmpd="sng" algn="ctr">
                      <a:noFill/>
                    </a:lnL>
                    <a:lnR w="0" cap="flat" cmpd="sng" algn="ctr">
                      <a:noFill/>
                    </a:lnR>
                    <a:lnT w="0" cap="flat" cmpd="sng" algn="ctr">
                      <a:noFill/>
                    </a:lnT>
                    <a:lnB w="12700" cap="flat" cmpd="sng" algn="ctr">
                      <a:solidFill>
                        <a:srgbClr val="14232B"/>
                      </a:solidFill>
                      <a:prstDash val="solid"/>
                      <a:round/>
                      <a:headEnd type="none" w="med" len="med"/>
                      <a:tailEnd type="none" w="med" len="med"/>
                    </a:lnB>
                    <a:solidFill>
                      <a:schemeClr val="bg2"/>
                    </a:solidFill>
                  </a:tcPr>
                </a:tc>
              </a:tr>
              <a:tr h="530352">
                <a:tc>
                  <a:txBody>
                    <a:bodyPr/>
                    <a:lstStyle/>
                    <a:p>
                      <a:pPr indent="0" marL="0">
                        <a:buNone/>
                      </a:pPr>
                      <a:r>
                        <a:rPr lang="en-US" sz="1300" b="1" dirty="0">
                          <a:solidFill>
                            <a:schemeClr val="tx1"/>
                          </a:solidFill>
                        </a:rPr>
                        <a:t>Correct information</a:t>
                      </a:r>
                      <a:endParaRPr lang="en-US" sz="1300" dirty="0"/>
                    </a:p>
                  </a:txBody>
                  <a:tcPr marL="109728" marR="109728" marT="54864" marB="54864" anchor="ctr">
                    <a:lnL w="0" cap="flat" cmpd="sng" algn="ctr">
                      <a:noFill/>
                    </a:lnL>
                    <a:lnR w="0" cap="flat" cmpd="sng" algn="ctr">
                      <a:noFill/>
                    </a:lnR>
                    <a:lnT w="0" cap="flat" cmpd="sng" algn="ctr">
                      <a:noFill/>
                    </a:lnT>
                    <a:lnB w="9525" cap="flat" cmpd="sng" algn="ctr">
                      <a:solidFill>
                        <a:srgbClr val="D5DEDB"/>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Answers only from information the clinic approves; anything else goes to your team</a:t>
                      </a:r>
                      <a:endParaRPr lang="en-US" sz="1300" dirty="0"/>
                    </a:p>
                  </a:txBody>
                  <a:tcPr marL="109728" marR="109728" marT="54864" marB="54864" anchor="ctr">
                    <a:lnL w="0" cap="flat" cmpd="sng" algn="ctr">
                      <a:noFill/>
                    </a:lnL>
                    <a:lnR w="0" cap="flat" cmpd="sng" algn="ctr">
                      <a:noFill/>
                    </a:lnR>
                    <a:lnT w="0" cap="flat" cmpd="sng" algn="ctr">
                      <a:noFill/>
                    </a:lnT>
                    <a:lnB w="9525" cap="flat" cmpd="sng" algn="ctr">
                      <a:solidFill>
                        <a:srgbClr val="D5DEDB"/>
                      </a:solidFill>
                      <a:prstDash val="solid"/>
                      <a:round/>
                      <a:headEnd type="none" w="med" len="med"/>
                      <a:tailEnd type="none" w="med" len="med"/>
                    </a:lnB>
                    <a:solidFill>
                      <a:schemeClr val="bg2"/>
                    </a:solidFill>
                  </a:tcPr>
                </a:tc>
                <a:tc>
                  <a:txBody>
                    <a:bodyPr/>
                    <a:lstStyle/>
                    <a:p>
                      <a:pPr indent="0" marL="0">
                        <a:buNone/>
                      </a:pPr>
                      <a:r>
                        <a:rPr lang="en-US" sz="1300" dirty="0">
                          <a:solidFill>
                            <a:schemeClr val="accent1"/>
                          </a:solidFill>
                        </a:rPr>
                        <a:t>No wrong fees or details reach patients</a:t>
                      </a:r>
                      <a:endParaRPr lang="en-US" sz="1300" dirty="0"/>
                    </a:p>
                  </a:txBody>
                  <a:tcPr marL="109728" marR="109728" marT="54864" marB="54864" anchor="ctr">
                    <a:lnL w="0" cap="flat" cmpd="sng" algn="ctr">
                      <a:noFill/>
                    </a:lnL>
                    <a:lnR w="0" cap="flat" cmpd="sng" algn="ctr">
                      <a:noFill/>
                    </a:lnR>
                    <a:lnT w="0" cap="flat" cmpd="sng" algn="ctr">
                      <a:noFill/>
                    </a:lnT>
                    <a:lnB w="9525" cap="flat" cmpd="sng" algn="ctr">
                      <a:solidFill>
                        <a:srgbClr val="D5DEDB"/>
                      </a:solidFill>
                      <a:prstDash val="solid"/>
                      <a:round/>
                      <a:headEnd type="none" w="med" len="med"/>
                      <a:tailEnd type="none" w="med" len="med"/>
                    </a:lnB>
                    <a:solidFill>
                      <a:schemeClr val="bg2"/>
                    </a:solidFill>
                  </a:tcPr>
                </a:tc>
              </a:tr>
              <a:tr h="530352">
                <a:tc>
                  <a:txBody>
                    <a:bodyPr/>
                    <a:lstStyle/>
                    <a:p>
                      <a:pPr indent="0" marL="0">
                        <a:buNone/>
                      </a:pPr>
                      <a:r>
                        <a:rPr lang="en-US" sz="1300" b="1" dirty="0">
                          <a:solidFill>
                            <a:schemeClr val="tx1"/>
                          </a:solidFill>
                        </a:rPr>
                        <a:t>Patient details</a:t>
                      </a:r>
                      <a:endParaRPr lang="en-US" sz="1300" dirty="0"/>
                    </a:p>
                  </a:txBody>
                  <a:tcPr marL="109728" marR="109728" marT="54864" marB="54864" anchor="ctr">
                    <a:lnL w="0" cap="flat" cmpd="sng" algn="ctr">
                      <a:noFill/>
                    </a:lnL>
                    <a:lnR w="0" cap="flat" cmpd="sng" algn="ctr">
                      <a:noFill/>
                    </a:lnR>
                    <a:lnT w="0" cap="flat" cmpd="sng" algn="ctr">
                      <a:noFill/>
                    </a:lnT>
                    <a:lnB w="9525" cap="flat" cmpd="sng" algn="ctr">
                      <a:solidFill>
                        <a:srgbClr val="D5DEDB"/>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Name, phone, location and requirement collected from every enquiry</a:t>
                      </a:r>
                      <a:endParaRPr lang="en-US" sz="1300" dirty="0"/>
                    </a:p>
                  </a:txBody>
                  <a:tcPr marL="109728" marR="109728" marT="54864" marB="54864" anchor="ctr">
                    <a:lnL w="0" cap="flat" cmpd="sng" algn="ctr">
                      <a:noFill/>
                    </a:lnL>
                    <a:lnR w="0" cap="flat" cmpd="sng" algn="ctr">
                      <a:noFill/>
                    </a:lnR>
                    <a:lnT w="0" cap="flat" cmpd="sng" algn="ctr">
                      <a:noFill/>
                    </a:lnT>
                    <a:lnB w="9525" cap="flat" cmpd="sng" algn="ctr">
                      <a:solidFill>
                        <a:srgbClr val="D5DEDB"/>
                      </a:solidFill>
                      <a:prstDash val="solid"/>
                      <a:round/>
                      <a:headEnd type="none" w="med" len="med"/>
                      <a:tailEnd type="none" w="med" len="med"/>
                    </a:lnB>
                    <a:solidFill>
                      <a:schemeClr val="bg2"/>
                    </a:solidFill>
                  </a:tcPr>
                </a:tc>
                <a:tc>
                  <a:txBody>
                    <a:bodyPr/>
                    <a:lstStyle/>
                    <a:p>
                      <a:pPr indent="0" marL="0">
                        <a:buNone/>
                      </a:pPr>
                      <a:r>
                        <a:rPr lang="en-US" sz="1300" dirty="0">
                          <a:solidFill>
                            <a:schemeClr val="accent1"/>
                          </a:solidFill>
                        </a:rPr>
                        <a:t>Every enquiry is complete and ready to act on</a:t>
                      </a:r>
                      <a:endParaRPr lang="en-US" sz="1300" dirty="0"/>
                    </a:p>
                  </a:txBody>
                  <a:tcPr marL="109728" marR="109728" marT="54864" marB="54864" anchor="ctr">
                    <a:lnL w="0" cap="flat" cmpd="sng" algn="ctr">
                      <a:noFill/>
                    </a:lnL>
                    <a:lnR w="0" cap="flat" cmpd="sng" algn="ctr">
                      <a:noFill/>
                    </a:lnR>
                    <a:lnT w="0" cap="flat" cmpd="sng" algn="ctr">
                      <a:noFill/>
                    </a:lnT>
                    <a:lnB w="9525" cap="flat" cmpd="sng" algn="ctr">
                      <a:solidFill>
                        <a:srgbClr val="D5DEDB"/>
                      </a:solidFill>
                      <a:prstDash val="solid"/>
                      <a:round/>
                      <a:headEnd type="none" w="med" len="med"/>
                      <a:tailEnd type="none" w="med" len="med"/>
                    </a:lnB>
                    <a:solidFill>
                      <a:schemeClr val="bg2"/>
                    </a:solidFill>
                  </a:tcPr>
                </a:tc>
              </a:tr>
              <a:tr h="530352">
                <a:tc>
                  <a:txBody>
                    <a:bodyPr/>
                    <a:lstStyle/>
                    <a:p>
                      <a:pPr indent="0" marL="0">
                        <a:buNone/>
                      </a:pPr>
                      <a:r>
                        <a:rPr lang="en-US" sz="1300" b="1" dirty="0">
                          <a:solidFill>
                            <a:schemeClr val="tx1"/>
                          </a:solidFill>
                        </a:rPr>
                        <a:t>Consultation routing</a:t>
                      </a:r>
                      <a:endParaRPr lang="en-US" sz="1300" dirty="0"/>
                    </a:p>
                  </a:txBody>
                  <a:tcPr marL="109728" marR="109728" marT="54864" marB="54864" anchor="ctr">
                    <a:lnL w="0" cap="flat" cmpd="sng" algn="ctr">
                      <a:noFill/>
                    </a:lnL>
                    <a:lnR w="0" cap="flat" cmpd="sng" algn="ctr">
                      <a:noFill/>
                    </a:lnR>
                    <a:lnT w="0" cap="flat" cmpd="sng" algn="ctr">
                      <a:noFill/>
                    </a:lnT>
                    <a:lnB w="9525" cap="flat" cmpd="sng" algn="ctr">
                      <a:solidFill>
                        <a:srgbClr val="D5DEDB"/>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Local patients to offline consultation, other towns to video, each with its own fee</a:t>
                      </a:r>
                      <a:endParaRPr lang="en-US" sz="1300" dirty="0"/>
                    </a:p>
                  </a:txBody>
                  <a:tcPr marL="109728" marR="109728" marT="54864" marB="54864" anchor="ctr">
                    <a:lnL w="0" cap="flat" cmpd="sng" algn="ctr">
                      <a:noFill/>
                    </a:lnL>
                    <a:lnR w="0" cap="flat" cmpd="sng" algn="ctr">
                      <a:noFill/>
                    </a:lnR>
                    <a:lnT w="0" cap="flat" cmpd="sng" algn="ctr">
                      <a:noFill/>
                    </a:lnT>
                    <a:lnB w="9525" cap="flat" cmpd="sng" algn="ctr">
                      <a:solidFill>
                        <a:srgbClr val="D5DEDB"/>
                      </a:solidFill>
                      <a:prstDash val="solid"/>
                      <a:round/>
                      <a:headEnd type="none" w="med" len="med"/>
                      <a:tailEnd type="none" w="med" len="med"/>
                    </a:lnB>
                    <a:solidFill>
                      <a:schemeClr val="bg2"/>
                    </a:solidFill>
                  </a:tcPr>
                </a:tc>
                <a:tc>
                  <a:txBody>
                    <a:bodyPr/>
                    <a:lstStyle/>
                    <a:p>
                      <a:pPr indent="0" marL="0">
                        <a:buNone/>
                      </a:pPr>
                      <a:r>
                        <a:rPr lang="en-US" sz="1300" dirty="0">
                          <a:solidFill>
                            <a:schemeClr val="accent1"/>
                          </a:solidFill>
                        </a:rPr>
                        <a:t>The right offer for each patient</a:t>
                      </a:r>
                      <a:endParaRPr lang="en-US" sz="1300" dirty="0"/>
                    </a:p>
                  </a:txBody>
                  <a:tcPr marL="109728" marR="109728" marT="54864" marB="54864" anchor="ctr">
                    <a:lnL w="0" cap="flat" cmpd="sng" algn="ctr">
                      <a:noFill/>
                    </a:lnL>
                    <a:lnR w="0" cap="flat" cmpd="sng" algn="ctr">
                      <a:noFill/>
                    </a:lnR>
                    <a:lnT w="0" cap="flat" cmpd="sng" algn="ctr">
                      <a:noFill/>
                    </a:lnT>
                    <a:lnB w="9525" cap="flat" cmpd="sng" algn="ctr">
                      <a:solidFill>
                        <a:srgbClr val="D5DEDB"/>
                      </a:solidFill>
                      <a:prstDash val="solid"/>
                      <a:round/>
                      <a:headEnd type="none" w="med" len="med"/>
                      <a:tailEnd type="none" w="med" len="med"/>
                    </a:lnB>
                    <a:solidFill>
                      <a:schemeClr val="bg2"/>
                    </a:solidFill>
                  </a:tcPr>
                </a:tc>
              </a:tr>
              <a:tr h="530352">
                <a:tc>
                  <a:txBody>
                    <a:bodyPr/>
                    <a:lstStyle/>
                    <a:p>
                      <a:pPr indent="0" marL="0">
                        <a:buNone/>
                      </a:pPr>
                      <a:r>
                        <a:rPr lang="en-US" sz="1300" b="1" dirty="0">
                          <a:solidFill>
                            <a:schemeClr val="tx1"/>
                          </a:solidFill>
                        </a:rPr>
                        <a:t>Booking</a:t>
                      </a:r>
                      <a:endParaRPr lang="en-US" sz="1300" dirty="0"/>
                    </a:p>
                  </a:txBody>
                  <a:tcPr marL="109728" marR="109728" marT="54864" marB="54864" anchor="ctr">
                    <a:lnL w="0" cap="flat" cmpd="sng" algn="ctr">
                      <a:noFill/>
                    </a:lnL>
                    <a:lnR w="0" cap="flat" cmpd="sng" algn="ctr">
                      <a:noFill/>
                    </a:lnR>
                    <a:lnT w="0" cap="flat" cmpd="sng" algn="ctr">
                      <a:noFill/>
                    </a:lnT>
                    <a:lnB w="9525" cap="flat" cmpd="sng" algn="ctr">
                      <a:solidFill>
                        <a:srgbClr val="D5DEDB"/>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Patient picks a free time; booking goes into Google Calendar with reminders</a:t>
                      </a:r>
                      <a:endParaRPr lang="en-US" sz="1300" dirty="0"/>
                    </a:p>
                  </a:txBody>
                  <a:tcPr marL="109728" marR="109728" marT="54864" marB="54864" anchor="ctr">
                    <a:lnL w="0" cap="flat" cmpd="sng" algn="ctr">
                      <a:noFill/>
                    </a:lnL>
                    <a:lnR w="0" cap="flat" cmpd="sng" algn="ctr">
                      <a:noFill/>
                    </a:lnR>
                    <a:lnT w="0" cap="flat" cmpd="sng" algn="ctr">
                      <a:noFill/>
                    </a:lnT>
                    <a:lnB w="9525" cap="flat" cmpd="sng" algn="ctr">
                      <a:solidFill>
                        <a:srgbClr val="D5DEDB"/>
                      </a:solidFill>
                      <a:prstDash val="solid"/>
                      <a:round/>
                      <a:headEnd type="none" w="med" len="med"/>
                      <a:tailEnd type="none" w="med" len="med"/>
                    </a:lnB>
                    <a:solidFill>
                      <a:schemeClr val="bg2"/>
                    </a:solidFill>
                  </a:tcPr>
                </a:tc>
                <a:tc>
                  <a:txBody>
                    <a:bodyPr/>
                    <a:lstStyle/>
                    <a:p>
                      <a:pPr indent="0" marL="0">
                        <a:buNone/>
                      </a:pPr>
                      <a:r>
                        <a:rPr lang="en-US" sz="1300" dirty="0">
                          <a:solidFill>
                            <a:schemeClr val="accent1"/>
                          </a:solidFill>
                        </a:rPr>
                        <a:t>Interest becomes a booking while it's high</a:t>
                      </a:r>
                      <a:endParaRPr lang="en-US" sz="1300" dirty="0"/>
                    </a:p>
                  </a:txBody>
                  <a:tcPr marL="109728" marR="109728" marT="54864" marB="54864" anchor="ctr">
                    <a:lnL w="0" cap="flat" cmpd="sng" algn="ctr">
                      <a:noFill/>
                    </a:lnL>
                    <a:lnR w="0" cap="flat" cmpd="sng" algn="ctr">
                      <a:noFill/>
                    </a:lnR>
                    <a:lnT w="0" cap="flat" cmpd="sng" algn="ctr">
                      <a:noFill/>
                    </a:lnT>
                    <a:lnB w="9525" cap="flat" cmpd="sng" algn="ctr">
                      <a:solidFill>
                        <a:srgbClr val="D5DEDB"/>
                      </a:solidFill>
                      <a:prstDash val="solid"/>
                      <a:round/>
                      <a:headEnd type="none" w="med" len="med"/>
                      <a:tailEnd type="none" w="med" len="med"/>
                    </a:lnB>
                    <a:solidFill>
                      <a:schemeClr val="bg2"/>
                    </a:solidFill>
                  </a:tcPr>
                </a:tc>
              </a:tr>
              <a:tr h="530352">
                <a:tc>
                  <a:txBody>
                    <a:bodyPr/>
                    <a:lstStyle/>
                    <a:p>
                      <a:pPr indent="0" marL="0">
                        <a:buNone/>
                      </a:pPr>
                      <a:r>
                        <a:rPr lang="en-US" sz="1300" b="1" dirty="0">
                          <a:solidFill>
                            <a:schemeClr val="tx1"/>
                          </a:solidFill>
                        </a:rPr>
                        <a:t>Follow-up</a:t>
                      </a:r>
                      <a:endParaRPr lang="en-US" sz="1300" dirty="0"/>
                    </a:p>
                  </a:txBody>
                  <a:tcPr marL="109728" marR="109728" marT="54864" marB="54864" anchor="ctr">
                    <a:lnL w="0" cap="flat" cmpd="sng" algn="ctr">
                      <a:noFill/>
                    </a:lnL>
                    <a:lnR w="0" cap="flat" cmpd="sng" algn="ctr">
                      <a:noFill/>
                    </a:lnR>
                    <a:lnT w="0" cap="flat" cmpd="sng" algn="ctr">
                      <a:noFill/>
                    </a:lnT>
                    <a:lnB w="9525" cap="flat" cmpd="sng" algn="ctr">
                      <a:solidFill>
                        <a:srgbClr val="D5DEDB"/>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Non-bookers listed with their details and requirement; receptionist logs each call</a:t>
                      </a:r>
                      <a:endParaRPr lang="en-US" sz="1300" dirty="0"/>
                    </a:p>
                  </a:txBody>
                  <a:tcPr marL="109728" marR="109728" marT="54864" marB="54864" anchor="ctr">
                    <a:lnL w="0" cap="flat" cmpd="sng" algn="ctr">
                      <a:noFill/>
                    </a:lnL>
                    <a:lnR w="0" cap="flat" cmpd="sng" algn="ctr">
                      <a:noFill/>
                    </a:lnR>
                    <a:lnT w="0" cap="flat" cmpd="sng" algn="ctr">
                      <a:noFill/>
                    </a:lnT>
                    <a:lnB w="9525" cap="flat" cmpd="sng" algn="ctr">
                      <a:solidFill>
                        <a:srgbClr val="D5DEDB"/>
                      </a:solidFill>
                      <a:prstDash val="solid"/>
                      <a:round/>
                      <a:headEnd type="none" w="med" len="med"/>
                      <a:tailEnd type="none" w="med" len="med"/>
                    </a:lnB>
                    <a:solidFill>
                      <a:schemeClr val="bg2"/>
                    </a:solidFill>
                  </a:tcPr>
                </a:tc>
                <a:tc>
                  <a:txBody>
                    <a:bodyPr/>
                    <a:lstStyle/>
                    <a:p>
                      <a:pPr indent="0" marL="0">
                        <a:buNone/>
                      </a:pPr>
                      <a:r>
                        <a:rPr lang="en-US" sz="1300" dirty="0">
                          <a:solidFill>
                            <a:schemeClr val="accent1"/>
                          </a:solidFill>
                        </a:rPr>
                        <a:t>Nobody who enquired is forgotten</a:t>
                      </a:r>
                      <a:endParaRPr lang="en-US" sz="1300" dirty="0"/>
                    </a:p>
                  </a:txBody>
                  <a:tcPr marL="109728" marR="109728" marT="54864" marB="54864" anchor="ctr">
                    <a:lnL w="0" cap="flat" cmpd="sng" algn="ctr">
                      <a:noFill/>
                    </a:lnL>
                    <a:lnR w="0" cap="flat" cmpd="sng" algn="ctr">
                      <a:noFill/>
                    </a:lnR>
                    <a:lnT w="0" cap="flat" cmpd="sng" algn="ctr">
                      <a:noFill/>
                    </a:lnT>
                    <a:lnB w="9525" cap="flat" cmpd="sng" algn="ctr">
                      <a:solidFill>
                        <a:srgbClr val="D5DEDB"/>
                      </a:solidFill>
                      <a:prstDash val="solid"/>
                      <a:round/>
                      <a:headEnd type="none" w="med" len="med"/>
                      <a:tailEnd type="none" w="med" len="med"/>
                    </a:lnB>
                    <a:solidFill>
                      <a:schemeClr val="bg2"/>
                    </a:solidFill>
                  </a:tcPr>
                </a:tc>
              </a:tr>
              <a:tr h="530352">
                <a:tc>
                  <a:txBody>
                    <a:bodyPr/>
                    <a:lstStyle/>
                    <a:p>
                      <a:pPr indent="0" marL="0">
                        <a:buNone/>
                      </a:pPr>
                      <a:r>
                        <a:rPr lang="en-US" sz="1300" b="1" dirty="0">
                          <a:solidFill>
                            <a:schemeClr val="tx1"/>
                          </a:solidFill>
                        </a:rPr>
                        <a:t>Patients brought back</a:t>
                      </a:r>
                      <a:endParaRPr lang="en-US" sz="1300" dirty="0"/>
                    </a:p>
                  </a:txBody>
                  <a:tcPr marL="109728" marR="109728" marT="54864" marB="54864" anchor="ctr">
                    <a:lnL w="0" cap="flat" cmpd="sng" algn="ctr">
                      <a:noFill/>
                    </a:lnL>
                    <a:lnR w="0" cap="flat" cmpd="sng" algn="ctr">
                      <a:noFill/>
                    </a:lnR>
                    <a:lnT w="0" cap="flat" cmpd="sng" algn="ctr">
                      <a:noFill/>
                    </a:lnT>
                    <a:lnB w="9525" cap="flat" cmpd="sng" algn="ctr">
                      <a:solidFill>
                        <a:srgbClr val="D5DEDB"/>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Patients stay on the list until booked or closed</a:t>
                      </a:r>
                      <a:endParaRPr lang="en-US" sz="1300" dirty="0"/>
                    </a:p>
                  </a:txBody>
                  <a:tcPr marL="109728" marR="109728" marT="54864" marB="54864" anchor="ctr">
                    <a:lnL w="0" cap="flat" cmpd="sng" algn="ctr">
                      <a:noFill/>
                    </a:lnL>
                    <a:lnR w="0" cap="flat" cmpd="sng" algn="ctr">
                      <a:noFill/>
                    </a:lnR>
                    <a:lnT w="0" cap="flat" cmpd="sng" algn="ctr">
                      <a:noFill/>
                    </a:lnT>
                    <a:lnB w="9525" cap="flat" cmpd="sng" algn="ctr">
                      <a:solidFill>
                        <a:srgbClr val="D5DEDB"/>
                      </a:solidFill>
                      <a:prstDash val="solid"/>
                      <a:round/>
                      <a:headEnd type="none" w="med" len="med"/>
                      <a:tailEnd type="none" w="med" len="med"/>
                    </a:lnB>
                    <a:solidFill>
                      <a:schemeClr val="bg2"/>
                    </a:solidFill>
                  </a:tcPr>
                </a:tc>
                <a:tc>
                  <a:txBody>
                    <a:bodyPr/>
                    <a:lstStyle/>
                    <a:p>
                      <a:pPr indent="0" marL="0">
                        <a:buNone/>
                      </a:pPr>
                      <a:r>
                        <a:rPr lang="en-US" sz="1300" dirty="0">
                          <a:solidFill>
                            <a:schemeClr val="accent1"/>
                          </a:solidFill>
                        </a:rPr>
                        <a:t>Lost enquiries become appointments</a:t>
                      </a:r>
                      <a:endParaRPr lang="en-US" sz="1300" dirty="0"/>
                    </a:p>
                  </a:txBody>
                  <a:tcPr marL="109728" marR="109728" marT="54864" marB="54864" anchor="ctr">
                    <a:lnL w="0" cap="flat" cmpd="sng" algn="ctr">
                      <a:noFill/>
                    </a:lnL>
                    <a:lnR w="0" cap="flat" cmpd="sng" algn="ctr">
                      <a:noFill/>
                    </a:lnR>
                    <a:lnT w="0" cap="flat" cmpd="sng" algn="ctr">
                      <a:noFill/>
                    </a:lnT>
                    <a:lnB w="9525" cap="flat" cmpd="sng" algn="ctr">
                      <a:solidFill>
                        <a:srgbClr val="D5DEDB"/>
                      </a:solidFill>
                      <a:prstDash val="solid"/>
                      <a:round/>
                      <a:headEnd type="none" w="med" len="med"/>
                      <a:tailEnd type="none" w="med" len="med"/>
                    </a:lnB>
                    <a:solidFill>
                      <a:schemeClr val="bg2"/>
                    </a:solidFill>
                  </a:tcPr>
                </a:tc>
              </a:tr>
              <a:tr h="530352">
                <a:tc>
                  <a:txBody>
                    <a:bodyPr/>
                    <a:lstStyle/>
                    <a:p>
                      <a:pPr indent="0" marL="0">
                        <a:buNone/>
                      </a:pPr>
                      <a:r>
                        <a:rPr lang="en-US" sz="1300" b="1" dirty="0">
                          <a:solidFill>
                            <a:schemeClr val="tx1"/>
                          </a:solidFill>
                        </a:rPr>
                        <a:t>Monthly report</a:t>
                      </a:r>
                      <a:endParaRPr lang="en-US" sz="1300" dirty="0"/>
                    </a:p>
                  </a:txBody>
                  <a:tcPr marL="109728" marR="109728" marT="54864" marB="54864" anchor="ctr">
                    <a:lnL w="0" cap="flat" cmpd="sng" algn="ctr">
                      <a:noFill/>
                    </a:lnL>
                    <a:lnR w="0" cap="flat" cmpd="sng" algn="ctr">
                      <a:noFill/>
                    </a:lnR>
                    <a:lnT w="0" cap="flat" cmpd="sng" algn="ctr">
                      <a:noFill/>
                    </a:lnT>
                    <a:lnB w="9525" cap="flat" cmpd="sng" algn="ctr">
                      <a:solidFill>
                        <a:srgbClr val="D5DEDB"/>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Enquiry to appointment, for each campaign</a:t>
                      </a:r>
                      <a:endParaRPr lang="en-US" sz="1300" dirty="0"/>
                    </a:p>
                  </a:txBody>
                  <a:tcPr marL="109728" marR="109728" marT="54864" marB="54864" anchor="ctr">
                    <a:lnL w="0" cap="flat" cmpd="sng" algn="ctr">
                      <a:noFill/>
                    </a:lnL>
                    <a:lnR w="0" cap="flat" cmpd="sng" algn="ctr">
                      <a:noFill/>
                    </a:lnR>
                    <a:lnT w="0" cap="flat" cmpd="sng" algn="ctr">
                      <a:noFill/>
                    </a:lnT>
                    <a:lnB w="9525" cap="flat" cmpd="sng" algn="ctr">
                      <a:solidFill>
                        <a:srgbClr val="D5DEDB"/>
                      </a:solidFill>
                      <a:prstDash val="solid"/>
                      <a:round/>
                      <a:headEnd type="none" w="med" len="med"/>
                      <a:tailEnd type="none" w="med" len="med"/>
                    </a:lnB>
                    <a:solidFill>
                      <a:schemeClr val="bg2"/>
                    </a:solidFill>
                  </a:tcPr>
                </a:tc>
                <a:tc>
                  <a:txBody>
                    <a:bodyPr/>
                    <a:lstStyle/>
                    <a:p>
                      <a:pPr indent="0" marL="0">
                        <a:buNone/>
                      </a:pPr>
                      <a:r>
                        <a:rPr lang="en-US" sz="1300" dirty="0">
                          <a:solidFill>
                            <a:schemeClr val="accent1"/>
                          </a:solidFill>
                        </a:rPr>
                        <a:t>You see your conversion rate</a:t>
                      </a:r>
                      <a:endParaRPr lang="en-US" sz="1300" dirty="0"/>
                    </a:p>
                  </a:txBody>
                  <a:tcPr marL="109728" marR="109728" marT="54864" marB="54864" anchor="ctr">
                    <a:lnL w="0" cap="flat" cmpd="sng" algn="ctr">
                      <a:noFill/>
                    </a:lnL>
                    <a:lnR w="0" cap="flat" cmpd="sng" algn="ctr">
                      <a:noFill/>
                    </a:lnR>
                    <a:lnT w="0" cap="flat" cmpd="sng" algn="ctr">
                      <a:noFill/>
                    </a:lnT>
                    <a:lnB w="9525" cap="flat" cmpd="sng" algn="ctr">
                      <a:solidFill>
                        <a:srgbClr val="D5DEDB"/>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9509760" y="6355080"/>
            <a:ext cx="64008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3" type="body" hasCustomPrompt="1"/>
          </p:nvPr>
        </p:nvSpPr>
        <p:spPr>
          <a:xfrm>
            <a:off x="548640" y="384048"/>
            <a:ext cx="11064240" cy="274320"/>
          </a:xfrm>
          <a:prstGeom prst="rect">
            <a:avLst/>
          </a:prstGeom>
          <a:noFill/>
          <a:ln/>
        </p:spPr>
        <p:txBody>
          <a:bodyPr wrap="square" lIns="0" tIns="0" rIns="0" bIns="0" rtlCol="0" anchor="t"/>
          <a:lstStyle/>
          <a:p>
            <a:pPr algn="l" indent="0" marL="0">
              <a:buNone/>
            </a:pPr>
            <a:r>
              <a:rPr lang="en-US" sz="1100" b="1" spc="150" kern="0" dirty="0">
                <a:solidFill>
                  <a:schemeClr val="accent1"/>
                </a:solidFill>
              </a:rPr>
              <a:t>REPORTING</a:t>
            </a:r>
            <a:endParaRPr lang="en-US" sz="1100" dirty="0"/>
          </a:p>
        </p:txBody>
      </p:sp>
      <p:sp>
        <p:nvSpPr>
          <p:cNvPr id="3" name="Text 2"/>
          <p:cNvSpPr/>
          <p:nvPr>
            <p:ph idx="104" type="title" hasCustomPrompt="1"/>
          </p:nvPr>
        </p:nvSpPr>
        <p:spPr>
          <a:xfrm>
            <a:off x="548640" y="685800"/>
            <a:ext cx="11064240" cy="685800"/>
          </a:xfrm>
          <a:prstGeom prst="rect">
            <a:avLst/>
          </a:prstGeom>
          <a:noFill/>
          <a:ln/>
        </p:spPr>
        <p:txBody>
          <a:bodyPr wrap="square" lIns="0" tIns="0" rIns="0" bIns="0" rtlCol="0" anchor="t"/>
          <a:lstStyle/>
          <a:p>
            <a:pPr algn="l" indent="0" marL="0">
              <a:buNone/>
            </a:pPr>
            <a:r>
              <a:rPr lang="en-US" sz="3000" b="1" dirty="0">
                <a:solidFill>
                  <a:schemeClr val="tx1"/>
                </a:solidFill>
              </a:rPr>
              <a:t>You see your enquiry-to-appointment rate every month</a:t>
            </a:r>
            <a:endParaRPr lang="en-US" sz="3000" dirty="0"/>
          </a:p>
        </p:txBody>
      </p:sp>
      <p:sp>
        <p:nvSpPr>
          <p:cNvPr id="4" name="report"/>
          <p:cNvSpPr/>
          <p:nvPr/>
        </p:nvSpPr>
        <p:spPr>
          <a:xfrm>
            <a:off x="548640" y="1645920"/>
            <a:ext cx="11091672" cy="2331720"/>
          </a:xfrm>
          <a:prstGeom prst="roundRect">
            <a:avLst>
              <a:gd name="adj" fmla="val 4706"/>
            </a:avLst>
          </a:prstGeom>
          <a:solidFill>
            <a:schemeClr val="bg1"/>
          </a:solidFill>
          <a:ln w="9525">
            <a:solidFill>
              <a:srgbClr val="D5DEDB"/>
            </a:solidFill>
            <a:prstDash val="solid"/>
          </a:ln>
        </p:spPr>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77240" y="1828800"/>
          <a:ext cx="10634472" cy="914400"/>
        </p:xfrm>
        <a:graphic>
          <a:graphicData uri="http://schemas.openxmlformats.org/drawingml/2006/table">
            <a:tbl>
              <a:tblPr/>
              <a:tblGrid>
                <a:gridCol w="1856232"/>
                <a:gridCol w="1463040"/>
                <a:gridCol w="1600200"/>
                <a:gridCol w="1463040"/>
                <a:gridCol w="1463040"/>
                <a:gridCol w="1417320"/>
                <a:gridCol w="1371600"/>
              </a:tblGrid>
              <a:tr h="411480">
                <a:tc>
                  <a:txBody>
                    <a:bodyPr/>
                    <a:lstStyle/>
                    <a:p>
                      <a:pPr algn="ctr" indent="0" marL="0">
                        <a:buNone/>
                      </a:pPr>
                      <a:r>
                        <a:rPr lang="en-US" sz="1000" b="1" spc="100" kern="0" dirty="0">
                          <a:solidFill>
                            <a:schemeClr val="tx2"/>
                          </a:solidFill>
                        </a:rPr>
                        <a:t>CAMPAIGN</a:t>
                      </a:r>
                      <a:endParaRPr lang="en-US" sz="1000" dirty="0"/>
                    </a:p>
                  </a:txBody>
                  <a:tcPr marL="54864" marR="54864" marT="54864" marB="54864">
                    <a:lnL w="0" cap="flat" cmpd="sng" algn="ctr">
                      <a:noFill/>
                    </a:lnL>
                    <a:lnR w="0" cap="flat" cmpd="sng" algn="ctr">
                      <a:noFill/>
                    </a:lnR>
                    <a:lnT w="0" cap="flat" cmpd="sng" algn="ctr">
                      <a:noFill/>
                    </a:lnT>
                    <a:lnB w="12700" cap="flat" cmpd="sng" algn="ctr">
                      <a:solidFill>
                        <a:srgbClr val="14232B"/>
                      </a:solidFill>
                      <a:prstDash val="solid"/>
                      <a:round/>
                      <a:headEnd type="none" w="med" len="med"/>
                      <a:tailEnd type="none" w="med" len="med"/>
                    </a:lnB>
                    <a:solidFill>
                      <a:schemeClr val="bg1"/>
                    </a:solidFill>
                  </a:tcPr>
                </a:tc>
                <a:tc>
                  <a:txBody>
                    <a:bodyPr/>
                    <a:lstStyle/>
                    <a:p>
                      <a:pPr algn="ctr" indent="0" marL="0">
                        <a:buNone/>
                      </a:pPr>
                      <a:r>
                        <a:rPr lang="en-US" sz="1000" b="1" spc="100" kern="0" dirty="0">
                          <a:solidFill>
                            <a:schemeClr val="tx2"/>
                          </a:solidFill>
                        </a:rPr>
                        <a:t>ENQUIRIES</a:t>
                      </a:r>
                      <a:endParaRPr lang="en-US" sz="1000" dirty="0"/>
                    </a:p>
                  </a:txBody>
                  <a:tcPr marL="54864" marR="54864" marT="54864" marB="54864">
                    <a:lnL w="0" cap="flat" cmpd="sng" algn="ctr">
                      <a:noFill/>
                    </a:lnL>
                    <a:lnR w="0" cap="flat" cmpd="sng" algn="ctr">
                      <a:noFill/>
                    </a:lnR>
                    <a:lnT w="0" cap="flat" cmpd="sng" algn="ctr">
                      <a:noFill/>
                    </a:lnT>
                    <a:lnB w="12700" cap="flat" cmpd="sng" algn="ctr">
                      <a:solidFill>
                        <a:srgbClr val="14232B"/>
                      </a:solidFill>
                      <a:prstDash val="solid"/>
                      <a:round/>
                      <a:headEnd type="none" w="med" len="med"/>
                      <a:tailEnd type="none" w="med" len="med"/>
                    </a:lnB>
                    <a:solidFill>
                      <a:schemeClr val="bg1"/>
                    </a:solidFill>
                  </a:tcPr>
                </a:tc>
                <a:tc>
                  <a:txBody>
                    <a:bodyPr/>
                    <a:lstStyle/>
                    <a:p>
                      <a:pPr algn="ctr" indent="0" marL="0">
                        <a:buNone/>
                      </a:pPr>
                      <a:r>
                        <a:rPr lang="en-US" sz="1000" b="1" spc="100" kern="0" dirty="0">
                          <a:solidFill>
                            <a:schemeClr val="tx2"/>
                          </a:solidFill>
                        </a:rPr>
                        <a:t>BOOKED OFFLINE</a:t>
                      </a:r>
                      <a:endParaRPr lang="en-US" sz="1000" dirty="0"/>
                    </a:p>
                  </a:txBody>
                  <a:tcPr marL="54864" marR="54864" marT="54864" marB="54864">
                    <a:lnL w="0" cap="flat" cmpd="sng" algn="ctr">
                      <a:noFill/>
                    </a:lnL>
                    <a:lnR w="0" cap="flat" cmpd="sng" algn="ctr">
                      <a:noFill/>
                    </a:lnR>
                    <a:lnT w="0" cap="flat" cmpd="sng" algn="ctr">
                      <a:noFill/>
                    </a:lnT>
                    <a:lnB w="12700" cap="flat" cmpd="sng" algn="ctr">
                      <a:solidFill>
                        <a:srgbClr val="14232B"/>
                      </a:solidFill>
                      <a:prstDash val="solid"/>
                      <a:round/>
                      <a:headEnd type="none" w="med" len="med"/>
                      <a:tailEnd type="none" w="med" len="med"/>
                    </a:lnB>
                    <a:solidFill>
                      <a:schemeClr val="bg1"/>
                    </a:solidFill>
                  </a:tcPr>
                </a:tc>
                <a:tc>
                  <a:txBody>
                    <a:bodyPr/>
                    <a:lstStyle/>
                    <a:p>
                      <a:pPr algn="ctr" indent="0" marL="0">
                        <a:buNone/>
                      </a:pPr>
                      <a:r>
                        <a:rPr lang="en-US" sz="1000" b="1" spc="100" kern="0" dirty="0">
                          <a:solidFill>
                            <a:schemeClr val="tx2"/>
                          </a:solidFill>
                        </a:rPr>
                        <a:t>BOOKED VIDEO</a:t>
                      </a:r>
                      <a:endParaRPr lang="en-US" sz="1000" dirty="0"/>
                    </a:p>
                  </a:txBody>
                  <a:tcPr marL="54864" marR="54864" marT="54864" marB="54864">
                    <a:lnL w="0" cap="flat" cmpd="sng" algn="ctr">
                      <a:noFill/>
                    </a:lnL>
                    <a:lnR w="0" cap="flat" cmpd="sng" algn="ctr">
                      <a:noFill/>
                    </a:lnR>
                    <a:lnT w="0" cap="flat" cmpd="sng" algn="ctr">
                      <a:noFill/>
                    </a:lnT>
                    <a:lnB w="12700" cap="flat" cmpd="sng" algn="ctr">
                      <a:solidFill>
                        <a:srgbClr val="14232B"/>
                      </a:solidFill>
                      <a:prstDash val="solid"/>
                      <a:round/>
                      <a:headEnd type="none" w="med" len="med"/>
                      <a:tailEnd type="none" w="med" len="med"/>
                    </a:lnB>
                    <a:solidFill>
                      <a:schemeClr val="bg1"/>
                    </a:solidFill>
                  </a:tcPr>
                </a:tc>
                <a:tc>
                  <a:txBody>
                    <a:bodyPr/>
                    <a:lstStyle/>
                    <a:p>
                      <a:pPr algn="ctr" indent="0" marL="0">
                        <a:buNone/>
                      </a:pPr>
                      <a:r>
                        <a:rPr lang="en-US" sz="1000" b="1" spc="100" kern="0" dirty="0">
                          <a:solidFill>
                            <a:schemeClr val="tx2"/>
                          </a:solidFill>
                        </a:rPr>
                        <a:t>BROUGHT BACK</a:t>
                      </a:r>
                      <a:endParaRPr lang="en-US" sz="1000" dirty="0"/>
                    </a:p>
                  </a:txBody>
                  <a:tcPr marL="54864" marR="54864" marT="54864" marB="54864">
                    <a:lnL w="0" cap="flat" cmpd="sng" algn="ctr">
                      <a:noFill/>
                    </a:lnL>
                    <a:lnR w="0" cap="flat" cmpd="sng" algn="ctr">
                      <a:noFill/>
                    </a:lnR>
                    <a:lnT w="0" cap="flat" cmpd="sng" algn="ctr">
                      <a:noFill/>
                    </a:lnT>
                    <a:lnB w="12700" cap="flat" cmpd="sng" algn="ctr">
                      <a:solidFill>
                        <a:srgbClr val="14232B"/>
                      </a:solidFill>
                      <a:prstDash val="solid"/>
                      <a:round/>
                      <a:headEnd type="none" w="med" len="med"/>
                      <a:tailEnd type="none" w="med" len="med"/>
                    </a:lnB>
                    <a:solidFill>
                      <a:schemeClr val="bg1"/>
                    </a:solidFill>
                  </a:tcPr>
                </a:tc>
                <a:tc>
                  <a:txBody>
                    <a:bodyPr/>
                    <a:lstStyle/>
                    <a:p>
                      <a:pPr algn="ctr" indent="0" marL="0">
                        <a:buNone/>
                      </a:pPr>
                      <a:r>
                        <a:rPr lang="en-US" sz="1000" b="1" spc="100" kern="0" dirty="0">
                          <a:solidFill>
                            <a:schemeClr val="tx2"/>
                          </a:solidFill>
                        </a:rPr>
                        <a:t>NOT BOOKED</a:t>
                      </a:r>
                      <a:endParaRPr lang="en-US" sz="1000" dirty="0"/>
                    </a:p>
                  </a:txBody>
                  <a:tcPr marL="54864" marR="54864" marT="54864" marB="54864">
                    <a:lnL w="0" cap="flat" cmpd="sng" algn="ctr">
                      <a:noFill/>
                    </a:lnL>
                    <a:lnR w="0" cap="flat" cmpd="sng" algn="ctr">
                      <a:noFill/>
                    </a:lnR>
                    <a:lnT w="0" cap="flat" cmpd="sng" algn="ctr">
                      <a:noFill/>
                    </a:lnT>
                    <a:lnB w="12700" cap="flat" cmpd="sng" algn="ctr">
                      <a:solidFill>
                        <a:srgbClr val="14232B"/>
                      </a:solidFill>
                      <a:prstDash val="solid"/>
                      <a:round/>
                      <a:headEnd type="none" w="med" len="med"/>
                      <a:tailEnd type="none" w="med" len="med"/>
                    </a:lnB>
                    <a:solidFill>
                      <a:schemeClr val="bg1"/>
                    </a:solidFill>
                  </a:tcPr>
                </a:tc>
                <a:tc>
                  <a:txBody>
                    <a:bodyPr/>
                    <a:lstStyle/>
                    <a:p>
                      <a:pPr algn="ctr" indent="0" marL="0">
                        <a:buNone/>
                      </a:pPr>
                      <a:r>
                        <a:rPr lang="en-US" sz="1000" b="1" spc="100" kern="0" dirty="0">
                          <a:solidFill>
                            <a:schemeClr val="tx2"/>
                          </a:solidFill>
                        </a:rPr>
                        <a:t>CONVERSION</a:t>
                      </a:r>
                      <a:endParaRPr lang="en-US" sz="1000" dirty="0"/>
                    </a:p>
                  </a:txBody>
                  <a:tcPr marL="54864" marR="54864" marT="54864" marB="54864">
                    <a:lnL w="0" cap="flat" cmpd="sng" algn="ctr">
                      <a:noFill/>
                    </a:lnL>
                    <a:lnR w="0" cap="flat" cmpd="sng" algn="ctr">
                      <a:noFill/>
                    </a:lnR>
                    <a:lnT w="0" cap="flat" cmpd="sng" algn="ctr">
                      <a:noFill/>
                    </a:lnT>
                    <a:lnB w="12700" cap="flat" cmpd="sng" algn="ctr">
                      <a:solidFill>
                        <a:srgbClr val="14232B"/>
                      </a:solidFill>
                      <a:prstDash val="solid"/>
                      <a:round/>
                      <a:headEnd type="none" w="med" len="med"/>
                      <a:tailEnd type="none" w="med" len="med"/>
                    </a:lnB>
                    <a:solidFill>
                      <a:schemeClr val="bg1"/>
                    </a:solidFill>
                  </a:tcPr>
                </a:tc>
              </a:tr>
              <a:tr h="411480">
                <a:tc>
                  <a:txBody>
                    <a:bodyPr/>
                    <a:lstStyle/>
                    <a:p>
                      <a:pPr algn="l" indent="0" marL="0">
                        <a:buNone/>
                      </a:pPr>
                      <a:r>
                        <a:rPr lang="en-US" sz="1300" b="1" dirty="0">
                          <a:solidFill>
                            <a:schemeClr val="tx1"/>
                          </a:solidFill>
                        </a:rPr>
                        <a:t>Campaign 1</a:t>
                      </a:r>
                      <a:endParaRPr lang="en-US" sz="1300" dirty="0"/>
                    </a:p>
                  </a:txBody>
                  <a:tcPr marL="91440" marR="91440" marT="54864" marB="54864">
                    <a:lnL w="0" cap="flat" cmpd="sng" algn="ctr">
                      <a:noFill/>
                    </a:lnL>
                    <a:lnR w="0" cap="flat" cmpd="sng" algn="ctr">
                      <a:noFill/>
                    </a:lnR>
                    <a:lnT w="0" cap="flat" cmpd="sng" algn="ctr">
                      <a:noFill/>
                    </a:lnT>
                    <a:lnB w="9525" cap="flat" cmpd="sng" algn="ctr">
                      <a:solidFill>
                        <a:srgbClr val="D5DEDB"/>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2"/>
                          </a:solidFill>
                        </a:rPr>
                        <a:t>—</a:t>
                      </a:r>
                      <a:endParaRPr lang="en-US" sz="1300" dirty="0"/>
                    </a:p>
                  </a:txBody>
                  <a:tcPr marL="91440" marR="91440" marT="54864" marB="54864">
                    <a:lnL w="0" cap="flat" cmpd="sng" algn="ctr">
                      <a:noFill/>
                    </a:lnL>
                    <a:lnR w="0" cap="flat" cmpd="sng" algn="ctr">
                      <a:noFill/>
                    </a:lnR>
                    <a:lnT w="0" cap="flat" cmpd="sng" algn="ctr">
                      <a:noFill/>
                    </a:lnT>
                    <a:lnB w="9525" cap="flat" cmpd="sng" algn="ctr">
                      <a:solidFill>
                        <a:srgbClr val="D5DEDB"/>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2"/>
                          </a:solidFill>
                        </a:rPr>
                        <a:t>—</a:t>
                      </a:r>
                      <a:endParaRPr lang="en-US" sz="1300" dirty="0"/>
                    </a:p>
                  </a:txBody>
                  <a:tcPr marL="91440" marR="91440" marT="54864" marB="54864">
                    <a:lnL w="0" cap="flat" cmpd="sng" algn="ctr">
                      <a:noFill/>
                    </a:lnL>
                    <a:lnR w="0" cap="flat" cmpd="sng" algn="ctr">
                      <a:noFill/>
                    </a:lnR>
                    <a:lnT w="0" cap="flat" cmpd="sng" algn="ctr">
                      <a:noFill/>
                    </a:lnT>
                    <a:lnB w="9525" cap="flat" cmpd="sng" algn="ctr">
                      <a:solidFill>
                        <a:srgbClr val="D5DEDB"/>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2"/>
                          </a:solidFill>
                        </a:rPr>
                        <a:t>—</a:t>
                      </a:r>
                      <a:endParaRPr lang="en-US" sz="1300" dirty="0"/>
                    </a:p>
                  </a:txBody>
                  <a:tcPr marL="91440" marR="91440" marT="54864" marB="54864">
                    <a:lnL w="0" cap="flat" cmpd="sng" algn="ctr">
                      <a:noFill/>
                    </a:lnL>
                    <a:lnR w="0" cap="flat" cmpd="sng" algn="ctr">
                      <a:noFill/>
                    </a:lnR>
                    <a:lnT w="0" cap="flat" cmpd="sng" algn="ctr">
                      <a:noFill/>
                    </a:lnT>
                    <a:lnB w="9525" cap="flat" cmpd="sng" algn="ctr">
                      <a:solidFill>
                        <a:srgbClr val="D5DEDB"/>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2"/>
                          </a:solidFill>
                        </a:rPr>
                        <a:t>—</a:t>
                      </a:r>
                      <a:endParaRPr lang="en-US" sz="1300" dirty="0"/>
                    </a:p>
                  </a:txBody>
                  <a:tcPr marL="91440" marR="91440" marT="54864" marB="54864">
                    <a:lnL w="0" cap="flat" cmpd="sng" algn="ctr">
                      <a:noFill/>
                    </a:lnL>
                    <a:lnR w="0" cap="flat" cmpd="sng" algn="ctr">
                      <a:noFill/>
                    </a:lnR>
                    <a:lnT w="0" cap="flat" cmpd="sng" algn="ctr">
                      <a:noFill/>
                    </a:lnT>
                    <a:lnB w="9525" cap="flat" cmpd="sng" algn="ctr">
                      <a:solidFill>
                        <a:srgbClr val="D5DEDB"/>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2"/>
                          </a:solidFill>
                        </a:rPr>
                        <a:t>—</a:t>
                      </a:r>
                      <a:endParaRPr lang="en-US" sz="1300" dirty="0"/>
                    </a:p>
                  </a:txBody>
                  <a:tcPr marL="91440" marR="91440" marT="54864" marB="54864">
                    <a:lnL w="0" cap="flat" cmpd="sng" algn="ctr">
                      <a:noFill/>
                    </a:lnL>
                    <a:lnR w="0" cap="flat" cmpd="sng" algn="ctr">
                      <a:noFill/>
                    </a:lnR>
                    <a:lnT w="0" cap="flat" cmpd="sng" algn="ctr">
                      <a:noFill/>
                    </a:lnT>
                    <a:lnB w="9525" cap="flat" cmpd="sng" algn="ctr">
                      <a:solidFill>
                        <a:srgbClr val="D5DEDB"/>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2"/>
                          </a:solidFill>
                        </a:rPr>
                        <a:t>—</a:t>
                      </a:r>
                      <a:endParaRPr lang="en-US" sz="1300" dirty="0"/>
                    </a:p>
                  </a:txBody>
                  <a:tcPr marL="91440" marR="91440" marT="54864" marB="54864">
                    <a:lnL w="0" cap="flat" cmpd="sng" algn="ctr">
                      <a:noFill/>
                    </a:lnL>
                    <a:lnR w="0" cap="flat" cmpd="sng" algn="ctr">
                      <a:noFill/>
                    </a:lnR>
                    <a:lnT w="0" cap="flat" cmpd="sng" algn="ctr">
                      <a:noFill/>
                    </a:lnT>
                    <a:lnB w="9525" cap="flat" cmpd="sng" algn="ctr">
                      <a:solidFill>
                        <a:srgbClr val="D5DEDB"/>
                      </a:solidFill>
                      <a:prstDash val="solid"/>
                      <a:round/>
                      <a:headEnd type="none" w="med" len="med"/>
                      <a:tailEnd type="none" w="med" len="med"/>
                    </a:lnB>
                    <a:solidFill>
                      <a:schemeClr val="bg1"/>
                    </a:solidFill>
                  </a:tcPr>
                </a:tc>
              </a:tr>
              <a:tr h="411480">
                <a:tc>
                  <a:txBody>
                    <a:bodyPr/>
                    <a:lstStyle/>
                    <a:p>
                      <a:pPr algn="l" indent="0" marL="0">
                        <a:buNone/>
                      </a:pPr>
                      <a:r>
                        <a:rPr lang="en-US" sz="1300" b="1" dirty="0">
                          <a:solidFill>
                            <a:schemeClr val="tx1"/>
                          </a:solidFill>
                        </a:rPr>
                        <a:t>Campaign 2</a:t>
                      </a:r>
                      <a:endParaRPr lang="en-US" sz="1300" dirty="0"/>
                    </a:p>
                  </a:txBody>
                  <a:tcPr marL="91440" marR="91440" marT="54864" marB="54864">
                    <a:lnL w="0" cap="flat" cmpd="sng" algn="ctr">
                      <a:noFill/>
                    </a:lnL>
                    <a:lnR w="0" cap="flat" cmpd="sng" algn="ctr">
                      <a:noFill/>
                    </a:lnR>
                    <a:lnT w="0" cap="flat" cmpd="sng" algn="ctr">
                      <a:noFill/>
                    </a:lnT>
                    <a:lnB w="9525" cap="flat" cmpd="sng" algn="ctr">
                      <a:solidFill>
                        <a:srgbClr val="D5DEDB"/>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2"/>
                          </a:solidFill>
                        </a:rPr>
                        <a:t>—</a:t>
                      </a:r>
                      <a:endParaRPr lang="en-US" sz="1300" dirty="0"/>
                    </a:p>
                  </a:txBody>
                  <a:tcPr marL="91440" marR="91440" marT="54864" marB="54864">
                    <a:lnL w="0" cap="flat" cmpd="sng" algn="ctr">
                      <a:noFill/>
                    </a:lnL>
                    <a:lnR w="0" cap="flat" cmpd="sng" algn="ctr">
                      <a:noFill/>
                    </a:lnR>
                    <a:lnT w="0" cap="flat" cmpd="sng" algn="ctr">
                      <a:noFill/>
                    </a:lnT>
                    <a:lnB w="9525" cap="flat" cmpd="sng" algn="ctr">
                      <a:solidFill>
                        <a:srgbClr val="D5DEDB"/>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2"/>
                          </a:solidFill>
                        </a:rPr>
                        <a:t>—</a:t>
                      </a:r>
                      <a:endParaRPr lang="en-US" sz="1300" dirty="0"/>
                    </a:p>
                  </a:txBody>
                  <a:tcPr marL="91440" marR="91440" marT="54864" marB="54864">
                    <a:lnL w="0" cap="flat" cmpd="sng" algn="ctr">
                      <a:noFill/>
                    </a:lnL>
                    <a:lnR w="0" cap="flat" cmpd="sng" algn="ctr">
                      <a:noFill/>
                    </a:lnR>
                    <a:lnT w="0" cap="flat" cmpd="sng" algn="ctr">
                      <a:noFill/>
                    </a:lnT>
                    <a:lnB w="9525" cap="flat" cmpd="sng" algn="ctr">
                      <a:solidFill>
                        <a:srgbClr val="D5DEDB"/>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2"/>
                          </a:solidFill>
                        </a:rPr>
                        <a:t>—</a:t>
                      </a:r>
                      <a:endParaRPr lang="en-US" sz="1300" dirty="0"/>
                    </a:p>
                  </a:txBody>
                  <a:tcPr marL="91440" marR="91440" marT="54864" marB="54864">
                    <a:lnL w="0" cap="flat" cmpd="sng" algn="ctr">
                      <a:noFill/>
                    </a:lnL>
                    <a:lnR w="0" cap="flat" cmpd="sng" algn="ctr">
                      <a:noFill/>
                    </a:lnR>
                    <a:lnT w="0" cap="flat" cmpd="sng" algn="ctr">
                      <a:noFill/>
                    </a:lnT>
                    <a:lnB w="9525" cap="flat" cmpd="sng" algn="ctr">
                      <a:solidFill>
                        <a:srgbClr val="D5DEDB"/>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2"/>
                          </a:solidFill>
                        </a:rPr>
                        <a:t>—</a:t>
                      </a:r>
                      <a:endParaRPr lang="en-US" sz="1300" dirty="0"/>
                    </a:p>
                  </a:txBody>
                  <a:tcPr marL="91440" marR="91440" marT="54864" marB="54864">
                    <a:lnL w="0" cap="flat" cmpd="sng" algn="ctr">
                      <a:noFill/>
                    </a:lnL>
                    <a:lnR w="0" cap="flat" cmpd="sng" algn="ctr">
                      <a:noFill/>
                    </a:lnR>
                    <a:lnT w="0" cap="flat" cmpd="sng" algn="ctr">
                      <a:noFill/>
                    </a:lnT>
                    <a:lnB w="9525" cap="flat" cmpd="sng" algn="ctr">
                      <a:solidFill>
                        <a:srgbClr val="D5DEDB"/>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2"/>
                          </a:solidFill>
                        </a:rPr>
                        <a:t>—</a:t>
                      </a:r>
                      <a:endParaRPr lang="en-US" sz="1300" dirty="0"/>
                    </a:p>
                  </a:txBody>
                  <a:tcPr marL="91440" marR="91440" marT="54864" marB="54864">
                    <a:lnL w="0" cap="flat" cmpd="sng" algn="ctr">
                      <a:noFill/>
                    </a:lnL>
                    <a:lnR w="0" cap="flat" cmpd="sng" algn="ctr">
                      <a:noFill/>
                    </a:lnR>
                    <a:lnT w="0" cap="flat" cmpd="sng" algn="ctr">
                      <a:noFill/>
                    </a:lnT>
                    <a:lnB w="9525" cap="flat" cmpd="sng" algn="ctr">
                      <a:solidFill>
                        <a:srgbClr val="D5DEDB"/>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2"/>
                          </a:solidFill>
                        </a:rPr>
                        <a:t>—</a:t>
                      </a:r>
                      <a:endParaRPr lang="en-US" sz="1300" dirty="0"/>
                    </a:p>
                  </a:txBody>
                  <a:tcPr marL="91440" marR="91440" marT="54864" marB="54864">
                    <a:lnL w="0" cap="flat" cmpd="sng" algn="ctr">
                      <a:noFill/>
                    </a:lnL>
                    <a:lnR w="0" cap="flat" cmpd="sng" algn="ctr">
                      <a:noFill/>
                    </a:lnR>
                    <a:lnT w="0" cap="flat" cmpd="sng" algn="ctr">
                      <a:noFill/>
                    </a:lnT>
                    <a:lnB w="9525" cap="flat" cmpd="sng" algn="ctr">
                      <a:solidFill>
                        <a:srgbClr val="D5DEDB"/>
                      </a:solidFill>
                      <a:prstDash val="solid"/>
                      <a:round/>
                      <a:headEnd type="none" w="med" len="med"/>
                      <a:tailEnd type="none" w="med" len="med"/>
                    </a:lnB>
                    <a:solidFill>
                      <a:schemeClr val="bg1"/>
                    </a:solidFill>
                  </a:tcPr>
                </a:tc>
              </a:tr>
              <a:tr h="411480">
                <a:tc>
                  <a:txBody>
                    <a:bodyPr/>
                    <a:lstStyle/>
                    <a:p>
                      <a:pPr algn="l" indent="0" marL="0">
                        <a:buNone/>
                      </a:pPr>
                      <a:r>
                        <a:rPr lang="en-US" sz="1300" b="1" dirty="0">
                          <a:solidFill>
                            <a:schemeClr val="tx1"/>
                          </a:solidFill>
                        </a:rPr>
                        <a:t>Campaign 3</a:t>
                      </a:r>
                      <a:endParaRPr lang="en-US" sz="1300" dirty="0"/>
                    </a:p>
                  </a:txBody>
                  <a:tcPr marL="91440" marR="91440" marT="54864" marB="54864">
                    <a:lnL w="0" cap="flat" cmpd="sng" algn="ctr">
                      <a:noFill/>
                    </a:lnL>
                    <a:lnR w="0" cap="flat" cmpd="sng" algn="ctr">
                      <a:noFill/>
                    </a:lnR>
                    <a:lnT w="0" cap="flat" cmpd="sng" algn="ctr">
                      <a:noFill/>
                    </a:lnT>
                    <a:lnB w="9525" cap="flat" cmpd="sng" algn="ctr">
                      <a:solidFill>
                        <a:srgbClr val="D5DEDB"/>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2"/>
                          </a:solidFill>
                        </a:rPr>
                        <a:t>—</a:t>
                      </a:r>
                      <a:endParaRPr lang="en-US" sz="1300" dirty="0"/>
                    </a:p>
                  </a:txBody>
                  <a:tcPr marL="91440" marR="91440" marT="54864" marB="54864">
                    <a:lnL w="0" cap="flat" cmpd="sng" algn="ctr">
                      <a:noFill/>
                    </a:lnL>
                    <a:lnR w="0" cap="flat" cmpd="sng" algn="ctr">
                      <a:noFill/>
                    </a:lnR>
                    <a:lnT w="0" cap="flat" cmpd="sng" algn="ctr">
                      <a:noFill/>
                    </a:lnT>
                    <a:lnB w="9525" cap="flat" cmpd="sng" algn="ctr">
                      <a:solidFill>
                        <a:srgbClr val="D5DEDB"/>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2"/>
                          </a:solidFill>
                        </a:rPr>
                        <a:t>—</a:t>
                      </a:r>
                      <a:endParaRPr lang="en-US" sz="1300" dirty="0"/>
                    </a:p>
                  </a:txBody>
                  <a:tcPr marL="91440" marR="91440" marT="54864" marB="54864">
                    <a:lnL w="0" cap="flat" cmpd="sng" algn="ctr">
                      <a:noFill/>
                    </a:lnL>
                    <a:lnR w="0" cap="flat" cmpd="sng" algn="ctr">
                      <a:noFill/>
                    </a:lnR>
                    <a:lnT w="0" cap="flat" cmpd="sng" algn="ctr">
                      <a:noFill/>
                    </a:lnT>
                    <a:lnB w="9525" cap="flat" cmpd="sng" algn="ctr">
                      <a:solidFill>
                        <a:srgbClr val="D5DEDB"/>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2"/>
                          </a:solidFill>
                        </a:rPr>
                        <a:t>—</a:t>
                      </a:r>
                      <a:endParaRPr lang="en-US" sz="1300" dirty="0"/>
                    </a:p>
                  </a:txBody>
                  <a:tcPr marL="91440" marR="91440" marT="54864" marB="54864">
                    <a:lnL w="0" cap="flat" cmpd="sng" algn="ctr">
                      <a:noFill/>
                    </a:lnL>
                    <a:lnR w="0" cap="flat" cmpd="sng" algn="ctr">
                      <a:noFill/>
                    </a:lnR>
                    <a:lnT w="0" cap="flat" cmpd="sng" algn="ctr">
                      <a:noFill/>
                    </a:lnT>
                    <a:lnB w="9525" cap="flat" cmpd="sng" algn="ctr">
                      <a:solidFill>
                        <a:srgbClr val="D5DEDB"/>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2"/>
                          </a:solidFill>
                        </a:rPr>
                        <a:t>—</a:t>
                      </a:r>
                      <a:endParaRPr lang="en-US" sz="1300" dirty="0"/>
                    </a:p>
                  </a:txBody>
                  <a:tcPr marL="91440" marR="91440" marT="54864" marB="54864">
                    <a:lnL w="0" cap="flat" cmpd="sng" algn="ctr">
                      <a:noFill/>
                    </a:lnL>
                    <a:lnR w="0" cap="flat" cmpd="sng" algn="ctr">
                      <a:noFill/>
                    </a:lnR>
                    <a:lnT w="0" cap="flat" cmpd="sng" algn="ctr">
                      <a:noFill/>
                    </a:lnT>
                    <a:lnB w="9525" cap="flat" cmpd="sng" algn="ctr">
                      <a:solidFill>
                        <a:srgbClr val="D5DEDB"/>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2"/>
                          </a:solidFill>
                        </a:rPr>
                        <a:t>—</a:t>
                      </a:r>
                      <a:endParaRPr lang="en-US" sz="1300" dirty="0"/>
                    </a:p>
                  </a:txBody>
                  <a:tcPr marL="91440" marR="91440" marT="54864" marB="54864">
                    <a:lnL w="0" cap="flat" cmpd="sng" algn="ctr">
                      <a:noFill/>
                    </a:lnL>
                    <a:lnR w="0" cap="flat" cmpd="sng" algn="ctr">
                      <a:noFill/>
                    </a:lnR>
                    <a:lnT w="0" cap="flat" cmpd="sng" algn="ctr">
                      <a:noFill/>
                    </a:lnT>
                    <a:lnB w="9525" cap="flat" cmpd="sng" algn="ctr">
                      <a:solidFill>
                        <a:srgbClr val="D5DEDB"/>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2"/>
                          </a:solidFill>
                        </a:rPr>
                        <a:t>—</a:t>
                      </a:r>
                      <a:endParaRPr lang="en-US" sz="1300" dirty="0"/>
                    </a:p>
                  </a:txBody>
                  <a:tcPr marL="91440" marR="91440" marT="54864" marB="54864">
                    <a:lnL w="0" cap="flat" cmpd="sng" algn="ctr">
                      <a:noFill/>
                    </a:lnL>
                    <a:lnR w="0" cap="flat" cmpd="sng" algn="ctr">
                      <a:noFill/>
                    </a:lnR>
                    <a:lnT w="0" cap="flat" cmpd="sng" algn="ctr">
                      <a:noFill/>
                    </a:lnT>
                    <a:lnB w="9525" cap="flat" cmpd="sng" algn="ctr">
                      <a:solidFill>
                        <a:srgbClr val="D5DEDB"/>
                      </a:solidFill>
                      <a:prstDash val="solid"/>
                      <a:round/>
                      <a:headEnd type="none" w="med" len="med"/>
                      <a:tailEnd type="none" w="med" len="med"/>
                    </a:lnB>
                    <a:solidFill>
                      <a:schemeClr val="bg1"/>
                    </a:solidFill>
                  </a:tcPr>
                </a:tc>
              </a:tr>
            </a:tbl>
          </a:graphicData>
        </a:graphic>
      </p:graphicFrame>
      <p:sp>
        <p:nvSpPr>
          <p:cNvPr id="6" name="Shape 3"/>
          <p:cNvSpPr/>
          <p:nvPr/>
        </p:nvSpPr>
        <p:spPr>
          <a:xfrm>
            <a:off x="777240" y="3566160"/>
            <a:ext cx="1005840" cy="274320"/>
          </a:xfrm>
          <a:prstGeom prst="roundRect">
            <a:avLst>
              <a:gd name="adj" fmla="val 50000"/>
            </a:avLst>
          </a:prstGeom>
          <a:solidFill>
            <a:schemeClr val="bg1"/>
          </a:solidFill>
          <a:ln w="9525">
            <a:solidFill>
              <a:schemeClr val="accent3"/>
            </a:solidFill>
            <a:prstDash val="solid"/>
          </a:ln>
        </p:spPr>
      </p:sp>
      <p:sp>
        <p:nvSpPr>
          <p:cNvPr id="7" name="Text 4"/>
          <p:cNvSpPr txBox="1"/>
          <p:nvPr/>
        </p:nvSpPr>
        <p:spPr>
          <a:xfrm>
            <a:off x="777240" y="3566160"/>
            <a:ext cx="1005840" cy="274320"/>
          </a:xfrm>
          <a:prstGeom prst="rect">
            <a:avLst/>
          </a:prstGeom>
          <a:noFill/>
          <a:ln/>
        </p:spPr>
        <p:txBody>
          <a:bodyPr wrap="square" lIns="0" tIns="0" rIns="0" bIns="0" rtlCol="0" anchor="ctr"/>
          <a:lstStyle/>
          <a:p>
            <a:pPr algn="ctr" indent="0" marL="0">
              <a:buNone/>
            </a:pPr>
            <a:r>
              <a:rPr lang="en-US" sz="1000" dirty="0">
                <a:solidFill>
                  <a:schemeClr val="accent3"/>
                </a:solidFill>
                <a:latin typeface="Courier New" pitchFamily="34" charset="0"/>
                <a:ea typeface="Courier New" pitchFamily="34" charset="-122"/>
                <a:cs typeface="Courier New" pitchFamily="34" charset="-120"/>
              </a:rPr>
              <a:t>Example</a:t>
            </a:r>
            <a:endParaRPr lang="en-US" sz="1000" dirty="0"/>
          </a:p>
        </p:txBody>
      </p:sp>
      <p:sp>
        <p:nvSpPr>
          <p:cNvPr id="8" name="Text 5"/>
          <p:cNvSpPr txBox="1"/>
          <p:nvPr/>
        </p:nvSpPr>
        <p:spPr>
          <a:xfrm>
            <a:off x="1920240" y="3566160"/>
            <a:ext cx="7315200" cy="274320"/>
          </a:xfrm>
          <a:prstGeom prst="rect">
            <a:avLst/>
          </a:prstGeom>
          <a:noFill/>
          <a:ln/>
        </p:spPr>
        <p:txBody>
          <a:bodyPr wrap="square" lIns="0" tIns="0" rIns="0" bIns="0" rtlCol="0" anchor="ctr"/>
          <a:lstStyle/>
          <a:p>
            <a:pPr indent="0" marL="0">
              <a:buNone/>
            </a:pPr>
            <a:r>
              <a:rPr lang="en-US" sz="1100" dirty="0">
                <a:solidFill>
                  <a:schemeClr val="tx2"/>
                </a:solidFill>
              </a:rPr>
              <a:t>Report layout only. Figures fill in from your first month live.</a:t>
            </a:r>
            <a:endParaRPr lang="en-US" sz="1100" dirty="0"/>
          </a:p>
        </p:txBody>
      </p:sp>
      <p:sp>
        <p:nvSpPr>
          <p:cNvPr id="9" name="Shape 6"/>
          <p:cNvSpPr/>
          <p:nvPr/>
        </p:nvSpPr>
        <p:spPr>
          <a:xfrm>
            <a:off x="548640" y="4343400"/>
            <a:ext cx="1463040" cy="274320"/>
          </a:xfrm>
          <a:prstGeom prst="roundRect">
            <a:avLst>
              <a:gd name="adj" fmla="val 50000"/>
            </a:avLst>
          </a:prstGeom>
          <a:solidFill>
            <a:schemeClr val="accent1"/>
          </a:solidFill>
          <a:ln w="9525">
            <a:solidFill>
              <a:schemeClr val="accent1"/>
            </a:solidFill>
            <a:prstDash val="solid"/>
          </a:ln>
        </p:spPr>
      </p:sp>
      <p:sp>
        <p:nvSpPr>
          <p:cNvPr id="10" name="Text 7"/>
          <p:cNvSpPr txBox="1"/>
          <p:nvPr/>
        </p:nvSpPr>
        <p:spPr>
          <a:xfrm>
            <a:off x="548640" y="4343400"/>
            <a:ext cx="1463040" cy="274320"/>
          </a:xfrm>
          <a:prstGeom prst="rect">
            <a:avLst/>
          </a:prstGeom>
          <a:noFill/>
          <a:ln/>
        </p:spPr>
        <p:txBody>
          <a:bodyPr wrap="square" lIns="0" tIns="0" rIns="0" bIns="0" rtlCol="0" anchor="ctr"/>
          <a:lstStyle/>
          <a:p>
            <a:pPr algn="ctr" indent="0" marL="0">
              <a:buNone/>
            </a:pPr>
            <a:r>
              <a:rPr lang="en-US" sz="1000" dirty="0">
                <a:solidFill>
                  <a:schemeClr val="bg1"/>
                </a:solidFill>
                <a:latin typeface="Courier New" pitchFamily="34" charset="0"/>
                <a:ea typeface="Courier New" pitchFamily="34" charset="-122"/>
                <a:cs typeface="Courier New" pitchFamily="34" charset="-120"/>
              </a:rPr>
              <a:t>Brought back</a:t>
            </a:r>
            <a:endParaRPr lang="en-US" sz="1000" dirty="0"/>
          </a:p>
        </p:txBody>
      </p:sp>
      <p:sp>
        <p:nvSpPr>
          <p:cNvPr id="11" name="Shape 8"/>
          <p:cNvSpPr/>
          <p:nvPr/>
        </p:nvSpPr>
        <p:spPr>
          <a:xfrm>
            <a:off x="548640" y="4754880"/>
            <a:ext cx="1463040" cy="274320"/>
          </a:xfrm>
          <a:prstGeom prst="roundRect">
            <a:avLst>
              <a:gd name="adj" fmla="val 50000"/>
            </a:avLst>
          </a:prstGeom>
          <a:solidFill>
            <a:schemeClr val="bg1"/>
          </a:solidFill>
          <a:ln w="9525">
            <a:solidFill>
              <a:schemeClr val="accent6"/>
            </a:solidFill>
            <a:prstDash val="solid"/>
          </a:ln>
        </p:spPr>
      </p:sp>
      <p:sp>
        <p:nvSpPr>
          <p:cNvPr id="12" name="Text 9"/>
          <p:cNvSpPr txBox="1"/>
          <p:nvPr/>
        </p:nvSpPr>
        <p:spPr>
          <a:xfrm>
            <a:off x="548640" y="4754880"/>
            <a:ext cx="1463040" cy="274320"/>
          </a:xfrm>
          <a:prstGeom prst="rect">
            <a:avLst/>
          </a:prstGeom>
          <a:noFill/>
          <a:ln/>
        </p:spPr>
        <p:txBody>
          <a:bodyPr wrap="square" lIns="0" tIns="0" rIns="0" bIns="0" rtlCol="0" anchor="ctr"/>
          <a:lstStyle/>
          <a:p>
            <a:pPr algn="ctr" indent="0" marL="0">
              <a:buNone/>
            </a:pPr>
            <a:r>
              <a:rPr lang="en-US" sz="1000" dirty="0">
                <a:solidFill>
                  <a:schemeClr val="accent6"/>
                </a:solidFill>
                <a:latin typeface="Courier New" pitchFamily="34" charset="0"/>
                <a:ea typeface="Courier New" pitchFamily="34" charset="-122"/>
                <a:cs typeface="Courier New" pitchFamily="34" charset="-120"/>
              </a:rPr>
              <a:t>Not booked</a:t>
            </a:r>
            <a:endParaRPr lang="en-US" sz="1000" dirty="0"/>
          </a:p>
        </p:txBody>
      </p:sp>
      <p:pic>
        <p:nvPicPr>
          <p:cNvPr id="13" name="Image 0" descr="preencoded.png">    </p:cNvPr>
          <p:cNvPicPr>
            <a:picLocks noChangeAspect="1"/>
          </p:cNvPicPr>
          <p:nvPr/>
        </p:nvPicPr>
        <p:blipFill>
          <a:blip r:embed="rId1"/>
          <a:stretch>
            <a:fillRect/>
          </a:stretch>
        </p:blipFill>
        <p:spPr>
          <a:xfrm>
            <a:off x="2377440" y="4315968"/>
            <a:ext cx="365760" cy="365760"/>
          </a:xfrm>
          <a:prstGeom prst="rect">
            <a:avLst/>
          </a:prstGeom>
        </p:spPr>
      </p:pic>
      <p:sp>
        <p:nvSpPr>
          <p:cNvPr id="14" name="Text 10"/>
          <p:cNvSpPr txBox="1"/>
          <p:nvPr/>
        </p:nvSpPr>
        <p:spPr>
          <a:xfrm>
            <a:off x="2926080" y="4315968"/>
            <a:ext cx="2514600" cy="320040"/>
          </a:xfrm>
          <a:prstGeom prst="rect">
            <a:avLst/>
          </a:prstGeom>
          <a:noFill/>
          <a:ln/>
        </p:spPr>
        <p:txBody>
          <a:bodyPr wrap="square" lIns="0" tIns="0" rIns="0" bIns="0" rtlCol="0" anchor="t"/>
          <a:lstStyle/>
          <a:p>
            <a:pPr indent="0" marL="0">
              <a:buNone/>
            </a:pPr>
            <a:r>
              <a:rPr lang="en-US" sz="1500" b="1" dirty="0">
                <a:solidFill>
                  <a:schemeClr val="tx1"/>
                </a:solidFill>
              </a:rPr>
              <a:t>Conversion by campaign</a:t>
            </a:r>
            <a:endParaRPr lang="en-US" sz="1500" dirty="0"/>
          </a:p>
        </p:txBody>
      </p:sp>
      <p:sp>
        <p:nvSpPr>
          <p:cNvPr id="15" name="Text 11"/>
          <p:cNvSpPr txBox="1"/>
          <p:nvPr/>
        </p:nvSpPr>
        <p:spPr>
          <a:xfrm>
            <a:off x="2926080" y="4663440"/>
            <a:ext cx="2514600" cy="731520"/>
          </a:xfrm>
          <a:prstGeom prst="rect">
            <a:avLst/>
          </a:prstGeom>
          <a:noFill/>
          <a:ln/>
        </p:spPr>
        <p:txBody>
          <a:bodyPr wrap="square" lIns="0" tIns="0" rIns="0" bIns="0" rtlCol="0" anchor="t"/>
          <a:lstStyle/>
          <a:p>
            <a:pPr indent="0" marL="0">
              <a:buNone/>
            </a:pPr>
            <a:r>
              <a:rPr lang="en-US" sz="1300" dirty="0">
                <a:solidFill>
                  <a:schemeClr val="tx2"/>
                </a:solidFill>
              </a:rPr>
              <a:t>See which ads turn enquiries into appointments.</a:t>
            </a:r>
            <a:endParaRPr lang="en-US" sz="1300" dirty="0"/>
          </a:p>
        </p:txBody>
      </p:sp>
      <p:pic>
        <p:nvPicPr>
          <p:cNvPr id="16" name="Image 1" descr="preencoded.png">    </p:cNvPr>
          <p:cNvPicPr>
            <a:picLocks noChangeAspect="1"/>
          </p:cNvPicPr>
          <p:nvPr/>
        </p:nvPicPr>
        <p:blipFill>
          <a:blip r:embed="rId2"/>
          <a:stretch>
            <a:fillRect/>
          </a:stretch>
        </p:blipFill>
        <p:spPr>
          <a:xfrm>
            <a:off x="5532120" y="4315968"/>
            <a:ext cx="365760" cy="365760"/>
          </a:xfrm>
          <a:prstGeom prst="rect">
            <a:avLst/>
          </a:prstGeom>
        </p:spPr>
      </p:pic>
      <p:sp>
        <p:nvSpPr>
          <p:cNvPr id="17" name="Text 12"/>
          <p:cNvSpPr txBox="1"/>
          <p:nvPr/>
        </p:nvSpPr>
        <p:spPr>
          <a:xfrm>
            <a:off x="6080760" y="4315968"/>
            <a:ext cx="2514600" cy="320040"/>
          </a:xfrm>
          <a:prstGeom prst="rect">
            <a:avLst/>
          </a:prstGeom>
          <a:noFill/>
          <a:ln/>
        </p:spPr>
        <p:txBody>
          <a:bodyPr wrap="square" lIns="0" tIns="0" rIns="0" bIns="0" rtlCol="0" anchor="t"/>
          <a:lstStyle/>
          <a:p>
            <a:pPr indent="0" marL="0">
              <a:buNone/>
            </a:pPr>
            <a:r>
              <a:rPr lang="en-US" sz="1500" b="1" dirty="0">
                <a:solidFill>
                  <a:schemeClr val="tx1"/>
                </a:solidFill>
              </a:rPr>
              <a:t>Patients brought back</a:t>
            </a:r>
            <a:endParaRPr lang="en-US" sz="1500" dirty="0"/>
          </a:p>
        </p:txBody>
      </p:sp>
      <p:sp>
        <p:nvSpPr>
          <p:cNvPr id="18" name="Text 13"/>
          <p:cNvSpPr txBox="1"/>
          <p:nvPr/>
        </p:nvSpPr>
        <p:spPr>
          <a:xfrm>
            <a:off x="6080760" y="4663440"/>
            <a:ext cx="2514600" cy="731520"/>
          </a:xfrm>
          <a:prstGeom prst="rect">
            <a:avLst/>
          </a:prstGeom>
          <a:noFill/>
          <a:ln/>
        </p:spPr>
        <p:txBody>
          <a:bodyPr wrap="square" lIns="0" tIns="0" rIns="0" bIns="0" rtlCol="0" anchor="t"/>
          <a:lstStyle/>
          <a:p>
            <a:pPr indent="0" marL="0">
              <a:buNone/>
            </a:pPr>
            <a:r>
              <a:rPr lang="en-US" sz="1300" dirty="0">
                <a:solidFill>
                  <a:schemeClr val="tx2"/>
                </a:solidFill>
              </a:rPr>
              <a:t>See how many patients your receptionist won back.</a:t>
            </a:r>
            <a:endParaRPr lang="en-US" sz="1300" dirty="0"/>
          </a:p>
        </p:txBody>
      </p:sp>
      <p:pic>
        <p:nvPicPr>
          <p:cNvPr id="19" name="Image 2" descr="preencoded.png">    </p:cNvPr>
          <p:cNvPicPr>
            <a:picLocks noChangeAspect="1"/>
          </p:cNvPicPr>
          <p:nvPr/>
        </p:nvPicPr>
        <p:blipFill>
          <a:blip r:embed="rId3"/>
          <a:stretch>
            <a:fillRect/>
          </a:stretch>
        </p:blipFill>
        <p:spPr>
          <a:xfrm>
            <a:off x="8686800" y="4315968"/>
            <a:ext cx="365760" cy="365760"/>
          </a:xfrm>
          <a:prstGeom prst="rect">
            <a:avLst/>
          </a:prstGeom>
        </p:spPr>
      </p:pic>
      <p:sp>
        <p:nvSpPr>
          <p:cNvPr id="20" name="Text 14"/>
          <p:cNvSpPr txBox="1"/>
          <p:nvPr/>
        </p:nvSpPr>
        <p:spPr>
          <a:xfrm>
            <a:off x="9235440" y="4315968"/>
            <a:ext cx="2514600" cy="320040"/>
          </a:xfrm>
          <a:prstGeom prst="rect">
            <a:avLst/>
          </a:prstGeom>
          <a:noFill/>
          <a:ln/>
        </p:spPr>
        <p:txBody>
          <a:bodyPr wrap="square" lIns="0" tIns="0" rIns="0" bIns="0" rtlCol="0" anchor="t"/>
          <a:lstStyle/>
          <a:p>
            <a:pPr indent="0" marL="0">
              <a:buNone/>
            </a:pPr>
            <a:r>
              <a:rPr lang="en-US" sz="1500" b="1" dirty="0">
                <a:solidFill>
                  <a:schemeClr val="tx1"/>
                </a:solidFill>
              </a:rPr>
              <a:t>Offline vs video</a:t>
            </a:r>
            <a:endParaRPr lang="en-US" sz="1500" dirty="0"/>
          </a:p>
        </p:txBody>
      </p:sp>
      <p:sp>
        <p:nvSpPr>
          <p:cNvPr id="21" name="Text 15"/>
          <p:cNvSpPr txBox="1"/>
          <p:nvPr/>
        </p:nvSpPr>
        <p:spPr>
          <a:xfrm>
            <a:off x="9235440" y="4663440"/>
            <a:ext cx="2514600" cy="731520"/>
          </a:xfrm>
          <a:prstGeom prst="rect">
            <a:avLst/>
          </a:prstGeom>
          <a:noFill/>
          <a:ln/>
        </p:spPr>
        <p:txBody>
          <a:bodyPr wrap="square" lIns="0" tIns="0" rIns="0" bIns="0" rtlCol="0" anchor="t"/>
          <a:lstStyle/>
          <a:p>
            <a:pPr indent="0" marL="0">
              <a:buNone/>
            </a:pPr>
            <a:r>
              <a:rPr lang="en-US" sz="1300" dirty="0">
                <a:solidFill>
                  <a:schemeClr val="tx2"/>
                </a:solidFill>
              </a:rPr>
              <a:t>See how patients choose to consult.</a:t>
            </a:r>
            <a:endParaRPr lang="en-US" sz="1300" dirty="0"/>
          </a:p>
        </p:txBody>
      </p:sp>
      <p:sp>
        <p:nvSpPr>
          <p:cNvPr id="25" name="Slide Number Placeholder 0"/>
          <p:cNvSpPr>
            <a:spLocks noGrp="1"/>
          </p:cNvSpPr>
          <p:nvPr>
            <p:ph type="sldNum" sz="quarter" idx="4294967295"/>
          </p:nvPr>
        </p:nvSpPr>
        <p:spPr>
          <a:xfrm>
            <a:off x="9509760" y="6355080"/>
            <a:ext cx="64008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3" type="body" hasCustomPrompt="1"/>
          </p:nvPr>
        </p:nvSpPr>
        <p:spPr>
          <a:xfrm>
            <a:off x="548640" y="384048"/>
            <a:ext cx="11064240" cy="274320"/>
          </a:xfrm>
          <a:prstGeom prst="rect">
            <a:avLst/>
          </a:prstGeom>
          <a:noFill/>
          <a:ln/>
        </p:spPr>
        <p:txBody>
          <a:bodyPr wrap="square" lIns="0" tIns="0" rIns="0" bIns="0" rtlCol="0" anchor="t"/>
          <a:lstStyle/>
          <a:p>
            <a:pPr algn="l" indent="0" marL="0">
              <a:buNone/>
            </a:pPr>
            <a:r>
              <a:rPr lang="en-US" sz="1100" b="1" spc="150" kern="0" dirty="0">
                <a:solidFill>
                  <a:schemeClr val="accent1"/>
                </a:solidFill>
              </a:rPr>
              <a:t>INTEGRATIONS</a:t>
            </a:r>
            <a:endParaRPr lang="en-US" sz="1100" dirty="0"/>
          </a:p>
        </p:txBody>
      </p:sp>
      <p:sp>
        <p:nvSpPr>
          <p:cNvPr id="3" name="Text 2"/>
          <p:cNvSpPr/>
          <p:nvPr>
            <p:ph idx="104" type="title" hasCustomPrompt="1"/>
          </p:nvPr>
        </p:nvSpPr>
        <p:spPr>
          <a:xfrm>
            <a:off x="548640" y="685800"/>
            <a:ext cx="11064240" cy="685800"/>
          </a:xfrm>
          <a:prstGeom prst="rect">
            <a:avLst/>
          </a:prstGeom>
          <a:noFill/>
          <a:ln/>
        </p:spPr>
        <p:txBody>
          <a:bodyPr wrap="square" lIns="0" tIns="0" rIns="0" bIns="0" rtlCol="0" anchor="t"/>
          <a:lstStyle/>
          <a:p>
            <a:pPr algn="l" indent="0" marL="0">
              <a:buNone/>
            </a:pPr>
            <a:r>
              <a:rPr lang="en-US" sz="3000" b="1" dirty="0">
                <a:solidFill>
                  <a:schemeClr val="tx1"/>
                </a:solidFill>
              </a:rPr>
              <a:t>Works with the systems your clinic already uses</a:t>
            </a:r>
            <a:endParaRPr lang="en-US" sz="3000" dirty="0"/>
          </a:p>
        </p:txBody>
      </p:sp>
      <p:sp>
        <p:nvSpPr>
          <p:cNvPr id="4" name="integration-0"/>
          <p:cNvSpPr/>
          <p:nvPr/>
        </p:nvSpPr>
        <p:spPr>
          <a:xfrm>
            <a:off x="548640" y="1691640"/>
            <a:ext cx="5468112" cy="1737360"/>
          </a:xfrm>
          <a:prstGeom prst="roundRect">
            <a:avLst>
              <a:gd name="adj" fmla="val 6316"/>
            </a:avLst>
          </a:prstGeom>
          <a:solidFill>
            <a:schemeClr val="bg1"/>
          </a:solidFill>
          <a:ln w="9525">
            <a:solidFill>
              <a:srgbClr val="D5DEDB"/>
            </a:solidFill>
            <a:prstDash val="solid"/>
          </a:ln>
        </p:spPr>
      </p:sp>
      <p:pic>
        <p:nvPicPr>
          <p:cNvPr id="5" name="Image 0" descr="preencoded.png">    </p:cNvPr>
          <p:cNvPicPr>
            <a:picLocks noChangeAspect="1"/>
          </p:cNvPicPr>
          <p:nvPr/>
        </p:nvPicPr>
        <p:blipFill>
          <a:blip r:embed="rId1"/>
          <a:stretch>
            <a:fillRect/>
          </a:stretch>
        </p:blipFill>
        <p:spPr>
          <a:xfrm>
            <a:off x="868680" y="2039112"/>
            <a:ext cx="411480" cy="411480"/>
          </a:xfrm>
          <a:prstGeom prst="rect">
            <a:avLst/>
          </a:prstGeom>
        </p:spPr>
      </p:pic>
      <p:sp>
        <p:nvSpPr>
          <p:cNvPr id="6" name="Text 3"/>
          <p:cNvSpPr txBox="1"/>
          <p:nvPr/>
        </p:nvSpPr>
        <p:spPr>
          <a:xfrm>
            <a:off x="1554480" y="2039112"/>
            <a:ext cx="4206240" cy="365760"/>
          </a:xfrm>
          <a:prstGeom prst="rect">
            <a:avLst/>
          </a:prstGeom>
          <a:noFill/>
          <a:ln/>
        </p:spPr>
        <p:txBody>
          <a:bodyPr wrap="square" lIns="0" tIns="0" rIns="0" bIns="0" rtlCol="0" anchor="t"/>
          <a:lstStyle/>
          <a:p>
            <a:pPr indent="0" marL="0">
              <a:buNone/>
            </a:pPr>
            <a:r>
              <a:rPr lang="en-US" sz="1800" b="1" dirty="0">
                <a:solidFill>
                  <a:schemeClr val="tx1"/>
                </a:solidFill>
              </a:rPr>
              <a:t>WhatsApp</a:t>
            </a:r>
            <a:endParaRPr lang="en-US" sz="1800" dirty="0"/>
          </a:p>
        </p:txBody>
      </p:sp>
      <p:sp>
        <p:nvSpPr>
          <p:cNvPr id="7" name="Text 4"/>
          <p:cNvSpPr txBox="1"/>
          <p:nvPr/>
        </p:nvSpPr>
        <p:spPr>
          <a:xfrm>
            <a:off x="1554480" y="2468880"/>
            <a:ext cx="4206240" cy="914400"/>
          </a:xfrm>
          <a:prstGeom prst="rect">
            <a:avLst/>
          </a:prstGeom>
          <a:noFill/>
          <a:ln/>
        </p:spPr>
        <p:txBody>
          <a:bodyPr wrap="square" lIns="0" tIns="0" rIns="0" bIns="0" rtlCol="0" anchor="t"/>
          <a:lstStyle/>
          <a:p>
            <a:pPr indent="0" marL="0">
              <a:buNone/>
            </a:pPr>
            <a:r>
              <a:rPr lang="en-US" sz="1400" dirty="0">
                <a:solidFill>
                  <a:schemeClr val="tx2"/>
                </a:solidFill>
              </a:rPr>
              <a:t>Where every enquiry starts, on your clinic's own number.</a:t>
            </a:r>
            <a:endParaRPr lang="en-US" sz="1400" dirty="0"/>
          </a:p>
        </p:txBody>
      </p:sp>
      <p:sp>
        <p:nvSpPr>
          <p:cNvPr id="8" name="integration-1"/>
          <p:cNvSpPr/>
          <p:nvPr/>
        </p:nvSpPr>
        <p:spPr>
          <a:xfrm>
            <a:off x="6172200" y="1691640"/>
            <a:ext cx="5468112" cy="1737360"/>
          </a:xfrm>
          <a:prstGeom prst="roundRect">
            <a:avLst>
              <a:gd name="adj" fmla="val 6316"/>
            </a:avLst>
          </a:prstGeom>
          <a:solidFill>
            <a:schemeClr val="bg1"/>
          </a:solidFill>
          <a:ln w="9525">
            <a:solidFill>
              <a:srgbClr val="D5DEDB"/>
            </a:solidFill>
            <a:prstDash val="solid"/>
          </a:ln>
        </p:spPr>
      </p:sp>
      <p:pic>
        <p:nvPicPr>
          <p:cNvPr id="9" name="Image 1" descr="preencoded.png">    </p:cNvPr>
          <p:cNvPicPr>
            <a:picLocks noChangeAspect="1"/>
          </p:cNvPicPr>
          <p:nvPr/>
        </p:nvPicPr>
        <p:blipFill>
          <a:blip r:embed="rId2"/>
          <a:stretch>
            <a:fillRect/>
          </a:stretch>
        </p:blipFill>
        <p:spPr>
          <a:xfrm>
            <a:off x="6492240" y="2039112"/>
            <a:ext cx="411480" cy="411480"/>
          </a:xfrm>
          <a:prstGeom prst="rect">
            <a:avLst/>
          </a:prstGeom>
        </p:spPr>
      </p:pic>
      <p:sp>
        <p:nvSpPr>
          <p:cNvPr id="10" name="Text 6"/>
          <p:cNvSpPr txBox="1"/>
          <p:nvPr/>
        </p:nvSpPr>
        <p:spPr>
          <a:xfrm>
            <a:off x="7178040" y="2039112"/>
            <a:ext cx="4206240" cy="365760"/>
          </a:xfrm>
          <a:prstGeom prst="rect">
            <a:avLst/>
          </a:prstGeom>
          <a:noFill/>
          <a:ln/>
        </p:spPr>
        <p:txBody>
          <a:bodyPr wrap="square" lIns="0" tIns="0" rIns="0" bIns="0" rtlCol="0" anchor="t"/>
          <a:lstStyle/>
          <a:p>
            <a:pPr indent="0" marL="0">
              <a:buNone/>
            </a:pPr>
            <a:r>
              <a:rPr lang="en-US" sz="1800" b="1" dirty="0">
                <a:solidFill>
                  <a:schemeClr val="tx1"/>
                </a:solidFill>
              </a:rPr>
              <a:t>Google Calendar</a:t>
            </a:r>
            <a:endParaRPr lang="en-US" sz="1800" dirty="0"/>
          </a:p>
        </p:txBody>
      </p:sp>
      <p:sp>
        <p:nvSpPr>
          <p:cNvPr id="11" name="Text 7"/>
          <p:cNvSpPr txBox="1"/>
          <p:nvPr/>
        </p:nvSpPr>
        <p:spPr>
          <a:xfrm>
            <a:off x="7178040" y="2468880"/>
            <a:ext cx="4206240" cy="914400"/>
          </a:xfrm>
          <a:prstGeom prst="rect">
            <a:avLst/>
          </a:prstGeom>
          <a:noFill/>
          <a:ln/>
        </p:spPr>
        <p:txBody>
          <a:bodyPr wrap="square" lIns="0" tIns="0" rIns="0" bIns="0" rtlCol="0" anchor="t"/>
          <a:lstStyle/>
          <a:p>
            <a:pPr indent="0" marL="0">
              <a:buNone/>
            </a:pPr>
            <a:r>
              <a:rPr lang="en-US" sz="1400" dirty="0">
                <a:solidFill>
                  <a:schemeClr val="tx2"/>
                </a:solidFill>
              </a:rPr>
              <a:t>Every offline and video booking lands in your calendar.</a:t>
            </a:r>
            <a:endParaRPr lang="en-US" sz="1400" dirty="0"/>
          </a:p>
        </p:txBody>
      </p:sp>
      <p:sp>
        <p:nvSpPr>
          <p:cNvPr id="12" name="integration-2"/>
          <p:cNvSpPr/>
          <p:nvPr/>
        </p:nvSpPr>
        <p:spPr>
          <a:xfrm>
            <a:off x="548640" y="3657600"/>
            <a:ext cx="5468112" cy="1737360"/>
          </a:xfrm>
          <a:prstGeom prst="roundRect">
            <a:avLst>
              <a:gd name="adj" fmla="val 6316"/>
            </a:avLst>
          </a:prstGeom>
          <a:solidFill>
            <a:schemeClr val="bg1"/>
          </a:solidFill>
          <a:ln w="9525">
            <a:solidFill>
              <a:srgbClr val="D5DEDB"/>
            </a:solidFill>
            <a:prstDash val="solid"/>
          </a:ln>
        </p:spPr>
      </p:sp>
      <p:pic>
        <p:nvPicPr>
          <p:cNvPr id="13" name="Image 2" descr="preencoded.png">    </p:cNvPr>
          <p:cNvPicPr>
            <a:picLocks noChangeAspect="1"/>
          </p:cNvPicPr>
          <p:nvPr/>
        </p:nvPicPr>
        <p:blipFill>
          <a:blip r:embed="rId3"/>
          <a:stretch>
            <a:fillRect/>
          </a:stretch>
        </p:blipFill>
        <p:spPr>
          <a:xfrm>
            <a:off x="868680" y="4005072"/>
            <a:ext cx="411480" cy="411480"/>
          </a:xfrm>
          <a:prstGeom prst="rect">
            <a:avLst/>
          </a:prstGeom>
        </p:spPr>
      </p:pic>
      <p:sp>
        <p:nvSpPr>
          <p:cNvPr id="14" name="Text 9"/>
          <p:cNvSpPr txBox="1"/>
          <p:nvPr/>
        </p:nvSpPr>
        <p:spPr>
          <a:xfrm>
            <a:off x="1554480" y="4005072"/>
            <a:ext cx="4206240" cy="365760"/>
          </a:xfrm>
          <a:prstGeom prst="rect">
            <a:avLst/>
          </a:prstGeom>
          <a:noFill/>
          <a:ln/>
        </p:spPr>
        <p:txBody>
          <a:bodyPr wrap="square" lIns="0" tIns="0" rIns="0" bIns="0" rtlCol="0" anchor="t"/>
          <a:lstStyle/>
          <a:p>
            <a:pPr indent="0" marL="0">
              <a:buNone/>
            </a:pPr>
            <a:r>
              <a:rPr lang="en-US" sz="1800" b="1" dirty="0">
                <a:solidFill>
                  <a:schemeClr val="tx1"/>
                </a:solidFill>
              </a:rPr>
              <a:t>Clinic PMS</a:t>
            </a:r>
            <a:endParaRPr lang="en-US" sz="1800" dirty="0"/>
          </a:p>
        </p:txBody>
      </p:sp>
      <p:sp>
        <p:nvSpPr>
          <p:cNvPr id="15" name="Text 10"/>
          <p:cNvSpPr txBox="1"/>
          <p:nvPr/>
        </p:nvSpPr>
        <p:spPr>
          <a:xfrm>
            <a:off x="1554480" y="4434840"/>
            <a:ext cx="4206240" cy="914400"/>
          </a:xfrm>
          <a:prstGeom prst="rect">
            <a:avLst/>
          </a:prstGeom>
          <a:noFill/>
          <a:ln/>
        </p:spPr>
        <p:txBody>
          <a:bodyPr wrap="square" lIns="0" tIns="0" rIns="0" bIns="0" rtlCol="0" anchor="t"/>
          <a:lstStyle/>
          <a:p>
            <a:pPr indent="0" marL="0">
              <a:buNone/>
            </a:pPr>
            <a:r>
              <a:rPr lang="en-US" sz="1400" dirty="0">
                <a:solidFill>
                  <a:schemeClr val="tx2"/>
                </a:solidFill>
              </a:rPr>
              <a:t>Your receptionist updates the PMS after each call; Patientcurve tracks every follow-up. Automatic sync can be added if your PMS supports it.</a:t>
            </a:r>
            <a:endParaRPr lang="en-US" sz="1400" dirty="0"/>
          </a:p>
        </p:txBody>
      </p:sp>
      <p:sp>
        <p:nvSpPr>
          <p:cNvPr id="16" name="integration-3"/>
          <p:cNvSpPr/>
          <p:nvPr/>
        </p:nvSpPr>
        <p:spPr>
          <a:xfrm>
            <a:off x="6172200" y="3657600"/>
            <a:ext cx="5468112" cy="1737360"/>
          </a:xfrm>
          <a:prstGeom prst="roundRect">
            <a:avLst>
              <a:gd name="adj" fmla="val 6316"/>
            </a:avLst>
          </a:prstGeom>
          <a:solidFill>
            <a:schemeClr val="bg1"/>
          </a:solidFill>
          <a:ln w="9525">
            <a:solidFill>
              <a:srgbClr val="D5DEDB"/>
            </a:solidFill>
            <a:prstDash val="solid"/>
          </a:ln>
        </p:spPr>
      </p:sp>
      <p:pic>
        <p:nvPicPr>
          <p:cNvPr id="17" name="Image 3" descr="preencoded.png">    </p:cNvPr>
          <p:cNvPicPr>
            <a:picLocks noChangeAspect="1"/>
          </p:cNvPicPr>
          <p:nvPr/>
        </p:nvPicPr>
        <p:blipFill>
          <a:blip r:embed="rId4"/>
          <a:stretch>
            <a:fillRect/>
          </a:stretch>
        </p:blipFill>
        <p:spPr>
          <a:xfrm>
            <a:off x="6492240" y="4005072"/>
            <a:ext cx="411480" cy="411480"/>
          </a:xfrm>
          <a:prstGeom prst="rect">
            <a:avLst/>
          </a:prstGeom>
        </p:spPr>
      </p:pic>
      <p:sp>
        <p:nvSpPr>
          <p:cNvPr id="18" name="Text 12"/>
          <p:cNvSpPr txBox="1"/>
          <p:nvPr/>
        </p:nvSpPr>
        <p:spPr>
          <a:xfrm>
            <a:off x="7178040" y="4005072"/>
            <a:ext cx="4206240" cy="365760"/>
          </a:xfrm>
          <a:prstGeom prst="rect">
            <a:avLst/>
          </a:prstGeom>
          <a:noFill/>
          <a:ln/>
        </p:spPr>
        <p:txBody>
          <a:bodyPr wrap="square" lIns="0" tIns="0" rIns="0" bIns="0" rtlCol="0" anchor="t"/>
          <a:lstStyle/>
          <a:p>
            <a:pPr indent="0" marL="0">
              <a:buNone/>
            </a:pPr>
            <a:r>
              <a:rPr lang="en-US" sz="1800" b="1" dirty="0">
                <a:solidFill>
                  <a:schemeClr val="tx1"/>
                </a:solidFill>
              </a:rPr>
              <a:t>Patientcurve</a:t>
            </a:r>
            <a:endParaRPr lang="en-US" sz="1800" dirty="0"/>
          </a:p>
        </p:txBody>
      </p:sp>
      <p:sp>
        <p:nvSpPr>
          <p:cNvPr id="19" name="Text 13"/>
          <p:cNvSpPr txBox="1"/>
          <p:nvPr/>
        </p:nvSpPr>
        <p:spPr>
          <a:xfrm>
            <a:off x="7178040" y="4434840"/>
            <a:ext cx="4206240" cy="914400"/>
          </a:xfrm>
          <a:prstGeom prst="rect">
            <a:avLst/>
          </a:prstGeom>
          <a:noFill/>
          <a:ln/>
        </p:spPr>
        <p:txBody>
          <a:bodyPr wrap="square" lIns="0" tIns="0" rIns="0" bIns="0" rtlCol="0" anchor="t"/>
          <a:lstStyle/>
          <a:p>
            <a:pPr indent="0" marL="0">
              <a:buNone/>
            </a:pPr>
            <a:r>
              <a:rPr lang="en-US" sz="1400" dirty="0">
                <a:solidFill>
                  <a:schemeClr val="tx2"/>
                </a:solidFill>
              </a:rPr>
              <a:t>Connects all three and holds the enquiry, routing, call list and report.</a:t>
            </a:r>
            <a:endParaRPr lang="en-US" sz="1400" dirty="0"/>
          </a:p>
        </p:txBody>
      </p:sp>
      <p:sp>
        <p:nvSpPr>
          <p:cNvPr id="25" name="Slide Number Placeholder 0"/>
          <p:cNvSpPr>
            <a:spLocks noGrp="1"/>
          </p:cNvSpPr>
          <p:nvPr>
            <p:ph type="sldNum" sz="quarter" idx="4294967295"/>
          </p:nvPr>
        </p:nvSpPr>
        <p:spPr>
          <a:xfrm>
            <a:off x="9509760" y="6355080"/>
            <a:ext cx="64008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3" type="body" hasCustomPrompt="1"/>
          </p:nvPr>
        </p:nvSpPr>
        <p:spPr>
          <a:xfrm>
            <a:off x="548640" y="384048"/>
            <a:ext cx="11064240" cy="274320"/>
          </a:xfrm>
          <a:prstGeom prst="rect">
            <a:avLst/>
          </a:prstGeom>
          <a:noFill/>
          <a:ln/>
        </p:spPr>
        <p:txBody>
          <a:bodyPr wrap="square" lIns="0" tIns="0" rIns="0" bIns="0" rtlCol="0" anchor="t"/>
          <a:lstStyle/>
          <a:p>
            <a:pPr algn="l" indent="0" marL="0">
              <a:buNone/>
            </a:pPr>
            <a:r>
              <a:rPr lang="en-US" sz="1100" b="1" spc="150" kern="0" dirty="0">
                <a:solidFill>
                  <a:schemeClr val="accent1"/>
                </a:solidFill>
              </a:rPr>
              <a:t>INVESTMENT</a:t>
            </a:r>
            <a:endParaRPr lang="en-US" sz="1100" dirty="0"/>
          </a:p>
        </p:txBody>
      </p:sp>
      <p:sp>
        <p:nvSpPr>
          <p:cNvPr id="3" name="Text 2"/>
          <p:cNvSpPr/>
          <p:nvPr>
            <p:ph idx="104" type="title" hasCustomPrompt="1"/>
          </p:nvPr>
        </p:nvSpPr>
        <p:spPr>
          <a:xfrm>
            <a:off x="548640" y="685800"/>
            <a:ext cx="11064240" cy="685800"/>
          </a:xfrm>
          <a:prstGeom prst="rect">
            <a:avLst/>
          </a:prstGeom>
          <a:noFill/>
          <a:ln/>
        </p:spPr>
        <p:txBody>
          <a:bodyPr wrap="square" lIns="0" tIns="0" rIns="0" bIns="0" rtlCol="0" anchor="t"/>
          <a:lstStyle/>
          <a:p>
            <a:pPr algn="l" indent="0" marL="0">
              <a:buNone/>
            </a:pPr>
            <a:r>
              <a:rPr lang="en-US" sz="3000" b="1" dirty="0">
                <a:solidFill>
                  <a:schemeClr val="tx1"/>
                </a:solidFill>
              </a:rPr>
              <a:t>Pilot pricing, for pilot customers only</a:t>
            </a:r>
            <a:endParaRPr lang="en-US" sz="3000" dirty="0"/>
          </a:p>
        </p:txBody>
      </p:sp>
      <p:sp>
        <p:nvSpPr>
          <p:cNvPr id="4" name="price-0"/>
          <p:cNvSpPr/>
          <p:nvPr/>
        </p:nvSpPr>
        <p:spPr>
          <a:xfrm>
            <a:off x="548640" y="1691640"/>
            <a:ext cx="5468112" cy="3154680"/>
          </a:xfrm>
          <a:prstGeom prst="roundRect">
            <a:avLst>
              <a:gd name="adj" fmla="val 3478"/>
            </a:avLst>
          </a:prstGeom>
          <a:solidFill>
            <a:schemeClr val="bg1"/>
          </a:solidFill>
          <a:ln w="9525">
            <a:solidFill>
              <a:srgbClr val="D5DEDB"/>
            </a:solidFill>
            <a:prstDash val="solid"/>
          </a:ln>
        </p:spPr>
      </p:sp>
      <p:sp>
        <p:nvSpPr>
          <p:cNvPr id="5" name="Text 3"/>
          <p:cNvSpPr txBox="1"/>
          <p:nvPr/>
        </p:nvSpPr>
        <p:spPr>
          <a:xfrm>
            <a:off x="960120" y="2011680"/>
            <a:ext cx="4572000" cy="274320"/>
          </a:xfrm>
          <a:prstGeom prst="rect">
            <a:avLst/>
          </a:prstGeom>
          <a:noFill/>
          <a:ln/>
        </p:spPr>
        <p:txBody>
          <a:bodyPr wrap="square" lIns="0" tIns="0" rIns="0" bIns="0" rtlCol="0" anchor="t"/>
          <a:lstStyle/>
          <a:p>
            <a:pPr indent="0" marL="0">
              <a:buNone/>
            </a:pPr>
            <a:r>
              <a:rPr lang="en-US" sz="1100" b="1" spc="150" kern="0" dirty="0">
                <a:solidFill>
                  <a:schemeClr val="accent1"/>
                </a:solidFill>
              </a:rPr>
              <a:t>ONE-TIME SETUP</a:t>
            </a:r>
            <a:endParaRPr lang="en-US" sz="1100" dirty="0"/>
          </a:p>
        </p:txBody>
      </p:sp>
      <p:sp>
        <p:nvSpPr>
          <p:cNvPr id="6" name="Text 4"/>
          <p:cNvSpPr txBox="1"/>
          <p:nvPr/>
        </p:nvSpPr>
        <p:spPr>
          <a:xfrm>
            <a:off x="960120" y="2377440"/>
            <a:ext cx="4754880" cy="1005840"/>
          </a:xfrm>
          <a:prstGeom prst="rect">
            <a:avLst/>
          </a:prstGeom>
          <a:noFill/>
          <a:ln/>
        </p:spPr>
        <p:txBody>
          <a:bodyPr wrap="square" lIns="0" tIns="0" rIns="0" bIns="0" rtlCol="0" anchor="b"/>
          <a:lstStyle/>
          <a:p>
            <a:pPr indent="0" marL="0">
              <a:buNone/>
            </a:pPr>
            <a:r>
              <a:rPr lang="en-US" sz="5400" b="1" dirty="0">
                <a:solidFill>
                  <a:schemeClr val="tx1"/>
                </a:solidFill>
              </a:rPr>
              <a:t>₹5,000</a:t>
            </a:r>
            <a:pPr indent="0" marL="0">
              <a:buNone/>
            </a:pPr>
            <a:endParaRPr lang="en-US" sz="1400" dirty="0"/>
          </a:p>
        </p:txBody>
      </p:sp>
      <p:sp>
        <p:nvSpPr>
          <p:cNvPr id="7" name="Text 5"/>
          <p:cNvSpPr txBox="1"/>
          <p:nvPr/>
        </p:nvSpPr>
        <p:spPr>
          <a:xfrm>
            <a:off x="960120" y="3520440"/>
            <a:ext cx="4572000" cy="320040"/>
          </a:xfrm>
          <a:prstGeom prst="rect">
            <a:avLst/>
          </a:prstGeom>
          <a:noFill/>
          <a:ln/>
        </p:spPr>
        <p:txBody>
          <a:bodyPr wrap="square" lIns="0" tIns="0" rIns="0" bIns="0" rtlCol="0" anchor="t"/>
          <a:lstStyle/>
          <a:p>
            <a:pPr indent="0" marL="0">
              <a:buNone/>
            </a:pPr>
            <a:r>
              <a:rPr lang="en-US" sz="1400" strike="sngStrike" dirty="0">
                <a:solidFill>
                  <a:schemeClr val="tx2"/>
                </a:solidFill>
              </a:rPr>
              <a:t>Standard ₹7,500</a:t>
            </a:r>
            <a:endParaRPr lang="en-US" sz="1400" dirty="0"/>
          </a:p>
        </p:txBody>
      </p:sp>
      <p:sp>
        <p:nvSpPr>
          <p:cNvPr id="8" name="Text 6"/>
          <p:cNvSpPr txBox="1"/>
          <p:nvPr/>
        </p:nvSpPr>
        <p:spPr>
          <a:xfrm>
            <a:off x="960120" y="3977640"/>
            <a:ext cx="4572000" cy="365760"/>
          </a:xfrm>
          <a:prstGeom prst="rect">
            <a:avLst/>
          </a:prstGeom>
          <a:noFill/>
          <a:ln/>
        </p:spPr>
        <p:txBody>
          <a:bodyPr wrap="square" lIns="0" tIns="0" rIns="0" bIns="0" rtlCol="0" anchor="t"/>
          <a:lstStyle/>
          <a:p>
            <a:pPr indent="0" marL="0">
              <a:buNone/>
            </a:pPr>
            <a:r>
              <a:rPr lang="en-US" sz="1600" b="1" dirty="0">
                <a:solidFill>
                  <a:schemeClr val="accent1"/>
                </a:solidFill>
              </a:rPr>
              <a:t>You save ₹2,500</a:t>
            </a:r>
            <a:endParaRPr lang="en-US" sz="1600" dirty="0"/>
          </a:p>
        </p:txBody>
      </p:sp>
      <p:sp>
        <p:nvSpPr>
          <p:cNvPr id="9" name="price-1"/>
          <p:cNvSpPr/>
          <p:nvPr/>
        </p:nvSpPr>
        <p:spPr>
          <a:xfrm>
            <a:off x="6172200" y="1691640"/>
            <a:ext cx="5468112" cy="3154680"/>
          </a:xfrm>
          <a:prstGeom prst="roundRect">
            <a:avLst>
              <a:gd name="adj" fmla="val 3478"/>
            </a:avLst>
          </a:prstGeom>
          <a:solidFill>
            <a:schemeClr val="tx1"/>
          </a:solidFill>
          <a:ln/>
        </p:spPr>
      </p:sp>
      <p:sp>
        <p:nvSpPr>
          <p:cNvPr id="10" name="Text 8"/>
          <p:cNvSpPr txBox="1"/>
          <p:nvPr/>
        </p:nvSpPr>
        <p:spPr>
          <a:xfrm>
            <a:off x="6583680" y="2011680"/>
            <a:ext cx="4572000" cy="274320"/>
          </a:xfrm>
          <a:prstGeom prst="rect">
            <a:avLst/>
          </a:prstGeom>
          <a:noFill/>
          <a:ln/>
        </p:spPr>
        <p:txBody>
          <a:bodyPr wrap="square" lIns="0" tIns="0" rIns="0" bIns="0" rtlCol="0" anchor="t"/>
          <a:lstStyle/>
          <a:p>
            <a:pPr indent="0" marL="0">
              <a:buNone/>
            </a:pPr>
            <a:r>
              <a:rPr lang="en-US" sz="1100" b="1" spc="150" kern="0" dirty="0">
                <a:solidFill>
                  <a:schemeClr val="accent2"/>
                </a:solidFill>
              </a:rPr>
              <a:t>MONTHLY FEE</a:t>
            </a:r>
            <a:endParaRPr lang="en-US" sz="1100" dirty="0"/>
          </a:p>
        </p:txBody>
      </p:sp>
      <p:sp>
        <p:nvSpPr>
          <p:cNvPr id="11" name="Text 9"/>
          <p:cNvSpPr txBox="1"/>
          <p:nvPr/>
        </p:nvSpPr>
        <p:spPr>
          <a:xfrm>
            <a:off x="6583680" y="2377440"/>
            <a:ext cx="4754880" cy="1005840"/>
          </a:xfrm>
          <a:prstGeom prst="rect">
            <a:avLst/>
          </a:prstGeom>
          <a:noFill/>
          <a:ln/>
        </p:spPr>
        <p:txBody>
          <a:bodyPr wrap="square" lIns="0" tIns="0" rIns="0" bIns="0" rtlCol="0" anchor="b"/>
          <a:lstStyle/>
          <a:p>
            <a:pPr indent="0" marL="0">
              <a:buNone/>
            </a:pPr>
            <a:r>
              <a:rPr lang="en-US" sz="5400" b="1" dirty="0">
                <a:solidFill>
                  <a:schemeClr val="bg1"/>
                </a:solidFill>
              </a:rPr>
              <a:t>₹2,999</a:t>
            </a:r>
            <a:pPr indent="0" marL="0">
              <a:buNone/>
            </a:pPr>
            <a:r>
              <a:rPr lang="en-US" sz="1800" dirty="0">
                <a:solidFill>
                  <a:schemeClr val="accent2"/>
                </a:solidFill>
              </a:rPr>
              <a:t> a month</a:t>
            </a:r>
            <a:endParaRPr lang="en-US" sz="1400" dirty="0"/>
          </a:p>
        </p:txBody>
      </p:sp>
      <p:sp>
        <p:nvSpPr>
          <p:cNvPr id="12" name="Text 10"/>
          <p:cNvSpPr txBox="1"/>
          <p:nvPr/>
        </p:nvSpPr>
        <p:spPr>
          <a:xfrm>
            <a:off x="6583680" y="3520440"/>
            <a:ext cx="4572000" cy="320040"/>
          </a:xfrm>
          <a:prstGeom prst="rect">
            <a:avLst/>
          </a:prstGeom>
          <a:noFill/>
          <a:ln/>
        </p:spPr>
        <p:txBody>
          <a:bodyPr wrap="square" lIns="0" tIns="0" rIns="0" bIns="0" rtlCol="0" anchor="t"/>
          <a:lstStyle/>
          <a:p>
            <a:pPr indent="0" marL="0">
              <a:buNone/>
            </a:pPr>
            <a:r>
              <a:rPr lang="en-US" sz="1400" strike="sngStrike" dirty="0">
                <a:solidFill>
                  <a:schemeClr val="bg1"/>
                </a:solidFill>
              </a:rPr>
              <a:t>Standard ₹4,999 a month</a:t>
            </a:r>
            <a:endParaRPr lang="en-US" sz="1400" dirty="0"/>
          </a:p>
        </p:txBody>
      </p:sp>
      <p:sp>
        <p:nvSpPr>
          <p:cNvPr id="13" name="Text 11"/>
          <p:cNvSpPr txBox="1"/>
          <p:nvPr/>
        </p:nvSpPr>
        <p:spPr>
          <a:xfrm>
            <a:off x="6583680" y="3977640"/>
            <a:ext cx="4572000" cy="365760"/>
          </a:xfrm>
          <a:prstGeom prst="rect">
            <a:avLst/>
          </a:prstGeom>
          <a:noFill/>
          <a:ln/>
        </p:spPr>
        <p:txBody>
          <a:bodyPr wrap="square" lIns="0" tIns="0" rIns="0" bIns="0" rtlCol="0" anchor="t"/>
          <a:lstStyle/>
          <a:p>
            <a:pPr indent="0" marL="0">
              <a:buNone/>
            </a:pPr>
            <a:r>
              <a:rPr lang="en-US" sz="1600" b="1" dirty="0">
                <a:solidFill>
                  <a:schemeClr val="accent2"/>
                </a:solidFill>
              </a:rPr>
              <a:t>You save ₹2,000 every month</a:t>
            </a:r>
            <a:endParaRPr lang="en-US" sz="1600" dirty="0"/>
          </a:p>
        </p:txBody>
      </p:sp>
      <p:sp>
        <p:nvSpPr>
          <p:cNvPr id="14" name="Text 12"/>
          <p:cNvSpPr txBox="1"/>
          <p:nvPr/>
        </p:nvSpPr>
        <p:spPr>
          <a:xfrm>
            <a:off x="548640" y="5074920"/>
            <a:ext cx="11064240" cy="365760"/>
          </a:xfrm>
          <a:prstGeom prst="rect">
            <a:avLst/>
          </a:prstGeom>
          <a:noFill/>
          <a:ln/>
        </p:spPr>
        <p:txBody>
          <a:bodyPr wrap="square" lIns="0" tIns="0" rIns="0" bIns="0" rtlCol="0" anchor="t"/>
          <a:lstStyle/>
          <a:p>
            <a:pPr indent="0" marL="0">
              <a:buNone/>
            </a:pPr>
            <a:r>
              <a:rPr lang="en-US" sz="1400" dirty="0">
                <a:solidFill>
                  <a:schemeClr val="tx1"/>
                </a:solidFill>
              </a:rPr>
              <a:t>Pilot pricing is offered only to pilot customers. Clinics that join after the pilot pay the standard price.</a:t>
            </a:r>
            <a:endParaRPr lang="en-US" sz="1400" dirty="0"/>
          </a:p>
        </p:txBody>
      </p:sp>
      <p:sp>
        <p:nvSpPr>
          <p:cNvPr id="15" name="Text 13"/>
          <p:cNvSpPr txBox="1"/>
          <p:nvPr/>
        </p:nvSpPr>
        <p:spPr>
          <a:xfrm>
            <a:off x="548640" y="5532120"/>
            <a:ext cx="11064240" cy="365760"/>
          </a:xfrm>
          <a:prstGeom prst="rect">
            <a:avLst/>
          </a:prstGeom>
          <a:noFill/>
          <a:ln/>
        </p:spPr>
        <p:txBody>
          <a:bodyPr wrap="square" lIns="0" tIns="0" rIns="0" bIns="0" rtlCol="0" anchor="t"/>
          <a:lstStyle/>
          <a:p>
            <a:pPr indent="0" marL="0">
              <a:buNone/>
            </a:pPr>
            <a:r>
              <a:rPr lang="en-US" sz="1200" dirty="0">
                <a:solidFill>
                  <a:schemeClr val="tx2"/>
                </a:solidFill>
              </a:rPr>
              <a:t>Not included: WhatsApp message charges set by Meta · automatic PMS sync (quoted separately) · running your ad campaigns.</a:t>
            </a:r>
            <a:endParaRPr lang="en-US" sz="1200" dirty="0"/>
          </a:p>
        </p:txBody>
      </p:sp>
      <p:sp>
        <p:nvSpPr>
          <p:cNvPr id="25" name="Slide Number Placeholder 0"/>
          <p:cNvSpPr>
            <a:spLocks noGrp="1"/>
          </p:cNvSpPr>
          <p:nvPr>
            <p:ph type="sldNum" sz="quarter" idx="4294967295"/>
          </p:nvPr>
        </p:nvSpPr>
        <p:spPr>
          <a:xfrm>
            <a:off x="9509760" y="6355080"/>
            <a:ext cx="64008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idx="103" type="body" hasCustomPrompt="1"/>
          </p:nvPr>
        </p:nvSpPr>
        <p:spPr>
          <a:xfrm>
            <a:off x="548640" y="384048"/>
            <a:ext cx="11064240" cy="274320"/>
          </a:xfrm>
          <a:prstGeom prst="rect">
            <a:avLst/>
          </a:prstGeom>
          <a:noFill/>
          <a:ln/>
        </p:spPr>
        <p:txBody>
          <a:bodyPr wrap="square" lIns="0" tIns="0" rIns="0" bIns="0" rtlCol="0" anchor="t"/>
          <a:lstStyle/>
          <a:p>
            <a:pPr algn="l" indent="0" marL="0">
              <a:buNone/>
            </a:pPr>
            <a:r>
              <a:rPr lang="en-US" sz="1100" b="1" spc="150" kern="0" dirty="0">
                <a:solidFill>
                  <a:schemeClr val="accent1"/>
                </a:solidFill>
              </a:rPr>
              <a:t>WHAT'S INCLUDED</a:t>
            </a:r>
            <a:endParaRPr lang="en-US" sz="1100" dirty="0"/>
          </a:p>
        </p:txBody>
      </p:sp>
      <p:sp>
        <p:nvSpPr>
          <p:cNvPr id="3" name="Text 2"/>
          <p:cNvSpPr/>
          <p:nvPr>
            <p:ph idx="104" type="title" hasCustomPrompt="1"/>
          </p:nvPr>
        </p:nvSpPr>
        <p:spPr>
          <a:xfrm>
            <a:off x="548640" y="685800"/>
            <a:ext cx="11064240" cy="685800"/>
          </a:xfrm>
          <a:prstGeom prst="rect">
            <a:avLst/>
          </a:prstGeom>
          <a:noFill/>
          <a:ln/>
        </p:spPr>
        <p:txBody>
          <a:bodyPr wrap="square" lIns="0" tIns="0" rIns="0" bIns="0" rtlCol="0" anchor="t"/>
          <a:lstStyle/>
          <a:p>
            <a:pPr algn="l" indent="0" marL="0">
              <a:buNone/>
            </a:pPr>
            <a:r>
              <a:rPr lang="en-US" sz="3000" b="1" dirty="0">
                <a:solidFill>
                  <a:schemeClr val="tx1"/>
                </a:solidFill>
              </a:rPr>
              <a:t>Setup: ₹5,000, one-time</a:t>
            </a:r>
            <a:endParaRPr lang="en-US" sz="3000" dirty="0"/>
          </a:p>
        </p:txBody>
      </p:sp>
      <p:sp>
        <p:nvSpPr>
          <p:cNvPr id="4" name="setup-0"/>
          <p:cNvSpPr/>
          <p:nvPr/>
        </p:nvSpPr>
        <p:spPr>
          <a:xfrm>
            <a:off x="548640" y="1600200"/>
            <a:ext cx="3566160" cy="1371600"/>
          </a:xfrm>
          <a:prstGeom prst="roundRect">
            <a:avLst>
              <a:gd name="adj" fmla="val 8000"/>
            </a:avLst>
          </a:prstGeom>
          <a:solidFill>
            <a:schemeClr val="bg1"/>
          </a:solidFill>
          <a:ln w="9525">
            <a:solidFill>
              <a:srgbClr val="D5DEDB"/>
            </a:solidFill>
            <a:prstDash val="solid"/>
          </a:ln>
        </p:spPr>
      </p:sp>
      <p:pic>
        <p:nvPicPr>
          <p:cNvPr id="5" name="Image 0" descr="preencoded.png">    </p:cNvPr>
          <p:cNvPicPr>
            <a:picLocks noChangeAspect="1"/>
          </p:cNvPicPr>
          <p:nvPr/>
        </p:nvPicPr>
        <p:blipFill>
          <a:blip r:embed="rId1"/>
          <a:stretch>
            <a:fillRect/>
          </a:stretch>
        </p:blipFill>
        <p:spPr>
          <a:xfrm>
            <a:off x="822960" y="1874520"/>
            <a:ext cx="347472" cy="347472"/>
          </a:xfrm>
          <a:prstGeom prst="rect">
            <a:avLst/>
          </a:prstGeom>
        </p:spPr>
      </p:pic>
      <p:sp>
        <p:nvSpPr>
          <p:cNvPr id="6" name="Text 3"/>
          <p:cNvSpPr txBox="1"/>
          <p:nvPr/>
        </p:nvSpPr>
        <p:spPr>
          <a:xfrm>
            <a:off x="1371600" y="1856232"/>
            <a:ext cx="2606040" cy="320040"/>
          </a:xfrm>
          <a:prstGeom prst="rect">
            <a:avLst/>
          </a:prstGeom>
          <a:noFill/>
          <a:ln/>
        </p:spPr>
        <p:txBody>
          <a:bodyPr wrap="square" lIns="0" tIns="0" rIns="0" bIns="0" rtlCol="0" anchor="t"/>
          <a:lstStyle/>
          <a:p>
            <a:pPr indent="0" marL="0">
              <a:buNone/>
            </a:pPr>
            <a:r>
              <a:rPr lang="en-US" sz="1500" b="1" dirty="0">
                <a:solidFill>
                  <a:schemeClr val="tx1"/>
                </a:solidFill>
              </a:rPr>
              <a:t>Onboarding call</a:t>
            </a:r>
            <a:endParaRPr lang="en-US" sz="1500" dirty="0"/>
          </a:p>
        </p:txBody>
      </p:sp>
      <p:sp>
        <p:nvSpPr>
          <p:cNvPr id="7" name="Text 4"/>
          <p:cNvSpPr txBox="1"/>
          <p:nvPr/>
        </p:nvSpPr>
        <p:spPr>
          <a:xfrm>
            <a:off x="1371600" y="2203704"/>
            <a:ext cx="2606040" cy="685800"/>
          </a:xfrm>
          <a:prstGeom prst="rect">
            <a:avLst/>
          </a:prstGeom>
          <a:noFill/>
          <a:ln/>
        </p:spPr>
        <p:txBody>
          <a:bodyPr wrap="square" lIns="0" tIns="0" rIns="0" bIns="0" rtlCol="0" anchor="t"/>
          <a:lstStyle/>
          <a:p>
            <a:pPr indent="0" marL="0">
              <a:buNone/>
            </a:pPr>
            <a:r>
              <a:rPr lang="en-US" sz="1300" dirty="0">
                <a:solidFill>
                  <a:schemeClr val="tx2"/>
                </a:solidFill>
              </a:rPr>
              <a:t>We agree consultation types, fees, timings, location and booking rules.</a:t>
            </a:r>
            <a:endParaRPr lang="en-US" sz="1300" dirty="0"/>
          </a:p>
        </p:txBody>
      </p:sp>
      <p:sp>
        <p:nvSpPr>
          <p:cNvPr id="8" name="setup-1"/>
          <p:cNvSpPr/>
          <p:nvPr/>
        </p:nvSpPr>
        <p:spPr>
          <a:xfrm>
            <a:off x="4297680" y="1600200"/>
            <a:ext cx="3566160" cy="1371600"/>
          </a:xfrm>
          <a:prstGeom prst="roundRect">
            <a:avLst>
              <a:gd name="adj" fmla="val 8000"/>
            </a:avLst>
          </a:prstGeom>
          <a:solidFill>
            <a:schemeClr val="bg1"/>
          </a:solidFill>
          <a:ln w="9525">
            <a:solidFill>
              <a:srgbClr val="D5DEDB"/>
            </a:solidFill>
            <a:prstDash val="solid"/>
          </a:ln>
        </p:spPr>
      </p:sp>
      <p:pic>
        <p:nvPicPr>
          <p:cNvPr id="9" name="Image 1" descr="preencoded.png">    </p:cNvPr>
          <p:cNvPicPr>
            <a:picLocks noChangeAspect="1"/>
          </p:cNvPicPr>
          <p:nvPr/>
        </p:nvPicPr>
        <p:blipFill>
          <a:blip r:embed="rId2"/>
          <a:stretch>
            <a:fillRect/>
          </a:stretch>
        </p:blipFill>
        <p:spPr>
          <a:xfrm>
            <a:off x="4572000" y="1874520"/>
            <a:ext cx="347472" cy="347472"/>
          </a:xfrm>
          <a:prstGeom prst="rect">
            <a:avLst/>
          </a:prstGeom>
        </p:spPr>
      </p:pic>
      <p:sp>
        <p:nvSpPr>
          <p:cNvPr id="10" name="Text 6"/>
          <p:cNvSpPr txBox="1"/>
          <p:nvPr/>
        </p:nvSpPr>
        <p:spPr>
          <a:xfrm>
            <a:off x="5120640" y="1856232"/>
            <a:ext cx="2606040" cy="320040"/>
          </a:xfrm>
          <a:prstGeom prst="rect">
            <a:avLst/>
          </a:prstGeom>
          <a:noFill/>
          <a:ln/>
        </p:spPr>
        <p:txBody>
          <a:bodyPr wrap="square" lIns="0" tIns="0" rIns="0" bIns="0" rtlCol="0" anchor="t"/>
          <a:lstStyle/>
          <a:p>
            <a:pPr indent="0" marL="0">
              <a:buNone/>
            </a:pPr>
            <a:r>
              <a:rPr lang="en-US" sz="1500" b="1" dirty="0">
                <a:solidFill>
                  <a:schemeClr val="tx1"/>
                </a:solidFill>
              </a:rPr>
              <a:t>Approved answers</a:t>
            </a:r>
            <a:endParaRPr lang="en-US" sz="1500" dirty="0"/>
          </a:p>
        </p:txBody>
      </p:sp>
      <p:sp>
        <p:nvSpPr>
          <p:cNvPr id="11" name="Text 7"/>
          <p:cNvSpPr txBox="1"/>
          <p:nvPr/>
        </p:nvSpPr>
        <p:spPr>
          <a:xfrm>
            <a:off x="5120640" y="2203704"/>
            <a:ext cx="2606040" cy="685800"/>
          </a:xfrm>
          <a:prstGeom prst="rect">
            <a:avLst/>
          </a:prstGeom>
          <a:noFill/>
          <a:ln/>
        </p:spPr>
        <p:txBody>
          <a:bodyPr wrap="square" lIns="0" tIns="0" rIns="0" bIns="0" rtlCol="0" anchor="t"/>
          <a:lstStyle/>
          <a:p>
            <a:pPr indent="0" marL="0">
              <a:buNone/>
            </a:pPr>
            <a:r>
              <a:rPr lang="en-US" sz="1300" dirty="0">
                <a:solidFill>
                  <a:schemeClr val="tx2"/>
                </a:solidFill>
              </a:rPr>
              <a:t>We write what patients receive; you approve every word.</a:t>
            </a:r>
            <a:endParaRPr lang="en-US" sz="1300" dirty="0"/>
          </a:p>
        </p:txBody>
      </p:sp>
      <p:sp>
        <p:nvSpPr>
          <p:cNvPr id="12" name="setup-2"/>
          <p:cNvSpPr/>
          <p:nvPr/>
        </p:nvSpPr>
        <p:spPr>
          <a:xfrm>
            <a:off x="8046720" y="1600200"/>
            <a:ext cx="3566160" cy="1371600"/>
          </a:xfrm>
          <a:prstGeom prst="roundRect">
            <a:avLst>
              <a:gd name="adj" fmla="val 8000"/>
            </a:avLst>
          </a:prstGeom>
          <a:solidFill>
            <a:schemeClr val="bg1"/>
          </a:solidFill>
          <a:ln w="9525">
            <a:solidFill>
              <a:srgbClr val="D5DEDB"/>
            </a:solidFill>
            <a:prstDash val="solid"/>
          </a:ln>
        </p:spPr>
      </p:sp>
      <p:pic>
        <p:nvPicPr>
          <p:cNvPr id="13" name="Image 2" descr="preencoded.png">    </p:cNvPr>
          <p:cNvPicPr>
            <a:picLocks noChangeAspect="1"/>
          </p:cNvPicPr>
          <p:nvPr/>
        </p:nvPicPr>
        <p:blipFill>
          <a:blip r:embed="rId3"/>
          <a:stretch>
            <a:fillRect/>
          </a:stretch>
        </p:blipFill>
        <p:spPr>
          <a:xfrm>
            <a:off x="8321040" y="1874520"/>
            <a:ext cx="347472" cy="347472"/>
          </a:xfrm>
          <a:prstGeom prst="rect">
            <a:avLst/>
          </a:prstGeom>
        </p:spPr>
      </p:pic>
      <p:sp>
        <p:nvSpPr>
          <p:cNvPr id="14" name="Text 9"/>
          <p:cNvSpPr txBox="1"/>
          <p:nvPr/>
        </p:nvSpPr>
        <p:spPr>
          <a:xfrm>
            <a:off x="8869680" y="1856232"/>
            <a:ext cx="2606040" cy="320040"/>
          </a:xfrm>
          <a:prstGeom prst="rect">
            <a:avLst/>
          </a:prstGeom>
          <a:noFill/>
          <a:ln/>
        </p:spPr>
        <p:txBody>
          <a:bodyPr wrap="square" lIns="0" tIns="0" rIns="0" bIns="0" rtlCol="0" anchor="t"/>
          <a:lstStyle/>
          <a:p>
            <a:pPr indent="0" marL="0">
              <a:buNone/>
            </a:pPr>
            <a:r>
              <a:rPr lang="en-US" sz="1500" b="1" dirty="0">
                <a:solidFill>
                  <a:schemeClr val="tx1"/>
                </a:solidFill>
              </a:rPr>
              <a:t>WhatsApp enquiry flow</a:t>
            </a:r>
            <a:endParaRPr lang="en-US" sz="1500" dirty="0"/>
          </a:p>
        </p:txBody>
      </p:sp>
      <p:sp>
        <p:nvSpPr>
          <p:cNvPr id="15" name="Text 10"/>
          <p:cNvSpPr txBox="1"/>
          <p:nvPr/>
        </p:nvSpPr>
        <p:spPr>
          <a:xfrm>
            <a:off x="8869680" y="2203704"/>
            <a:ext cx="2606040" cy="685800"/>
          </a:xfrm>
          <a:prstGeom prst="rect">
            <a:avLst/>
          </a:prstGeom>
          <a:noFill/>
          <a:ln/>
        </p:spPr>
        <p:txBody>
          <a:bodyPr wrap="square" lIns="0" tIns="0" rIns="0" bIns="0" rtlCol="0" anchor="t"/>
          <a:lstStyle/>
          <a:p>
            <a:pPr indent="0" marL="0">
              <a:buNone/>
            </a:pPr>
            <a:r>
              <a:rPr lang="en-US" sz="1300" dirty="0">
                <a:solidFill>
                  <a:schemeClr val="tx2"/>
                </a:solidFill>
              </a:rPr>
              <a:t>Collects name, phone, location and requirement.</a:t>
            </a:r>
            <a:endParaRPr lang="en-US" sz="1300" dirty="0"/>
          </a:p>
        </p:txBody>
      </p:sp>
      <p:sp>
        <p:nvSpPr>
          <p:cNvPr id="16" name="setup-3"/>
          <p:cNvSpPr/>
          <p:nvPr/>
        </p:nvSpPr>
        <p:spPr>
          <a:xfrm>
            <a:off x="548640" y="3136392"/>
            <a:ext cx="3566160" cy="1371600"/>
          </a:xfrm>
          <a:prstGeom prst="roundRect">
            <a:avLst>
              <a:gd name="adj" fmla="val 8000"/>
            </a:avLst>
          </a:prstGeom>
          <a:solidFill>
            <a:schemeClr val="bg1"/>
          </a:solidFill>
          <a:ln w="9525">
            <a:solidFill>
              <a:srgbClr val="D5DEDB"/>
            </a:solidFill>
            <a:prstDash val="solid"/>
          </a:ln>
        </p:spPr>
      </p:sp>
      <p:pic>
        <p:nvPicPr>
          <p:cNvPr id="17" name="Image 3" descr="preencoded.png">    </p:cNvPr>
          <p:cNvPicPr>
            <a:picLocks noChangeAspect="1"/>
          </p:cNvPicPr>
          <p:nvPr/>
        </p:nvPicPr>
        <p:blipFill>
          <a:blip r:embed="rId4"/>
          <a:stretch>
            <a:fillRect/>
          </a:stretch>
        </p:blipFill>
        <p:spPr>
          <a:xfrm>
            <a:off x="822960" y="3410712"/>
            <a:ext cx="347472" cy="347472"/>
          </a:xfrm>
          <a:prstGeom prst="rect">
            <a:avLst/>
          </a:prstGeom>
        </p:spPr>
      </p:pic>
      <p:sp>
        <p:nvSpPr>
          <p:cNvPr id="18" name="Text 12"/>
          <p:cNvSpPr txBox="1"/>
          <p:nvPr/>
        </p:nvSpPr>
        <p:spPr>
          <a:xfrm>
            <a:off x="1371600" y="3392424"/>
            <a:ext cx="2606040" cy="320040"/>
          </a:xfrm>
          <a:prstGeom prst="rect">
            <a:avLst/>
          </a:prstGeom>
          <a:noFill/>
          <a:ln/>
        </p:spPr>
        <p:txBody>
          <a:bodyPr wrap="square" lIns="0" tIns="0" rIns="0" bIns="0" rtlCol="0" anchor="t"/>
          <a:lstStyle/>
          <a:p>
            <a:pPr indent="0" marL="0">
              <a:buNone/>
            </a:pPr>
            <a:r>
              <a:rPr lang="en-US" sz="1500" b="1" dirty="0">
                <a:solidFill>
                  <a:schemeClr val="tx1"/>
                </a:solidFill>
              </a:rPr>
              <a:t>Consultation routing</a:t>
            </a:r>
            <a:endParaRPr lang="en-US" sz="1500" dirty="0"/>
          </a:p>
        </p:txBody>
      </p:sp>
      <p:sp>
        <p:nvSpPr>
          <p:cNvPr id="19" name="Text 13"/>
          <p:cNvSpPr txBox="1"/>
          <p:nvPr/>
        </p:nvSpPr>
        <p:spPr>
          <a:xfrm>
            <a:off x="1371600" y="3739896"/>
            <a:ext cx="2606040" cy="685800"/>
          </a:xfrm>
          <a:prstGeom prst="rect">
            <a:avLst/>
          </a:prstGeom>
          <a:noFill/>
          <a:ln/>
        </p:spPr>
        <p:txBody>
          <a:bodyPr wrap="square" lIns="0" tIns="0" rIns="0" bIns="0" rtlCol="0" anchor="t"/>
          <a:lstStyle/>
          <a:p>
            <a:pPr indent="0" marL="0">
              <a:buNone/>
            </a:pPr>
            <a:r>
              <a:rPr lang="en-US" sz="1300" dirty="0">
                <a:solidFill>
                  <a:schemeClr val="tx2"/>
                </a:solidFill>
              </a:rPr>
              <a:t>Local to offline, other towns to video consultation.</a:t>
            </a:r>
            <a:endParaRPr lang="en-US" sz="1300" dirty="0"/>
          </a:p>
        </p:txBody>
      </p:sp>
      <p:sp>
        <p:nvSpPr>
          <p:cNvPr id="20" name="setup-4"/>
          <p:cNvSpPr/>
          <p:nvPr/>
        </p:nvSpPr>
        <p:spPr>
          <a:xfrm>
            <a:off x="4297680" y="3136392"/>
            <a:ext cx="3566160" cy="1371600"/>
          </a:xfrm>
          <a:prstGeom prst="roundRect">
            <a:avLst>
              <a:gd name="adj" fmla="val 8000"/>
            </a:avLst>
          </a:prstGeom>
          <a:solidFill>
            <a:schemeClr val="bg1"/>
          </a:solidFill>
          <a:ln w="9525">
            <a:solidFill>
              <a:srgbClr val="D5DEDB"/>
            </a:solidFill>
            <a:prstDash val="solid"/>
          </a:ln>
        </p:spPr>
      </p:sp>
      <p:pic>
        <p:nvPicPr>
          <p:cNvPr id="21" name="Image 4" descr="preencoded.png">    </p:cNvPr>
          <p:cNvPicPr>
            <a:picLocks noChangeAspect="1"/>
          </p:cNvPicPr>
          <p:nvPr/>
        </p:nvPicPr>
        <p:blipFill>
          <a:blip r:embed="rId5"/>
          <a:stretch>
            <a:fillRect/>
          </a:stretch>
        </p:blipFill>
        <p:spPr>
          <a:xfrm>
            <a:off x="4572000" y="3410712"/>
            <a:ext cx="347472" cy="347472"/>
          </a:xfrm>
          <a:prstGeom prst="rect">
            <a:avLst/>
          </a:prstGeom>
        </p:spPr>
      </p:pic>
      <p:sp>
        <p:nvSpPr>
          <p:cNvPr id="22" name="Text 15"/>
          <p:cNvSpPr txBox="1"/>
          <p:nvPr/>
        </p:nvSpPr>
        <p:spPr>
          <a:xfrm>
            <a:off x="5120640" y="3392424"/>
            <a:ext cx="2606040" cy="320040"/>
          </a:xfrm>
          <a:prstGeom prst="rect">
            <a:avLst/>
          </a:prstGeom>
          <a:noFill/>
          <a:ln/>
        </p:spPr>
        <p:txBody>
          <a:bodyPr wrap="square" lIns="0" tIns="0" rIns="0" bIns="0" rtlCol="0" anchor="t"/>
          <a:lstStyle/>
          <a:p>
            <a:pPr indent="0" marL="0">
              <a:buNone/>
            </a:pPr>
            <a:r>
              <a:rPr lang="en-US" sz="1500" b="1" dirty="0">
                <a:solidFill>
                  <a:schemeClr val="tx1"/>
                </a:solidFill>
              </a:rPr>
              <a:t>Google Calendar booking</a:t>
            </a:r>
            <a:endParaRPr lang="en-US" sz="1500" dirty="0"/>
          </a:p>
        </p:txBody>
      </p:sp>
      <p:sp>
        <p:nvSpPr>
          <p:cNvPr id="23" name="Text 16"/>
          <p:cNvSpPr txBox="1"/>
          <p:nvPr/>
        </p:nvSpPr>
        <p:spPr>
          <a:xfrm>
            <a:off x="5120640" y="3739896"/>
            <a:ext cx="2606040" cy="685800"/>
          </a:xfrm>
          <a:prstGeom prst="rect">
            <a:avLst/>
          </a:prstGeom>
          <a:noFill/>
          <a:ln/>
        </p:spPr>
        <p:txBody>
          <a:bodyPr wrap="square" lIns="0" tIns="0" rIns="0" bIns="0" rtlCol="0" anchor="t"/>
          <a:lstStyle/>
          <a:p>
            <a:pPr indent="0" marL="0">
              <a:buNone/>
            </a:pPr>
            <a:r>
              <a:rPr lang="en-US" sz="1300" dirty="0">
                <a:solidFill>
                  <a:schemeClr val="tx2"/>
                </a:solidFill>
              </a:rPr>
              <a:t>Patients pick a free time; it lands in your calendar.</a:t>
            </a:r>
            <a:endParaRPr lang="en-US" sz="1300" dirty="0"/>
          </a:p>
        </p:txBody>
      </p:sp>
      <p:sp>
        <p:nvSpPr>
          <p:cNvPr id="24" name="setup-5"/>
          <p:cNvSpPr/>
          <p:nvPr/>
        </p:nvSpPr>
        <p:spPr>
          <a:xfrm>
            <a:off x="8046720" y="3136392"/>
            <a:ext cx="3566160" cy="1371600"/>
          </a:xfrm>
          <a:prstGeom prst="roundRect">
            <a:avLst>
              <a:gd name="adj" fmla="val 8000"/>
            </a:avLst>
          </a:prstGeom>
          <a:solidFill>
            <a:schemeClr val="bg1"/>
          </a:solidFill>
          <a:ln w="9525">
            <a:solidFill>
              <a:srgbClr val="D5DEDB"/>
            </a:solidFill>
            <a:prstDash val="solid"/>
          </a:ln>
        </p:spPr>
      </p:sp>
      <p:pic>
        <p:nvPicPr>
          <p:cNvPr id="25" name="Image 5" descr="preencoded.png">    </p:cNvPr>
          <p:cNvPicPr>
            <a:picLocks noChangeAspect="1"/>
          </p:cNvPicPr>
          <p:nvPr/>
        </p:nvPicPr>
        <p:blipFill>
          <a:blip r:embed="rId6"/>
          <a:stretch>
            <a:fillRect/>
          </a:stretch>
        </p:blipFill>
        <p:spPr>
          <a:xfrm>
            <a:off x="8321040" y="3410712"/>
            <a:ext cx="347472" cy="347472"/>
          </a:xfrm>
          <a:prstGeom prst="rect">
            <a:avLst/>
          </a:prstGeom>
        </p:spPr>
      </p:pic>
      <p:sp>
        <p:nvSpPr>
          <p:cNvPr id="26" name="Text 18"/>
          <p:cNvSpPr txBox="1"/>
          <p:nvPr/>
        </p:nvSpPr>
        <p:spPr>
          <a:xfrm>
            <a:off x="8869680" y="3392424"/>
            <a:ext cx="2606040" cy="320040"/>
          </a:xfrm>
          <a:prstGeom prst="rect">
            <a:avLst/>
          </a:prstGeom>
          <a:noFill/>
          <a:ln/>
        </p:spPr>
        <p:txBody>
          <a:bodyPr wrap="square" lIns="0" tIns="0" rIns="0" bIns="0" rtlCol="0" anchor="t"/>
          <a:lstStyle/>
          <a:p>
            <a:pPr indent="0" marL="0">
              <a:buNone/>
            </a:pPr>
            <a:r>
              <a:rPr lang="en-US" sz="1500" b="1" dirty="0">
                <a:solidFill>
                  <a:schemeClr val="tx1"/>
                </a:solidFill>
              </a:rPr>
              <a:t>Your WhatsApp number</a:t>
            </a:r>
            <a:endParaRPr lang="en-US" sz="1500" dirty="0"/>
          </a:p>
        </p:txBody>
      </p:sp>
      <p:sp>
        <p:nvSpPr>
          <p:cNvPr id="27" name="Text 19"/>
          <p:cNvSpPr txBox="1"/>
          <p:nvPr/>
        </p:nvSpPr>
        <p:spPr>
          <a:xfrm>
            <a:off x="8869680" y="3739896"/>
            <a:ext cx="2606040" cy="685800"/>
          </a:xfrm>
          <a:prstGeom prst="rect">
            <a:avLst/>
          </a:prstGeom>
          <a:noFill/>
          <a:ln/>
        </p:spPr>
        <p:txBody>
          <a:bodyPr wrap="square" lIns="0" tIns="0" rIns="0" bIns="0" rtlCol="0" anchor="t"/>
          <a:lstStyle/>
          <a:p>
            <a:pPr indent="0" marL="0">
              <a:buNone/>
            </a:pPr>
            <a:r>
              <a:rPr lang="en-US" sz="1300" dirty="0">
                <a:solidFill>
                  <a:schemeClr val="tx2"/>
                </a:solidFill>
              </a:rPr>
              <a:t>Connected to the new flow, replacing the Meta AI bot.</a:t>
            </a:r>
            <a:endParaRPr lang="en-US" sz="1300" dirty="0"/>
          </a:p>
        </p:txBody>
      </p:sp>
      <p:sp>
        <p:nvSpPr>
          <p:cNvPr id="28" name="setup-6"/>
          <p:cNvSpPr/>
          <p:nvPr/>
        </p:nvSpPr>
        <p:spPr>
          <a:xfrm>
            <a:off x="548640" y="4672584"/>
            <a:ext cx="3566160" cy="1371600"/>
          </a:xfrm>
          <a:prstGeom prst="roundRect">
            <a:avLst>
              <a:gd name="adj" fmla="val 8000"/>
            </a:avLst>
          </a:prstGeom>
          <a:solidFill>
            <a:schemeClr val="bg1"/>
          </a:solidFill>
          <a:ln w="9525">
            <a:solidFill>
              <a:srgbClr val="D5DEDB"/>
            </a:solidFill>
            <a:prstDash val="solid"/>
          </a:ln>
        </p:spPr>
      </p:sp>
      <p:pic>
        <p:nvPicPr>
          <p:cNvPr id="29" name="Image 6" descr="preencoded.png">    </p:cNvPr>
          <p:cNvPicPr>
            <a:picLocks noChangeAspect="1"/>
          </p:cNvPicPr>
          <p:nvPr/>
        </p:nvPicPr>
        <p:blipFill>
          <a:blip r:embed="rId7"/>
          <a:stretch>
            <a:fillRect/>
          </a:stretch>
        </p:blipFill>
        <p:spPr>
          <a:xfrm>
            <a:off x="822960" y="4946904"/>
            <a:ext cx="347472" cy="347472"/>
          </a:xfrm>
          <a:prstGeom prst="rect">
            <a:avLst/>
          </a:prstGeom>
        </p:spPr>
      </p:pic>
      <p:sp>
        <p:nvSpPr>
          <p:cNvPr id="30" name="Text 21"/>
          <p:cNvSpPr txBox="1"/>
          <p:nvPr/>
        </p:nvSpPr>
        <p:spPr>
          <a:xfrm>
            <a:off x="1371600" y="4928616"/>
            <a:ext cx="2606040" cy="320040"/>
          </a:xfrm>
          <a:prstGeom prst="rect">
            <a:avLst/>
          </a:prstGeom>
          <a:noFill/>
          <a:ln/>
        </p:spPr>
        <p:txBody>
          <a:bodyPr wrap="square" lIns="0" tIns="0" rIns="0" bIns="0" rtlCol="0" anchor="t"/>
          <a:lstStyle/>
          <a:p>
            <a:pPr indent="0" marL="0">
              <a:buNone/>
            </a:pPr>
            <a:r>
              <a:rPr lang="en-US" sz="1500" b="1" dirty="0">
                <a:solidFill>
                  <a:schemeClr val="tx1"/>
                </a:solidFill>
              </a:rPr>
              <a:t>Call list</a:t>
            </a:r>
            <a:endParaRPr lang="en-US" sz="1500" dirty="0"/>
          </a:p>
        </p:txBody>
      </p:sp>
      <p:sp>
        <p:nvSpPr>
          <p:cNvPr id="31" name="Text 22"/>
          <p:cNvSpPr txBox="1"/>
          <p:nvPr/>
        </p:nvSpPr>
        <p:spPr>
          <a:xfrm>
            <a:off x="1371600" y="5276088"/>
            <a:ext cx="2606040" cy="685800"/>
          </a:xfrm>
          <a:prstGeom prst="rect">
            <a:avLst/>
          </a:prstGeom>
          <a:noFill/>
          <a:ln/>
        </p:spPr>
        <p:txBody>
          <a:bodyPr wrap="square" lIns="0" tIns="0" rIns="0" bIns="0" rtlCol="0" anchor="t"/>
          <a:lstStyle/>
          <a:p>
            <a:pPr indent="0" marL="0">
              <a:buNone/>
            </a:pPr>
            <a:r>
              <a:rPr lang="en-US" sz="1300" dirty="0">
                <a:solidFill>
                  <a:schemeClr val="tx2"/>
                </a:solidFill>
              </a:rPr>
              <a:t>Every non-booker listed, with a staff chat to log calls.</a:t>
            </a:r>
            <a:endParaRPr lang="en-US" sz="1300" dirty="0"/>
          </a:p>
        </p:txBody>
      </p:sp>
      <p:sp>
        <p:nvSpPr>
          <p:cNvPr id="32" name="setup-7"/>
          <p:cNvSpPr/>
          <p:nvPr/>
        </p:nvSpPr>
        <p:spPr>
          <a:xfrm>
            <a:off x="4297680" y="4672584"/>
            <a:ext cx="3566160" cy="1371600"/>
          </a:xfrm>
          <a:prstGeom prst="roundRect">
            <a:avLst>
              <a:gd name="adj" fmla="val 8000"/>
            </a:avLst>
          </a:prstGeom>
          <a:solidFill>
            <a:schemeClr val="bg1"/>
          </a:solidFill>
          <a:ln w="9525">
            <a:solidFill>
              <a:srgbClr val="D5DEDB"/>
            </a:solidFill>
            <a:prstDash val="solid"/>
          </a:ln>
        </p:spPr>
      </p:sp>
      <p:pic>
        <p:nvPicPr>
          <p:cNvPr id="33" name="Image 7" descr="preencoded.png">    </p:cNvPr>
          <p:cNvPicPr>
            <a:picLocks noChangeAspect="1"/>
          </p:cNvPicPr>
          <p:nvPr/>
        </p:nvPicPr>
        <p:blipFill>
          <a:blip r:embed="rId8"/>
          <a:stretch>
            <a:fillRect/>
          </a:stretch>
        </p:blipFill>
        <p:spPr>
          <a:xfrm>
            <a:off x="4572000" y="4946904"/>
            <a:ext cx="347472" cy="347472"/>
          </a:xfrm>
          <a:prstGeom prst="rect">
            <a:avLst/>
          </a:prstGeom>
        </p:spPr>
      </p:pic>
      <p:sp>
        <p:nvSpPr>
          <p:cNvPr id="34" name="Text 24"/>
          <p:cNvSpPr txBox="1"/>
          <p:nvPr/>
        </p:nvSpPr>
        <p:spPr>
          <a:xfrm>
            <a:off x="5120640" y="4928616"/>
            <a:ext cx="2606040" cy="320040"/>
          </a:xfrm>
          <a:prstGeom prst="rect">
            <a:avLst/>
          </a:prstGeom>
          <a:noFill/>
          <a:ln/>
        </p:spPr>
        <p:txBody>
          <a:bodyPr wrap="square" lIns="0" tIns="0" rIns="0" bIns="0" rtlCol="0" anchor="t"/>
          <a:lstStyle/>
          <a:p>
            <a:pPr indent="0" marL="0">
              <a:buNone/>
            </a:pPr>
            <a:r>
              <a:rPr lang="en-US" sz="1500" b="1" dirty="0">
                <a:solidFill>
                  <a:schemeClr val="tx1"/>
                </a:solidFill>
              </a:rPr>
              <a:t>Receptionist training</a:t>
            </a:r>
            <a:endParaRPr lang="en-US" sz="1500" dirty="0"/>
          </a:p>
        </p:txBody>
      </p:sp>
      <p:sp>
        <p:nvSpPr>
          <p:cNvPr id="35" name="Text 25"/>
          <p:cNvSpPr txBox="1"/>
          <p:nvPr/>
        </p:nvSpPr>
        <p:spPr>
          <a:xfrm>
            <a:off x="5120640" y="5276088"/>
            <a:ext cx="2606040" cy="685800"/>
          </a:xfrm>
          <a:prstGeom prst="rect">
            <a:avLst/>
          </a:prstGeom>
          <a:noFill/>
          <a:ln/>
        </p:spPr>
        <p:txBody>
          <a:bodyPr wrap="square" lIns="0" tIns="0" rIns="0" bIns="0" rtlCol="0" anchor="t"/>
          <a:lstStyle/>
          <a:p>
            <a:pPr indent="0" marL="0">
              <a:buNone/>
            </a:pPr>
            <a:r>
              <a:rPr lang="en-US" sz="1300" dirty="0">
                <a:solidFill>
                  <a:schemeClr val="tx2"/>
                </a:solidFill>
              </a:rPr>
              <a:t>A walkthrough of the call list and call logging.</a:t>
            </a:r>
            <a:endParaRPr lang="en-US" sz="1300" dirty="0"/>
          </a:p>
        </p:txBody>
      </p:sp>
      <p:sp>
        <p:nvSpPr>
          <p:cNvPr id="36" name="setup-8"/>
          <p:cNvSpPr/>
          <p:nvPr/>
        </p:nvSpPr>
        <p:spPr>
          <a:xfrm>
            <a:off x="8046720" y="4672584"/>
            <a:ext cx="3566160" cy="1371600"/>
          </a:xfrm>
          <a:prstGeom prst="roundRect">
            <a:avLst>
              <a:gd name="adj" fmla="val 8000"/>
            </a:avLst>
          </a:prstGeom>
          <a:solidFill>
            <a:schemeClr val="bg1"/>
          </a:solidFill>
          <a:ln w="9525">
            <a:solidFill>
              <a:srgbClr val="D5DEDB"/>
            </a:solidFill>
            <a:prstDash val="solid"/>
          </a:ln>
        </p:spPr>
      </p:sp>
      <p:pic>
        <p:nvPicPr>
          <p:cNvPr id="37" name="Image 8" descr="preencoded.png">    </p:cNvPr>
          <p:cNvPicPr>
            <a:picLocks noChangeAspect="1"/>
          </p:cNvPicPr>
          <p:nvPr/>
        </p:nvPicPr>
        <p:blipFill>
          <a:blip r:embed="rId9"/>
          <a:stretch>
            <a:fillRect/>
          </a:stretch>
        </p:blipFill>
        <p:spPr>
          <a:xfrm>
            <a:off x="8321040" y="4946904"/>
            <a:ext cx="347472" cy="347472"/>
          </a:xfrm>
          <a:prstGeom prst="rect">
            <a:avLst/>
          </a:prstGeom>
        </p:spPr>
      </p:pic>
      <p:sp>
        <p:nvSpPr>
          <p:cNvPr id="38" name="Text 27"/>
          <p:cNvSpPr txBox="1"/>
          <p:nvPr/>
        </p:nvSpPr>
        <p:spPr>
          <a:xfrm>
            <a:off x="8869680" y="4928616"/>
            <a:ext cx="2606040" cy="320040"/>
          </a:xfrm>
          <a:prstGeom prst="rect">
            <a:avLst/>
          </a:prstGeom>
          <a:noFill/>
          <a:ln/>
        </p:spPr>
        <p:txBody>
          <a:bodyPr wrap="square" lIns="0" tIns="0" rIns="0" bIns="0" rtlCol="0" anchor="t"/>
          <a:lstStyle/>
          <a:p>
            <a:pPr indent="0" marL="0">
              <a:buNone/>
            </a:pPr>
            <a:r>
              <a:rPr lang="en-US" sz="1500" b="1" dirty="0">
                <a:solidFill>
                  <a:schemeClr val="tx1"/>
                </a:solidFill>
              </a:rPr>
              <a:t>Testing</a:t>
            </a:r>
            <a:endParaRPr lang="en-US" sz="1500" dirty="0"/>
          </a:p>
        </p:txBody>
      </p:sp>
      <p:sp>
        <p:nvSpPr>
          <p:cNvPr id="39" name="Text 28"/>
          <p:cNvSpPr txBox="1"/>
          <p:nvPr/>
        </p:nvSpPr>
        <p:spPr>
          <a:xfrm>
            <a:off x="8869680" y="5276088"/>
            <a:ext cx="2606040" cy="685800"/>
          </a:xfrm>
          <a:prstGeom prst="rect">
            <a:avLst/>
          </a:prstGeom>
          <a:noFill/>
          <a:ln/>
        </p:spPr>
        <p:txBody>
          <a:bodyPr wrap="square" lIns="0" tIns="0" rIns="0" bIns="0" rtlCol="0" anchor="t"/>
          <a:lstStyle/>
          <a:p>
            <a:pPr indent="0" marL="0">
              <a:buNone/>
            </a:pPr>
            <a:r>
              <a:rPr lang="en-US" sz="1300" dirty="0">
                <a:solidFill>
                  <a:schemeClr val="tx2"/>
                </a:solidFill>
              </a:rPr>
              <a:t>An end-to-end test with your team before go-live.</a:t>
            </a:r>
            <a:endParaRPr lang="en-US" sz="1300" dirty="0"/>
          </a:p>
        </p:txBody>
      </p:sp>
      <p:sp>
        <p:nvSpPr>
          <p:cNvPr id="25" name="Slide Number Placeholder 0"/>
          <p:cNvSpPr>
            <a:spLocks noGrp="1"/>
          </p:cNvSpPr>
          <p:nvPr>
            <p:ph type="sldNum" sz="quarter" idx="4294967295"/>
          </p:nvPr>
        </p:nvSpPr>
        <p:spPr>
          <a:xfrm>
            <a:off x="9509760" y="6355080"/>
            <a:ext cx="64008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p:nvPr>
            <p:ph idx="103" type="body" hasCustomPrompt="1"/>
          </p:nvPr>
        </p:nvSpPr>
        <p:spPr>
          <a:xfrm>
            <a:off x="548640" y="384048"/>
            <a:ext cx="11064240" cy="274320"/>
          </a:xfrm>
          <a:prstGeom prst="rect">
            <a:avLst/>
          </a:prstGeom>
          <a:noFill/>
          <a:ln/>
        </p:spPr>
        <p:txBody>
          <a:bodyPr wrap="square" lIns="0" tIns="0" rIns="0" bIns="0" rtlCol="0" anchor="t"/>
          <a:lstStyle/>
          <a:p>
            <a:pPr algn="l" indent="0" marL="0">
              <a:buNone/>
            </a:pPr>
            <a:r>
              <a:rPr lang="en-US" sz="1100" b="1" spc="150" kern="0" dirty="0">
                <a:solidFill>
                  <a:schemeClr val="accent1"/>
                </a:solidFill>
              </a:rPr>
              <a:t>WHAT'S INCLUDED</a:t>
            </a:r>
            <a:endParaRPr lang="en-US" sz="1100" dirty="0"/>
          </a:p>
        </p:txBody>
      </p:sp>
      <p:sp>
        <p:nvSpPr>
          <p:cNvPr id="3" name="Text 2"/>
          <p:cNvSpPr/>
          <p:nvPr>
            <p:ph idx="104" type="title" hasCustomPrompt="1"/>
          </p:nvPr>
        </p:nvSpPr>
        <p:spPr>
          <a:xfrm>
            <a:off x="548640" y="685800"/>
            <a:ext cx="11064240" cy="685800"/>
          </a:xfrm>
          <a:prstGeom prst="rect">
            <a:avLst/>
          </a:prstGeom>
          <a:noFill/>
          <a:ln/>
        </p:spPr>
        <p:txBody>
          <a:bodyPr wrap="square" lIns="0" tIns="0" rIns="0" bIns="0" rtlCol="0" anchor="t"/>
          <a:lstStyle/>
          <a:p>
            <a:pPr algn="l" indent="0" marL="0">
              <a:buNone/>
            </a:pPr>
            <a:r>
              <a:rPr lang="en-US" sz="3000" b="1" dirty="0">
                <a:solidFill>
                  <a:schemeClr val="tx1"/>
                </a:solidFill>
              </a:rPr>
              <a:t>Every month: ₹2,999, with support</a:t>
            </a:r>
            <a:endParaRPr lang="en-US" sz="3000" dirty="0"/>
          </a:p>
        </p:txBody>
      </p:sp>
      <p:sp>
        <p:nvSpPr>
          <p:cNvPr id="4" name="included-0"/>
          <p:cNvSpPr/>
          <p:nvPr/>
        </p:nvSpPr>
        <p:spPr>
          <a:xfrm>
            <a:off x="548640" y="1600200"/>
            <a:ext cx="5468112" cy="4069080"/>
          </a:xfrm>
          <a:prstGeom prst="roundRect">
            <a:avLst>
              <a:gd name="adj" fmla="val 2697"/>
            </a:avLst>
          </a:prstGeom>
          <a:solidFill>
            <a:schemeClr val="bg1"/>
          </a:solidFill>
          <a:ln w="9525">
            <a:solidFill>
              <a:srgbClr val="D5DEDB"/>
            </a:solidFill>
            <a:prstDash val="solid"/>
          </a:ln>
        </p:spPr>
      </p:sp>
      <p:pic>
        <p:nvPicPr>
          <p:cNvPr id="5" name="Image 0" descr="preencoded.png">    </p:cNvPr>
          <p:cNvPicPr>
            <a:picLocks noChangeAspect="1"/>
          </p:cNvPicPr>
          <p:nvPr/>
        </p:nvPicPr>
        <p:blipFill>
          <a:blip r:embed="rId1"/>
          <a:stretch>
            <a:fillRect/>
          </a:stretch>
        </p:blipFill>
        <p:spPr>
          <a:xfrm>
            <a:off x="868680" y="1874520"/>
            <a:ext cx="347472" cy="347472"/>
          </a:xfrm>
          <a:prstGeom prst="rect">
            <a:avLst/>
          </a:prstGeom>
        </p:spPr>
      </p:pic>
      <p:sp>
        <p:nvSpPr>
          <p:cNvPr id="6" name="Text 3"/>
          <p:cNvSpPr txBox="1"/>
          <p:nvPr/>
        </p:nvSpPr>
        <p:spPr>
          <a:xfrm>
            <a:off x="1371600" y="1920240"/>
            <a:ext cx="4389120" cy="274320"/>
          </a:xfrm>
          <a:prstGeom prst="rect">
            <a:avLst/>
          </a:prstGeom>
          <a:noFill/>
          <a:ln/>
        </p:spPr>
        <p:txBody>
          <a:bodyPr wrap="square" lIns="0" tIns="0" rIns="0" bIns="0" rtlCol="0" anchor="t"/>
          <a:lstStyle/>
          <a:p>
            <a:pPr indent="0" marL="0">
              <a:buNone/>
            </a:pPr>
            <a:r>
              <a:rPr lang="en-US" sz="1100" b="1" spc="150" kern="0" dirty="0">
                <a:solidFill>
                  <a:schemeClr val="accent1"/>
                </a:solidFill>
              </a:rPr>
              <a:t>MONTHLY FEE</a:t>
            </a:r>
            <a:endParaRPr lang="en-US" sz="1100" dirty="0"/>
          </a:p>
        </p:txBody>
      </p:sp>
      <p:sp>
        <p:nvSpPr>
          <p:cNvPr id="7" name="Text 4"/>
          <p:cNvSpPr txBox="1"/>
          <p:nvPr/>
        </p:nvSpPr>
        <p:spPr>
          <a:xfrm>
            <a:off x="868680" y="2423160"/>
            <a:ext cx="4846320" cy="3474720"/>
          </a:xfrm>
          <a:prstGeom prst="rect">
            <a:avLst/>
          </a:prstGeom>
          <a:noFill/>
          <a:ln/>
        </p:spPr>
        <p:txBody>
          <a:bodyPr wrap="square" lIns="0" tIns="0" rIns="0" bIns="0" rtlCol="0" anchor="t"/>
          <a:lstStyle/>
          <a:p>
            <a:pPr indent="0" marL="0">
              <a:buNone/>
            </a:pPr>
            <a:r>
              <a:rPr lang="en-US" sz="1400" b="1" dirty="0">
                <a:solidFill>
                  <a:schemeClr val="tx1"/>
                </a:solidFill>
              </a:rPr>
              <a:t>Every enquiry handled  </a:t>
            </a:r>
            <a:pPr indent="0" marL="0">
              <a:spcAft>
                <a:spcPts val="900"/>
              </a:spcAft>
              <a:buNone/>
            </a:pPr>
            <a:r>
              <a:rPr lang="en-US" sz="1400" dirty="0">
                <a:solidFill>
                  <a:schemeClr val="tx2"/>
                </a:solidFill>
              </a:rPr>
              <a:t>Answered, qualified and routed, at any hour.</a:t>
            </a:r>
            <a:endParaRPr lang="en-US" sz="1400" dirty="0"/>
          </a:p>
          <a:p>
            <a:pPr indent="0" marL="0">
              <a:buNone/>
            </a:pPr>
            <a:r>
              <a:rPr lang="en-US" sz="1400" b="1" dirty="0">
                <a:solidFill>
                  <a:schemeClr val="tx1"/>
                </a:solidFill>
              </a:rPr>
              <a:t>Booking and reminders  </a:t>
            </a:r>
            <a:pPr indent="0" marL="0">
              <a:spcAft>
                <a:spcPts val="900"/>
              </a:spcAft>
              <a:buNone/>
            </a:pPr>
            <a:r>
              <a:rPr lang="en-US" sz="1400" dirty="0">
                <a:solidFill>
                  <a:schemeClr val="tx2"/>
                </a:solidFill>
              </a:rPr>
              <a:t>Bookings into Google Calendar, reminders before each visit.</a:t>
            </a:r>
            <a:endParaRPr lang="en-US" sz="1400" dirty="0"/>
          </a:p>
          <a:p>
            <a:pPr indent="0" marL="0">
              <a:buNone/>
            </a:pPr>
            <a:r>
              <a:rPr lang="en-US" sz="1400" b="1" dirty="0">
                <a:solidFill>
                  <a:schemeClr val="tx1"/>
                </a:solidFill>
              </a:rPr>
              <a:t>Call list  </a:t>
            </a:r>
            <a:pPr indent="0" marL="0">
              <a:spcAft>
                <a:spcPts val="900"/>
              </a:spcAft>
              <a:buNone/>
            </a:pPr>
            <a:r>
              <a:rPr lang="en-US" sz="1400" dirty="0">
                <a:solidFill>
                  <a:schemeClr val="tx2"/>
                </a:solidFill>
              </a:rPr>
              <a:t>Non-bookers stay listed until booked or closed.</a:t>
            </a:r>
            <a:endParaRPr lang="en-US" sz="1400" dirty="0"/>
          </a:p>
          <a:p>
            <a:pPr indent="0" marL="0">
              <a:buNone/>
            </a:pPr>
            <a:r>
              <a:rPr lang="en-US" sz="1400" b="1" dirty="0">
                <a:solidFill>
                  <a:schemeClr val="tx1"/>
                </a:solidFill>
              </a:rPr>
              <a:t>Monthly report  </a:t>
            </a:r>
            <a:pPr indent="0" marL="0">
              <a:spcAft>
                <a:spcPts val="900"/>
              </a:spcAft>
              <a:buNone/>
            </a:pPr>
            <a:r>
              <a:rPr lang="en-US" sz="1400" dirty="0">
                <a:solidFill>
                  <a:schemeClr val="tx2"/>
                </a:solidFill>
              </a:rPr>
              <a:t>Enquiries, bookings, patients brought back, conversion rate.</a:t>
            </a:r>
            <a:endParaRPr lang="en-US" sz="1400" dirty="0"/>
          </a:p>
          <a:p>
            <a:pPr indent="0" marL="0">
              <a:buNone/>
            </a:pPr>
            <a:r>
              <a:rPr lang="en-US" sz="1400" b="1" dirty="0">
                <a:solidFill>
                  <a:schemeClr val="tx1"/>
                </a:solidFill>
              </a:rPr>
              <a:t>Answer updates  </a:t>
            </a:r>
            <a:pPr indent="0" marL="0">
              <a:spcAft>
                <a:spcPts val="900"/>
              </a:spcAft>
              <a:buNone/>
            </a:pPr>
            <a:r>
              <a:rPr lang="en-US" sz="1400" dirty="0">
                <a:solidFill>
                  <a:schemeClr val="tx2"/>
                </a:solidFill>
              </a:rPr>
              <a:t>Fee, timing or information changes made for you.</a:t>
            </a:r>
            <a:endParaRPr lang="en-US" sz="1400" dirty="0"/>
          </a:p>
          <a:p>
            <a:pPr indent="0" marL="0">
              <a:buNone/>
            </a:pPr>
            <a:r>
              <a:rPr lang="en-US" sz="1400" b="1" dirty="0">
                <a:solidFill>
                  <a:schemeClr val="tx1"/>
                </a:solidFill>
              </a:rPr>
              <a:t>Running the service  </a:t>
            </a:r>
            <a:pPr indent="0" marL="0">
              <a:spcAft>
                <a:spcPts val="900"/>
              </a:spcAft>
              <a:buNone/>
            </a:pPr>
            <a:r>
              <a:rPr lang="en-US" sz="1400" dirty="0">
                <a:solidFill>
                  <a:schemeClr val="tx2"/>
                </a:solidFill>
              </a:rPr>
              <a:t>Hosting, monitoring and updates.</a:t>
            </a:r>
            <a:endParaRPr lang="en-US" sz="1400" dirty="0"/>
          </a:p>
        </p:txBody>
      </p:sp>
      <p:sp>
        <p:nvSpPr>
          <p:cNvPr id="8" name="included-1"/>
          <p:cNvSpPr/>
          <p:nvPr/>
        </p:nvSpPr>
        <p:spPr>
          <a:xfrm>
            <a:off x="6172200" y="1600200"/>
            <a:ext cx="5468112" cy="4069080"/>
          </a:xfrm>
          <a:prstGeom prst="roundRect">
            <a:avLst>
              <a:gd name="adj" fmla="val 2697"/>
            </a:avLst>
          </a:prstGeom>
          <a:solidFill>
            <a:schemeClr val="bg1"/>
          </a:solidFill>
          <a:ln w="9525">
            <a:solidFill>
              <a:srgbClr val="D5DEDB"/>
            </a:solidFill>
            <a:prstDash val="solid"/>
          </a:ln>
        </p:spPr>
      </p:sp>
      <p:pic>
        <p:nvPicPr>
          <p:cNvPr id="9" name="Image 1" descr="preencoded.png">    </p:cNvPr>
          <p:cNvPicPr>
            <a:picLocks noChangeAspect="1"/>
          </p:cNvPicPr>
          <p:nvPr/>
        </p:nvPicPr>
        <p:blipFill>
          <a:blip r:embed="rId2"/>
          <a:stretch>
            <a:fillRect/>
          </a:stretch>
        </p:blipFill>
        <p:spPr>
          <a:xfrm>
            <a:off x="6492240" y="1874520"/>
            <a:ext cx="347472" cy="347472"/>
          </a:xfrm>
          <a:prstGeom prst="rect">
            <a:avLst/>
          </a:prstGeom>
        </p:spPr>
      </p:pic>
      <p:sp>
        <p:nvSpPr>
          <p:cNvPr id="10" name="Text 6"/>
          <p:cNvSpPr txBox="1"/>
          <p:nvPr/>
        </p:nvSpPr>
        <p:spPr>
          <a:xfrm>
            <a:off x="6995160" y="1920240"/>
            <a:ext cx="4389120" cy="274320"/>
          </a:xfrm>
          <a:prstGeom prst="rect">
            <a:avLst/>
          </a:prstGeom>
          <a:noFill/>
          <a:ln/>
        </p:spPr>
        <p:txBody>
          <a:bodyPr wrap="square" lIns="0" tIns="0" rIns="0" bIns="0" rtlCol="0" anchor="t"/>
          <a:lstStyle/>
          <a:p>
            <a:pPr indent="0" marL="0">
              <a:buNone/>
            </a:pPr>
            <a:r>
              <a:rPr lang="en-US" sz="1100" b="1" spc="150" kern="0" dirty="0">
                <a:solidFill>
                  <a:schemeClr val="accent1"/>
                </a:solidFill>
              </a:rPr>
              <a:t>SUPPORT</a:t>
            </a:r>
            <a:endParaRPr lang="en-US" sz="1100" dirty="0"/>
          </a:p>
        </p:txBody>
      </p:sp>
      <p:sp>
        <p:nvSpPr>
          <p:cNvPr id="11" name="Text 7"/>
          <p:cNvSpPr txBox="1"/>
          <p:nvPr/>
        </p:nvSpPr>
        <p:spPr>
          <a:xfrm>
            <a:off x="6492240" y="2423160"/>
            <a:ext cx="4846320" cy="3474720"/>
          </a:xfrm>
          <a:prstGeom prst="rect">
            <a:avLst/>
          </a:prstGeom>
          <a:noFill/>
          <a:ln/>
        </p:spPr>
        <p:txBody>
          <a:bodyPr wrap="square" lIns="0" tIns="0" rIns="0" bIns="0" rtlCol="0" anchor="t"/>
          <a:lstStyle/>
          <a:p>
            <a:pPr indent="0" marL="0">
              <a:buNone/>
            </a:pPr>
            <a:r>
              <a:rPr lang="en-US" sz="1400" b="1" dirty="0">
                <a:solidFill>
                  <a:schemeClr val="tx1"/>
                </a:solidFill>
              </a:rPr>
              <a:t>Help for you and your team  </a:t>
            </a:r>
            <a:pPr indent="0" marL="0">
              <a:spcAft>
                <a:spcPts val="900"/>
              </a:spcAft>
              <a:buNone/>
            </a:pPr>
            <a:r>
              <a:rPr lang="en-US" sz="1400" dirty="0">
                <a:solidFill>
                  <a:schemeClr val="tx2"/>
                </a:solidFill>
              </a:rPr>
              <a:t>On WhatsApp and phone, for the doctor and the receptionist.</a:t>
            </a:r>
            <a:endParaRPr lang="en-US" sz="1400" dirty="0"/>
          </a:p>
          <a:p>
            <a:pPr indent="0" marL="0">
              <a:buNone/>
            </a:pPr>
            <a:r>
              <a:rPr lang="en-US" sz="1400" b="1" dirty="0">
                <a:solidFill>
                  <a:schemeClr val="tx1"/>
                </a:solidFill>
              </a:rPr>
              <a:t>Problem fixing  </a:t>
            </a:r>
            <a:pPr indent="0" marL="0">
              <a:spcAft>
                <a:spcPts val="900"/>
              </a:spcAft>
              <a:buNone/>
            </a:pPr>
            <a:r>
              <a:rPr lang="en-US" sz="1400" dirty="0">
                <a:solidFill>
                  <a:schemeClr val="tx2"/>
                </a:solidFill>
              </a:rPr>
              <a:t>If something isn't working, we investigate and fix it.</a:t>
            </a:r>
            <a:endParaRPr lang="en-US" sz="1400" dirty="0"/>
          </a:p>
          <a:p>
            <a:pPr indent="0" marL="0">
              <a:buNone/>
            </a:pPr>
            <a:r>
              <a:rPr lang="en-US" sz="1400" b="1" dirty="0">
                <a:solidFill>
                  <a:schemeClr val="tx1"/>
                </a:solidFill>
              </a:rPr>
              <a:t>Changes on request  </a:t>
            </a:r>
            <a:pPr indent="0" marL="0">
              <a:spcAft>
                <a:spcPts val="900"/>
              </a:spcAft>
              <a:buNone/>
            </a:pPr>
            <a:r>
              <a:rPr lang="en-US" sz="1400" dirty="0">
                <a:solidFill>
                  <a:schemeClr val="tx2"/>
                </a:solidFill>
              </a:rPr>
              <a:t>New questions, answers or booking rules as needs change.</a:t>
            </a:r>
            <a:endParaRPr lang="en-US" sz="1400" dirty="0"/>
          </a:p>
          <a:p>
            <a:pPr indent="0" marL="0">
              <a:buNone/>
            </a:pPr>
            <a:r>
              <a:rPr lang="en-US" sz="1400" b="1" dirty="0">
                <a:solidFill>
                  <a:schemeClr val="tx1"/>
                </a:solidFill>
              </a:rPr>
              <a:t>Monthly review  </a:t>
            </a:r>
            <a:pPr indent="0" marL="0">
              <a:spcAft>
                <a:spcPts val="900"/>
              </a:spcAft>
              <a:buNone/>
            </a:pPr>
            <a:r>
              <a:rPr lang="en-US" sz="1400" dirty="0">
                <a:solidFill>
                  <a:schemeClr val="tx2"/>
                </a:solidFill>
              </a:rPr>
              <a:t>A short call on your report and agreed improvements.</a:t>
            </a:r>
            <a:endParaRPr lang="en-US" sz="1400" dirty="0"/>
          </a:p>
          <a:p>
            <a:pPr indent="0" marL="0">
              <a:buNone/>
            </a:pPr>
            <a:r>
              <a:rPr lang="en-US" sz="1400" b="1" dirty="0">
                <a:solidFill>
                  <a:schemeClr val="tx1"/>
                </a:solidFill>
              </a:rPr>
              <a:t>Pilot input  </a:t>
            </a:r>
            <a:pPr indent="0" marL="0">
              <a:spcAft>
                <a:spcPts val="900"/>
              </a:spcAft>
              <a:buNone/>
            </a:pPr>
            <a:r>
              <a:rPr lang="en-US" sz="1400" dirty="0">
                <a:solidFill>
                  <a:schemeClr val="tx2"/>
                </a:solidFill>
              </a:rPr>
              <a:t>Your feedback shapes how Patientcurve develops.</a:t>
            </a:r>
            <a:endParaRPr lang="en-US" sz="1400" dirty="0"/>
          </a:p>
        </p:txBody>
      </p:sp>
      <p:sp>
        <p:nvSpPr>
          <p:cNvPr id="25" name="Slide Number Placeholder 0"/>
          <p:cNvSpPr>
            <a:spLocks noGrp="1"/>
          </p:cNvSpPr>
          <p:nvPr>
            <p:ph type="sldNum" sz="quarter" idx="4294967295"/>
          </p:nvPr>
        </p:nvSpPr>
        <p:spPr>
          <a:xfrm>
            <a:off x="9509760" y="6355080"/>
            <a:ext cx="64008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2"/>
          <p:cNvSpPr/>
          <p:nvPr>
            <p:ph idx="103" type="body" hasCustomPrompt="1"/>
          </p:nvPr>
        </p:nvSpPr>
        <p:spPr>
          <a:xfrm>
            <a:off x="548640" y="384048"/>
            <a:ext cx="11064240" cy="274320"/>
          </a:xfrm>
          <a:prstGeom prst="rect">
            <a:avLst/>
          </a:prstGeom>
          <a:noFill/>
          <a:ln/>
        </p:spPr>
        <p:txBody>
          <a:bodyPr wrap="square" lIns="0" tIns="0" rIns="0" bIns="0" rtlCol="0" anchor="t"/>
          <a:lstStyle/>
          <a:p>
            <a:pPr algn="l" indent="0" marL="0">
              <a:buNone/>
            </a:pPr>
            <a:r>
              <a:rPr lang="en-US" sz="1100" b="1" spc="150" kern="0" dirty="0">
                <a:solidFill>
                  <a:schemeClr val="accent1"/>
                </a:solidFill>
              </a:rPr>
              <a:t>SCOPE</a:t>
            </a:r>
            <a:endParaRPr lang="en-US" sz="1100" dirty="0"/>
          </a:p>
        </p:txBody>
      </p:sp>
      <p:sp>
        <p:nvSpPr>
          <p:cNvPr id="3" name="Text 2"/>
          <p:cNvSpPr/>
          <p:nvPr>
            <p:ph idx="104" type="title" hasCustomPrompt="1"/>
          </p:nvPr>
        </p:nvSpPr>
        <p:spPr>
          <a:xfrm>
            <a:off x="548640" y="685800"/>
            <a:ext cx="11064240" cy="685800"/>
          </a:xfrm>
          <a:prstGeom prst="rect">
            <a:avLst/>
          </a:prstGeom>
          <a:noFill/>
          <a:ln/>
        </p:spPr>
        <p:txBody>
          <a:bodyPr wrap="square" lIns="0" tIns="0" rIns="0" bIns="0" rtlCol="0" anchor="t"/>
          <a:lstStyle/>
          <a:p>
            <a:pPr algn="l" indent="0" marL="0">
              <a:buNone/>
            </a:pPr>
            <a:r>
              <a:rPr lang="en-US" sz="3000" b="1" dirty="0">
                <a:solidFill>
                  <a:schemeClr val="tx1"/>
                </a:solidFill>
              </a:rPr>
              <a:t>What's agreed, and what we set up together</a:t>
            </a:r>
            <a:endParaRPr lang="en-US" sz="3000" dirty="0"/>
          </a:p>
        </p:txBody>
      </p:sp>
      <p:sp>
        <p:nvSpPr>
          <p:cNvPr id="4" name="scope-agreed"/>
          <p:cNvSpPr/>
          <p:nvPr/>
        </p:nvSpPr>
        <p:spPr>
          <a:xfrm>
            <a:off x="548640" y="1645920"/>
            <a:ext cx="5468112" cy="3657600"/>
          </a:xfrm>
          <a:prstGeom prst="roundRect">
            <a:avLst>
              <a:gd name="adj" fmla="val 3000"/>
            </a:avLst>
          </a:prstGeom>
          <a:solidFill>
            <a:schemeClr val="accent4"/>
          </a:solidFill>
          <a:ln/>
        </p:spPr>
      </p:sp>
      <p:sp>
        <p:nvSpPr>
          <p:cNvPr id="5" name="Text 3"/>
          <p:cNvSpPr txBox="1"/>
          <p:nvPr/>
        </p:nvSpPr>
        <p:spPr>
          <a:xfrm>
            <a:off x="868680" y="1920240"/>
            <a:ext cx="4572000" cy="274320"/>
          </a:xfrm>
          <a:prstGeom prst="rect">
            <a:avLst/>
          </a:prstGeom>
          <a:noFill/>
          <a:ln/>
        </p:spPr>
        <p:txBody>
          <a:bodyPr wrap="square" lIns="0" tIns="0" rIns="0" bIns="0" rtlCol="0" anchor="t"/>
          <a:lstStyle/>
          <a:p>
            <a:pPr indent="0" marL="0">
              <a:buNone/>
            </a:pPr>
            <a:r>
              <a:rPr lang="en-US" sz="1100" b="1" spc="150" kern="0" dirty="0">
                <a:solidFill>
                  <a:schemeClr val="accent1"/>
                </a:solidFill>
              </a:rPr>
              <a:t>YOUR REQUIREMENTS</a:t>
            </a:r>
            <a:endParaRPr lang="en-US" sz="1100" dirty="0"/>
          </a:p>
        </p:txBody>
      </p:sp>
      <p:sp>
        <p:nvSpPr>
          <p:cNvPr id="6" name="Text 4"/>
          <p:cNvSpPr txBox="1"/>
          <p:nvPr/>
        </p:nvSpPr>
        <p:spPr>
          <a:xfrm>
            <a:off x="868680" y="2331720"/>
            <a:ext cx="4846320" cy="2834640"/>
          </a:xfrm>
          <a:prstGeom prst="rect">
            <a:avLst/>
          </a:prstGeom>
          <a:noFill/>
          <a:ln/>
        </p:spPr>
        <p:txBody>
          <a:bodyPr wrap="square" lIns="0" tIns="0" rIns="0" bIns="0" rtlCol="0" anchor="t"/>
          <a:lstStyle/>
          <a:p>
            <a:pPr indent="0" marL="0">
              <a:buNone/>
            </a:pPr>
            <a:r>
              <a:rPr lang="en-US" sz="1400" b="1" dirty="0">
                <a:solidFill>
                  <a:schemeClr val="tx1"/>
                </a:solidFill>
              </a:rPr>
              <a:t>Journey</a:t>
            </a:r>
            <a:endParaRPr lang="en-US" sz="1400" dirty="0"/>
          </a:p>
          <a:p>
            <a:pPr indent="0" marL="0">
              <a:spcAft>
                <a:spcPts val="1000"/>
              </a:spcAft>
              <a:buNone/>
            </a:pPr>
            <a:r>
              <a:rPr lang="en-US" sz="1400" dirty="0">
                <a:solidFill>
                  <a:schemeClr val="tx2"/>
                </a:solidFill>
              </a:rPr>
              <a:t>Ad → WhatsApp → details → location and need → correct information → routing → booking → Google Calendar.</a:t>
            </a:r>
            <a:endParaRPr lang="en-US" sz="1400" dirty="0"/>
          </a:p>
          <a:p>
            <a:pPr indent="0" marL="0">
              <a:buNone/>
            </a:pPr>
            <a:r>
              <a:rPr lang="en-US" sz="1400" b="1" dirty="0">
                <a:solidFill>
                  <a:schemeClr val="tx1"/>
                </a:solidFill>
              </a:rPr>
              <a:t>Two consultation types</a:t>
            </a:r>
            <a:endParaRPr lang="en-US" sz="1400" dirty="0"/>
          </a:p>
          <a:p>
            <a:pPr indent="0" marL="0">
              <a:spcAft>
                <a:spcPts val="1000"/>
              </a:spcAft>
              <a:buNone/>
            </a:pPr>
            <a:r>
              <a:rPr lang="en-US" sz="1400" dirty="0">
                <a:solidFill>
                  <a:schemeClr val="tx2"/>
                </a:solidFill>
              </a:rPr>
              <a:t>Offline for local patients, video for other towns such as Trichy.</a:t>
            </a:r>
            <a:endParaRPr lang="en-US" sz="1400" dirty="0"/>
          </a:p>
          <a:p>
            <a:pPr indent="0" marL="0">
              <a:buNone/>
            </a:pPr>
            <a:r>
              <a:rPr lang="en-US" sz="1400" b="1" dirty="0">
                <a:solidFill>
                  <a:schemeClr val="tx1"/>
                </a:solidFill>
              </a:rPr>
              <a:t>Follow-up</a:t>
            </a:r>
            <a:endParaRPr lang="en-US" sz="1400" dirty="0"/>
          </a:p>
          <a:p>
            <a:pPr indent="0" marL="0">
              <a:spcAft>
                <a:spcPts val="1000"/>
              </a:spcAft>
              <a:buNone/>
            </a:pPr>
            <a:r>
              <a:rPr lang="en-US" sz="1400" dirty="0">
                <a:solidFill>
                  <a:schemeClr val="tx2"/>
                </a:solidFill>
              </a:rPr>
              <a:t>Non-bookers listed; your receptionist calls, brings them back and updates the PMS.</a:t>
            </a:r>
            <a:endParaRPr lang="en-US" sz="1400" dirty="0"/>
          </a:p>
          <a:p>
            <a:pPr indent="0" marL="0">
              <a:buNone/>
            </a:pPr>
            <a:r>
              <a:rPr lang="en-US" sz="1400" b="1" dirty="0">
                <a:solidFill>
                  <a:schemeClr val="tx1"/>
                </a:solidFill>
              </a:rPr>
              <a:t>Integrations</a:t>
            </a:r>
            <a:endParaRPr lang="en-US" sz="1400" dirty="0"/>
          </a:p>
          <a:p>
            <a:pPr indent="0" marL="0">
              <a:spcAft>
                <a:spcPts val="1000"/>
              </a:spcAft>
              <a:buNone/>
            </a:pPr>
            <a:r>
              <a:rPr lang="en-US" sz="1400" dirty="0">
                <a:solidFill>
                  <a:schemeClr val="tx2"/>
                </a:solidFill>
              </a:rPr>
              <a:t>WhatsApp, Google Calendar, the clinic PMS and Patientcurve.</a:t>
            </a:r>
            <a:endParaRPr lang="en-US" sz="1400" dirty="0"/>
          </a:p>
        </p:txBody>
      </p:sp>
      <p:sp>
        <p:nvSpPr>
          <p:cNvPr id="7" name="scope-onboarding"/>
          <p:cNvSpPr/>
          <p:nvPr/>
        </p:nvSpPr>
        <p:spPr>
          <a:xfrm>
            <a:off x="6172200" y="1645920"/>
            <a:ext cx="5468112" cy="3657600"/>
          </a:xfrm>
          <a:prstGeom prst="roundRect">
            <a:avLst>
              <a:gd name="adj" fmla="val 3000"/>
            </a:avLst>
          </a:prstGeom>
          <a:solidFill>
            <a:schemeClr val="bg1"/>
          </a:solidFill>
          <a:ln w="9525">
            <a:solidFill>
              <a:srgbClr val="D5DEDB"/>
            </a:solidFill>
            <a:prstDash val="solid"/>
          </a:ln>
        </p:spPr>
      </p:sp>
      <p:sp>
        <p:nvSpPr>
          <p:cNvPr id="8" name="Text 6"/>
          <p:cNvSpPr txBox="1"/>
          <p:nvPr/>
        </p:nvSpPr>
        <p:spPr>
          <a:xfrm>
            <a:off x="6492240" y="1920240"/>
            <a:ext cx="4937760" cy="274320"/>
          </a:xfrm>
          <a:prstGeom prst="rect">
            <a:avLst/>
          </a:prstGeom>
          <a:noFill/>
          <a:ln/>
        </p:spPr>
        <p:txBody>
          <a:bodyPr wrap="square" lIns="0" tIns="0" rIns="0" bIns="0" rtlCol="0" anchor="t"/>
          <a:lstStyle/>
          <a:p>
            <a:pPr indent="0" marL="0">
              <a:buNone/>
            </a:pPr>
            <a:r>
              <a:rPr lang="en-US" sz="1100" b="1" spc="150" kern="0" dirty="0">
                <a:solidFill>
                  <a:schemeClr val="accent1"/>
                </a:solidFill>
              </a:rPr>
              <a:t>SET UP WITH YOU DURING ONBOARDING</a:t>
            </a:r>
            <a:endParaRPr lang="en-US" sz="1100" dirty="0"/>
          </a:p>
        </p:txBody>
      </p:sp>
      <p:sp>
        <p:nvSpPr>
          <p:cNvPr id="9" name="Text 7"/>
          <p:cNvSpPr txBox="1"/>
          <p:nvPr/>
        </p:nvSpPr>
        <p:spPr>
          <a:xfrm>
            <a:off x="6492240" y="2377440"/>
            <a:ext cx="4937760"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Consultation fees and timings, offline and video</a:t>
            </a:r>
            <a:endParaRPr lang="en-US" sz="1400" dirty="0"/>
          </a:p>
          <a:p>
            <a:pPr marL="342900" indent="-342900">
              <a:spcAft>
                <a:spcPts val="600"/>
              </a:spcAft>
              <a:buSzPct val="100000"/>
              <a:buChar char="•"/>
            </a:pPr>
            <a:r>
              <a:rPr lang="en-US" sz="1400" dirty="0">
                <a:solidFill>
                  <a:schemeClr val="tx1"/>
                </a:solidFill>
              </a:rPr>
              <a:t>Which towns count as local</a:t>
            </a:r>
            <a:endParaRPr lang="en-US" sz="1400" dirty="0"/>
          </a:p>
          <a:p>
            <a:pPr marL="342900" indent="-342900">
              <a:spcAft>
                <a:spcPts val="600"/>
              </a:spcAft>
              <a:buSzPct val="100000"/>
              <a:buChar char="•"/>
            </a:pPr>
            <a:r>
              <a:rPr lang="en-US" sz="1400" dirty="0">
                <a:solidFill>
                  <a:schemeClr val="tx1"/>
                </a:solidFill>
              </a:rPr>
              <a:t>Booking rules: days, hours, slot length, notice</a:t>
            </a:r>
            <a:endParaRPr lang="en-US" sz="1400" dirty="0"/>
          </a:p>
          <a:p>
            <a:pPr marL="342900" indent="-342900">
              <a:spcAft>
                <a:spcPts val="600"/>
              </a:spcAft>
              <a:buSzPct val="100000"/>
              <a:buChar char="•"/>
            </a:pPr>
            <a:r>
              <a:rPr lang="en-US" sz="1400" dirty="0">
                <a:solidFill>
                  <a:schemeClr val="tx1"/>
                </a:solidFill>
              </a:rPr>
              <a:t>Approved answers for the WhatsApp flow</a:t>
            </a:r>
            <a:endParaRPr lang="en-US" sz="1400" dirty="0"/>
          </a:p>
          <a:p>
            <a:pPr marL="342900" indent="-342900">
              <a:spcAft>
                <a:spcPts val="600"/>
              </a:spcAft>
              <a:buSzPct val="100000"/>
              <a:buChar char="•"/>
            </a:pPr>
            <a:r>
              <a:rPr lang="en-US" sz="1400" dirty="0">
                <a:solidFill>
                  <a:schemeClr val="tx1"/>
                </a:solidFill>
              </a:rPr>
              <a:t>How patients receive and join video consultations</a:t>
            </a:r>
            <a:endParaRPr lang="en-US" sz="1400" dirty="0"/>
          </a:p>
          <a:p>
            <a:pPr marL="342900" indent="-342900">
              <a:spcAft>
                <a:spcPts val="600"/>
              </a:spcAft>
              <a:buSzPct val="100000"/>
              <a:buChar char="•"/>
            </a:pPr>
            <a:r>
              <a:rPr lang="en-US" sz="1400" dirty="0">
                <a:solidFill>
                  <a:schemeClr val="tx1"/>
                </a:solidFill>
              </a:rPr>
              <a:t>Moving your WhatsApp number from the Meta AI bot</a:t>
            </a:r>
            <a:endParaRPr lang="en-US" sz="1400" dirty="0"/>
          </a:p>
        </p:txBody>
      </p:sp>
      <p:sp>
        <p:nvSpPr>
          <p:cNvPr id="25" name="Slide Number Placeholder 0"/>
          <p:cNvSpPr>
            <a:spLocks noGrp="1"/>
          </p:cNvSpPr>
          <p:nvPr>
            <p:ph type="sldNum" sz="quarter" idx="4294967295"/>
          </p:nvPr>
        </p:nvSpPr>
        <p:spPr>
          <a:xfrm>
            <a:off x="9509760" y="6355080"/>
            <a:ext cx="64008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2"/>
          <p:cNvSpPr/>
          <p:nvPr>
            <p:ph idx="103" type="body" hasCustomPrompt="1"/>
          </p:nvPr>
        </p:nvSpPr>
        <p:spPr>
          <a:xfrm>
            <a:off x="548640" y="384048"/>
            <a:ext cx="11064240" cy="274320"/>
          </a:xfrm>
          <a:prstGeom prst="rect">
            <a:avLst/>
          </a:prstGeom>
          <a:noFill/>
          <a:ln/>
        </p:spPr>
        <p:txBody>
          <a:bodyPr wrap="square" lIns="0" tIns="0" rIns="0" bIns="0" rtlCol="0" anchor="t"/>
          <a:lstStyle/>
          <a:p>
            <a:pPr algn="l" indent="0" marL="0">
              <a:buNone/>
            </a:pPr>
            <a:r>
              <a:rPr lang="en-US" sz="1100" b="1" spc="150" kern="0" dirty="0">
                <a:solidFill>
                  <a:schemeClr val="accent1"/>
                </a:solidFill>
              </a:rPr>
              <a:t>NEXT STEPS</a:t>
            </a:r>
            <a:endParaRPr lang="en-US" sz="1100" dirty="0"/>
          </a:p>
        </p:txBody>
      </p:sp>
      <p:sp>
        <p:nvSpPr>
          <p:cNvPr id="3" name="Text 2"/>
          <p:cNvSpPr/>
          <p:nvPr>
            <p:ph idx="104" type="title" hasCustomPrompt="1"/>
          </p:nvPr>
        </p:nvSpPr>
        <p:spPr>
          <a:xfrm>
            <a:off x="548640" y="685800"/>
            <a:ext cx="11064240" cy="685800"/>
          </a:xfrm>
          <a:prstGeom prst="rect">
            <a:avLst/>
          </a:prstGeom>
          <a:noFill/>
          <a:ln/>
        </p:spPr>
        <p:txBody>
          <a:bodyPr wrap="square" lIns="0" tIns="0" rIns="0" bIns="0" rtlCol="0" anchor="t"/>
          <a:lstStyle/>
          <a:p>
            <a:pPr algn="l" indent="0" marL="0">
              <a:buNone/>
            </a:pPr>
            <a:r>
              <a:rPr lang="en-US" sz="3000" b="1" dirty="0">
                <a:solidFill>
                  <a:schemeClr val="tx1"/>
                </a:solidFill>
              </a:rPr>
              <a:t>From approval to your first booked enquiry</a:t>
            </a:r>
            <a:endParaRPr lang="en-US" sz="3000" dirty="0"/>
          </a:p>
        </p:txBody>
      </p:sp>
      <p:sp>
        <p:nvSpPr>
          <p:cNvPr id="4" name="step-0"/>
          <p:cNvSpPr/>
          <p:nvPr/>
        </p:nvSpPr>
        <p:spPr>
          <a:xfrm>
            <a:off x="548640" y="1691640"/>
            <a:ext cx="2606040" cy="3200400"/>
          </a:xfrm>
          <a:prstGeom prst="roundRect">
            <a:avLst>
              <a:gd name="adj" fmla="val 4211"/>
            </a:avLst>
          </a:prstGeom>
          <a:solidFill>
            <a:schemeClr val="bg1"/>
          </a:solidFill>
          <a:ln w="9525">
            <a:solidFill>
              <a:srgbClr val="D5DEDB"/>
            </a:solidFill>
            <a:prstDash val="solid"/>
          </a:ln>
        </p:spPr>
      </p:sp>
      <p:sp>
        <p:nvSpPr>
          <p:cNvPr id="5" name="Shape 3"/>
          <p:cNvSpPr/>
          <p:nvPr/>
        </p:nvSpPr>
        <p:spPr>
          <a:xfrm>
            <a:off x="868680" y="2011680"/>
            <a:ext cx="548640" cy="548640"/>
          </a:xfrm>
          <a:prstGeom prst="ellipse">
            <a:avLst/>
          </a:prstGeom>
          <a:solidFill>
            <a:schemeClr val="accent1"/>
          </a:solidFill>
          <a:ln/>
        </p:spPr>
      </p:sp>
      <p:sp>
        <p:nvSpPr>
          <p:cNvPr id="6" name="Text 4"/>
          <p:cNvSpPr txBox="1"/>
          <p:nvPr/>
        </p:nvSpPr>
        <p:spPr>
          <a:xfrm>
            <a:off x="868680" y="201168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7" name="Text 5"/>
          <p:cNvSpPr txBox="1"/>
          <p:nvPr/>
        </p:nvSpPr>
        <p:spPr>
          <a:xfrm>
            <a:off x="868680" y="2834640"/>
            <a:ext cx="2011680" cy="685800"/>
          </a:xfrm>
          <a:prstGeom prst="rect">
            <a:avLst/>
          </a:prstGeom>
          <a:noFill/>
          <a:ln/>
        </p:spPr>
        <p:txBody>
          <a:bodyPr wrap="square" lIns="0" tIns="0" rIns="0" bIns="0" rtlCol="0" anchor="t"/>
          <a:lstStyle/>
          <a:p>
            <a:pPr indent="0" marL="0">
              <a:buNone/>
            </a:pPr>
            <a:r>
              <a:rPr lang="en-US" sz="1800" b="1" dirty="0">
                <a:solidFill>
                  <a:schemeClr val="tx1"/>
                </a:solidFill>
              </a:rPr>
              <a:t>Approve the proposal</a:t>
            </a:r>
            <a:endParaRPr lang="en-US" sz="1800" dirty="0"/>
          </a:p>
        </p:txBody>
      </p:sp>
      <p:sp>
        <p:nvSpPr>
          <p:cNvPr id="8" name="Text 6"/>
          <p:cNvSpPr txBox="1"/>
          <p:nvPr/>
        </p:nvSpPr>
        <p:spPr>
          <a:xfrm>
            <a:off x="868680" y="3566160"/>
            <a:ext cx="2011680" cy="1097280"/>
          </a:xfrm>
          <a:prstGeom prst="rect">
            <a:avLst/>
          </a:prstGeom>
          <a:noFill/>
          <a:ln/>
        </p:spPr>
        <p:txBody>
          <a:bodyPr wrap="square" lIns="0" tIns="0" rIns="0" bIns="0" rtlCol="0" anchor="t"/>
          <a:lstStyle/>
          <a:p>
            <a:pPr indent="0" marL="0">
              <a:buNone/>
            </a:pPr>
            <a:r>
              <a:rPr lang="en-US" sz="1400" dirty="0">
                <a:solidFill>
                  <a:schemeClr val="tx2"/>
                </a:solidFill>
              </a:rPr>
              <a:t>Pay the ₹5,000 pilot setup fee to begin.</a:t>
            </a:r>
            <a:endParaRPr lang="en-US" sz="1400" dirty="0"/>
          </a:p>
        </p:txBody>
      </p:sp>
      <p:sp>
        <p:nvSpPr>
          <p:cNvPr id="9" name="step-1"/>
          <p:cNvSpPr/>
          <p:nvPr/>
        </p:nvSpPr>
        <p:spPr>
          <a:xfrm>
            <a:off x="3383280" y="1691640"/>
            <a:ext cx="2606040" cy="3200400"/>
          </a:xfrm>
          <a:prstGeom prst="roundRect">
            <a:avLst>
              <a:gd name="adj" fmla="val 4211"/>
            </a:avLst>
          </a:prstGeom>
          <a:solidFill>
            <a:schemeClr val="bg1"/>
          </a:solidFill>
          <a:ln w="9525">
            <a:solidFill>
              <a:srgbClr val="D5DEDB"/>
            </a:solidFill>
            <a:prstDash val="solid"/>
          </a:ln>
        </p:spPr>
      </p:sp>
      <p:sp>
        <p:nvSpPr>
          <p:cNvPr id="10" name="Shape 8"/>
          <p:cNvSpPr/>
          <p:nvPr/>
        </p:nvSpPr>
        <p:spPr>
          <a:xfrm>
            <a:off x="3703320" y="2011680"/>
            <a:ext cx="548640" cy="548640"/>
          </a:xfrm>
          <a:prstGeom prst="ellipse">
            <a:avLst/>
          </a:prstGeom>
          <a:solidFill>
            <a:schemeClr val="accent1"/>
          </a:solidFill>
          <a:ln/>
        </p:spPr>
      </p:sp>
      <p:sp>
        <p:nvSpPr>
          <p:cNvPr id="11" name="Text 9"/>
          <p:cNvSpPr txBox="1"/>
          <p:nvPr/>
        </p:nvSpPr>
        <p:spPr>
          <a:xfrm>
            <a:off x="3703320" y="201168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10"/>
          <p:cNvSpPr txBox="1"/>
          <p:nvPr/>
        </p:nvSpPr>
        <p:spPr>
          <a:xfrm>
            <a:off x="3703320" y="2834640"/>
            <a:ext cx="2011680" cy="685800"/>
          </a:xfrm>
          <a:prstGeom prst="rect">
            <a:avLst/>
          </a:prstGeom>
          <a:noFill/>
          <a:ln/>
        </p:spPr>
        <p:txBody>
          <a:bodyPr wrap="square" lIns="0" tIns="0" rIns="0" bIns="0" rtlCol="0" anchor="t"/>
          <a:lstStyle/>
          <a:p>
            <a:pPr indent="0" marL="0">
              <a:buNone/>
            </a:pPr>
            <a:r>
              <a:rPr lang="en-US" sz="1800" b="1" dirty="0">
                <a:solidFill>
                  <a:schemeClr val="tx1"/>
                </a:solidFill>
              </a:rPr>
              <a:t>Onboarding call</a:t>
            </a:r>
            <a:endParaRPr lang="en-US" sz="1800" dirty="0"/>
          </a:p>
        </p:txBody>
      </p:sp>
      <p:sp>
        <p:nvSpPr>
          <p:cNvPr id="13" name="Text 11"/>
          <p:cNvSpPr txBox="1"/>
          <p:nvPr/>
        </p:nvSpPr>
        <p:spPr>
          <a:xfrm>
            <a:off x="3703320" y="3566160"/>
            <a:ext cx="2011680" cy="1097280"/>
          </a:xfrm>
          <a:prstGeom prst="rect">
            <a:avLst/>
          </a:prstGeom>
          <a:noFill/>
          <a:ln/>
        </p:spPr>
        <p:txBody>
          <a:bodyPr wrap="square" lIns="0" tIns="0" rIns="0" bIns="0" rtlCol="0" anchor="t"/>
          <a:lstStyle/>
          <a:p>
            <a:pPr indent="0" marL="0">
              <a:buNone/>
            </a:pPr>
            <a:r>
              <a:rPr lang="en-US" sz="1400" dirty="0">
                <a:solidFill>
                  <a:schemeClr val="tx2"/>
                </a:solidFill>
              </a:rPr>
              <a:t>Agree fees, routing, booking rules and approved answers.</a:t>
            </a:r>
            <a:endParaRPr lang="en-US" sz="1400" dirty="0"/>
          </a:p>
        </p:txBody>
      </p:sp>
      <p:sp>
        <p:nvSpPr>
          <p:cNvPr id="14" name="step-2"/>
          <p:cNvSpPr/>
          <p:nvPr/>
        </p:nvSpPr>
        <p:spPr>
          <a:xfrm>
            <a:off x="6217920" y="1691640"/>
            <a:ext cx="2606040" cy="3200400"/>
          </a:xfrm>
          <a:prstGeom prst="roundRect">
            <a:avLst>
              <a:gd name="adj" fmla="val 4211"/>
            </a:avLst>
          </a:prstGeom>
          <a:solidFill>
            <a:schemeClr val="bg1"/>
          </a:solidFill>
          <a:ln w="9525">
            <a:solidFill>
              <a:srgbClr val="D5DEDB"/>
            </a:solidFill>
            <a:prstDash val="solid"/>
          </a:ln>
        </p:spPr>
      </p:sp>
      <p:sp>
        <p:nvSpPr>
          <p:cNvPr id="15" name="Shape 13"/>
          <p:cNvSpPr/>
          <p:nvPr/>
        </p:nvSpPr>
        <p:spPr>
          <a:xfrm>
            <a:off x="6537960" y="2011680"/>
            <a:ext cx="548640" cy="548640"/>
          </a:xfrm>
          <a:prstGeom prst="ellipse">
            <a:avLst/>
          </a:prstGeom>
          <a:solidFill>
            <a:schemeClr val="accent1"/>
          </a:solidFill>
          <a:ln/>
        </p:spPr>
      </p:sp>
      <p:sp>
        <p:nvSpPr>
          <p:cNvPr id="16" name="Text 14"/>
          <p:cNvSpPr txBox="1"/>
          <p:nvPr/>
        </p:nvSpPr>
        <p:spPr>
          <a:xfrm>
            <a:off x="6537960" y="201168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7" name="Text 15"/>
          <p:cNvSpPr txBox="1"/>
          <p:nvPr/>
        </p:nvSpPr>
        <p:spPr>
          <a:xfrm>
            <a:off x="6537960" y="2834640"/>
            <a:ext cx="2011680" cy="685800"/>
          </a:xfrm>
          <a:prstGeom prst="rect">
            <a:avLst/>
          </a:prstGeom>
          <a:noFill/>
          <a:ln/>
        </p:spPr>
        <p:txBody>
          <a:bodyPr wrap="square" lIns="0" tIns="0" rIns="0" bIns="0" rtlCol="0" anchor="t"/>
          <a:lstStyle/>
          <a:p>
            <a:pPr indent="0" marL="0">
              <a:buNone/>
            </a:pPr>
            <a:r>
              <a:rPr lang="en-US" sz="1800" b="1" dirty="0">
                <a:solidFill>
                  <a:schemeClr val="tx1"/>
                </a:solidFill>
              </a:rPr>
              <a:t>Set up and test</a:t>
            </a:r>
            <a:endParaRPr lang="en-US" sz="1800" dirty="0"/>
          </a:p>
        </p:txBody>
      </p:sp>
      <p:sp>
        <p:nvSpPr>
          <p:cNvPr id="18" name="Text 16"/>
          <p:cNvSpPr txBox="1"/>
          <p:nvPr/>
        </p:nvSpPr>
        <p:spPr>
          <a:xfrm>
            <a:off x="6537960" y="3566160"/>
            <a:ext cx="2011680" cy="1097280"/>
          </a:xfrm>
          <a:prstGeom prst="rect">
            <a:avLst/>
          </a:prstGeom>
          <a:noFill/>
          <a:ln/>
        </p:spPr>
        <p:txBody>
          <a:bodyPr wrap="square" lIns="0" tIns="0" rIns="0" bIns="0" rtlCol="0" anchor="t"/>
          <a:lstStyle/>
          <a:p>
            <a:pPr indent="0" marL="0">
              <a:buNone/>
            </a:pPr>
            <a:r>
              <a:rPr lang="en-US" sz="1400" dirty="0">
                <a:solidFill>
                  <a:schemeClr val="tx2"/>
                </a:solidFill>
              </a:rPr>
              <a:t>We build it and test it with your team.</a:t>
            </a:r>
            <a:endParaRPr lang="en-US" sz="1400" dirty="0"/>
          </a:p>
        </p:txBody>
      </p:sp>
      <p:sp>
        <p:nvSpPr>
          <p:cNvPr id="19" name="step-3"/>
          <p:cNvSpPr/>
          <p:nvPr/>
        </p:nvSpPr>
        <p:spPr>
          <a:xfrm>
            <a:off x="9052560" y="1691640"/>
            <a:ext cx="2606040" cy="3200400"/>
          </a:xfrm>
          <a:prstGeom prst="roundRect">
            <a:avLst>
              <a:gd name="adj" fmla="val 4211"/>
            </a:avLst>
          </a:prstGeom>
          <a:solidFill>
            <a:schemeClr val="bg1"/>
          </a:solidFill>
          <a:ln w="9525">
            <a:solidFill>
              <a:srgbClr val="D5DEDB"/>
            </a:solidFill>
            <a:prstDash val="solid"/>
          </a:ln>
        </p:spPr>
      </p:sp>
      <p:sp>
        <p:nvSpPr>
          <p:cNvPr id="20" name="Shape 18"/>
          <p:cNvSpPr/>
          <p:nvPr/>
        </p:nvSpPr>
        <p:spPr>
          <a:xfrm>
            <a:off x="9372600" y="2011680"/>
            <a:ext cx="548640" cy="548640"/>
          </a:xfrm>
          <a:prstGeom prst="ellipse">
            <a:avLst/>
          </a:prstGeom>
          <a:solidFill>
            <a:schemeClr val="accent1"/>
          </a:solidFill>
          <a:ln/>
        </p:spPr>
      </p:sp>
      <p:sp>
        <p:nvSpPr>
          <p:cNvPr id="21" name="Text 19"/>
          <p:cNvSpPr txBox="1"/>
          <p:nvPr/>
        </p:nvSpPr>
        <p:spPr>
          <a:xfrm>
            <a:off x="9372600" y="201168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2" name="Text 20"/>
          <p:cNvSpPr txBox="1"/>
          <p:nvPr/>
        </p:nvSpPr>
        <p:spPr>
          <a:xfrm>
            <a:off x="9372600" y="2834640"/>
            <a:ext cx="2011680" cy="685800"/>
          </a:xfrm>
          <a:prstGeom prst="rect">
            <a:avLst/>
          </a:prstGeom>
          <a:noFill/>
          <a:ln/>
        </p:spPr>
        <p:txBody>
          <a:bodyPr wrap="square" lIns="0" tIns="0" rIns="0" bIns="0" rtlCol="0" anchor="t"/>
          <a:lstStyle/>
          <a:p>
            <a:pPr indent="0" marL="0">
              <a:buNone/>
            </a:pPr>
            <a:r>
              <a:rPr lang="en-US" sz="1800" b="1" dirty="0">
                <a:solidFill>
                  <a:schemeClr val="tx1"/>
                </a:solidFill>
              </a:rPr>
              <a:t>Go live</a:t>
            </a:r>
            <a:endParaRPr lang="en-US" sz="1800" dirty="0"/>
          </a:p>
        </p:txBody>
      </p:sp>
      <p:sp>
        <p:nvSpPr>
          <p:cNvPr id="23" name="Text 21"/>
          <p:cNvSpPr txBox="1"/>
          <p:nvPr/>
        </p:nvSpPr>
        <p:spPr>
          <a:xfrm>
            <a:off x="9372600" y="3566160"/>
            <a:ext cx="2011680" cy="1097280"/>
          </a:xfrm>
          <a:prstGeom prst="rect">
            <a:avLst/>
          </a:prstGeom>
          <a:noFill/>
          <a:ln/>
        </p:spPr>
        <p:txBody>
          <a:bodyPr wrap="square" lIns="0" tIns="0" rIns="0" bIns="0" rtlCol="0" anchor="t"/>
          <a:lstStyle/>
          <a:p>
            <a:pPr indent="0" marL="0">
              <a:buNone/>
            </a:pPr>
            <a:r>
              <a:rPr lang="en-US" sz="1400" dirty="0">
                <a:solidFill>
                  <a:schemeClr val="tx2"/>
                </a:solidFill>
              </a:rPr>
              <a:t>Your next campaign's enquiries run through Patientcurve.</a:t>
            </a:r>
            <a:endParaRPr lang="en-US" sz="1400" dirty="0"/>
          </a:p>
        </p:txBody>
      </p:sp>
      <p:sp>
        <p:nvSpPr>
          <p:cNvPr id="24" name="pilot-recap"/>
          <p:cNvSpPr/>
          <p:nvPr/>
        </p:nvSpPr>
        <p:spPr>
          <a:xfrm>
            <a:off x="548640" y="5166360"/>
            <a:ext cx="11091672" cy="685800"/>
          </a:xfrm>
          <a:prstGeom prst="roundRect">
            <a:avLst>
              <a:gd name="adj" fmla="val 16000"/>
            </a:avLst>
          </a:prstGeom>
          <a:solidFill>
            <a:schemeClr val="accent4"/>
          </a:solidFill>
          <a:ln/>
        </p:spPr>
      </p:sp>
      <p:sp>
        <p:nvSpPr>
          <p:cNvPr id="25" name="Text 23"/>
          <p:cNvSpPr txBox="1"/>
          <p:nvPr/>
        </p:nvSpPr>
        <p:spPr>
          <a:xfrm>
            <a:off x="868680" y="5166360"/>
            <a:ext cx="10515600" cy="685800"/>
          </a:xfrm>
          <a:prstGeom prst="rect">
            <a:avLst/>
          </a:prstGeom>
          <a:noFill/>
          <a:ln/>
        </p:spPr>
        <p:txBody>
          <a:bodyPr wrap="square" lIns="0" tIns="0" rIns="0" bIns="0" rtlCol="0" anchor="ctr"/>
          <a:lstStyle/>
          <a:p>
            <a:pPr indent="0" marL="0">
              <a:buNone/>
            </a:pPr>
            <a:r>
              <a:rPr lang="en-US" sz="1400" b="1" dirty="0">
                <a:solidFill>
                  <a:schemeClr val="tx1"/>
                </a:solidFill>
              </a:rPr>
              <a:t>Pilot pricing  </a:t>
            </a:r>
            <a:pPr indent="0" marL="0">
              <a:buNone/>
            </a:pPr>
            <a:r>
              <a:rPr lang="en-US" sz="1400" dirty="0">
                <a:solidFill>
                  <a:schemeClr val="tx1"/>
                </a:solidFill>
              </a:rPr>
              <a:t>₹5,000 setup · ₹2,999 a month · for pilot customers only</a:t>
            </a:r>
            <a:endParaRPr lang="en-US" sz="1400" dirty="0"/>
          </a:p>
        </p:txBody>
      </p:sp>
      <p:sp>
        <p:nvSpPr>
          <p:cNvPr id="25" name="Slide Number Placeholder 0"/>
          <p:cNvSpPr>
            <a:spLocks noGrp="1"/>
          </p:cNvSpPr>
          <p:nvPr>
            <p:ph type="sldNum" sz="quarter" idx="4294967295"/>
          </p:nvPr>
        </p:nvSpPr>
        <p:spPr>
          <a:xfrm>
            <a:off x="9509760" y="6355080"/>
            <a:ext cx="64008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Patientcurve">
  <a:themeElements>
    <a:clrScheme name="Patientcurve">
      <a:dk1>
        <a:srgbClr val="14232B"/>
      </a:dk1>
      <a:lt1>
        <a:srgbClr val="FFFFFF"/>
      </a:lt1>
      <a:dk2>
        <a:srgbClr val="5B6B70"/>
      </a:dk2>
      <a:lt2>
        <a:srgbClr val="F6F8F7"/>
      </a:lt2>
      <a:accent1>
        <a:srgbClr val="0E7C6B"/>
      </a:accent1>
      <a:accent2>
        <a:srgbClr val="3FC0A6"/>
      </a:accent2>
      <a:accent3>
        <a:srgbClr val="8F5A0E"/>
      </a:accent3>
      <a:accent4>
        <a:srgbClr val="DCEFEA"/>
      </a:accent4>
      <a:accent5>
        <a:srgbClr val="D5DEDB"/>
      </a:accent5>
      <a:accent6>
        <a:srgbClr val="C0392B"/>
      </a:accent6>
      <a:hlink>
        <a:srgbClr val="0E7C6B"/>
      </a:hlink>
      <a:folHlink>
        <a:srgbClr val="14232B"/>
      </a:folHlink>
    </a:clrScheme>
    <a:fontScheme name="Patientcurv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Patientcurve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Patientcurve proposal for Dr. Mohanapriya</dc:title>
  <dc:subject>PptxGenJS Presentation</dc:subject>
  <dc:creator>Patientcurve</dc:creator>
  <cp:lastModifiedBy>Patientcurve</cp:lastModifiedBy>
  <cp:revision>1</cp:revision>
  <dcterms:created xsi:type="dcterms:W3CDTF">2026-10-09T08:44:57Z</dcterms:created>
  <dcterms:modified xsi:type="dcterms:W3CDTF">2026-10-09T08:44:57Z</dcterms:modified>
</cp:coreProperties>
</file>